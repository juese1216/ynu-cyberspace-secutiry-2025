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8" r:id="rId1"/>
  </p:sldMasterIdLst>
  <p:sldIdLst>
    <p:sldId id="256" r:id="rId2"/>
    <p:sldId id="259" r:id="rId3"/>
    <p:sldId id="267" r:id="rId4"/>
    <p:sldId id="258" r:id="rId5"/>
    <p:sldId id="260" r:id="rId6"/>
    <p:sldId id="269" r:id="rId7"/>
    <p:sldId id="270" r:id="rId8"/>
    <p:sldId id="271" r:id="rId9"/>
    <p:sldId id="272" r:id="rId10"/>
    <p:sldId id="273" r:id="rId11"/>
    <p:sldId id="274" r:id="rId12"/>
    <p:sldId id="275" r:id="rId13"/>
    <p:sldId id="276" r:id="rId14"/>
    <p:sldId id="262" r:id="rId15"/>
    <p:sldId id="277" r:id="rId16"/>
    <p:sldId id="263" r:id="rId17"/>
    <p:sldId id="264" r:id="rId18"/>
    <p:sldId id="265" r:id="rId19"/>
    <p:sldId id="266"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p:cViewPr varScale="1">
        <p:scale>
          <a:sx n="120" d="100"/>
          <a:sy n="120" d="100"/>
        </p:scale>
        <p:origin x="19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8E7790EC-2B8D-2C2F-F1F4-B6F47A281F4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9FDC078-30E6-A2D9-E344-9592515EADC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888A2B9-7A00-EFC4-B72B-7A1F5EF6DF8B}"/>
              </a:ext>
            </a:extLst>
          </p:cNvPr>
          <p:cNvSpPr>
            <a:spLocks noGrp="1" noChangeArrowheads="1"/>
          </p:cNvSpPr>
          <p:nvPr>
            <p:ph type="sldNum" sz="quarter" idx="12"/>
          </p:nvPr>
        </p:nvSpPr>
        <p:spPr>
          <a:ln/>
        </p:spPr>
        <p:txBody>
          <a:bodyPr/>
          <a:lstStyle>
            <a:lvl1pPr>
              <a:defRPr/>
            </a:lvl1pPr>
          </a:lstStyle>
          <a:p>
            <a:fld id="{7A583986-3B68-504A-A30E-12A584E7D808}" type="slidenum">
              <a:rPr lang="en-US" altLang="zh-CN"/>
              <a:pPr/>
              <a:t>‹#›</a:t>
            </a:fld>
            <a:endParaRPr lang="en-US" altLang="zh-CN"/>
          </a:p>
        </p:txBody>
      </p:sp>
    </p:spTree>
    <p:extLst>
      <p:ext uri="{BB962C8B-B14F-4D97-AF65-F5344CB8AC3E}">
        <p14:creationId xmlns:p14="http://schemas.microsoft.com/office/powerpoint/2010/main" val="170835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BA6371F-DD2E-AFDA-FC39-32D8268BCEB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40430DC-C204-E237-B5DC-00F9C68EB88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6B4B268-5875-280A-57F3-BAB82D848FC0}"/>
              </a:ext>
            </a:extLst>
          </p:cNvPr>
          <p:cNvSpPr>
            <a:spLocks noGrp="1" noChangeArrowheads="1"/>
          </p:cNvSpPr>
          <p:nvPr>
            <p:ph type="sldNum" sz="quarter" idx="12"/>
          </p:nvPr>
        </p:nvSpPr>
        <p:spPr>
          <a:ln/>
        </p:spPr>
        <p:txBody>
          <a:bodyPr/>
          <a:lstStyle>
            <a:lvl1pPr>
              <a:defRPr/>
            </a:lvl1pPr>
          </a:lstStyle>
          <a:p>
            <a:fld id="{D17EDF7B-77BB-AA43-986B-5774EB96DE24}" type="slidenum">
              <a:rPr lang="en-US" altLang="zh-CN"/>
              <a:pPr/>
              <a:t>‹#›</a:t>
            </a:fld>
            <a:endParaRPr lang="en-US" altLang="zh-CN"/>
          </a:p>
        </p:txBody>
      </p:sp>
    </p:spTree>
    <p:extLst>
      <p:ext uri="{BB962C8B-B14F-4D97-AF65-F5344CB8AC3E}">
        <p14:creationId xmlns:p14="http://schemas.microsoft.com/office/powerpoint/2010/main" val="2072521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D34E9683-0602-D6CF-4A8D-F649419A8EA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C8C0E19-3219-677B-927B-8FF861D1388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E7AC608-13A2-34FC-7A1C-D35AAC6B5BD8}"/>
              </a:ext>
            </a:extLst>
          </p:cNvPr>
          <p:cNvSpPr>
            <a:spLocks noGrp="1" noChangeArrowheads="1"/>
          </p:cNvSpPr>
          <p:nvPr>
            <p:ph type="sldNum" sz="quarter" idx="12"/>
          </p:nvPr>
        </p:nvSpPr>
        <p:spPr>
          <a:ln/>
        </p:spPr>
        <p:txBody>
          <a:bodyPr/>
          <a:lstStyle>
            <a:lvl1pPr>
              <a:defRPr/>
            </a:lvl1pPr>
          </a:lstStyle>
          <a:p>
            <a:fld id="{1A4A49F9-95FF-A64C-BC6F-120E66343837}" type="slidenum">
              <a:rPr lang="en-US" altLang="zh-CN"/>
              <a:pPr/>
              <a:t>‹#›</a:t>
            </a:fld>
            <a:endParaRPr lang="en-US" altLang="zh-CN"/>
          </a:p>
        </p:txBody>
      </p:sp>
    </p:spTree>
    <p:extLst>
      <p:ext uri="{BB962C8B-B14F-4D97-AF65-F5344CB8AC3E}">
        <p14:creationId xmlns:p14="http://schemas.microsoft.com/office/powerpoint/2010/main" val="1250135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12574225-1AB2-DF14-F9AB-CD4D33925D8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032BECDD-FC04-A804-356C-6946FAC8E98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326E48B-D6EC-91EF-B5EB-6B67D038B3D8}"/>
              </a:ext>
            </a:extLst>
          </p:cNvPr>
          <p:cNvSpPr>
            <a:spLocks noGrp="1" noChangeArrowheads="1"/>
          </p:cNvSpPr>
          <p:nvPr>
            <p:ph type="sldNum" sz="quarter" idx="12"/>
          </p:nvPr>
        </p:nvSpPr>
        <p:spPr>
          <a:ln/>
        </p:spPr>
        <p:txBody>
          <a:bodyPr/>
          <a:lstStyle>
            <a:lvl1pPr>
              <a:defRPr/>
            </a:lvl1pPr>
          </a:lstStyle>
          <a:p>
            <a:fld id="{A2A8DB02-E8D6-EE4F-9303-3104850DFBA4}" type="slidenum">
              <a:rPr lang="en-US" altLang="zh-CN"/>
              <a:pPr/>
              <a:t>‹#›</a:t>
            </a:fld>
            <a:endParaRPr lang="en-US" altLang="zh-CN"/>
          </a:p>
        </p:txBody>
      </p:sp>
    </p:spTree>
    <p:extLst>
      <p:ext uri="{BB962C8B-B14F-4D97-AF65-F5344CB8AC3E}">
        <p14:creationId xmlns:p14="http://schemas.microsoft.com/office/powerpoint/2010/main" val="551234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2C4A31E7-DA91-71DB-A2A5-BF481BD413A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22B39910-6CC2-1551-A816-8C1764235E6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7E746D0D-97DD-BDD5-039C-93D602EEFE81}"/>
              </a:ext>
            </a:extLst>
          </p:cNvPr>
          <p:cNvSpPr>
            <a:spLocks noGrp="1" noChangeArrowheads="1"/>
          </p:cNvSpPr>
          <p:nvPr>
            <p:ph type="sldNum" sz="quarter" idx="12"/>
          </p:nvPr>
        </p:nvSpPr>
        <p:spPr>
          <a:ln/>
        </p:spPr>
        <p:txBody>
          <a:bodyPr/>
          <a:lstStyle>
            <a:lvl1pPr>
              <a:defRPr/>
            </a:lvl1pPr>
          </a:lstStyle>
          <a:p>
            <a:fld id="{ED848CD9-4D0E-F345-87B5-898A3029E036}" type="slidenum">
              <a:rPr lang="en-US" altLang="zh-CN"/>
              <a:pPr/>
              <a:t>‹#›</a:t>
            </a:fld>
            <a:endParaRPr lang="en-US" altLang="zh-CN"/>
          </a:p>
        </p:txBody>
      </p:sp>
    </p:spTree>
    <p:extLst>
      <p:ext uri="{BB962C8B-B14F-4D97-AF65-F5344CB8AC3E}">
        <p14:creationId xmlns:p14="http://schemas.microsoft.com/office/powerpoint/2010/main" val="1664271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2946EB46-9D4E-CB7A-CE34-5D1B6ECE953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4DEA2564-0418-9E90-D05A-E6E59B8BF84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6986365-3AEF-5397-BECB-80CB8A459994}"/>
              </a:ext>
            </a:extLst>
          </p:cNvPr>
          <p:cNvSpPr>
            <a:spLocks noGrp="1" noChangeArrowheads="1"/>
          </p:cNvSpPr>
          <p:nvPr>
            <p:ph type="sldNum" sz="quarter" idx="12"/>
          </p:nvPr>
        </p:nvSpPr>
        <p:spPr>
          <a:ln/>
        </p:spPr>
        <p:txBody>
          <a:bodyPr/>
          <a:lstStyle>
            <a:lvl1pPr>
              <a:defRPr/>
            </a:lvl1pPr>
          </a:lstStyle>
          <a:p>
            <a:fld id="{28BFECF6-4846-3549-8DC6-5B7968DC086D}" type="slidenum">
              <a:rPr lang="en-US" altLang="zh-CN"/>
              <a:pPr/>
              <a:t>‹#›</a:t>
            </a:fld>
            <a:endParaRPr lang="en-US" altLang="zh-CN"/>
          </a:p>
        </p:txBody>
      </p:sp>
    </p:spTree>
    <p:extLst>
      <p:ext uri="{BB962C8B-B14F-4D97-AF65-F5344CB8AC3E}">
        <p14:creationId xmlns:p14="http://schemas.microsoft.com/office/powerpoint/2010/main" val="4199474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F1E5A53-2228-2B2E-CEEC-12C1DD9C933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E35F2C7D-D63D-92FD-2209-2AF21D1A3B8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457144B2-95E9-2F04-21B9-1B120A114A13}"/>
              </a:ext>
            </a:extLst>
          </p:cNvPr>
          <p:cNvSpPr>
            <a:spLocks noGrp="1" noChangeArrowheads="1"/>
          </p:cNvSpPr>
          <p:nvPr>
            <p:ph type="sldNum" sz="quarter" idx="12"/>
          </p:nvPr>
        </p:nvSpPr>
        <p:spPr>
          <a:ln/>
        </p:spPr>
        <p:txBody>
          <a:bodyPr/>
          <a:lstStyle>
            <a:lvl1pPr>
              <a:defRPr/>
            </a:lvl1pPr>
          </a:lstStyle>
          <a:p>
            <a:fld id="{3625FE8F-BE91-504F-A35E-82176C2FFA60}" type="slidenum">
              <a:rPr lang="en-US" altLang="zh-CN"/>
              <a:pPr/>
              <a:t>‹#›</a:t>
            </a:fld>
            <a:endParaRPr lang="en-US" altLang="zh-CN"/>
          </a:p>
        </p:txBody>
      </p:sp>
    </p:spTree>
    <p:extLst>
      <p:ext uri="{BB962C8B-B14F-4D97-AF65-F5344CB8AC3E}">
        <p14:creationId xmlns:p14="http://schemas.microsoft.com/office/powerpoint/2010/main" val="207573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2229315C-EE2B-1390-4F6C-0EAAA5EDC18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8977A79-DAC2-9171-BB8E-5E9EF9133E5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6D69035-4521-184C-8095-885CB8CEB9FA}"/>
              </a:ext>
            </a:extLst>
          </p:cNvPr>
          <p:cNvSpPr>
            <a:spLocks noGrp="1" noChangeArrowheads="1"/>
          </p:cNvSpPr>
          <p:nvPr>
            <p:ph type="sldNum" sz="quarter" idx="12"/>
          </p:nvPr>
        </p:nvSpPr>
        <p:spPr>
          <a:ln/>
        </p:spPr>
        <p:txBody>
          <a:bodyPr/>
          <a:lstStyle>
            <a:lvl1pPr>
              <a:defRPr/>
            </a:lvl1pPr>
          </a:lstStyle>
          <a:p>
            <a:fld id="{61836885-45D2-EB4B-8960-541166577BD1}" type="slidenum">
              <a:rPr lang="en-US" altLang="zh-CN"/>
              <a:pPr/>
              <a:t>‹#›</a:t>
            </a:fld>
            <a:endParaRPr lang="en-US" altLang="zh-CN"/>
          </a:p>
        </p:txBody>
      </p:sp>
    </p:spTree>
    <p:extLst>
      <p:ext uri="{BB962C8B-B14F-4D97-AF65-F5344CB8AC3E}">
        <p14:creationId xmlns:p14="http://schemas.microsoft.com/office/powerpoint/2010/main" val="4055947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9A9A56F-D6BF-0655-D11B-69A36A47BC1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6EB697B-2E40-2A27-7CEE-F98E8E1B4A5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71E95E7-8D58-C889-AEC9-386A6638417B}"/>
              </a:ext>
            </a:extLst>
          </p:cNvPr>
          <p:cNvSpPr>
            <a:spLocks noGrp="1" noChangeArrowheads="1"/>
          </p:cNvSpPr>
          <p:nvPr>
            <p:ph type="sldNum" sz="quarter" idx="12"/>
          </p:nvPr>
        </p:nvSpPr>
        <p:spPr>
          <a:ln/>
        </p:spPr>
        <p:txBody>
          <a:bodyPr/>
          <a:lstStyle>
            <a:lvl1pPr>
              <a:defRPr/>
            </a:lvl1pPr>
          </a:lstStyle>
          <a:p>
            <a:fld id="{893A84BF-0DC7-734A-86ED-AA90126B2B7C}" type="slidenum">
              <a:rPr lang="en-US" altLang="zh-CN"/>
              <a:pPr/>
              <a:t>‹#›</a:t>
            </a:fld>
            <a:endParaRPr lang="en-US" altLang="zh-CN"/>
          </a:p>
        </p:txBody>
      </p:sp>
    </p:spTree>
    <p:extLst>
      <p:ext uri="{BB962C8B-B14F-4D97-AF65-F5344CB8AC3E}">
        <p14:creationId xmlns:p14="http://schemas.microsoft.com/office/powerpoint/2010/main" val="1611272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3B62615-8DA9-CCF1-0F0D-E5AB2D612BF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838AC97-BC88-03AA-03D0-D2818EF5F3A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FD7CFAD-1477-90B9-8E7B-08A27DDC24F4}"/>
              </a:ext>
            </a:extLst>
          </p:cNvPr>
          <p:cNvSpPr>
            <a:spLocks noGrp="1" noChangeArrowheads="1"/>
          </p:cNvSpPr>
          <p:nvPr>
            <p:ph type="sldNum" sz="quarter" idx="12"/>
          </p:nvPr>
        </p:nvSpPr>
        <p:spPr>
          <a:ln/>
        </p:spPr>
        <p:txBody>
          <a:bodyPr/>
          <a:lstStyle>
            <a:lvl1pPr>
              <a:defRPr/>
            </a:lvl1pPr>
          </a:lstStyle>
          <a:p>
            <a:fld id="{3077EE30-AEB2-0B40-B23E-FD72A44CD5AA}" type="slidenum">
              <a:rPr lang="en-US" altLang="zh-CN"/>
              <a:pPr/>
              <a:t>‹#›</a:t>
            </a:fld>
            <a:endParaRPr lang="en-US" altLang="zh-CN"/>
          </a:p>
        </p:txBody>
      </p:sp>
    </p:spTree>
    <p:extLst>
      <p:ext uri="{BB962C8B-B14F-4D97-AF65-F5344CB8AC3E}">
        <p14:creationId xmlns:p14="http://schemas.microsoft.com/office/powerpoint/2010/main" val="327219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882D481-37B4-7A31-4E46-A9EE86AB166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1C7D9C7-0CFF-08F2-1E6D-10FB915F406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FCC277D-5680-9CE3-6AA8-04661C7FD2F8}"/>
              </a:ext>
            </a:extLst>
          </p:cNvPr>
          <p:cNvSpPr>
            <a:spLocks noGrp="1" noChangeArrowheads="1"/>
          </p:cNvSpPr>
          <p:nvPr>
            <p:ph type="sldNum" sz="quarter" idx="12"/>
          </p:nvPr>
        </p:nvSpPr>
        <p:spPr>
          <a:ln/>
        </p:spPr>
        <p:txBody>
          <a:bodyPr/>
          <a:lstStyle>
            <a:lvl1pPr>
              <a:defRPr/>
            </a:lvl1pPr>
          </a:lstStyle>
          <a:p>
            <a:fld id="{DD186BF3-DDF7-2343-A5C7-4D349C726813}" type="slidenum">
              <a:rPr lang="en-US" altLang="zh-CN"/>
              <a:pPr/>
              <a:t>‹#›</a:t>
            </a:fld>
            <a:endParaRPr lang="en-US" altLang="zh-CN"/>
          </a:p>
        </p:txBody>
      </p:sp>
    </p:spTree>
    <p:extLst>
      <p:ext uri="{BB962C8B-B14F-4D97-AF65-F5344CB8AC3E}">
        <p14:creationId xmlns:p14="http://schemas.microsoft.com/office/powerpoint/2010/main" val="1545348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1CE0666-8A8B-548D-0675-DC9EF38BDBDA}"/>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15F25280-0271-E4DE-BB39-ABBCA36F1D53}"/>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A38E8FFE-E5FB-80F6-2CDC-08F15FD394A5}"/>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ltLang="zh-CN"/>
          </a:p>
        </p:txBody>
      </p:sp>
      <p:sp>
        <p:nvSpPr>
          <p:cNvPr id="1029" name="Rectangle 5">
            <a:extLst>
              <a:ext uri="{FF2B5EF4-FFF2-40B4-BE49-F238E27FC236}">
                <a16:creationId xmlns:a16="http://schemas.microsoft.com/office/drawing/2014/main" id="{CD8EA97F-BE94-D35D-C23E-A6CB88897D69}"/>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ltLang="zh-CN"/>
          </a:p>
        </p:txBody>
      </p:sp>
      <p:sp>
        <p:nvSpPr>
          <p:cNvPr id="1030" name="Rectangle 6">
            <a:extLst>
              <a:ext uri="{FF2B5EF4-FFF2-40B4-BE49-F238E27FC236}">
                <a16:creationId xmlns:a16="http://schemas.microsoft.com/office/drawing/2014/main" id="{AA0FC34D-0657-107A-3794-8B1F16E00A75}"/>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CB90E8D5-6DE7-B24F-B279-12B82AA7299F}"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emf"/><Relationship Id="rId7"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8.emf"/><Relationship Id="rId7" Type="http://schemas.openxmlformats.org/officeDocument/2006/relationships/image" Target="../media/image10.e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9.emf"/><Relationship Id="rId4" Type="http://schemas.openxmlformats.org/officeDocument/2006/relationships/oleObject" Target="../embeddings/oleObject9.bin"/><Relationship Id="rId9" Type="http://schemas.openxmlformats.org/officeDocument/2006/relationships/image" Target="../media/image11.emf"/></Relationships>
</file>

<file path=ppt/slides/_rels/slide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oleObject" Target="../embeddings/oleObject13.bin"/></Relationships>
</file>

<file path=ppt/slides/_rels/slide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oleObject" Target="../embeddings/oleObject15.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AADB29D-A8BE-5632-68FA-C4BF26A420AC}"/>
              </a:ext>
            </a:extLst>
          </p:cNvPr>
          <p:cNvSpPr>
            <a:spLocks noGrp="1" noChangeArrowheads="1"/>
          </p:cNvSpPr>
          <p:nvPr>
            <p:ph type="ctrTitle"/>
          </p:nvPr>
        </p:nvSpPr>
        <p:spPr/>
        <p:txBody>
          <a:bodyPr/>
          <a:lstStyle/>
          <a:p>
            <a:pPr eaLnBrk="1" hangingPunct="1"/>
            <a:r>
              <a:rPr lang="zh-CN" altLang="en-US"/>
              <a:t>第</a:t>
            </a:r>
            <a:r>
              <a:rPr lang="en-US" altLang="zh-CN"/>
              <a:t>10</a:t>
            </a:r>
            <a:r>
              <a:rPr lang="zh-CN" altLang="en-US"/>
              <a:t>章</a:t>
            </a:r>
          </a:p>
        </p:txBody>
      </p:sp>
      <p:sp>
        <p:nvSpPr>
          <p:cNvPr id="2051" name="Rectangle 3">
            <a:extLst>
              <a:ext uri="{FF2B5EF4-FFF2-40B4-BE49-F238E27FC236}">
                <a16:creationId xmlns:a16="http://schemas.microsoft.com/office/drawing/2014/main" id="{C58BE1BF-D35E-634A-7FCC-DF532E86A56A}"/>
              </a:ext>
            </a:extLst>
          </p:cNvPr>
          <p:cNvSpPr>
            <a:spLocks noGrp="1" noChangeArrowheads="1"/>
          </p:cNvSpPr>
          <p:nvPr>
            <p:ph type="subTitle" idx="1"/>
          </p:nvPr>
        </p:nvSpPr>
        <p:spPr/>
        <p:txBody>
          <a:bodyPr/>
          <a:lstStyle/>
          <a:p>
            <a:pPr eaLnBrk="1" hangingPunct="1"/>
            <a:r>
              <a:rPr lang="zh-CN" altLang="en-US" b="1"/>
              <a:t>计算复杂度理论</a:t>
            </a:r>
            <a:r>
              <a:rPr lang="zh-CN" altLang="en-US"/>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89DF25F-A53A-9B81-B86E-02A749E656E4}"/>
              </a:ext>
            </a:extLst>
          </p:cNvPr>
          <p:cNvSpPr>
            <a:spLocks noGrp="1" noChangeArrowheads="1"/>
          </p:cNvSpPr>
          <p:nvPr>
            <p:ph type="title"/>
          </p:nvPr>
        </p:nvSpPr>
        <p:spPr/>
        <p:txBody>
          <a:bodyPr/>
          <a:lstStyle/>
          <a:p>
            <a:pPr eaLnBrk="1" hangingPunct="1"/>
            <a:r>
              <a:rPr lang="zh-CN" altLang="en-US" b="1"/>
              <a:t>计算复杂性</a:t>
            </a:r>
            <a:endParaRPr lang="zh-CN" altLang="zh-CN" b="1"/>
          </a:p>
        </p:txBody>
      </p:sp>
      <p:sp>
        <p:nvSpPr>
          <p:cNvPr id="3075" name="Rectangle 3">
            <a:extLst>
              <a:ext uri="{FF2B5EF4-FFF2-40B4-BE49-F238E27FC236}">
                <a16:creationId xmlns:a16="http://schemas.microsoft.com/office/drawing/2014/main" id="{CB4442CF-93CF-4F67-E71C-103D4E96F838}"/>
              </a:ext>
            </a:extLst>
          </p:cNvPr>
          <p:cNvSpPr>
            <a:spLocks noGrp="1" noChangeArrowheads="1"/>
          </p:cNvSpPr>
          <p:nvPr>
            <p:ph type="body" idx="1"/>
          </p:nvPr>
        </p:nvSpPr>
        <p:spPr/>
        <p:txBody>
          <a:bodyPr/>
          <a:lstStyle/>
          <a:p>
            <a:pPr eaLnBrk="1" hangingPunct="1"/>
            <a:r>
              <a:rPr lang="zh-CN" altLang="en-US" sz="2800" b="1"/>
              <a:t>无论在理论研究与实际应用，人们经常会以上遇上各种计算问题，用什么方法，如何度量这些问题的难易程度，在计算机科学理论具有十分重要的意义。</a:t>
            </a:r>
          </a:p>
          <a:p>
            <a:pPr eaLnBrk="1" hangingPunct="1"/>
            <a:r>
              <a:rPr lang="zh-CN" altLang="en-US" sz="2800" b="1"/>
              <a:t>计算复杂性理论就是针对求解问题所需要的计算时间和计算空间等资源进行研究，通过具体的数学模型给出求解一个问题是“困难”还是“容易”的确切定义，并依据求解计算问题所需时间和空间对问题进行分类。</a:t>
            </a:r>
          </a:p>
          <a:p>
            <a:pPr eaLnBrk="1" hangingPunct="1"/>
            <a:endParaRPr lang="en-US" altLang="zh-CN" sz="28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DED3F96-9349-F188-3D41-6E491A440418}"/>
              </a:ext>
            </a:extLst>
          </p:cNvPr>
          <p:cNvSpPr>
            <a:spLocks noGrp="1" noChangeArrowheads="1"/>
          </p:cNvSpPr>
          <p:nvPr>
            <p:ph type="title"/>
          </p:nvPr>
        </p:nvSpPr>
        <p:spPr/>
        <p:txBody>
          <a:bodyPr/>
          <a:lstStyle/>
          <a:p>
            <a:pPr eaLnBrk="1" hangingPunct="1"/>
            <a:endParaRPr lang="zh-CN" altLang="zh-CN"/>
          </a:p>
        </p:txBody>
      </p:sp>
      <p:sp>
        <p:nvSpPr>
          <p:cNvPr id="4099" name="Rectangle 3">
            <a:extLst>
              <a:ext uri="{FF2B5EF4-FFF2-40B4-BE49-F238E27FC236}">
                <a16:creationId xmlns:a16="http://schemas.microsoft.com/office/drawing/2014/main" id="{39881599-1E19-C171-E885-0DBAF455B86A}"/>
              </a:ext>
            </a:extLst>
          </p:cNvPr>
          <p:cNvSpPr>
            <a:spLocks noGrp="1" noChangeArrowheads="1"/>
          </p:cNvSpPr>
          <p:nvPr>
            <p:ph type="body" idx="1"/>
          </p:nvPr>
        </p:nvSpPr>
        <p:spPr/>
        <p:txBody>
          <a:bodyPr/>
          <a:lstStyle/>
          <a:p>
            <a:pPr eaLnBrk="1" hangingPunct="1"/>
            <a:r>
              <a:rPr lang="zh-CN" altLang="en-US" sz="2800" b="1"/>
              <a:t>计算复杂性理论是设计和分析密码学算法和安全协议的基础。</a:t>
            </a:r>
            <a:endParaRPr lang="en-US" altLang="zh-CN" sz="2800" b="1"/>
          </a:p>
          <a:p>
            <a:pPr eaLnBrk="1" hangingPunct="1"/>
            <a:endParaRPr lang="en-US" altLang="zh-CN" sz="2800" b="1"/>
          </a:p>
          <a:p>
            <a:pPr eaLnBrk="1" hangingPunct="1"/>
            <a:r>
              <a:rPr lang="zh-CN" altLang="en-US" sz="2800" b="1"/>
              <a:t>很多密码算法与安全协议的安全性是以某些计算问题的困难性为前提条件，如在可证明安全的密码算法研究中，用于安全证明的归约技术就是通过有效的归约把对密码算法的有效攻击转化为求解某些困难问题。</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F164F06-823B-6EA8-6A66-A24CFCE2A3C4}"/>
              </a:ext>
            </a:extLst>
          </p:cNvPr>
          <p:cNvSpPr>
            <a:spLocks noGrp="1" noChangeArrowheads="1"/>
          </p:cNvSpPr>
          <p:nvPr>
            <p:ph type="title"/>
          </p:nvPr>
        </p:nvSpPr>
        <p:spPr/>
        <p:txBody>
          <a:bodyPr/>
          <a:lstStyle/>
          <a:p>
            <a:pPr eaLnBrk="1" hangingPunct="1"/>
            <a:r>
              <a:rPr lang="zh-CN" altLang="en-US" b="1"/>
              <a:t>基本概念</a:t>
            </a:r>
          </a:p>
        </p:txBody>
      </p:sp>
      <p:sp>
        <p:nvSpPr>
          <p:cNvPr id="5123" name="Rectangle 3">
            <a:extLst>
              <a:ext uri="{FF2B5EF4-FFF2-40B4-BE49-F238E27FC236}">
                <a16:creationId xmlns:a16="http://schemas.microsoft.com/office/drawing/2014/main" id="{CA6293A1-03DC-AEE0-C32F-A43715FEBCC0}"/>
              </a:ext>
            </a:extLst>
          </p:cNvPr>
          <p:cNvSpPr>
            <a:spLocks noGrp="1" noChangeArrowheads="1"/>
          </p:cNvSpPr>
          <p:nvPr>
            <p:ph type="body" idx="1"/>
          </p:nvPr>
        </p:nvSpPr>
        <p:spPr/>
        <p:txBody>
          <a:bodyPr/>
          <a:lstStyle/>
          <a:p>
            <a:pPr eaLnBrk="1" hangingPunct="1"/>
            <a:r>
              <a:rPr lang="zh-CN" altLang="en-US" b="1"/>
              <a:t>问题和算法</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2A90B36-C844-D322-BC5A-58BB100A9CE1}"/>
              </a:ext>
            </a:extLst>
          </p:cNvPr>
          <p:cNvSpPr>
            <a:spLocks noGrp="1" noChangeArrowheads="1"/>
          </p:cNvSpPr>
          <p:nvPr>
            <p:ph type="title"/>
          </p:nvPr>
        </p:nvSpPr>
        <p:spPr/>
        <p:txBody>
          <a:bodyPr/>
          <a:lstStyle/>
          <a:p>
            <a:pPr eaLnBrk="1" hangingPunct="1"/>
            <a:r>
              <a:rPr lang="zh-CN" altLang="en-US"/>
              <a:t>问题</a:t>
            </a:r>
          </a:p>
        </p:txBody>
      </p:sp>
      <p:sp>
        <p:nvSpPr>
          <p:cNvPr id="6147" name="Rectangle 3">
            <a:extLst>
              <a:ext uri="{FF2B5EF4-FFF2-40B4-BE49-F238E27FC236}">
                <a16:creationId xmlns:a16="http://schemas.microsoft.com/office/drawing/2014/main" id="{EB791FDE-BCFB-1214-97BF-4D3600F9EFA1}"/>
              </a:ext>
            </a:extLst>
          </p:cNvPr>
          <p:cNvSpPr>
            <a:spLocks noGrp="1" noChangeArrowheads="1"/>
          </p:cNvSpPr>
          <p:nvPr>
            <p:ph type="body" idx="1"/>
          </p:nvPr>
        </p:nvSpPr>
        <p:spPr/>
        <p:txBody>
          <a:bodyPr/>
          <a:lstStyle/>
          <a:p>
            <a:pPr eaLnBrk="1" hangingPunct="1"/>
            <a:r>
              <a:rPr lang="zh-CN" altLang="en-US" b="1"/>
              <a:t>问题是指需要回答的一般性提问，通常包含若干个未定参数或自由变量。</a:t>
            </a:r>
          </a:p>
          <a:p>
            <a:pPr eaLnBrk="1" hangingPunct="1"/>
            <a:r>
              <a:rPr lang="zh-CN" altLang="en-US" b="1"/>
              <a:t>问题的描述包括两个方面：</a:t>
            </a:r>
            <a:r>
              <a:rPr lang="en-US" altLang="zh-CN" b="1"/>
              <a:t>(i) </a:t>
            </a:r>
            <a:r>
              <a:rPr lang="zh-CN" altLang="en-US" b="1"/>
              <a:t>给定所有的未定参数的一般性描述；</a:t>
            </a:r>
            <a:r>
              <a:rPr lang="en-US" altLang="zh-CN" b="1"/>
              <a:t>(ii) </a:t>
            </a:r>
            <a:r>
              <a:rPr lang="zh-CN" altLang="en-US" b="1"/>
              <a:t>陈述“答案”或者“解”必须满足的性质。</a:t>
            </a:r>
          </a:p>
          <a:p>
            <a:pPr eaLnBrk="1" hangingPunct="1"/>
            <a:r>
              <a:rPr lang="zh-CN" altLang="en-US" b="1"/>
              <a:t>若给问题的所有未指定参数指定了具体的值，就得到该问题的一个实例。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9FF633F-AA1B-57DF-A8DD-3453BB26B1CB}"/>
              </a:ext>
            </a:extLst>
          </p:cNvPr>
          <p:cNvSpPr>
            <a:spLocks noGrp="1" noChangeArrowheads="1"/>
          </p:cNvSpPr>
          <p:nvPr>
            <p:ph type="title"/>
          </p:nvPr>
        </p:nvSpPr>
        <p:spPr/>
        <p:txBody>
          <a:bodyPr/>
          <a:lstStyle/>
          <a:p>
            <a:pPr eaLnBrk="1" hangingPunct="1"/>
            <a:endParaRPr lang="zh-CN" altLang="zh-CN"/>
          </a:p>
        </p:txBody>
      </p:sp>
      <p:sp>
        <p:nvSpPr>
          <p:cNvPr id="7171" name="Rectangle 3">
            <a:extLst>
              <a:ext uri="{FF2B5EF4-FFF2-40B4-BE49-F238E27FC236}">
                <a16:creationId xmlns:a16="http://schemas.microsoft.com/office/drawing/2014/main" id="{AA1D5F1B-A454-9C70-70E3-B940EB34A2C9}"/>
              </a:ext>
            </a:extLst>
          </p:cNvPr>
          <p:cNvSpPr>
            <a:spLocks noGrp="1" noChangeArrowheads="1"/>
          </p:cNvSpPr>
          <p:nvPr>
            <p:ph type="body" idx="1"/>
          </p:nvPr>
        </p:nvSpPr>
        <p:spPr/>
        <p:txBody>
          <a:bodyPr/>
          <a:lstStyle/>
          <a:p>
            <a:pPr eaLnBrk="1" hangingPunct="1">
              <a:lnSpc>
                <a:spcPct val="90000"/>
              </a:lnSpc>
            </a:pPr>
            <a:r>
              <a:rPr lang="zh-CN" altLang="en-US" sz="2400" b="1"/>
              <a:t>例</a:t>
            </a:r>
            <a:r>
              <a:rPr lang="en-US" altLang="zh-CN" sz="2400" b="1"/>
              <a:t>10.1.1</a:t>
            </a:r>
            <a:r>
              <a:rPr lang="zh-CN" altLang="en-US" sz="2400" b="1"/>
              <a:t> 在二元域</a:t>
            </a:r>
            <a:r>
              <a:rPr lang="en-US" altLang="zh-CN" sz="2400" b="1"/>
              <a:t>Z</a:t>
            </a:r>
            <a:r>
              <a:rPr lang="en-US" altLang="zh-CN" sz="2400" b="1" baseline="-25000"/>
              <a:t>2</a:t>
            </a:r>
            <a:r>
              <a:rPr lang="zh-CN" altLang="en-US" sz="2400" b="1"/>
              <a:t>上求解下列布尔函数组</a:t>
            </a:r>
          </a:p>
          <a:p>
            <a:pPr eaLnBrk="1" hangingPunct="1">
              <a:lnSpc>
                <a:spcPct val="90000"/>
              </a:lnSpc>
            </a:pPr>
            <a:endParaRPr lang="zh-CN" altLang="en-US" sz="2400" b="1"/>
          </a:p>
          <a:p>
            <a:pPr eaLnBrk="1" hangingPunct="1">
              <a:lnSpc>
                <a:spcPct val="90000"/>
              </a:lnSpc>
            </a:pPr>
            <a:endParaRPr lang="zh-CN" altLang="en-US" sz="2400" b="1"/>
          </a:p>
          <a:p>
            <a:pPr eaLnBrk="1" hangingPunct="1">
              <a:lnSpc>
                <a:spcPct val="90000"/>
              </a:lnSpc>
            </a:pPr>
            <a:endParaRPr lang="zh-CN" altLang="en-US" sz="2400" b="1"/>
          </a:p>
          <a:p>
            <a:pPr eaLnBrk="1" hangingPunct="1">
              <a:lnSpc>
                <a:spcPct val="90000"/>
              </a:lnSpc>
            </a:pPr>
            <a:endParaRPr lang="zh-CN" altLang="en-US" sz="2400" b="1"/>
          </a:p>
          <a:p>
            <a:pPr eaLnBrk="1" hangingPunct="1">
              <a:lnSpc>
                <a:spcPct val="90000"/>
              </a:lnSpc>
            </a:pPr>
            <a:endParaRPr lang="zh-CN" altLang="en-US" sz="2400" b="1"/>
          </a:p>
          <a:p>
            <a:pPr eaLnBrk="1" hangingPunct="1">
              <a:lnSpc>
                <a:spcPct val="90000"/>
              </a:lnSpc>
            </a:pPr>
            <a:endParaRPr lang="zh-CN" altLang="en-US" sz="2400" b="1"/>
          </a:p>
          <a:p>
            <a:pPr eaLnBrk="1" hangingPunct="1">
              <a:lnSpc>
                <a:spcPct val="90000"/>
              </a:lnSpc>
            </a:pPr>
            <a:r>
              <a:rPr lang="zh-CN" altLang="en-US" sz="2400" b="1"/>
              <a:t>此问题的参数的集合为                                。此问题的解是向量                       它满足对所有的            ，                。取</a:t>
            </a:r>
            <a:r>
              <a:rPr lang="en-US" altLang="zh-CN" sz="2400" b="1"/>
              <a:t>m=n=3</a:t>
            </a:r>
            <a:r>
              <a:rPr lang="zh-CN" altLang="en-US" sz="2400" b="1"/>
              <a:t>，</a:t>
            </a:r>
            <a:r>
              <a:rPr lang="en-US" altLang="zh-CN" sz="2400" b="1"/>
              <a:t>f</a:t>
            </a:r>
            <a:r>
              <a:rPr lang="en-US" altLang="zh-CN" sz="2400" b="1" baseline="-25000"/>
              <a:t>1</a:t>
            </a:r>
            <a:r>
              <a:rPr lang="en-US" altLang="zh-CN" sz="2400" b="1"/>
              <a:t>=x</a:t>
            </a:r>
            <a:r>
              <a:rPr lang="en-US" altLang="zh-CN" sz="2400" b="1" baseline="-25000"/>
              <a:t>1</a:t>
            </a:r>
            <a:r>
              <a:rPr lang="en-US" altLang="zh-CN" sz="2400" b="1"/>
              <a:t>+x</a:t>
            </a:r>
            <a:r>
              <a:rPr lang="en-US" altLang="zh-CN" sz="2400" b="1" baseline="-25000"/>
              <a:t>2</a:t>
            </a:r>
            <a:r>
              <a:rPr lang="en-US" altLang="zh-CN" sz="2400" b="1"/>
              <a:t>x</a:t>
            </a:r>
            <a:r>
              <a:rPr lang="en-US" altLang="zh-CN" sz="2400" b="1" baseline="-25000"/>
              <a:t>3</a:t>
            </a:r>
            <a:r>
              <a:rPr lang="zh-CN" altLang="en-US" sz="2400" b="1"/>
              <a:t>，</a:t>
            </a:r>
            <a:r>
              <a:rPr lang="en-US" altLang="zh-CN" sz="2400" b="1"/>
              <a:t>f</a:t>
            </a:r>
            <a:r>
              <a:rPr lang="en-US" altLang="zh-CN" sz="2400" b="1" baseline="-25000"/>
              <a:t>2</a:t>
            </a:r>
            <a:r>
              <a:rPr lang="en-US" altLang="zh-CN" sz="2400" b="1"/>
              <a:t>=1+x</a:t>
            </a:r>
            <a:r>
              <a:rPr lang="en-US" altLang="zh-CN" sz="2400" b="1" baseline="-25000"/>
              <a:t>1</a:t>
            </a:r>
            <a:r>
              <a:rPr lang="en-US" altLang="zh-CN" sz="2400" b="1"/>
              <a:t>x</a:t>
            </a:r>
            <a:r>
              <a:rPr lang="en-US" altLang="zh-CN" sz="2400" b="1" baseline="-25000"/>
              <a:t>2</a:t>
            </a:r>
            <a:r>
              <a:rPr lang="zh-CN" altLang="en-US" sz="2400" b="1"/>
              <a:t>，</a:t>
            </a:r>
            <a:r>
              <a:rPr lang="en-US" altLang="zh-CN" sz="2400" b="1"/>
              <a:t>f</a:t>
            </a:r>
            <a:r>
              <a:rPr lang="en-US" altLang="zh-CN" sz="2400" b="1" baseline="-25000"/>
              <a:t>3</a:t>
            </a:r>
            <a:r>
              <a:rPr lang="en-US" altLang="zh-CN" sz="2400" b="1"/>
              <a:t>=1+x</a:t>
            </a:r>
            <a:r>
              <a:rPr lang="en-US" altLang="zh-CN" sz="2400" b="1" baseline="-25000"/>
              <a:t>1</a:t>
            </a:r>
            <a:r>
              <a:rPr lang="en-US" altLang="zh-CN" sz="2400" b="1"/>
              <a:t>x</a:t>
            </a:r>
            <a:r>
              <a:rPr lang="en-US" altLang="zh-CN" sz="2400" b="1" baseline="-25000"/>
              <a:t>2</a:t>
            </a:r>
            <a:r>
              <a:rPr lang="en-US" altLang="zh-CN" sz="2400" b="1"/>
              <a:t>+x</a:t>
            </a:r>
            <a:r>
              <a:rPr lang="en-US" altLang="zh-CN" sz="2400" b="1" baseline="-25000"/>
              <a:t>1</a:t>
            </a:r>
            <a:r>
              <a:rPr lang="en-US" altLang="zh-CN" sz="2400" b="1"/>
              <a:t>x</a:t>
            </a:r>
            <a:r>
              <a:rPr lang="en-US" altLang="zh-CN" sz="2400" b="1" baseline="-25000"/>
              <a:t>2</a:t>
            </a:r>
            <a:r>
              <a:rPr lang="en-US" altLang="zh-CN" sz="2400" b="1"/>
              <a:t>x</a:t>
            </a:r>
            <a:r>
              <a:rPr lang="en-US" altLang="zh-CN" sz="2400" b="1" baseline="-25000"/>
              <a:t>3</a:t>
            </a:r>
            <a:r>
              <a:rPr lang="zh-CN" altLang="en-US" sz="2400" b="1"/>
              <a:t>，就得到该问题的一个实例。 </a:t>
            </a:r>
          </a:p>
          <a:p>
            <a:pPr eaLnBrk="1" hangingPunct="1">
              <a:lnSpc>
                <a:spcPct val="90000"/>
              </a:lnSpc>
              <a:buFontTx/>
              <a:buNone/>
            </a:pPr>
            <a:r>
              <a:rPr lang="zh-CN" altLang="en-US" sz="2400" b="1"/>
              <a:t>                   </a:t>
            </a:r>
          </a:p>
        </p:txBody>
      </p:sp>
      <p:sp>
        <p:nvSpPr>
          <p:cNvPr id="7172" name="Rectangle 5">
            <a:extLst>
              <a:ext uri="{FF2B5EF4-FFF2-40B4-BE49-F238E27FC236}">
                <a16:creationId xmlns:a16="http://schemas.microsoft.com/office/drawing/2014/main" id="{82C1C941-3AEB-355B-0E51-EF3BEEF57A1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173" name="Object 4">
            <a:extLst>
              <a:ext uri="{FF2B5EF4-FFF2-40B4-BE49-F238E27FC236}">
                <a16:creationId xmlns:a16="http://schemas.microsoft.com/office/drawing/2014/main" id="{4AD6B137-A883-727C-9C7A-36759C63E8D1}"/>
              </a:ext>
            </a:extLst>
          </p:cNvPr>
          <p:cNvGraphicFramePr>
            <a:graphicFrameLocks noChangeAspect="1"/>
          </p:cNvGraphicFramePr>
          <p:nvPr/>
        </p:nvGraphicFramePr>
        <p:xfrm>
          <a:off x="2286000" y="1981200"/>
          <a:ext cx="2895600" cy="2171700"/>
        </p:xfrm>
        <a:graphic>
          <a:graphicData uri="http://schemas.openxmlformats.org/presentationml/2006/ole">
            <mc:AlternateContent xmlns:mc="http://schemas.openxmlformats.org/markup-compatibility/2006">
              <mc:Choice xmlns:v="urn:schemas-microsoft-com:vml" Requires="v">
                <p:oleObj name="公式" r:id="rId2" imgW="28968700" imgH="21653500" progId="Equation.3">
                  <p:embed/>
                </p:oleObj>
              </mc:Choice>
              <mc:Fallback>
                <p:oleObj name="公式" r:id="rId2" imgW="28968700" imgH="216535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981200"/>
                        <a:ext cx="289560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4" name="Rectangle 6">
            <a:extLst>
              <a:ext uri="{FF2B5EF4-FFF2-40B4-BE49-F238E27FC236}">
                <a16:creationId xmlns:a16="http://schemas.microsoft.com/office/drawing/2014/main" id="{F18C21D9-90DB-563A-D179-1814CD87CFBE}"/>
              </a:ext>
            </a:extLst>
          </p:cNvPr>
          <p:cNvSpPr>
            <a:spLocks noChangeArrowheads="1"/>
          </p:cNvSpPr>
          <p:nvPr/>
        </p:nvSpPr>
        <p:spPr bwMode="auto">
          <a:xfrm>
            <a:off x="0" y="942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175" name="Rectangle 8">
            <a:extLst>
              <a:ext uri="{FF2B5EF4-FFF2-40B4-BE49-F238E27FC236}">
                <a16:creationId xmlns:a16="http://schemas.microsoft.com/office/drawing/2014/main" id="{292F60E5-221E-0485-4516-E26C7EED0CD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176" name="Object 7">
            <a:extLst>
              <a:ext uri="{FF2B5EF4-FFF2-40B4-BE49-F238E27FC236}">
                <a16:creationId xmlns:a16="http://schemas.microsoft.com/office/drawing/2014/main" id="{B3C609B8-4170-FF82-D062-15490D7E4ED1}"/>
              </a:ext>
            </a:extLst>
          </p:cNvPr>
          <p:cNvGraphicFramePr>
            <a:graphicFrameLocks noChangeAspect="1"/>
          </p:cNvGraphicFramePr>
          <p:nvPr/>
        </p:nvGraphicFramePr>
        <p:xfrm>
          <a:off x="4038600" y="4343400"/>
          <a:ext cx="2628900" cy="457200"/>
        </p:xfrm>
        <a:graphic>
          <a:graphicData uri="http://schemas.openxmlformats.org/presentationml/2006/ole">
            <mc:AlternateContent xmlns:mc="http://schemas.openxmlformats.org/markup-compatibility/2006">
              <mc:Choice xmlns:v="urn:schemas-microsoft-com:vml" Requires="v">
                <p:oleObj name="公式" r:id="rId4" imgW="31597600" imgH="5562600" progId="Equation.3">
                  <p:embed/>
                </p:oleObj>
              </mc:Choice>
              <mc:Fallback>
                <p:oleObj name="公式" r:id="rId4" imgW="31597600" imgH="5562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4343400"/>
                        <a:ext cx="2628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7" name="Rectangle 10">
            <a:extLst>
              <a:ext uri="{FF2B5EF4-FFF2-40B4-BE49-F238E27FC236}">
                <a16:creationId xmlns:a16="http://schemas.microsoft.com/office/drawing/2014/main" id="{3FC3DC38-C7A3-22E5-4117-1E3C972807E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178" name="Object 9">
            <a:extLst>
              <a:ext uri="{FF2B5EF4-FFF2-40B4-BE49-F238E27FC236}">
                <a16:creationId xmlns:a16="http://schemas.microsoft.com/office/drawing/2014/main" id="{73DE9EF1-38AD-E24B-8813-D9F1FF3D24A3}"/>
              </a:ext>
            </a:extLst>
          </p:cNvPr>
          <p:cNvGraphicFramePr>
            <a:graphicFrameLocks noChangeAspect="1"/>
          </p:cNvGraphicFramePr>
          <p:nvPr/>
        </p:nvGraphicFramePr>
        <p:xfrm>
          <a:off x="1893888" y="4800600"/>
          <a:ext cx="1763712" cy="381000"/>
        </p:xfrm>
        <a:graphic>
          <a:graphicData uri="http://schemas.openxmlformats.org/presentationml/2006/ole">
            <mc:AlternateContent xmlns:mc="http://schemas.openxmlformats.org/markup-compatibility/2006">
              <mc:Choice xmlns:v="urn:schemas-microsoft-com:vml" Requires="v">
                <p:oleObj name="公式" r:id="rId6" imgW="25450800" imgH="5562600" progId="Equation.3">
                  <p:embed/>
                </p:oleObj>
              </mc:Choice>
              <mc:Fallback>
                <p:oleObj name="公式" r:id="rId6" imgW="25450800" imgH="55626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3888" y="4800600"/>
                        <a:ext cx="17637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9" name="Rectangle 12">
            <a:extLst>
              <a:ext uri="{FF2B5EF4-FFF2-40B4-BE49-F238E27FC236}">
                <a16:creationId xmlns:a16="http://schemas.microsoft.com/office/drawing/2014/main" id="{9D8BD7CE-3F4A-80E7-5945-659C071DE92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180" name="Object 11">
            <a:extLst>
              <a:ext uri="{FF2B5EF4-FFF2-40B4-BE49-F238E27FC236}">
                <a16:creationId xmlns:a16="http://schemas.microsoft.com/office/drawing/2014/main" id="{6BEBCEC8-5CC6-1B2B-D8B6-A3C0B89C2A04}"/>
              </a:ext>
            </a:extLst>
          </p:cNvPr>
          <p:cNvGraphicFramePr>
            <a:graphicFrameLocks noChangeAspect="1"/>
          </p:cNvGraphicFramePr>
          <p:nvPr/>
        </p:nvGraphicFramePr>
        <p:xfrm>
          <a:off x="5943600" y="4800600"/>
          <a:ext cx="962025" cy="304800"/>
        </p:xfrm>
        <a:graphic>
          <a:graphicData uri="http://schemas.openxmlformats.org/presentationml/2006/ole">
            <mc:AlternateContent xmlns:mc="http://schemas.openxmlformats.org/markup-compatibility/2006">
              <mc:Choice xmlns:v="urn:schemas-microsoft-com:vml" Requires="v">
                <p:oleObj name="公式" r:id="rId8" imgW="13169900" imgH="4102100" progId="Equation.3">
                  <p:embed/>
                </p:oleObj>
              </mc:Choice>
              <mc:Fallback>
                <p:oleObj name="公式" r:id="rId8" imgW="13169900" imgH="410210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3600" y="4800600"/>
                        <a:ext cx="962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81" name="Rectangle 14">
            <a:extLst>
              <a:ext uri="{FF2B5EF4-FFF2-40B4-BE49-F238E27FC236}">
                <a16:creationId xmlns:a16="http://schemas.microsoft.com/office/drawing/2014/main" id="{6B79F407-0D3A-7A3F-0F72-D5258B20E44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182" name="Object 13">
            <a:extLst>
              <a:ext uri="{FF2B5EF4-FFF2-40B4-BE49-F238E27FC236}">
                <a16:creationId xmlns:a16="http://schemas.microsoft.com/office/drawing/2014/main" id="{AA07677E-44B7-27A7-92B8-3368B9C98702}"/>
              </a:ext>
            </a:extLst>
          </p:cNvPr>
          <p:cNvGraphicFramePr>
            <a:graphicFrameLocks noChangeAspect="1"/>
          </p:cNvGraphicFramePr>
          <p:nvPr/>
        </p:nvGraphicFramePr>
        <p:xfrm>
          <a:off x="6934200" y="4800600"/>
          <a:ext cx="1920875" cy="381000"/>
        </p:xfrm>
        <a:graphic>
          <a:graphicData uri="http://schemas.openxmlformats.org/presentationml/2006/ole">
            <mc:AlternateContent xmlns:mc="http://schemas.openxmlformats.org/markup-compatibility/2006">
              <mc:Choice xmlns:v="urn:schemas-microsoft-com:vml" Requires="v">
                <p:oleObj name="公式" r:id="rId10" imgW="26619200" imgH="5270500" progId="Equation.3">
                  <p:embed/>
                </p:oleObj>
              </mc:Choice>
              <mc:Fallback>
                <p:oleObj name="公式" r:id="rId10" imgW="26619200" imgH="5270500"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34200" y="4800600"/>
                        <a:ext cx="19208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F2E06CA-4253-A82B-0F4C-6A9FD3918455}"/>
              </a:ext>
            </a:extLst>
          </p:cNvPr>
          <p:cNvSpPr>
            <a:spLocks noGrp="1" noChangeArrowheads="1"/>
          </p:cNvSpPr>
          <p:nvPr>
            <p:ph type="title"/>
          </p:nvPr>
        </p:nvSpPr>
        <p:spPr/>
        <p:txBody>
          <a:bodyPr/>
          <a:lstStyle/>
          <a:p>
            <a:pPr eaLnBrk="1" hangingPunct="1"/>
            <a:r>
              <a:rPr lang="zh-CN" altLang="en-US" b="1"/>
              <a:t>算法</a:t>
            </a:r>
          </a:p>
        </p:txBody>
      </p:sp>
      <p:sp>
        <p:nvSpPr>
          <p:cNvPr id="8195" name="Rectangle 3">
            <a:extLst>
              <a:ext uri="{FF2B5EF4-FFF2-40B4-BE49-F238E27FC236}">
                <a16:creationId xmlns:a16="http://schemas.microsoft.com/office/drawing/2014/main" id="{44688B71-5A4F-CF14-37AC-D2C83EBCD106}"/>
              </a:ext>
            </a:extLst>
          </p:cNvPr>
          <p:cNvSpPr>
            <a:spLocks noGrp="1" noChangeArrowheads="1"/>
          </p:cNvSpPr>
          <p:nvPr>
            <p:ph type="body" idx="1"/>
          </p:nvPr>
        </p:nvSpPr>
        <p:spPr/>
        <p:txBody>
          <a:bodyPr/>
          <a:lstStyle/>
          <a:p>
            <a:pPr eaLnBrk="1" hangingPunct="1"/>
            <a:r>
              <a:rPr lang="zh-CN" altLang="en-US" b="1"/>
              <a:t>针对两个整数求最大公因数问题，可以用</a:t>
            </a:r>
            <a:r>
              <a:rPr lang="en-US" altLang="zh-CN" b="1"/>
              <a:t>Euclidean</a:t>
            </a:r>
            <a:r>
              <a:rPr lang="zh-CN" altLang="en-US" b="1"/>
              <a:t>算法很快计算。</a:t>
            </a:r>
          </a:p>
          <a:p>
            <a:pPr eaLnBrk="1" hangingPunct="1"/>
            <a:r>
              <a:rPr lang="zh-CN" altLang="en-US" b="1"/>
              <a:t>但是有时一个问题在理论上可解，但是并不意味着该问题再实际中也是可解的。</a:t>
            </a:r>
          </a:p>
          <a:p>
            <a:pPr eaLnBrk="1" hangingPunct="1"/>
            <a:r>
              <a:rPr lang="zh-CN" altLang="en-US" b="1"/>
              <a:t>对于许多问题来说，发现求解该问题的一个算法是容易的，但是利用该算法得到该问题的解在实际中是不可行的。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7D680FE-96A1-7F0E-2C93-5D1115C5D112}"/>
              </a:ext>
            </a:extLst>
          </p:cNvPr>
          <p:cNvSpPr>
            <a:spLocks noGrp="1" noChangeArrowheads="1"/>
          </p:cNvSpPr>
          <p:nvPr>
            <p:ph type="title"/>
          </p:nvPr>
        </p:nvSpPr>
        <p:spPr/>
        <p:txBody>
          <a:bodyPr/>
          <a:lstStyle/>
          <a:p>
            <a:pPr eaLnBrk="1" hangingPunct="1"/>
            <a:r>
              <a:rPr lang="zh-CN" altLang="en-US" b="1"/>
              <a:t>旅行商问题</a:t>
            </a:r>
          </a:p>
        </p:txBody>
      </p:sp>
      <p:sp>
        <p:nvSpPr>
          <p:cNvPr id="9219" name="Rectangle 3">
            <a:extLst>
              <a:ext uri="{FF2B5EF4-FFF2-40B4-BE49-F238E27FC236}">
                <a16:creationId xmlns:a16="http://schemas.microsoft.com/office/drawing/2014/main" id="{FA180B49-B00C-096F-777D-582C4F40BBEA}"/>
              </a:ext>
            </a:extLst>
          </p:cNvPr>
          <p:cNvSpPr>
            <a:spLocks noGrp="1" noChangeArrowheads="1"/>
          </p:cNvSpPr>
          <p:nvPr>
            <p:ph type="body" idx="1"/>
          </p:nvPr>
        </p:nvSpPr>
        <p:spPr/>
        <p:txBody>
          <a:bodyPr/>
          <a:lstStyle/>
          <a:p>
            <a:pPr eaLnBrk="1" hangingPunct="1"/>
            <a:r>
              <a:rPr lang="zh-CN" altLang="en-US" b="1"/>
              <a:t>一个推销商从</a:t>
            </a:r>
            <a:r>
              <a:rPr lang="en-US" altLang="zh-CN" b="1"/>
              <a:t>A</a:t>
            </a:r>
            <a:r>
              <a:rPr lang="zh-CN" altLang="en-US" b="1"/>
              <a:t>城市出发，到其他</a:t>
            </a:r>
            <a:r>
              <a:rPr lang="en-US" altLang="zh-CN" b="1"/>
              <a:t>n-1</a:t>
            </a:r>
            <a:r>
              <a:rPr lang="zh-CN" altLang="en-US" b="1"/>
              <a:t>个城市去推销产品，然后返回</a:t>
            </a:r>
            <a:r>
              <a:rPr lang="en-US" altLang="zh-CN" b="1"/>
              <a:t>A</a:t>
            </a:r>
            <a:r>
              <a:rPr lang="zh-CN" altLang="en-US" b="1"/>
              <a:t>城市。假设任意两个城市之间都有一条道路，如何选择一条周游所有城市的路线，但旅行商经过每个城市仅仅一次，并且使得他所走过的的路径最短？</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9981F2A-A9A0-7476-3C02-E85B330E68B9}"/>
              </a:ext>
            </a:extLst>
          </p:cNvPr>
          <p:cNvSpPr>
            <a:spLocks noGrp="1" noChangeArrowheads="1"/>
          </p:cNvSpPr>
          <p:nvPr>
            <p:ph type="title"/>
          </p:nvPr>
        </p:nvSpPr>
        <p:spPr/>
        <p:txBody>
          <a:bodyPr/>
          <a:lstStyle/>
          <a:p>
            <a:pPr eaLnBrk="1" hangingPunct="1"/>
            <a:endParaRPr lang="zh-CN" altLang="zh-CN"/>
          </a:p>
        </p:txBody>
      </p:sp>
      <p:sp>
        <p:nvSpPr>
          <p:cNvPr id="10243" name="Rectangle 3">
            <a:extLst>
              <a:ext uri="{FF2B5EF4-FFF2-40B4-BE49-F238E27FC236}">
                <a16:creationId xmlns:a16="http://schemas.microsoft.com/office/drawing/2014/main" id="{A1482CF2-C362-437C-B2D7-FF3272018B5F}"/>
              </a:ext>
            </a:extLst>
          </p:cNvPr>
          <p:cNvSpPr>
            <a:spLocks noGrp="1" noChangeArrowheads="1"/>
          </p:cNvSpPr>
          <p:nvPr>
            <p:ph type="body" idx="1"/>
          </p:nvPr>
        </p:nvSpPr>
        <p:spPr/>
        <p:txBody>
          <a:bodyPr/>
          <a:lstStyle/>
          <a:p>
            <a:pPr eaLnBrk="1" hangingPunct="1"/>
            <a:r>
              <a:rPr lang="zh-CN" altLang="en-US" b="1"/>
              <a:t>一个简单而且容易想到的算法就是穷举所有的可能的解，从中挑出最短的一条。</a:t>
            </a:r>
          </a:p>
          <a:p>
            <a:pPr eaLnBrk="1" hangingPunct="1"/>
            <a:r>
              <a:rPr lang="zh-CN" altLang="en-US" b="1"/>
              <a:t>由排列组合的方法，可以计算一共有</a:t>
            </a:r>
            <a:endParaRPr lang="en-US" altLang="zh-CN" b="1"/>
          </a:p>
          <a:p>
            <a:pPr algn="ctr" eaLnBrk="1" hangingPunct="1">
              <a:buFontTx/>
              <a:buNone/>
            </a:pPr>
            <a:r>
              <a:rPr lang="en-US" altLang="zh-CN" b="1"/>
              <a:t>(n-1)!/2</a:t>
            </a:r>
          </a:p>
          <a:p>
            <a:pPr eaLnBrk="1" hangingPunct="1">
              <a:buFontTx/>
              <a:buNone/>
            </a:pPr>
            <a:r>
              <a:rPr lang="zh-CN" altLang="en-US" b="1"/>
              <a:t>条不同的周游所有城市的路线，其中求一条周游路线的长度需要</a:t>
            </a:r>
            <a:r>
              <a:rPr lang="en-US" altLang="zh-CN" b="1"/>
              <a:t>n-1</a:t>
            </a:r>
            <a:r>
              <a:rPr lang="zh-CN" altLang="en-US" b="1"/>
              <a:t>次加法运算，所以这个算法共需要</a:t>
            </a:r>
            <a:r>
              <a:rPr lang="en-US" altLang="zh-CN" b="1"/>
              <a:t>(n-1)(n-1)</a:t>
            </a:r>
            <a:r>
              <a:rPr lang="zh-CN" altLang="en-US" b="1"/>
              <a:t>！</a:t>
            </a:r>
            <a:r>
              <a:rPr lang="en-US" altLang="zh-CN" b="1"/>
              <a:t>/2 </a:t>
            </a:r>
            <a:r>
              <a:rPr lang="zh-CN" altLang="en-US" b="1"/>
              <a:t>次加法运算。</a:t>
            </a:r>
          </a:p>
          <a:p>
            <a:pPr eaLnBrk="1" hangingPunct="1"/>
            <a:endParaRPr lang="en-US" altLang="zh-CN"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570F611-D2D9-98C2-B46A-91F57DC024AF}"/>
              </a:ext>
            </a:extLst>
          </p:cNvPr>
          <p:cNvSpPr>
            <a:spLocks noGrp="1" noChangeArrowheads="1"/>
          </p:cNvSpPr>
          <p:nvPr>
            <p:ph type="title"/>
          </p:nvPr>
        </p:nvSpPr>
        <p:spPr/>
        <p:txBody>
          <a:bodyPr/>
          <a:lstStyle/>
          <a:p>
            <a:pPr eaLnBrk="1" hangingPunct="1"/>
            <a:endParaRPr lang="zh-CN" altLang="zh-CN"/>
          </a:p>
        </p:txBody>
      </p:sp>
      <p:sp>
        <p:nvSpPr>
          <p:cNvPr id="11267" name="Rectangle 3">
            <a:extLst>
              <a:ext uri="{FF2B5EF4-FFF2-40B4-BE49-F238E27FC236}">
                <a16:creationId xmlns:a16="http://schemas.microsoft.com/office/drawing/2014/main" id="{60DC2609-04C2-E18E-A1B2-E4D8DCFB3752}"/>
              </a:ext>
            </a:extLst>
          </p:cNvPr>
          <p:cNvSpPr>
            <a:spLocks noGrp="1" noChangeArrowheads="1"/>
          </p:cNvSpPr>
          <p:nvPr>
            <p:ph type="body" idx="1"/>
          </p:nvPr>
        </p:nvSpPr>
        <p:spPr/>
        <p:txBody>
          <a:bodyPr/>
          <a:lstStyle/>
          <a:p>
            <a:pPr eaLnBrk="1" hangingPunct="1">
              <a:lnSpc>
                <a:spcPct val="90000"/>
              </a:lnSpc>
            </a:pPr>
            <a:r>
              <a:rPr lang="zh-CN" altLang="en-US" b="1"/>
              <a:t>当</a:t>
            </a:r>
            <a:r>
              <a:rPr lang="en-US" altLang="zh-CN" b="1"/>
              <a:t>n</a:t>
            </a:r>
            <a:r>
              <a:rPr lang="zh-CN" altLang="en-US" b="1"/>
              <a:t>很小时，能很快得到结果。</a:t>
            </a:r>
          </a:p>
          <a:p>
            <a:pPr eaLnBrk="1" hangingPunct="1">
              <a:lnSpc>
                <a:spcPct val="90000"/>
              </a:lnSpc>
            </a:pPr>
            <a:r>
              <a:rPr lang="zh-CN" altLang="en-US" b="1"/>
              <a:t>但这并不能说明这是有效的算法。假设</a:t>
            </a:r>
            <a:r>
              <a:rPr lang="en-US" altLang="zh-CN" b="1"/>
              <a:t>n=50</a:t>
            </a:r>
            <a:r>
              <a:rPr lang="zh-CN" altLang="en-US" b="1"/>
              <a:t>时，该算法需要</a:t>
            </a:r>
            <a:r>
              <a:rPr lang="en-US" altLang="zh-CN" b="1"/>
              <a:t>49×49!/2≈1.5*10</a:t>
            </a:r>
            <a:r>
              <a:rPr lang="en-US" altLang="zh-CN" b="1" baseline="30000"/>
              <a:t>64</a:t>
            </a:r>
            <a:r>
              <a:rPr lang="zh-CN" altLang="en-US" b="1"/>
              <a:t>次加法运算。</a:t>
            </a:r>
          </a:p>
          <a:p>
            <a:pPr eaLnBrk="1" hangingPunct="1">
              <a:lnSpc>
                <a:spcPct val="90000"/>
              </a:lnSpc>
            </a:pPr>
            <a:r>
              <a:rPr lang="zh-CN" altLang="en-US" b="1"/>
              <a:t>假如有一台计算机每秒钟执行</a:t>
            </a:r>
            <a:r>
              <a:rPr lang="en-US" altLang="zh-CN" b="1"/>
              <a:t>10</a:t>
            </a:r>
            <a:r>
              <a:rPr lang="en-US" altLang="zh-CN" b="1" baseline="30000"/>
              <a:t>8</a:t>
            </a:r>
            <a:r>
              <a:rPr lang="zh-CN" altLang="en-US" b="1"/>
              <a:t>次加法运算，那么该算法大约需要</a:t>
            </a:r>
            <a:r>
              <a:rPr lang="en-US" altLang="zh-CN" b="1"/>
              <a:t>10</a:t>
            </a:r>
            <a:r>
              <a:rPr lang="en-US" altLang="zh-CN" b="1" baseline="30000"/>
              <a:t>49</a:t>
            </a:r>
            <a:r>
              <a:rPr lang="zh-CN" altLang="en-US" b="1"/>
              <a:t>年，这是一个不可接受的计算时间。所以，随着</a:t>
            </a:r>
            <a:r>
              <a:rPr lang="en-US" altLang="zh-CN" b="1"/>
              <a:t>n</a:t>
            </a:r>
            <a:r>
              <a:rPr lang="zh-CN" altLang="en-US" b="1"/>
              <a:t>的增大，人与计算机都不可能使用该算法求解旅行商问题。</a:t>
            </a:r>
          </a:p>
          <a:p>
            <a:pPr eaLnBrk="1" hangingPunct="1">
              <a:lnSpc>
                <a:spcPct val="90000"/>
              </a:lnSpc>
            </a:pPr>
            <a:endParaRPr lang="en-US" altLang="zh-CN"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450D8C8-239A-A342-6EFE-A47006C75947}"/>
              </a:ext>
            </a:extLst>
          </p:cNvPr>
          <p:cNvSpPr>
            <a:spLocks noGrp="1" noChangeArrowheads="1"/>
          </p:cNvSpPr>
          <p:nvPr>
            <p:ph type="title"/>
          </p:nvPr>
        </p:nvSpPr>
        <p:spPr/>
        <p:txBody>
          <a:bodyPr/>
          <a:lstStyle/>
          <a:p>
            <a:pPr eaLnBrk="1" hangingPunct="1"/>
            <a:endParaRPr lang="zh-CN" altLang="zh-CN"/>
          </a:p>
        </p:txBody>
      </p:sp>
      <p:sp>
        <p:nvSpPr>
          <p:cNvPr id="12291" name="Rectangle 3">
            <a:extLst>
              <a:ext uri="{FF2B5EF4-FFF2-40B4-BE49-F238E27FC236}">
                <a16:creationId xmlns:a16="http://schemas.microsoft.com/office/drawing/2014/main" id="{E04870B6-DD2A-D52A-3D85-161EF0653002}"/>
              </a:ext>
            </a:extLst>
          </p:cNvPr>
          <p:cNvSpPr>
            <a:spLocks noGrp="1" noChangeArrowheads="1"/>
          </p:cNvSpPr>
          <p:nvPr>
            <p:ph type="body" idx="1"/>
          </p:nvPr>
        </p:nvSpPr>
        <p:spPr/>
        <p:txBody>
          <a:bodyPr/>
          <a:lstStyle/>
          <a:p>
            <a:pPr eaLnBrk="1" hangingPunct="1"/>
            <a:r>
              <a:rPr lang="zh-CN" altLang="en-US" sz="2400" b="1"/>
              <a:t>这个例子说明，</a:t>
            </a:r>
            <a:r>
              <a:rPr lang="zh-CN" altLang="en-US" sz="2400" b="1">
                <a:solidFill>
                  <a:srgbClr val="FF0000"/>
                </a:solidFill>
              </a:rPr>
              <a:t>可计算问题在理论与实际中是存在差别的</a:t>
            </a:r>
            <a:r>
              <a:rPr lang="zh-CN" altLang="en-US" sz="2400" b="1"/>
              <a:t>。</a:t>
            </a:r>
          </a:p>
          <a:p>
            <a:pPr eaLnBrk="1" hangingPunct="1"/>
            <a:r>
              <a:rPr lang="zh-CN" altLang="en-US" sz="2400" b="1"/>
              <a:t>所有的计算机都需要占用一定的资源，因此可使用一个求解方法最终所需要的资源来度量问题的实际可解性，而执行算法所需要的运算时间和内存空间的数量正是评估其实际可行性标准。</a:t>
            </a:r>
          </a:p>
          <a:p>
            <a:pPr eaLnBrk="1" hangingPunct="1"/>
            <a:r>
              <a:rPr lang="zh-CN" altLang="en-US" sz="2400" b="1"/>
              <a:t>简单地说，一个问题是可解的，我们希望该问题可以在“合理的”时间内，使用一个“不太大”空间求解该问题。求解问题的算法对时间资源的需求具有实际的重要意义，算法所花费的时间越少，则该算法越好也越“有效”。</a:t>
            </a:r>
            <a:endParaRPr lang="en-US" altLang="zh-CN" sz="2400" b="1"/>
          </a:p>
          <a:p>
            <a:pPr eaLnBrk="1" hangingPunct="1"/>
            <a:r>
              <a:rPr lang="zh-CN" altLang="en-US" sz="2400" b="1"/>
              <a:t>算法对空间的需求也具有重要的实际意义，有时可以通过增加大量的存储空间减少计算的时间。算法执行所花费的时间和空间的分析已经成为计算机科学中的一个重要研究内容。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915E3080-764F-B57E-F1EA-C2E4B2899D87}"/>
              </a:ext>
            </a:extLst>
          </p:cNvPr>
          <p:cNvSpPr>
            <a:spLocks noGrp="1" noChangeArrowheads="1"/>
          </p:cNvSpPr>
          <p:nvPr>
            <p:ph type="title"/>
          </p:nvPr>
        </p:nvSpPr>
        <p:spPr/>
        <p:txBody>
          <a:bodyPr/>
          <a:lstStyle/>
          <a:p>
            <a:pPr eaLnBrk="1" hangingPunct="1"/>
            <a:endParaRPr lang="zh-CN" altLang="zh-CN"/>
          </a:p>
        </p:txBody>
      </p:sp>
      <p:sp>
        <p:nvSpPr>
          <p:cNvPr id="13315" name="Rectangle 3">
            <a:extLst>
              <a:ext uri="{FF2B5EF4-FFF2-40B4-BE49-F238E27FC236}">
                <a16:creationId xmlns:a16="http://schemas.microsoft.com/office/drawing/2014/main" id="{1B6D4D2F-B94F-3B53-07A8-7D5A14A1CA08}"/>
              </a:ext>
            </a:extLst>
          </p:cNvPr>
          <p:cNvSpPr>
            <a:spLocks noGrp="1" noChangeArrowheads="1"/>
          </p:cNvSpPr>
          <p:nvPr>
            <p:ph type="body" idx="1"/>
          </p:nvPr>
        </p:nvSpPr>
        <p:spPr/>
        <p:txBody>
          <a:bodyPr/>
          <a:lstStyle/>
          <a:p>
            <a:pPr eaLnBrk="1" hangingPunct="1">
              <a:lnSpc>
                <a:spcPct val="90000"/>
              </a:lnSpc>
            </a:pPr>
            <a:r>
              <a:rPr lang="zh-CN" altLang="en-US"/>
              <a:t>计算复杂性理论，就是从求解问题的实际所需的计算时间和空间出发，在理论上对计算机的可解的问题进行分类。</a:t>
            </a:r>
          </a:p>
          <a:p>
            <a:pPr eaLnBrk="1" hangingPunct="1">
              <a:lnSpc>
                <a:spcPct val="90000"/>
              </a:lnSpc>
            </a:pPr>
            <a:r>
              <a:rPr lang="zh-CN" altLang="en-US"/>
              <a:t>为了说明一个问题是“容易的”，只需要给出一个实际的求解算法即可。</a:t>
            </a:r>
          </a:p>
          <a:p>
            <a:pPr eaLnBrk="1" hangingPunct="1">
              <a:lnSpc>
                <a:spcPct val="90000"/>
              </a:lnSpc>
            </a:pPr>
            <a:r>
              <a:rPr lang="zh-CN" altLang="en-US"/>
              <a:t>但是，要说明一个问题本质上是“困难的”，需要证明实际的求解算法是不存在的。而如何证明不存在性，这是一个非常困难的问题。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684489-6F99-D488-EAF8-561452D5F097}"/>
              </a:ext>
            </a:extLst>
          </p:cNvPr>
          <p:cNvSpPr>
            <a:spLocks noGrp="1" noChangeArrowheads="1"/>
          </p:cNvSpPr>
          <p:nvPr>
            <p:ph type="title"/>
          </p:nvPr>
        </p:nvSpPr>
        <p:spPr/>
        <p:txBody>
          <a:bodyPr/>
          <a:lstStyle/>
          <a:p>
            <a:pPr eaLnBrk="1" hangingPunct="1"/>
            <a:endParaRPr lang="zh-CN" altLang="zh-CN"/>
          </a:p>
        </p:txBody>
      </p:sp>
      <p:sp>
        <p:nvSpPr>
          <p:cNvPr id="14339" name="Rectangle 3">
            <a:extLst>
              <a:ext uri="{FF2B5EF4-FFF2-40B4-BE49-F238E27FC236}">
                <a16:creationId xmlns:a16="http://schemas.microsoft.com/office/drawing/2014/main" id="{8DEBAC5A-F742-5EB3-8685-5303FF50C02D}"/>
              </a:ext>
            </a:extLst>
          </p:cNvPr>
          <p:cNvSpPr>
            <a:spLocks noGrp="1" noChangeArrowheads="1"/>
          </p:cNvSpPr>
          <p:nvPr>
            <p:ph type="body" idx="1"/>
          </p:nvPr>
        </p:nvSpPr>
        <p:spPr/>
        <p:txBody>
          <a:bodyPr/>
          <a:lstStyle/>
          <a:p>
            <a:pPr eaLnBrk="1" hangingPunct="1">
              <a:lnSpc>
                <a:spcPct val="90000"/>
              </a:lnSpc>
            </a:pPr>
            <a:r>
              <a:rPr lang="zh-CN" altLang="en-US" sz="2800"/>
              <a:t>给定一个问题</a:t>
            </a:r>
            <a:r>
              <a:rPr lang="en-US" altLang="zh-CN" sz="2800"/>
              <a:t>P</a:t>
            </a:r>
            <a:r>
              <a:rPr lang="zh-CN" altLang="en-US" sz="2800"/>
              <a:t>，其复杂性是由求解</a:t>
            </a:r>
            <a:r>
              <a:rPr lang="en-US" altLang="zh-CN" sz="2800"/>
              <a:t>P</a:t>
            </a:r>
            <a:r>
              <a:rPr lang="zh-CN" altLang="en-US" sz="2800"/>
              <a:t>的算法的的时间复杂性来确定的。</a:t>
            </a:r>
          </a:p>
          <a:p>
            <a:pPr eaLnBrk="1" hangingPunct="1">
              <a:lnSpc>
                <a:spcPct val="90000"/>
              </a:lnSpc>
            </a:pPr>
            <a:r>
              <a:rPr lang="zh-CN" altLang="en-US" sz="2800"/>
              <a:t>为了弄清楚问题的复杂性，首先需要通过严格的数学方法来度量，给出算法的有效性的准确定义。</a:t>
            </a:r>
          </a:p>
          <a:p>
            <a:pPr eaLnBrk="1" hangingPunct="1">
              <a:lnSpc>
                <a:spcPct val="90000"/>
              </a:lnSpc>
            </a:pPr>
            <a:r>
              <a:rPr lang="zh-CN" altLang="en-US" sz="2800"/>
              <a:t>当定义了度量问题的复杂性的方法之后，如果存在一个有效的算法来求解</a:t>
            </a:r>
            <a:r>
              <a:rPr lang="en-US" altLang="zh-CN" sz="2800"/>
              <a:t>P </a:t>
            </a:r>
            <a:r>
              <a:rPr lang="zh-CN" altLang="en-US" sz="2800"/>
              <a:t>，则说明问题</a:t>
            </a:r>
            <a:r>
              <a:rPr lang="en-US" altLang="zh-CN" sz="2800"/>
              <a:t>P</a:t>
            </a:r>
            <a:r>
              <a:rPr lang="zh-CN" altLang="en-US" sz="2800"/>
              <a:t>是容易的；如果不存在这样的有效算法，则称</a:t>
            </a:r>
            <a:r>
              <a:rPr lang="en-US" altLang="zh-CN" sz="2800"/>
              <a:t>P</a:t>
            </a:r>
            <a:r>
              <a:rPr lang="zh-CN" altLang="en-US" sz="2800"/>
              <a:t>是困难的。因此，为了弄清楚问题的复杂性，首先需要给出算法有效性的确切定义。</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7A165A3-A341-E77E-2BEA-B0FB14C74EBC}"/>
              </a:ext>
            </a:extLst>
          </p:cNvPr>
          <p:cNvSpPr>
            <a:spLocks noGrp="1" noChangeArrowheads="1"/>
          </p:cNvSpPr>
          <p:nvPr>
            <p:ph type="title"/>
          </p:nvPr>
        </p:nvSpPr>
        <p:spPr/>
        <p:txBody>
          <a:bodyPr/>
          <a:lstStyle/>
          <a:p>
            <a:pPr eaLnBrk="1" hangingPunct="1"/>
            <a:r>
              <a:rPr lang="en-US" altLang="zh-CN" b="1"/>
              <a:t>10.2</a:t>
            </a:r>
            <a:r>
              <a:rPr lang="zh-CN" altLang="en-US" b="1"/>
              <a:t>图灵机</a:t>
            </a:r>
            <a:endParaRPr lang="zh-CN" altLang="en-US"/>
          </a:p>
        </p:txBody>
      </p:sp>
      <p:sp>
        <p:nvSpPr>
          <p:cNvPr id="15363" name="Rectangle 3">
            <a:extLst>
              <a:ext uri="{FF2B5EF4-FFF2-40B4-BE49-F238E27FC236}">
                <a16:creationId xmlns:a16="http://schemas.microsoft.com/office/drawing/2014/main" id="{726CC768-A5D3-2F3C-0AAB-135F75C23F6E}"/>
              </a:ext>
            </a:extLst>
          </p:cNvPr>
          <p:cNvSpPr>
            <a:spLocks noGrp="1" noChangeArrowheads="1"/>
          </p:cNvSpPr>
          <p:nvPr>
            <p:ph type="body" idx="1"/>
          </p:nvPr>
        </p:nvSpPr>
        <p:spPr/>
        <p:txBody>
          <a:bodyPr/>
          <a:lstStyle/>
          <a:p>
            <a:pPr algn="just" eaLnBrk="1" hangingPunct="1">
              <a:lnSpc>
                <a:spcPct val="90000"/>
              </a:lnSpc>
            </a:pPr>
            <a:r>
              <a:rPr lang="zh-CN" altLang="en-US" sz="2400"/>
              <a:t>由于现代计算机的普及，使得任何个人，组织和团体都可能通过编程实现各种程序算法，而且他们还可以选择不同的语言来实现这些算法，如高级语言</a:t>
            </a:r>
            <a:r>
              <a:rPr lang="en-US" altLang="zh-CN" sz="2400"/>
              <a:t>C</a:t>
            </a:r>
            <a:r>
              <a:rPr lang="zh-CN" altLang="en-US" sz="2400"/>
              <a:t>语言、</a:t>
            </a:r>
            <a:r>
              <a:rPr lang="en-US" altLang="zh-CN" sz="2400"/>
              <a:t>Basic</a:t>
            </a:r>
            <a:r>
              <a:rPr lang="zh-CN" altLang="en-US" sz="2400"/>
              <a:t>语言，稍微低级一些的汇编语言等。</a:t>
            </a:r>
          </a:p>
          <a:p>
            <a:pPr algn="just" eaLnBrk="1" hangingPunct="1">
              <a:lnSpc>
                <a:spcPct val="90000"/>
              </a:lnSpc>
            </a:pPr>
            <a:r>
              <a:rPr lang="zh-CN" altLang="en-US" sz="2400"/>
              <a:t>由于人的编程的能力的不同，编程语言的效率的不同，使得最终的算法的运行的时间是不一样的。</a:t>
            </a:r>
          </a:p>
          <a:p>
            <a:pPr algn="just" eaLnBrk="1" hangingPunct="1">
              <a:lnSpc>
                <a:spcPct val="90000"/>
              </a:lnSpc>
            </a:pPr>
            <a:r>
              <a:rPr lang="zh-CN" altLang="en-US" sz="2400"/>
              <a:t>因此需要一个独立于个体和语言等的通用的、统一的计算模型 来精确地定义算法有效性这一概念。</a:t>
            </a:r>
          </a:p>
          <a:p>
            <a:pPr algn="just" eaLnBrk="1" hangingPunct="1">
              <a:lnSpc>
                <a:spcPct val="90000"/>
              </a:lnSpc>
            </a:pPr>
            <a:r>
              <a:rPr lang="en-US" altLang="zh-CN" sz="2400"/>
              <a:t>1936</a:t>
            </a:r>
            <a:r>
              <a:rPr lang="zh-CN" altLang="en-US" sz="2400"/>
              <a:t>年，英国数学家图灵（</a:t>
            </a:r>
            <a:r>
              <a:rPr lang="en-US" altLang="zh-CN" sz="2400"/>
              <a:t>A.Turing</a:t>
            </a:r>
            <a:r>
              <a:rPr lang="zh-CN" altLang="en-US" sz="2400"/>
              <a:t>）提出要一个计算模型，后人称之为图灵机。图灵机计算模型后来被证明是一种非常通用的计算模型。下面介绍图灵机的一个变型，用于理解计算复杂性。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E9D97AC-F140-4ABF-E5F0-D724988B963C}"/>
              </a:ext>
            </a:extLst>
          </p:cNvPr>
          <p:cNvSpPr>
            <a:spLocks noGrp="1" noChangeArrowheads="1"/>
          </p:cNvSpPr>
          <p:nvPr>
            <p:ph type="title"/>
          </p:nvPr>
        </p:nvSpPr>
        <p:spPr/>
        <p:txBody>
          <a:bodyPr/>
          <a:lstStyle/>
          <a:p>
            <a:pPr eaLnBrk="1" hangingPunct="1"/>
            <a:endParaRPr lang="zh-CN" altLang="zh-CN"/>
          </a:p>
        </p:txBody>
      </p:sp>
      <p:sp>
        <p:nvSpPr>
          <p:cNvPr id="16387" name="Rectangle 3">
            <a:extLst>
              <a:ext uri="{FF2B5EF4-FFF2-40B4-BE49-F238E27FC236}">
                <a16:creationId xmlns:a16="http://schemas.microsoft.com/office/drawing/2014/main" id="{F773F879-C4D0-2DA9-A99D-CE24FC3652BA}"/>
              </a:ext>
            </a:extLst>
          </p:cNvPr>
          <p:cNvSpPr>
            <a:spLocks noGrp="1" noChangeArrowheads="1"/>
          </p:cNvSpPr>
          <p:nvPr>
            <p:ph type="body" idx="1"/>
          </p:nvPr>
        </p:nvSpPr>
        <p:spPr/>
        <p:txBody>
          <a:bodyPr/>
          <a:lstStyle/>
          <a:p>
            <a:pPr eaLnBrk="1" hangingPunct="1">
              <a:lnSpc>
                <a:spcPct val="80000"/>
              </a:lnSpc>
            </a:pPr>
            <a:r>
              <a:rPr lang="zh-CN" altLang="en-US" sz="2400"/>
              <a:t>图灵机由有效状态单元、</a:t>
            </a:r>
            <a:r>
              <a:rPr lang="en-US" altLang="zh-CN" sz="2400"/>
              <a:t>k</a:t>
            </a:r>
            <a:r>
              <a:rPr lang="zh-CN" altLang="en-US" sz="2400"/>
              <a:t>条纸带以及同样数量的读写头组成。有限控制单元控制磁头读、写纸带操作，每个读写头访问一条纸带，沿着纸带向左或者向右移动完成这一操作。每一条纸带分成无限个单元。图灵机求解一个问题时，读写头扫描一个有限字符串，从纸带最左边的单元开始按照顺序放在纸带上，每个字符占用一个单元，其右边剩下的是空白的单元，该字符串称为问题的一个输入。扫描过程从含有输入的纸带左端开始，同时图灵机赋予一个初始状态。任何时刻图灵机都只有一个读写头访问其纸带。读写头对纸带的一次访问称为一个移动。如果图灵机从初始状态开始，一步一步地合法移动，完成对输入串的扫描，最终满足中止条件而停下来，则称图灵机识别了该输入；否则，图灵机在某一点没有合法移动，它会没有识别输入就停下来。图灵机识别的输入称为可识别语言的一个实例。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ADEB986-E8C5-4675-C628-5954739CA434}"/>
              </a:ext>
            </a:extLst>
          </p:cNvPr>
          <p:cNvSpPr>
            <a:spLocks noGrp="1" noChangeArrowheads="1"/>
          </p:cNvSpPr>
          <p:nvPr>
            <p:ph type="title"/>
          </p:nvPr>
        </p:nvSpPr>
        <p:spPr/>
        <p:txBody>
          <a:bodyPr/>
          <a:lstStyle/>
          <a:p>
            <a:pPr eaLnBrk="1" hangingPunct="1"/>
            <a:endParaRPr lang="zh-CN" altLang="zh-CN"/>
          </a:p>
        </p:txBody>
      </p:sp>
      <p:sp>
        <p:nvSpPr>
          <p:cNvPr id="17411" name="Rectangle 3">
            <a:extLst>
              <a:ext uri="{FF2B5EF4-FFF2-40B4-BE49-F238E27FC236}">
                <a16:creationId xmlns:a16="http://schemas.microsoft.com/office/drawing/2014/main" id="{771AA32C-7282-22CE-F6D8-BABB1721D7D9}"/>
              </a:ext>
            </a:extLst>
          </p:cNvPr>
          <p:cNvSpPr>
            <a:spLocks noGrp="1" noChangeArrowheads="1"/>
          </p:cNvSpPr>
          <p:nvPr>
            <p:ph type="body" idx="1"/>
          </p:nvPr>
        </p:nvSpPr>
        <p:spPr/>
        <p:txBody>
          <a:bodyPr/>
          <a:lstStyle/>
          <a:p>
            <a:pPr eaLnBrk="1" hangingPunct="1">
              <a:lnSpc>
                <a:spcPct val="90000"/>
              </a:lnSpc>
            </a:pPr>
            <a:r>
              <a:rPr lang="zh-CN" altLang="en-US"/>
              <a:t>为了识别一个输入，图灵机</a:t>
            </a:r>
            <a:r>
              <a:rPr lang="en-US" altLang="zh-CN"/>
              <a:t>M</a:t>
            </a:r>
            <a:r>
              <a:rPr lang="zh-CN" altLang="en-US"/>
              <a:t>在停下来之前移动的步数称为</a:t>
            </a:r>
            <a:r>
              <a:rPr lang="en-US" altLang="zh-CN"/>
              <a:t>M</a:t>
            </a:r>
            <a:r>
              <a:rPr lang="zh-CN" altLang="en-US"/>
              <a:t>的运行时间或者的时间复杂度，即为</a:t>
            </a:r>
            <a:r>
              <a:rPr lang="en-US" altLang="zh-CN"/>
              <a:t>T</a:t>
            </a:r>
            <a:r>
              <a:rPr lang="en-US" altLang="zh-CN" baseline="-25000"/>
              <a:t>M</a:t>
            </a:r>
            <a:r>
              <a:rPr lang="zh-CN" altLang="en-US"/>
              <a:t>。很明显， </a:t>
            </a:r>
            <a:r>
              <a:rPr lang="en-US" altLang="zh-CN"/>
              <a:t>T</a:t>
            </a:r>
            <a:r>
              <a:rPr lang="en-US" altLang="zh-CN" baseline="-25000"/>
              <a:t>M</a:t>
            </a:r>
            <a:r>
              <a:rPr lang="zh-CN" altLang="en-US"/>
              <a:t>可以表示为函数</a:t>
            </a:r>
            <a:r>
              <a:rPr lang="en-US" altLang="zh-CN"/>
              <a:t>T</a:t>
            </a:r>
            <a:r>
              <a:rPr lang="en-US" altLang="zh-CN" baseline="-25000"/>
              <a:t>M</a:t>
            </a:r>
            <a:r>
              <a:rPr lang="en-US" altLang="zh-CN"/>
              <a:t>(n):N→N </a:t>
            </a:r>
            <a:r>
              <a:rPr lang="zh-CN" altLang="en-US"/>
              <a:t>，其中</a:t>
            </a:r>
            <a:r>
              <a:rPr lang="en-US" altLang="zh-CN"/>
              <a:t>n</a:t>
            </a:r>
            <a:r>
              <a:rPr lang="zh-CN" altLang="en-US"/>
              <a:t>是输入实例的长度或者规模，也就是说，当</a:t>
            </a:r>
            <a:r>
              <a:rPr lang="en-US" altLang="zh-CN"/>
              <a:t>M</a:t>
            </a:r>
            <a:r>
              <a:rPr lang="zh-CN" altLang="en-US"/>
              <a:t>在初始状态时，它就是组成输入串的字符数</a:t>
            </a:r>
            <a:r>
              <a:rPr lang="en-US" altLang="zh-CN"/>
              <a:t>.</a:t>
            </a:r>
            <a:r>
              <a:rPr lang="zh-CN" altLang="en-US"/>
              <a:t>显然</a:t>
            </a:r>
            <a:r>
              <a:rPr lang="en-US" altLang="zh-CN"/>
              <a:t>T</a:t>
            </a:r>
            <a:r>
              <a:rPr lang="en-US" altLang="zh-CN" baseline="-25000"/>
              <a:t>M</a:t>
            </a:r>
            <a:r>
              <a:rPr lang="en-US" altLang="zh-CN"/>
              <a:t>(n) ≥n</a:t>
            </a:r>
            <a:r>
              <a:rPr lang="zh-CN" altLang="en-US"/>
              <a:t>。除了对时间的要求外，</a:t>
            </a:r>
            <a:r>
              <a:rPr lang="en-US" altLang="zh-CN"/>
              <a:t>M</a:t>
            </a:r>
            <a:r>
              <a:rPr lang="zh-CN" altLang="en-US"/>
              <a:t>还有空间的要求，即</a:t>
            </a:r>
            <a:r>
              <a:rPr lang="en-US" altLang="zh-CN"/>
              <a:t>M</a:t>
            </a:r>
            <a:r>
              <a:rPr lang="zh-CN" altLang="en-US"/>
              <a:t>在操作中读写头访问的纸带单位数，它可以表示为函数</a:t>
            </a:r>
            <a:r>
              <a:rPr lang="en-US" altLang="zh-CN"/>
              <a:t>S</a:t>
            </a:r>
            <a:r>
              <a:rPr lang="en-US" altLang="zh-CN" baseline="-25000"/>
              <a:t>M</a:t>
            </a:r>
            <a:r>
              <a:rPr lang="en-US" altLang="zh-CN"/>
              <a:t>(n):N→N </a:t>
            </a:r>
            <a:r>
              <a:rPr lang="zh-CN" altLang="en-US"/>
              <a:t>，称为</a:t>
            </a:r>
            <a:r>
              <a:rPr lang="en-US" altLang="zh-CN"/>
              <a:t>M</a:t>
            </a:r>
            <a:r>
              <a:rPr lang="zh-CN" altLang="en-US"/>
              <a:t>的空间复杂度。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737AEC7-DBAA-6061-D512-C5D5961060C5}"/>
              </a:ext>
            </a:extLst>
          </p:cNvPr>
          <p:cNvSpPr>
            <a:spLocks noGrp="1" noChangeArrowheads="1"/>
          </p:cNvSpPr>
          <p:nvPr>
            <p:ph type="title"/>
          </p:nvPr>
        </p:nvSpPr>
        <p:spPr/>
        <p:txBody>
          <a:bodyPr/>
          <a:lstStyle/>
          <a:p>
            <a:pPr eaLnBrk="1" hangingPunct="1"/>
            <a:endParaRPr lang="zh-CN" altLang="zh-CN"/>
          </a:p>
        </p:txBody>
      </p:sp>
      <p:sp>
        <p:nvSpPr>
          <p:cNvPr id="18435" name="Rectangle 3">
            <a:extLst>
              <a:ext uri="{FF2B5EF4-FFF2-40B4-BE49-F238E27FC236}">
                <a16:creationId xmlns:a16="http://schemas.microsoft.com/office/drawing/2014/main" id="{800C7D30-3687-18BB-F211-ECFEE1B2EE6F}"/>
              </a:ext>
            </a:extLst>
          </p:cNvPr>
          <p:cNvSpPr>
            <a:spLocks noGrp="1" noChangeArrowheads="1"/>
          </p:cNvSpPr>
          <p:nvPr>
            <p:ph type="body" idx="1"/>
          </p:nvPr>
        </p:nvSpPr>
        <p:spPr/>
        <p:txBody>
          <a:bodyPr/>
          <a:lstStyle/>
          <a:p>
            <a:pPr eaLnBrk="1" hangingPunct="1"/>
            <a:r>
              <a:rPr lang="zh-CN" altLang="en-US"/>
              <a:t>图灵机提供了一种通用的计算模型，给出了度量程序计算复杂性的一个准确概念。但在实际中，因为使用图灵机来描述算法和描述时间复杂度和空间复杂度不是很方便，所以一般不用它来描述。为了清楚、有效地描述算法和数学命题，使用一种高级编程语言或伪代码来描述算法。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C7BD48A-64D6-EBE0-3534-243BB34F8755}"/>
              </a:ext>
            </a:extLst>
          </p:cNvPr>
          <p:cNvSpPr>
            <a:spLocks noGrp="1" noChangeArrowheads="1"/>
          </p:cNvSpPr>
          <p:nvPr>
            <p:ph type="title"/>
          </p:nvPr>
        </p:nvSpPr>
        <p:spPr/>
        <p:txBody>
          <a:bodyPr/>
          <a:lstStyle/>
          <a:p>
            <a:pPr eaLnBrk="1" hangingPunct="1"/>
            <a:r>
              <a:rPr lang="zh-CN" altLang="en-US"/>
              <a:t>计算复杂度的表示方法 </a:t>
            </a:r>
          </a:p>
        </p:txBody>
      </p:sp>
      <p:sp>
        <p:nvSpPr>
          <p:cNvPr id="19459" name="Rectangle 3">
            <a:extLst>
              <a:ext uri="{FF2B5EF4-FFF2-40B4-BE49-F238E27FC236}">
                <a16:creationId xmlns:a16="http://schemas.microsoft.com/office/drawing/2014/main" id="{2DE50EA4-350C-B7FF-0270-F83373B180ED}"/>
              </a:ext>
            </a:extLst>
          </p:cNvPr>
          <p:cNvSpPr>
            <a:spLocks noGrp="1" noChangeArrowheads="1"/>
          </p:cNvSpPr>
          <p:nvPr>
            <p:ph type="body" idx="1"/>
          </p:nvPr>
        </p:nvSpPr>
        <p:spPr/>
        <p:txBody>
          <a:bodyPr/>
          <a:lstStyle/>
          <a:p>
            <a:pPr eaLnBrk="1" hangingPunct="1">
              <a:lnSpc>
                <a:spcPct val="90000"/>
              </a:lnSpc>
            </a:pPr>
            <a:r>
              <a:rPr lang="zh-CN" altLang="en-US"/>
              <a:t>一个算法的复杂度有该算法所需要的最大计算时间和存储空间来度量。</a:t>
            </a:r>
          </a:p>
          <a:p>
            <a:pPr eaLnBrk="1" hangingPunct="1">
              <a:lnSpc>
                <a:spcPct val="90000"/>
              </a:lnSpc>
            </a:pPr>
            <a:r>
              <a:rPr lang="zh-CN" altLang="en-US"/>
              <a:t>算法用于同一问题的不同规模实例所需的时间和空间往往不同，所以总是将它们表示成问题实例的规模的函数，其中表示描述该实例所需的输入数据的长度。</a:t>
            </a:r>
          </a:p>
          <a:p>
            <a:pPr eaLnBrk="1" hangingPunct="1">
              <a:lnSpc>
                <a:spcPct val="90000"/>
              </a:lnSpc>
            </a:pPr>
            <a:r>
              <a:rPr lang="zh-CN" altLang="en-US"/>
              <a:t>有时既使是规模相同的实例，其时间复杂度和空间复杂度也有很大的差距，就需要计算它的平均时间复杂度和空间复杂度。</a:t>
            </a:r>
          </a:p>
          <a:p>
            <a:pPr eaLnBrk="1" hangingPunct="1">
              <a:lnSpc>
                <a:spcPct val="90000"/>
              </a:lnSpc>
            </a:pPr>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EAE5AC9-9FA3-89EA-D430-FCA551B2F62C}"/>
              </a:ext>
            </a:extLst>
          </p:cNvPr>
          <p:cNvSpPr>
            <a:spLocks noGrp="1" noChangeArrowheads="1"/>
          </p:cNvSpPr>
          <p:nvPr>
            <p:ph type="title"/>
          </p:nvPr>
        </p:nvSpPr>
        <p:spPr/>
        <p:txBody>
          <a:bodyPr/>
          <a:lstStyle/>
          <a:p>
            <a:pPr eaLnBrk="1" hangingPunct="1"/>
            <a:r>
              <a:rPr lang="zh-CN" altLang="en-US"/>
              <a:t>计算复杂度的表示方法 </a:t>
            </a:r>
          </a:p>
        </p:txBody>
      </p:sp>
      <p:sp>
        <p:nvSpPr>
          <p:cNvPr id="20483" name="Rectangle 3">
            <a:extLst>
              <a:ext uri="{FF2B5EF4-FFF2-40B4-BE49-F238E27FC236}">
                <a16:creationId xmlns:a16="http://schemas.microsoft.com/office/drawing/2014/main" id="{119BD4C0-2A8A-AA48-273E-1BC55E732F98}"/>
              </a:ext>
            </a:extLst>
          </p:cNvPr>
          <p:cNvSpPr>
            <a:spLocks noGrp="1" noChangeArrowheads="1"/>
          </p:cNvSpPr>
          <p:nvPr>
            <p:ph type="body" idx="1"/>
          </p:nvPr>
        </p:nvSpPr>
        <p:spPr/>
        <p:txBody>
          <a:bodyPr/>
          <a:lstStyle/>
          <a:p>
            <a:pPr eaLnBrk="1" hangingPunct="1">
              <a:lnSpc>
                <a:spcPct val="80000"/>
              </a:lnSpc>
            </a:pPr>
            <a:r>
              <a:rPr lang="zh-CN" altLang="en-US" sz="2800"/>
              <a:t>当衡量一个算法的计算复杂度时，如果能精确地计算出计算时间当然不错，但是很多情况很难或者没有必要确切得给出复杂度量表示式中的函数。</a:t>
            </a:r>
          </a:p>
          <a:p>
            <a:pPr eaLnBrk="1" hangingPunct="1">
              <a:lnSpc>
                <a:spcPct val="80000"/>
              </a:lnSpc>
            </a:pPr>
            <a:r>
              <a:rPr lang="zh-CN" altLang="en-US" sz="2800"/>
              <a:t>实际上，由于算法的计算复杂度是其输入的长度</a:t>
            </a:r>
            <a:r>
              <a:rPr lang="en-US" altLang="zh-CN" sz="2800"/>
              <a:t>n</a:t>
            </a:r>
            <a:r>
              <a:rPr lang="zh-CN" altLang="en-US" sz="2800"/>
              <a:t>的函数，要比较两个算法的计算复杂度，只需要考虑当</a:t>
            </a:r>
            <a:r>
              <a:rPr lang="en-US" altLang="zh-CN" sz="2800"/>
              <a:t>n</a:t>
            </a:r>
            <a:r>
              <a:rPr lang="zh-CN" altLang="en-US" sz="2800"/>
              <a:t>充分大是它们随着</a:t>
            </a:r>
            <a:r>
              <a:rPr lang="en-US" altLang="zh-CN" sz="2800"/>
              <a:t>n</a:t>
            </a:r>
            <a:r>
              <a:rPr lang="zh-CN" altLang="en-US" sz="2800"/>
              <a:t>增大而增大的量级即可。</a:t>
            </a:r>
          </a:p>
          <a:p>
            <a:pPr eaLnBrk="1" hangingPunct="1">
              <a:lnSpc>
                <a:spcPct val="80000"/>
              </a:lnSpc>
            </a:pPr>
            <a:r>
              <a:rPr lang="zh-CN" altLang="en-US" sz="2800"/>
              <a:t>为了简化计算复杂度的度量任务，需要引入“阶”的概念。</a:t>
            </a:r>
          </a:p>
          <a:p>
            <a:pPr eaLnBrk="1" hangingPunct="1">
              <a:lnSpc>
                <a:spcPct val="80000"/>
              </a:lnSpc>
            </a:pPr>
            <a:r>
              <a:rPr lang="zh-CN" altLang="en-US" sz="2800"/>
              <a:t>使用“阶”的一个优点在于它与所使用的处理系统无关，甚至连处理器的运算速度都不用关心。</a:t>
            </a:r>
          </a:p>
        </p:txBody>
      </p:sp>
      <p:sp>
        <p:nvSpPr>
          <p:cNvPr id="20484" name="Rectangle 5">
            <a:extLst>
              <a:ext uri="{FF2B5EF4-FFF2-40B4-BE49-F238E27FC236}">
                <a16:creationId xmlns:a16="http://schemas.microsoft.com/office/drawing/2014/main" id="{8CE7D87A-39E7-DF00-E16E-4CD3F7931B6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5" name="Rectangle 7">
            <a:extLst>
              <a:ext uri="{FF2B5EF4-FFF2-40B4-BE49-F238E27FC236}">
                <a16:creationId xmlns:a16="http://schemas.microsoft.com/office/drawing/2014/main" id="{7CF06007-F7E2-7839-DF71-9A7FE53B85A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6" name="Rectangle 9">
            <a:extLst>
              <a:ext uri="{FF2B5EF4-FFF2-40B4-BE49-F238E27FC236}">
                <a16:creationId xmlns:a16="http://schemas.microsoft.com/office/drawing/2014/main" id="{3A2E660E-65B5-17A6-107C-2E22C6FA551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7" name="Rectangle 11">
            <a:extLst>
              <a:ext uri="{FF2B5EF4-FFF2-40B4-BE49-F238E27FC236}">
                <a16:creationId xmlns:a16="http://schemas.microsoft.com/office/drawing/2014/main" id="{956A205C-6F40-CD00-54CE-0D70D2461E7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8" name="Rectangle 13">
            <a:extLst>
              <a:ext uri="{FF2B5EF4-FFF2-40B4-BE49-F238E27FC236}">
                <a16:creationId xmlns:a16="http://schemas.microsoft.com/office/drawing/2014/main" id="{1E3876BC-5053-B8D2-2822-E08F26211FA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9" name="Rectangle 15">
            <a:extLst>
              <a:ext uri="{FF2B5EF4-FFF2-40B4-BE49-F238E27FC236}">
                <a16:creationId xmlns:a16="http://schemas.microsoft.com/office/drawing/2014/main" id="{71094DD2-2030-AC80-4C15-A04A192B06B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0490" name="Object 14">
            <a:extLst>
              <a:ext uri="{FF2B5EF4-FFF2-40B4-BE49-F238E27FC236}">
                <a16:creationId xmlns:a16="http://schemas.microsoft.com/office/drawing/2014/main" id="{C84A35F6-01A5-94E4-2C95-D2E88CDA8597}"/>
              </a:ext>
            </a:extLst>
          </p:cNvPr>
          <p:cNvGraphicFramePr>
            <a:graphicFrameLocks noChangeAspect="1"/>
          </p:cNvGraphicFramePr>
          <p:nvPr/>
        </p:nvGraphicFramePr>
        <p:xfrm>
          <a:off x="8077200" y="1752600"/>
          <a:ext cx="228600" cy="228600"/>
        </p:xfrm>
        <a:graphic>
          <a:graphicData uri="http://schemas.openxmlformats.org/presentationml/2006/ole">
            <mc:AlternateContent xmlns:mc="http://schemas.openxmlformats.org/markup-compatibility/2006">
              <mc:Choice xmlns:v="urn:schemas-microsoft-com:vml" Requires="v">
                <p:oleObj name="公式" r:id="rId2" imgW="3797300" imgH="3797300" progId="Equation.3">
                  <p:embed/>
                </p:oleObj>
              </mc:Choice>
              <mc:Fallback>
                <p:oleObj name="公式" r:id="rId2" imgW="3797300" imgH="3797300"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17526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5B38A80-4AE6-EB46-3FF4-133F98230260}"/>
              </a:ext>
            </a:extLst>
          </p:cNvPr>
          <p:cNvSpPr>
            <a:spLocks noGrp="1" noChangeArrowheads="1"/>
          </p:cNvSpPr>
          <p:nvPr>
            <p:ph type="title"/>
          </p:nvPr>
        </p:nvSpPr>
        <p:spPr/>
        <p:txBody>
          <a:bodyPr/>
          <a:lstStyle/>
          <a:p>
            <a:pPr eaLnBrk="1" hangingPunct="1"/>
            <a:endParaRPr lang="zh-CN" altLang="zh-CN"/>
          </a:p>
        </p:txBody>
      </p:sp>
      <p:sp>
        <p:nvSpPr>
          <p:cNvPr id="21507" name="Rectangle 3">
            <a:extLst>
              <a:ext uri="{FF2B5EF4-FFF2-40B4-BE49-F238E27FC236}">
                <a16:creationId xmlns:a16="http://schemas.microsoft.com/office/drawing/2014/main" id="{0FB69E2D-8867-A1AB-044F-468E55B1DE41}"/>
              </a:ext>
            </a:extLst>
          </p:cNvPr>
          <p:cNvSpPr>
            <a:spLocks noGrp="1" noChangeArrowheads="1"/>
          </p:cNvSpPr>
          <p:nvPr>
            <p:ph type="body" idx="1"/>
          </p:nvPr>
        </p:nvSpPr>
        <p:spPr/>
        <p:txBody>
          <a:bodyPr/>
          <a:lstStyle/>
          <a:p>
            <a:pPr eaLnBrk="1" hangingPunct="1"/>
            <a:r>
              <a:rPr lang="zh-CN" altLang="en-US"/>
              <a:t>定义</a:t>
            </a:r>
            <a:r>
              <a:rPr lang="en-US" altLang="zh-CN"/>
              <a:t>10.2.1 </a:t>
            </a:r>
            <a:r>
              <a:rPr lang="zh-CN" altLang="en-US"/>
              <a:t>设函数</a:t>
            </a:r>
            <a:r>
              <a:rPr lang="en-US" altLang="zh-CN"/>
              <a:t>f(n)</a:t>
            </a:r>
            <a:r>
              <a:rPr lang="zh-CN" altLang="en-US"/>
              <a:t>和</a:t>
            </a:r>
            <a:r>
              <a:rPr lang="en-US" altLang="zh-CN"/>
              <a:t>g(n)</a:t>
            </a:r>
            <a:r>
              <a:rPr lang="zh-CN" altLang="en-US"/>
              <a:t>为两个正整数函数，如果存在常数</a:t>
            </a:r>
            <a:r>
              <a:rPr lang="en-US" altLang="zh-CN"/>
              <a:t>c&gt;0</a:t>
            </a:r>
            <a:r>
              <a:rPr lang="zh-CN" altLang="en-US"/>
              <a:t>和正整数</a:t>
            </a:r>
            <a:r>
              <a:rPr lang="en-US" altLang="zh-CN"/>
              <a:t>N</a:t>
            </a:r>
            <a:r>
              <a:rPr lang="zh-CN" altLang="en-US"/>
              <a:t>，当对于</a:t>
            </a:r>
            <a:r>
              <a:rPr lang="en-US" altLang="zh-CN"/>
              <a:t>n&gt;N</a:t>
            </a:r>
            <a:r>
              <a:rPr lang="zh-CN" altLang="en-US"/>
              <a:t>的所有整数有</a:t>
            </a:r>
            <a:r>
              <a:rPr lang="en-US" altLang="zh-CN"/>
              <a:t>g(n)&lt;f(n)</a:t>
            </a:r>
            <a:r>
              <a:rPr lang="zh-CN" altLang="en-US"/>
              <a:t>，则称</a:t>
            </a:r>
            <a:r>
              <a:rPr lang="en-US" altLang="zh-CN"/>
              <a:t>g(n)=O(f(n))</a:t>
            </a:r>
            <a:r>
              <a:rPr lang="zh-CN" altLang="en-US"/>
              <a:t>。如果</a:t>
            </a:r>
            <a:r>
              <a:rPr lang="en-US" altLang="zh-CN"/>
              <a:t>g(n)=O(f(n)) </a:t>
            </a:r>
            <a:r>
              <a:rPr lang="zh-CN" altLang="en-US"/>
              <a:t>，并且</a:t>
            </a:r>
            <a:r>
              <a:rPr lang="en-US" altLang="zh-CN"/>
              <a:t>f(n)=O(g(n)) </a:t>
            </a:r>
            <a:r>
              <a:rPr lang="zh-CN" altLang="en-US"/>
              <a:t>，则称                    。 </a:t>
            </a:r>
          </a:p>
        </p:txBody>
      </p:sp>
      <p:sp>
        <p:nvSpPr>
          <p:cNvPr id="21508" name="Rectangle 5">
            <a:extLst>
              <a:ext uri="{FF2B5EF4-FFF2-40B4-BE49-F238E27FC236}">
                <a16:creationId xmlns:a16="http://schemas.microsoft.com/office/drawing/2014/main" id="{E6734D4D-B762-BEAB-61B4-CDCF425649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1509" name="Object 4">
            <a:extLst>
              <a:ext uri="{FF2B5EF4-FFF2-40B4-BE49-F238E27FC236}">
                <a16:creationId xmlns:a16="http://schemas.microsoft.com/office/drawing/2014/main" id="{9F85EF0F-8D03-2532-3DA1-E283BDE86D8C}"/>
              </a:ext>
            </a:extLst>
          </p:cNvPr>
          <p:cNvGraphicFramePr>
            <a:graphicFrameLocks noChangeAspect="1"/>
          </p:cNvGraphicFramePr>
          <p:nvPr/>
        </p:nvGraphicFramePr>
        <p:xfrm>
          <a:off x="4495800" y="3733800"/>
          <a:ext cx="1981200" cy="400050"/>
        </p:xfrm>
        <a:graphic>
          <a:graphicData uri="http://schemas.openxmlformats.org/presentationml/2006/ole">
            <mc:AlternateContent xmlns:mc="http://schemas.openxmlformats.org/markup-compatibility/2006">
              <mc:Choice xmlns:v="urn:schemas-microsoft-com:vml" Requires="v">
                <p:oleObj name="公式" r:id="rId2" imgW="22821900" imgH="4686300" progId="Equation.3">
                  <p:embed/>
                </p:oleObj>
              </mc:Choice>
              <mc:Fallback>
                <p:oleObj name="公式" r:id="rId2" imgW="22821900" imgH="46863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3733800"/>
                        <a:ext cx="1981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0" name="Rectangle 6">
            <a:extLst>
              <a:ext uri="{FF2B5EF4-FFF2-40B4-BE49-F238E27FC236}">
                <a16:creationId xmlns:a16="http://schemas.microsoft.com/office/drawing/2014/main" id="{08696208-1118-9267-DAC8-E700799A176D}"/>
              </a:ext>
            </a:extLst>
          </p:cNvPr>
          <p:cNvSpPr>
            <a:spLocks noChangeArrowheads="1"/>
          </p:cNvSpPr>
          <p:nvPr/>
        </p:nvSpPr>
        <p:spPr bwMode="auto">
          <a:xfrm>
            <a:off x="0" y="200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BFDBBB58-7C0C-E26D-B4AF-2BD50C747C23}"/>
              </a:ext>
            </a:extLst>
          </p:cNvPr>
          <p:cNvSpPr>
            <a:spLocks noGrp="1" noChangeArrowheads="1"/>
          </p:cNvSpPr>
          <p:nvPr>
            <p:ph type="title"/>
          </p:nvPr>
        </p:nvSpPr>
        <p:spPr/>
        <p:txBody>
          <a:bodyPr/>
          <a:lstStyle/>
          <a:p>
            <a:pPr eaLnBrk="1" hangingPunct="1"/>
            <a:endParaRPr lang="zh-CN" altLang="zh-CN"/>
          </a:p>
        </p:txBody>
      </p:sp>
      <p:sp>
        <p:nvSpPr>
          <p:cNvPr id="22531" name="Rectangle 3">
            <a:extLst>
              <a:ext uri="{FF2B5EF4-FFF2-40B4-BE49-F238E27FC236}">
                <a16:creationId xmlns:a16="http://schemas.microsoft.com/office/drawing/2014/main" id="{BD9A2A51-E3D2-9F82-D7B3-61D5CCC8ABBC}"/>
              </a:ext>
            </a:extLst>
          </p:cNvPr>
          <p:cNvSpPr>
            <a:spLocks noGrp="1" noChangeArrowheads="1"/>
          </p:cNvSpPr>
          <p:nvPr>
            <p:ph type="body" idx="1"/>
          </p:nvPr>
        </p:nvSpPr>
        <p:spPr/>
        <p:txBody>
          <a:bodyPr/>
          <a:lstStyle/>
          <a:p>
            <a:pPr eaLnBrk="1" hangingPunct="1">
              <a:lnSpc>
                <a:spcPct val="90000"/>
              </a:lnSpc>
            </a:pPr>
            <a:r>
              <a:rPr lang="zh-CN" altLang="en-US" sz="2800"/>
              <a:t>定理</a:t>
            </a:r>
            <a:r>
              <a:rPr lang="en-US" altLang="zh-CN" sz="2800"/>
              <a:t>10.2.1 O</a:t>
            </a:r>
            <a:r>
              <a:rPr lang="zh-CN" altLang="en-US" sz="2800"/>
              <a:t>和  具有如下性质。</a:t>
            </a:r>
          </a:p>
          <a:p>
            <a:pPr eaLnBrk="1" hangingPunct="1">
              <a:lnSpc>
                <a:spcPct val="90000"/>
              </a:lnSpc>
            </a:pPr>
            <a:r>
              <a:rPr lang="en-US" altLang="zh-CN" sz="2800"/>
              <a:t>(1) </a:t>
            </a:r>
            <a:r>
              <a:rPr lang="zh-CN" altLang="en-US" sz="2800"/>
              <a:t>如果</a:t>
            </a:r>
            <a:r>
              <a:rPr lang="en-US" altLang="zh-CN" sz="2800"/>
              <a:t>f(n)=O(g(n))</a:t>
            </a:r>
            <a:r>
              <a:rPr lang="zh-CN" altLang="en-US" sz="2800"/>
              <a:t>且</a:t>
            </a:r>
            <a:r>
              <a:rPr lang="en-US" altLang="zh-CN" sz="2800"/>
              <a:t>h(n)=O(g(n))</a:t>
            </a:r>
            <a:r>
              <a:rPr lang="zh-CN" altLang="en-US" sz="2800"/>
              <a:t>，那么</a:t>
            </a:r>
            <a:r>
              <a:rPr lang="en-US" altLang="zh-CN" sz="2800"/>
              <a:t>f(n)+h(n)=O(g(n))</a:t>
            </a:r>
            <a:r>
              <a:rPr lang="zh-CN" altLang="en-US" sz="2800"/>
              <a:t>；</a:t>
            </a:r>
          </a:p>
          <a:p>
            <a:pPr eaLnBrk="1" hangingPunct="1">
              <a:lnSpc>
                <a:spcPct val="90000"/>
              </a:lnSpc>
            </a:pPr>
            <a:r>
              <a:rPr lang="en-US" altLang="zh-CN" sz="2800"/>
              <a:t>(2) </a:t>
            </a:r>
            <a:r>
              <a:rPr lang="zh-CN" altLang="en-US" sz="2800"/>
              <a:t>如果</a:t>
            </a:r>
            <a:r>
              <a:rPr lang="en-US" altLang="zh-CN" sz="2800"/>
              <a:t>f(n)=O(g(n))</a:t>
            </a:r>
            <a:r>
              <a:rPr lang="zh-CN" altLang="en-US" sz="2800"/>
              <a:t>且</a:t>
            </a:r>
            <a:r>
              <a:rPr lang="en-US" altLang="zh-CN" sz="2800"/>
              <a:t>h(n)=O(r(n))</a:t>
            </a:r>
            <a:r>
              <a:rPr lang="zh-CN" altLang="en-US" sz="2800"/>
              <a:t>，那么</a:t>
            </a:r>
            <a:r>
              <a:rPr lang="en-US" altLang="zh-CN" sz="2800"/>
              <a:t>f(n)h(n)=O(g(n)f(n))</a:t>
            </a:r>
            <a:r>
              <a:rPr lang="zh-CN" altLang="en-US" sz="2800"/>
              <a:t>；</a:t>
            </a:r>
          </a:p>
          <a:p>
            <a:pPr eaLnBrk="1" hangingPunct="1">
              <a:lnSpc>
                <a:spcPct val="90000"/>
              </a:lnSpc>
            </a:pPr>
            <a:r>
              <a:rPr lang="en-US" altLang="zh-CN" sz="2800"/>
              <a:t>(3) </a:t>
            </a:r>
            <a:r>
              <a:rPr lang="zh-CN" altLang="en-US" sz="2800"/>
              <a:t>如果</a:t>
            </a:r>
            <a:r>
              <a:rPr lang="en-US" altLang="zh-CN" sz="2800"/>
              <a:t>f(n)=O(g(n))</a:t>
            </a:r>
            <a:r>
              <a:rPr lang="zh-CN" altLang="en-US" sz="2800"/>
              <a:t>且</a:t>
            </a:r>
            <a:r>
              <a:rPr lang="en-US" altLang="zh-CN" sz="2800"/>
              <a:t>g(n)=O(h(n)) </a:t>
            </a:r>
            <a:r>
              <a:rPr lang="zh-CN" altLang="en-US" sz="2800"/>
              <a:t>，则</a:t>
            </a:r>
            <a:r>
              <a:rPr lang="en-US" altLang="zh-CN" sz="2800"/>
              <a:t>f(n)=O(h(n)) </a:t>
            </a:r>
            <a:r>
              <a:rPr lang="zh-CN" altLang="en-US" sz="2800"/>
              <a:t>。</a:t>
            </a:r>
          </a:p>
          <a:p>
            <a:pPr eaLnBrk="1" hangingPunct="1">
              <a:lnSpc>
                <a:spcPct val="90000"/>
              </a:lnSpc>
            </a:pPr>
            <a:r>
              <a:rPr lang="en-US" altLang="zh-CN" sz="2800"/>
              <a:t>(4) </a:t>
            </a:r>
            <a:r>
              <a:rPr lang="zh-CN" altLang="en-US" sz="2800"/>
              <a:t>如果                ，            ，则                。</a:t>
            </a:r>
          </a:p>
        </p:txBody>
      </p:sp>
      <p:sp>
        <p:nvSpPr>
          <p:cNvPr id="22532" name="Rectangle 5">
            <a:extLst>
              <a:ext uri="{FF2B5EF4-FFF2-40B4-BE49-F238E27FC236}">
                <a16:creationId xmlns:a16="http://schemas.microsoft.com/office/drawing/2014/main" id="{C2541CB2-37C5-7F3E-A89B-A2FF6C1DCAF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2533" name="Object 4">
            <a:extLst>
              <a:ext uri="{FF2B5EF4-FFF2-40B4-BE49-F238E27FC236}">
                <a16:creationId xmlns:a16="http://schemas.microsoft.com/office/drawing/2014/main" id="{604B79F5-A133-59AD-C752-1FBFCB337F59}"/>
              </a:ext>
            </a:extLst>
          </p:cNvPr>
          <p:cNvGraphicFramePr>
            <a:graphicFrameLocks noChangeAspect="1"/>
          </p:cNvGraphicFramePr>
          <p:nvPr/>
        </p:nvGraphicFramePr>
        <p:xfrm>
          <a:off x="3352800" y="1674813"/>
          <a:ext cx="228600" cy="255587"/>
        </p:xfrm>
        <a:graphic>
          <a:graphicData uri="http://schemas.openxmlformats.org/presentationml/2006/ole">
            <mc:AlternateContent xmlns:mc="http://schemas.openxmlformats.org/markup-compatibility/2006">
              <mc:Choice xmlns:v="urn:schemas-microsoft-com:vml" Requires="v">
                <p:oleObj name="公式" r:id="rId2" imgW="3797300" imgH="4102100" progId="Equation.3">
                  <p:embed/>
                </p:oleObj>
              </mc:Choice>
              <mc:Fallback>
                <p:oleObj name="公式" r:id="rId2" imgW="3797300" imgH="41021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674813"/>
                        <a:ext cx="228600"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4" name="Rectangle 7">
            <a:extLst>
              <a:ext uri="{FF2B5EF4-FFF2-40B4-BE49-F238E27FC236}">
                <a16:creationId xmlns:a16="http://schemas.microsoft.com/office/drawing/2014/main" id="{E25E6E3C-5CEA-13E8-7956-16EC9065473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2535" name="Object 6">
            <a:extLst>
              <a:ext uri="{FF2B5EF4-FFF2-40B4-BE49-F238E27FC236}">
                <a16:creationId xmlns:a16="http://schemas.microsoft.com/office/drawing/2014/main" id="{B0006481-F6EE-4423-457C-41AE1BBA2268}"/>
              </a:ext>
            </a:extLst>
          </p:cNvPr>
          <p:cNvGraphicFramePr>
            <a:graphicFrameLocks noChangeAspect="1"/>
          </p:cNvGraphicFramePr>
          <p:nvPr/>
        </p:nvGraphicFramePr>
        <p:xfrm>
          <a:off x="2209800" y="4648200"/>
          <a:ext cx="1749425" cy="352425"/>
        </p:xfrm>
        <a:graphic>
          <a:graphicData uri="http://schemas.openxmlformats.org/presentationml/2006/ole">
            <mc:AlternateContent xmlns:mc="http://schemas.openxmlformats.org/markup-compatibility/2006">
              <mc:Choice xmlns:v="urn:schemas-microsoft-com:vml" Requires="v">
                <p:oleObj name="公式" r:id="rId4" imgW="22821900" imgH="4686300" progId="Equation.3">
                  <p:embed/>
                </p:oleObj>
              </mc:Choice>
              <mc:Fallback>
                <p:oleObj name="公式" r:id="rId4" imgW="22821900" imgH="46863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4648200"/>
                        <a:ext cx="17494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6" name="Rectangle 8">
            <a:extLst>
              <a:ext uri="{FF2B5EF4-FFF2-40B4-BE49-F238E27FC236}">
                <a16:creationId xmlns:a16="http://schemas.microsoft.com/office/drawing/2014/main" id="{BC1EDC3D-E1B0-4674-0BD3-8192B4D9EAA3}"/>
              </a:ext>
            </a:extLst>
          </p:cNvPr>
          <p:cNvSpPr>
            <a:spLocks noChangeArrowheads="1"/>
          </p:cNvSpPr>
          <p:nvPr/>
        </p:nvSpPr>
        <p:spPr bwMode="auto">
          <a:xfrm>
            <a:off x="0" y="26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2537" name="Rectangle 10">
            <a:extLst>
              <a:ext uri="{FF2B5EF4-FFF2-40B4-BE49-F238E27FC236}">
                <a16:creationId xmlns:a16="http://schemas.microsoft.com/office/drawing/2014/main" id="{D2D88E94-81CA-B0D2-1C19-224CA315CE6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2538" name="Object 9">
            <a:extLst>
              <a:ext uri="{FF2B5EF4-FFF2-40B4-BE49-F238E27FC236}">
                <a16:creationId xmlns:a16="http://schemas.microsoft.com/office/drawing/2014/main" id="{2724502E-50ED-E370-C294-70E75ED4931C}"/>
              </a:ext>
            </a:extLst>
          </p:cNvPr>
          <p:cNvGraphicFramePr>
            <a:graphicFrameLocks noChangeAspect="1"/>
          </p:cNvGraphicFramePr>
          <p:nvPr/>
        </p:nvGraphicFramePr>
        <p:xfrm>
          <a:off x="3962400" y="4724400"/>
          <a:ext cx="1328738" cy="276225"/>
        </p:xfrm>
        <a:graphic>
          <a:graphicData uri="http://schemas.openxmlformats.org/presentationml/2006/ole">
            <mc:AlternateContent xmlns:mc="http://schemas.openxmlformats.org/markup-compatibility/2006">
              <mc:Choice xmlns:v="urn:schemas-microsoft-com:vml" Requires="v">
                <p:oleObj name="公式" r:id="rId6" imgW="22237700" imgH="4686300" progId="Equation.3">
                  <p:embed/>
                </p:oleObj>
              </mc:Choice>
              <mc:Fallback>
                <p:oleObj name="公式" r:id="rId6" imgW="22237700" imgH="46863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2400" y="4724400"/>
                        <a:ext cx="13287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9" name="Rectangle 11">
            <a:extLst>
              <a:ext uri="{FF2B5EF4-FFF2-40B4-BE49-F238E27FC236}">
                <a16:creationId xmlns:a16="http://schemas.microsoft.com/office/drawing/2014/main" id="{3849EA91-2593-230D-08FE-CBE17E9660EF}"/>
              </a:ext>
            </a:extLst>
          </p:cNvPr>
          <p:cNvSpPr>
            <a:spLocks noChangeArrowheads="1"/>
          </p:cNvSpPr>
          <p:nvPr/>
        </p:nvSpPr>
        <p:spPr bwMode="auto">
          <a:xfrm>
            <a:off x="0" y="200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2540" name="Rectangle 13">
            <a:extLst>
              <a:ext uri="{FF2B5EF4-FFF2-40B4-BE49-F238E27FC236}">
                <a16:creationId xmlns:a16="http://schemas.microsoft.com/office/drawing/2014/main" id="{C23732FD-F8B2-4853-03B8-20FF6F0B3BA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2541" name="Object 12">
            <a:extLst>
              <a:ext uri="{FF2B5EF4-FFF2-40B4-BE49-F238E27FC236}">
                <a16:creationId xmlns:a16="http://schemas.microsoft.com/office/drawing/2014/main" id="{C76464D1-4888-330E-ABFF-49400BB39BC1}"/>
              </a:ext>
            </a:extLst>
          </p:cNvPr>
          <p:cNvGraphicFramePr>
            <a:graphicFrameLocks noChangeAspect="1"/>
          </p:cNvGraphicFramePr>
          <p:nvPr/>
        </p:nvGraphicFramePr>
        <p:xfrm>
          <a:off x="6172200" y="4724400"/>
          <a:ext cx="1354138" cy="276225"/>
        </p:xfrm>
        <a:graphic>
          <a:graphicData uri="http://schemas.openxmlformats.org/presentationml/2006/ole">
            <mc:AlternateContent xmlns:mc="http://schemas.openxmlformats.org/markup-compatibility/2006">
              <mc:Choice xmlns:v="urn:schemas-microsoft-com:vml" Requires="v">
                <p:oleObj name="公式" r:id="rId8" imgW="22529800" imgH="4686300" progId="Equation.3">
                  <p:embed/>
                </p:oleObj>
              </mc:Choice>
              <mc:Fallback>
                <p:oleObj name="公式" r:id="rId8" imgW="22529800" imgH="468630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72200" y="4724400"/>
                        <a:ext cx="13541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2" name="Rectangle 14">
            <a:extLst>
              <a:ext uri="{FF2B5EF4-FFF2-40B4-BE49-F238E27FC236}">
                <a16:creationId xmlns:a16="http://schemas.microsoft.com/office/drawing/2014/main" id="{E016FD19-5DF2-B918-24EC-77271226AE90}"/>
              </a:ext>
            </a:extLst>
          </p:cNvPr>
          <p:cNvSpPr>
            <a:spLocks noChangeArrowheads="1"/>
          </p:cNvSpPr>
          <p:nvPr/>
        </p:nvSpPr>
        <p:spPr bwMode="auto">
          <a:xfrm>
            <a:off x="0" y="200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636F32B-AC60-7DEB-4E48-2EC843C23853}"/>
              </a:ext>
            </a:extLst>
          </p:cNvPr>
          <p:cNvSpPr>
            <a:spLocks noGrp="1" noChangeArrowheads="1"/>
          </p:cNvSpPr>
          <p:nvPr>
            <p:ph type="title"/>
          </p:nvPr>
        </p:nvSpPr>
        <p:spPr/>
        <p:txBody>
          <a:bodyPr/>
          <a:lstStyle/>
          <a:p>
            <a:pPr eaLnBrk="1" hangingPunct="1"/>
            <a:endParaRPr lang="zh-CN" altLang="zh-CN"/>
          </a:p>
        </p:txBody>
      </p:sp>
      <p:sp>
        <p:nvSpPr>
          <p:cNvPr id="23555" name="Rectangle 3">
            <a:extLst>
              <a:ext uri="{FF2B5EF4-FFF2-40B4-BE49-F238E27FC236}">
                <a16:creationId xmlns:a16="http://schemas.microsoft.com/office/drawing/2014/main" id="{E71C96C8-E695-1A0F-45BF-917D8E5FA7E6}"/>
              </a:ext>
            </a:extLst>
          </p:cNvPr>
          <p:cNvSpPr>
            <a:spLocks noGrp="1" noChangeArrowheads="1"/>
          </p:cNvSpPr>
          <p:nvPr>
            <p:ph type="body" idx="1"/>
          </p:nvPr>
        </p:nvSpPr>
        <p:spPr/>
        <p:txBody>
          <a:bodyPr/>
          <a:lstStyle/>
          <a:p>
            <a:pPr eaLnBrk="1" hangingPunct="1"/>
            <a:r>
              <a:rPr lang="en-US" altLang="zh-CN"/>
              <a:t>(5) </a:t>
            </a:r>
            <a:r>
              <a:rPr lang="zh-CN" altLang="en-US"/>
              <a:t>如果</a:t>
            </a:r>
            <a:r>
              <a:rPr lang="en-US" altLang="zh-CN"/>
              <a:t>f(n)</a:t>
            </a:r>
            <a:r>
              <a:rPr lang="zh-CN" altLang="en-US"/>
              <a:t>是一个</a:t>
            </a:r>
            <a:r>
              <a:rPr lang="en-US" altLang="zh-CN"/>
              <a:t>d</a:t>
            </a:r>
            <a:r>
              <a:rPr lang="zh-CN" altLang="en-US"/>
              <a:t>次多项式，那么                  ，                     。</a:t>
            </a:r>
          </a:p>
          <a:p>
            <a:pPr eaLnBrk="1" hangingPunct="1"/>
            <a:r>
              <a:rPr lang="en-US" altLang="zh-CN"/>
              <a:t>(6) </a:t>
            </a:r>
            <a:r>
              <a:rPr lang="zh-CN" altLang="en-US"/>
              <a:t>对于任意多项式</a:t>
            </a:r>
            <a:r>
              <a:rPr lang="en-US" altLang="zh-CN"/>
              <a:t>p(n)</a:t>
            </a:r>
            <a:r>
              <a:rPr lang="zh-CN" altLang="en-US"/>
              <a:t>以及任意整数</a:t>
            </a:r>
            <a:r>
              <a:rPr lang="en-US" altLang="zh-CN"/>
              <a:t>m&gt;1</a:t>
            </a:r>
            <a:r>
              <a:rPr lang="zh-CN" altLang="en-US"/>
              <a:t>，有 </a:t>
            </a:r>
            <a:r>
              <a:rPr lang="en-US" altLang="zh-CN"/>
              <a:t>p(n)=O(m</a:t>
            </a:r>
            <a:r>
              <a:rPr lang="en-US" altLang="zh-CN" baseline="30000"/>
              <a:t>n</a:t>
            </a:r>
            <a:r>
              <a:rPr lang="en-US" altLang="zh-CN"/>
              <a:t>)</a:t>
            </a:r>
            <a:r>
              <a:rPr lang="zh-CN" altLang="en-US"/>
              <a:t>。                              </a:t>
            </a:r>
          </a:p>
          <a:p>
            <a:pPr eaLnBrk="1" hangingPunct="1"/>
            <a:endParaRPr lang="en-US" altLang="zh-CN"/>
          </a:p>
        </p:txBody>
      </p:sp>
      <p:sp>
        <p:nvSpPr>
          <p:cNvPr id="23556" name="Rectangle 5">
            <a:extLst>
              <a:ext uri="{FF2B5EF4-FFF2-40B4-BE49-F238E27FC236}">
                <a16:creationId xmlns:a16="http://schemas.microsoft.com/office/drawing/2014/main" id="{5B37A6B1-FDB2-FC75-9FA1-04C1EEB0098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3557" name="Object 4">
            <a:extLst>
              <a:ext uri="{FF2B5EF4-FFF2-40B4-BE49-F238E27FC236}">
                <a16:creationId xmlns:a16="http://schemas.microsoft.com/office/drawing/2014/main" id="{9770A1C7-9649-60FD-4548-FE53B5356218}"/>
              </a:ext>
            </a:extLst>
          </p:cNvPr>
          <p:cNvGraphicFramePr>
            <a:graphicFrameLocks noChangeAspect="1"/>
          </p:cNvGraphicFramePr>
          <p:nvPr/>
        </p:nvGraphicFramePr>
        <p:xfrm>
          <a:off x="1447800" y="2286000"/>
          <a:ext cx="1506538" cy="398463"/>
        </p:xfrm>
        <a:graphic>
          <a:graphicData uri="http://schemas.openxmlformats.org/presentationml/2006/ole">
            <mc:AlternateContent xmlns:mc="http://schemas.openxmlformats.org/markup-compatibility/2006">
              <mc:Choice xmlns:v="urn:schemas-microsoft-com:vml" Requires="v">
                <p:oleObj name="公式" r:id="rId2" imgW="19900900" imgH="5270500" progId="Equation.3">
                  <p:embed/>
                </p:oleObj>
              </mc:Choice>
              <mc:Fallback>
                <p:oleObj name="公式" r:id="rId2" imgW="19900900" imgH="52705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86000"/>
                        <a:ext cx="15065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8" name="Rectangle 6">
            <a:extLst>
              <a:ext uri="{FF2B5EF4-FFF2-40B4-BE49-F238E27FC236}">
                <a16:creationId xmlns:a16="http://schemas.microsoft.com/office/drawing/2014/main" id="{69C47C22-F77D-2313-9AF6-06F877D20C54}"/>
              </a:ext>
            </a:extLst>
          </p:cNvPr>
          <p:cNvSpPr>
            <a:spLocks noChangeArrowheads="1"/>
          </p:cNvSpPr>
          <p:nvPr/>
        </p:nvSpPr>
        <p:spPr bwMode="auto">
          <a:xfrm>
            <a:off x="0" y="228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3559" name="Rectangle 8">
            <a:extLst>
              <a:ext uri="{FF2B5EF4-FFF2-40B4-BE49-F238E27FC236}">
                <a16:creationId xmlns:a16="http://schemas.microsoft.com/office/drawing/2014/main" id="{8ADCF9B6-09AF-6837-1C94-0BB6EA0A1D8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3560" name="Object 7">
            <a:extLst>
              <a:ext uri="{FF2B5EF4-FFF2-40B4-BE49-F238E27FC236}">
                <a16:creationId xmlns:a16="http://schemas.microsoft.com/office/drawing/2014/main" id="{9130398F-2E8F-1C38-7248-390E3A6749DB}"/>
              </a:ext>
            </a:extLst>
          </p:cNvPr>
          <p:cNvGraphicFramePr>
            <a:graphicFrameLocks noChangeAspect="1"/>
          </p:cNvGraphicFramePr>
          <p:nvPr/>
        </p:nvGraphicFramePr>
        <p:xfrm>
          <a:off x="3419475" y="2209800"/>
          <a:ext cx="2765425" cy="474663"/>
        </p:xfrm>
        <a:graphic>
          <a:graphicData uri="http://schemas.openxmlformats.org/presentationml/2006/ole">
            <mc:AlternateContent xmlns:mc="http://schemas.openxmlformats.org/markup-compatibility/2006">
              <mc:Choice xmlns:v="urn:schemas-microsoft-com:vml" Requires="v">
                <p:oleObj name="公式" r:id="rId4" imgW="30721300" imgH="5270500" progId="Equation.3">
                  <p:embed/>
                </p:oleObj>
              </mc:Choice>
              <mc:Fallback>
                <p:oleObj name="公式" r:id="rId4" imgW="30721300" imgH="52705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475" y="2209800"/>
                        <a:ext cx="276542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1" name="Rectangle 9">
            <a:extLst>
              <a:ext uri="{FF2B5EF4-FFF2-40B4-BE49-F238E27FC236}">
                <a16:creationId xmlns:a16="http://schemas.microsoft.com/office/drawing/2014/main" id="{5B0C0F55-BA58-9B3C-9731-DF139572C81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328C1EE-2F2F-0F3F-C9A7-F5B6E033686A}"/>
              </a:ext>
            </a:extLst>
          </p:cNvPr>
          <p:cNvSpPr>
            <a:spLocks noGrp="1" noChangeArrowheads="1"/>
          </p:cNvSpPr>
          <p:nvPr>
            <p:ph type="title"/>
          </p:nvPr>
        </p:nvSpPr>
        <p:spPr/>
        <p:txBody>
          <a:bodyPr/>
          <a:lstStyle/>
          <a:p>
            <a:pPr eaLnBrk="1" hangingPunct="1"/>
            <a:endParaRPr lang="zh-CN" altLang="zh-CN"/>
          </a:p>
        </p:txBody>
      </p:sp>
      <p:sp>
        <p:nvSpPr>
          <p:cNvPr id="24579" name="Rectangle 3">
            <a:extLst>
              <a:ext uri="{FF2B5EF4-FFF2-40B4-BE49-F238E27FC236}">
                <a16:creationId xmlns:a16="http://schemas.microsoft.com/office/drawing/2014/main" id="{A63ACDED-6C4A-B418-CA4D-C59C0D626197}"/>
              </a:ext>
            </a:extLst>
          </p:cNvPr>
          <p:cNvSpPr>
            <a:spLocks noGrp="1" noChangeArrowheads="1"/>
          </p:cNvSpPr>
          <p:nvPr>
            <p:ph type="body" idx="1"/>
          </p:nvPr>
        </p:nvSpPr>
        <p:spPr/>
        <p:txBody>
          <a:bodyPr/>
          <a:lstStyle/>
          <a:p>
            <a:pPr eaLnBrk="1" hangingPunct="1"/>
            <a:r>
              <a:rPr lang="zh-CN" altLang="en-US"/>
              <a:t>例 </a:t>
            </a:r>
            <a:r>
              <a:rPr lang="en-US" altLang="zh-CN"/>
              <a:t>10.2.1 </a:t>
            </a:r>
            <a:r>
              <a:rPr lang="zh-CN" altLang="en-US"/>
              <a:t>运用高等数学的知识可以验证如下的结论。</a:t>
            </a:r>
          </a:p>
          <a:p>
            <a:pPr eaLnBrk="1" hangingPunct="1"/>
            <a:r>
              <a:rPr lang="en-US" altLang="zh-CN"/>
              <a:t>(1) </a:t>
            </a:r>
          </a:p>
          <a:p>
            <a:pPr eaLnBrk="1" hangingPunct="1"/>
            <a:r>
              <a:rPr lang="en-US" altLang="zh-CN"/>
              <a:t>(2) </a:t>
            </a:r>
          </a:p>
        </p:txBody>
      </p:sp>
      <p:sp>
        <p:nvSpPr>
          <p:cNvPr id="24580" name="Rectangle 5">
            <a:extLst>
              <a:ext uri="{FF2B5EF4-FFF2-40B4-BE49-F238E27FC236}">
                <a16:creationId xmlns:a16="http://schemas.microsoft.com/office/drawing/2014/main" id="{A111A0CA-C912-1065-60EF-9A88A37AC95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4581" name="Object 4">
            <a:extLst>
              <a:ext uri="{FF2B5EF4-FFF2-40B4-BE49-F238E27FC236}">
                <a16:creationId xmlns:a16="http://schemas.microsoft.com/office/drawing/2014/main" id="{369CD940-7D17-04FE-0E72-EA03884F127D}"/>
              </a:ext>
            </a:extLst>
          </p:cNvPr>
          <p:cNvGraphicFramePr>
            <a:graphicFrameLocks noChangeAspect="1"/>
          </p:cNvGraphicFramePr>
          <p:nvPr/>
        </p:nvGraphicFramePr>
        <p:xfrm>
          <a:off x="1447800" y="2819400"/>
          <a:ext cx="2259013" cy="427038"/>
        </p:xfrm>
        <a:graphic>
          <a:graphicData uri="http://schemas.openxmlformats.org/presentationml/2006/ole">
            <mc:AlternateContent xmlns:mc="http://schemas.openxmlformats.org/markup-compatibility/2006">
              <mc:Choice xmlns:v="urn:schemas-microsoft-com:vml" Requires="v">
                <p:oleObj name="公式" r:id="rId2" imgW="27800300" imgH="5270500" progId="Equation.3">
                  <p:embed/>
                </p:oleObj>
              </mc:Choice>
              <mc:Fallback>
                <p:oleObj name="公式" r:id="rId2" imgW="27800300" imgH="52705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819400"/>
                        <a:ext cx="225901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2" name="Rectangle 6">
            <a:extLst>
              <a:ext uri="{FF2B5EF4-FFF2-40B4-BE49-F238E27FC236}">
                <a16:creationId xmlns:a16="http://schemas.microsoft.com/office/drawing/2014/main" id="{BAD5178E-6BB9-D0B3-33D1-C3A681235E71}"/>
              </a:ext>
            </a:extLst>
          </p:cNvPr>
          <p:cNvSpPr>
            <a:spLocks noChangeArrowheads="1"/>
          </p:cNvSpPr>
          <p:nvPr/>
        </p:nvSpPr>
        <p:spPr bwMode="auto">
          <a:xfrm>
            <a:off x="0" y="65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3" name="Rectangle 8">
            <a:extLst>
              <a:ext uri="{FF2B5EF4-FFF2-40B4-BE49-F238E27FC236}">
                <a16:creationId xmlns:a16="http://schemas.microsoft.com/office/drawing/2014/main" id="{A177A531-4A9E-461E-384B-578F80D9E4C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4584" name="Object 7">
            <a:extLst>
              <a:ext uri="{FF2B5EF4-FFF2-40B4-BE49-F238E27FC236}">
                <a16:creationId xmlns:a16="http://schemas.microsoft.com/office/drawing/2014/main" id="{7AECC151-3E72-BD21-E6D7-83BA560DD0D3}"/>
              </a:ext>
            </a:extLst>
          </p:cNvPr>
          <p:cNvGraphicFramePr>
            <a:graphicFrameLocks noChangeAspect="1"/>
          </p:cNvGraphicFramePr>
          <p:nvPr/>
        </p:nvGraphicFramePr>
        <p:xfrm>
          <a:off x="1676400" y="3429000"/>
          <a:ext cx="1577975" cy="381000"/>
        </p:xfrm>
        <a:graphic>
          <a:graphicData uri="http://schemas.openxmlformats.org/presentationml/2006/ole">
            <mc:AlternateContent xmlns:mc="http://schemas.openxmlformats.org/markup-compatibility/2006">
              <mc:Choice xmlns:v="urn:schemas-microsoft-com:vml" Requires="v">
                <p:oleObj name="公式" r:id="rId4" imgW="19011900" imgH="4686300" progId="Equation.3">
                  <p:embed/>
                </p:oleObj>
              </mc:Choice>
              <mc:Fallback>
                <p:oleObj name="公式" r:id="rId4" imgW="19011900" imgH="46863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3429000"/>
                        <a:ext cx="15779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5" name="Rectangle 9">
            <a:extLst>
              <a:ext uri="{FF2B5EF4-FFF2-40B4-BE49-F238E27FC236}">
                <a16:creationId xmlns:a16="http://schemas.microsoft.com/office/drawing/2014/main" id="{4FA4A439-E87B-6112-B69E-BF9310EAD8F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BB688BB-FC75-E079-7A92-B23683435BEE}"/>
              </a:ext>
            </a:extLst>
          </p:cNvPr>
          <p:cNvSpPr>
            <a:spLocks noGrp="1" noChangeArrowheads="1"/>
          </p:cNvSpPr>
          <p:nvPr>
            <p:ph type="title"/>
          </p:nvPr>
        </p:nvSpPr>
        <p:spPr/>
        <p:txBody>
          <a:bodyPr/>
          <a:lstStyle/>
          <a:p>
            <a:pPr eaLnBrk="1" hangingPunct="1"/>
            <a:endParaRPr lang="zh-CN" altLang="zh-CN"/>
          </a:p>
        </p:txBody>
      </p:sp>
      <p:sp>
        <p:nvSpPr>
          <p:cNvPr id="25603" name="Rectangle 3">
            <a:extLst>
              <a:ext uri="{FF2B5EF4-FFF2-40B4-BE49-F238E27FC236}">
                <a16:creationId xmlns:a16="http://schemas.microsoft.com/office/drawing/2014/main" id="{66A6F8F9-801A-2856-E9A4-2E7500552C51}"/>
              </a:ext>
            </a:extLst>
          </p:cNvPr>
          <p:cNvSpPr>
            <a:spLocks noGrp="1" noChangeArrowheads="1"/>
          </p:cNvSpPr>
          <p:nvPr>
            <p:ph type="body" idx="1"/>
          </p:nvPr>
        </p:nvSpPr>
        <p:spPr/>
        <p:txBody>
          <a:bodyPr/>
          <a:lstStyle/>
          <a:p>
            <a:pPr eaLnBrk="1" hangingPunct="1"/>
            <a:r>
              <a:rPr lang="zh-CN" altLang="en-US"/>
              <a:t>使用记号</a:t>
            </a:r>
            <a:r>
              <a:rPr lang="en-US" altLang="zh-CN"/>
              <a:t>O(</a:t>
            </a:r>
            <a:r>
              <a:rPr lang="en-US" altLang="en-US"/>
              <a:t>·</a:t>
            </a:r>
            <a:r>
              <a:rPr lang="en-US" altLang="zh-CN"/>
              <a:t>)</a:t>
            </a:r>
            <a:r>
              <a:rPr lang="zh-CN" altLang="en-US"/>
              <a:t>可以将欧几里德算法和扩展欧几里德算法的计算复杂度表示为</a:t>
            </a:r>
            <a:r>
              <a:rPr lang="en-US" altLang="zh-CN"/>
              <a:t>O(log a)</a:t>
            </a:r>
            <a:r>
              <a:rPr lang="zh-CN" altLang="en-US"/>
              <a:t>，其中</a:t>
            </a:r>
            <a:r>
              <a:rPr lang="en-US" altLang="zh-CN"/>
              <a:t>a</a:t>
            </a:r>
            <a:r>
              <a:rPr lang="zh-CN" altLang="en-US"/>
              <a:t>为输入的大的整数。注意在这个表达式中，使用</a:t>
            </a:r>
            <a:r>
              <a:rPr lang="en-US" altLang="zh-CN"/>
              <a:t>log a </a:t>
            </a:r>
            <a:r>
              <a:rPr lang="zh-CN" altLang="en-US"/>
              <a:t>代替了</a:t>
            </a:r>
            <a:r>
              <a:rPr lang="en-US" altLang="zh-CN"/>
              <a:t>|a|</a:t>
            </a:r>
            <a:r>
              <a:rPr lang="zh-CN" altLang="en-US"/>
              <a:t>，而没有明确的说明对数的底数。这是因为</a:t>
            </a:r>
            <a:r>
              <a:rPr lang="en-US" altLang="zh-CN"/>
              <a:t>|x|=log</a:t>
            </a:r>
            <a:r>
              <a:rPr lang="en-US" altLang="zh-CN" baseline="-25000"/>
              <a:t>2</a:t>
            </a:r>
            <a:r>
              <a:rPr lang="en-US" altLang="zh-CN"/>
              <a:t>x= log</a:t>
            </a:r>
            <a:r>
              <a:rPr lang="en-US" altLang="zh-CN" baseline="-25000"/>
              <a:t>a</a:t>
            </a:r>
            <a:r>
              <a:rPr lang="en-US" altLang="zh-CN"/>
              <a:t>x/ log</a:t>
            </a:r>
            <a:r>
              <a:rPr lang="en-US" altLang="zh-CN" baseline="-25000"/>
              <a:t>a</a:t>
            </a:r>
            <a:r>
              <a:rPr lang="en-US" altLang="zh-CN"/>
              <a:t>2 </a:t>
            </a:r>
            <a:r>
              <a:rPr lang="zh-CN" altLang="en-US"/>
              <a:t>，即容易验证，对于任意的底数，它都给出了正确的复杂性度量表示。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C62DC47-F09B-538E-8F71-52F9BC97C26D}"/>
              </a:ext>
            </a:extLst>
          </p:cNvPr>
          <p:cNvSpPr>
            <a:spLocks noGrp="1" noChangeArrowheads="1"/>
          </p:cNvSpPr>
          <p:nvPr>
            <p:ph type="title"/>
          </p:nvPr>
        </p:nvSpPr>
        <p:spPr/>
        <p:txBody>
          <a:bodyPr/>
          <a:lstStyle/>
          <a:p>
            <a:pPr algn="l" eaLnBrk="1" hangingPunct="1"/>
            <a:r>
              <a:rPr lang="en-US" altLang="zh-CN"/>
              <a:t>10.3</a:t>
            </a:r>
            <a:r>
              <a:rPr lang="zh-CN" altLang="en-US"/>
              <a:t>基本原理 </a:t>
            </a:r>
          </a:p>
        </p:txBody>
      </p:sp>
      <p:sp>
        <p:nvSpPr>
          <p:cNvPr id="26627" name="Rectangle 3">
            <a:extLst>
              <a:ext uri="{FF2B5EF4-FFF2-40B4-BE49-F238E27FC236}">
                <a16:creationId xmlns:a16="http://schemas.microsoft.com/office/drawing/2014/main" id="{4EB59CEA-2E16-173E-8450-A53199C9DFB3}"/>
              </a:ext>
            </a:extLst>
          </p:cNvPr>
          <p:cNvSpPr>
            <a:spLocks noGrp="1" noChangeArrowheads="1"/>
          </p:cNvSpPr>
          <p:nvPr>
            <p:ph type="body" idx="1"/>
          </p:nvPr>
        </p:nvSpPr>
        <p:spPr/>
        <p:txBody>
          <a:bodyPr/>
          <a:lstStyle/>
          <a:p>
            <a:pPr eaLnBrk="1" hangingPunct="1"/>
            <a:r>
              <a:rPr lang="zh-CN" altLang="en-US" sz="2800"/>
              <a:t>问题的计算复杂度是由解决该问题的算法的计算复杂度来决定的。通常情况，解决一个问题的算法可能有很多，其计算复杂度也各不相同，所以，在理论上定义一个问题的计算复杂度为求解该问题的最有效的算法的计算复杂度。但是如何证明求解算法是最有效的是很困难的，所以只能把求解问题的计算复杂度粗略地分为</a:t>
            </a:r>
            <a:r>
              <a:rPr lang="en-US" altLang="zh-CN" sz="2800"/>
              <a:t>3</a:t>
            </a:r>
            <a:r>
              <a:rPr lang="zh-CN" altLang="en-US" sz="2800"/>
              <a:t>类，即</a:t>
            </a:r>
            <a:r>
              <a:rPr lang="en-US" altLang="zh-CN" sz="2800"/>
              <a:t>P</a:t>
            </a:r>
            <a:r>
              <a:rPr lang="zh-CN" altLang="en-US" sz="2800"/>
              <a:t>类（确定性多项式时间）、</a:t>
            </a:r>
            <a:r>
              <a:rPr lang="en-US" altLang="zh-CN" sz="2800"/>
              <a:t>NP</a:t>
            </a:r>
            <a:r>
              <a:rPr lang="zh-CN" altLang="en-US" sz="2800"/>
              <a:t>类（非确定性多项式时间）和</a:t>
            </a:r>
            <a:r>
              <a:rPr lang="en-US" altLang="zh-CN" sz="2800"/>
              <a:t>NPC</a:t>
            </a:r>
            <a:r>
              <a:rPr lang="zh-CN" altLang="en-US" sz="2800"/>
              <a:t>类（</a:t>
            </a:r>
            <a:r>
              <a:rPr lang="en-US" altLang="zh-CN" sz="2800"/>
              <a:t>NP</a:t>
            </a:r>
            <a:r>
              <a:rPr lang="zh-CN" altLang="en-US" sz="2800"/>
              <a:t>完全类）。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BD6C222-2473-9A0F-E3D6-97E401ADDB2E}"/>
              </a:ext>
            </a:extLst>
          </p:cNvPr>
          <p:cNvSpPr>
            <a:spLocks noGrp="1" noChangeArrowheads="1"/>
          </p:cNvSpPr>
          <p:nvPr>
            <p:ph type="title"/>
          </p:nvPr>
        </p:nvSpPr>
        <p:spPr/>
        <p:txBody>
          <a:bodyPr/>
          <a:lstStyle/>
          <a:p>
            <a:pPr eaLnBrk="1" hangingPunct="1"/>
            <a:r>
              <a:rPr lang="en-US" altLang="zh-CN"/>
              <a:t>10.3.1</a:t>
            </a:r>
            <a:r>
              <a:rPr lang="zh-CN" altLang="en-US"/>
              <a:t>多项式时间可识别语言</a:t>
            </a:r>
          </a:p>
        </p:txBody>
      </p:sp>
      <p:sp>
        <p:nvSpPr>
          <p:cNvPr id="27651" name="Rectangle 3">
            <a:extLst>
              <a:ext uri="{FF2B5EF4-FFF2-40B4-BE49-F238E27FC236}">
                <a16:creationId xmlns:a16="http://schemas.microsoft.com/office/drawing/2014/main" id="{918E035A-0981-03E7-D17B-7BFE6BB61165}"/>
              </a:ext>
            </a:extLst>
          </p:cNvPr>
          <p:cNvSpPr>
            <a:spLocks noGrp="1" noChangeArrowheads="1"/>
          </p:cNvSpPr>
          <p:nvPr>
            <p:ph type="body" idx="1"/>
          </p:nvPr>
        </p:nvSpPr>
        <p:spPr/>
        <p:txBody>
          <a:bodyPr/>
          <a:lstStyle/>
          <a:p>
            <a:pPr eaLnBrk="1" hangingPunct="1"/>
            <a:r>
              <a:rPr lang="zh-CN" altLang="en-US"/>
              <a:t>定义</a:t>
            </a:r>
            <a:r>
              <a:rPr lang="en-US" altLang="zh-CN"/>
              <a:t>10.3.1</a:t>
            </a:r>
            <a:r>
              <a:rPr lang="zh-CN" altLang="en-US"/>
              <a:t>用</a:t>
            </a:r>
            <a:r>
              <a:rPr lang="en-US" altLang="zh-CN"/>
              <a:t>P</a:t>
            </a:r>
            <a:r>
              <a:rPr lang="zh-CN" altLang="en-US"/>
              <a:t>表示具有以下特征的语言类：对于语言</a:t>
            </a:r>
            <a:r>
              <a:rPr lang="en-US" altLang="zh-CN"/>
              <a:t>L</a:t>
            </a:r>
            <a:r>
              <a:rPr lang="zh-CN" altLang="en-US"/>
              <a:t>，如果存在一个图灵机</a:t>
            </a:r>
            <a:r>
              <a:rPr lang="en-US" altLang="zh-CN"/>
              <a:t>M</a:t>
            </a:r>
            <a:r>
              <a:rPr lang="zh-CN" altLang="en-US"/>
              <a:t>和一个多项式</a:t>
            </a:r>
            <a:r>
              <a:rPr lang="en-US" altLang="zh-CN"/>
              <a:t>p(n)</a:t>
            </a:r>
            <a:r>
              <a:rPr lang="zh-CN" altLang="en-US"/>
              <a:t>使得对任意的非负整数</a:t>
            </a:r>
            <a:r>
              <a:rPr lang="en-US" altLang="zh-CN"/>
              <a:t>n</a:t>
            </a:r>
            <a:r>
              <a:rPr lang="zh-CN" altLang="en-US"/>
              <a:t>，</a:t>
            </a:r>
            <a:r>
              <a:rPr lang="en-US" altLang="zh-CN"/>
              <a:t>M</a:t>
            </a:r>
            <a:r>
              <a:rPr lang="zh-CN" altLang="en-US"/>
              <a:t>可以在时间</a:t>
            </a:r>
            <a:r>
              <a:rPr lang="en-US" altLang="zh-CN"/>
              <a:t>T</a:t>
            </a:r>
            <a:r>
              <a:rPr lang="en-US" altLang="zh-CN" baseline="-25000"/>
              <a:t>M</a:t>
            </a:r>
            <a:r>
              <a:rPr lang="en-US" altLang="zh-CN"/>
              <a:t>(n)&lt;p(n)</a:t>
            </a:r>
            <a:r>
              <a:rPr lang="zh-CN" altLang="en-US"/>
              <a:t>内识别任意实例</a:t>
            </a:r>
            <a:r>
              <a:rPr lang="en-US" altLang="zh-CN"/>
              <a:t>I ∈L</a:t>
            </a:r>
            <a:r>
              <a:rPr lang="zh-CN" altLang="en-US"/>
              <a:t>，则称语言</a:t>
            </a:r>
            <a:r>
              <a:rPr lang="en-US" altLang="zh-CN"/>
              <a:t>L</a:t>
            </a:r>
            <a:r>
              <a:rPr lang="zh-CN" altLang="en-US"/>
              <a:t>在</a:t>
            </a:r>
            <a:r>
              <a:rPr lang="en-US" altLang="zh-CN"/>
              <a:t>P</a:t>
            </a:r>
            <a:r>
              <a:rPr lang="zh-CN" altLang="en-US"/>
              <a:t>中，其中整数参数</a:t>
            </a:r>
            <a:r>
              <a:rPr lang="en-US" altLang="zh-CN"/>
              <a:t>n</a:t>
            </a:r>
            <a:r>
              <a:rPr lang="zh-CN" altLang="en-US"/>
              <a:t>表示实例</a:t>
            </a:r>
            <a:r>
              <a:rPr lang="en-US" altLang="zh-CN"/>
              <a:t>I</a:t>
            </a:r>
            <a:r>
              <a:rPr lang="zh-CN" altLang="en-US"/>
              <a:t>的规模，并称</a:t>
            </a:r>
            <a:r>
              <a:rPr lang="en-US" altLang="zh-CN"/>
              <a:t>L</a:t>
            </a:r>
            <a:r>
              <a:rPr lang="zh-CN" altLang="en-US"/>
              <a:t>是可以在多项式时间内识别的语言。该问题的全体成为多项式时间可识别的问题类，记为</a:t>
            </a:r>
            <a:r>
              <a:rPr lang="en-US" altLang="zh-CN"/>
              <a:t>P</a:t>
            </a:r>
            <a:r>
              <a:rPr lang="zh-CN" altLang="en-US"/>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D975599-A903-BDAE-C5CB-448DB9F9528F}"/>
              </a:ext>
            </a:extLst>
          </p:cNvPr>
          <p:cNvSpPr>
            <a:spLocks noGrp="1" noChangeArrowheads="1"/>
          </p:cNvSpPr>
          <p:nvPr>
            <p:ph type="title"/>
          </p:nvPr>
        </p:nvSpPr>
        <p:spPr/>
        <p:txBody>
          <a:bodyPr/>
          <a:lstStyle/>
          <a:p>
            <a:pPr eaLnBrk="1" hangingPunct="1"/>
            <a:endParaRPr lang="zh-CN" altLang="zh-CN"/>
          </a:p>
        </p:txBody>
      </p:sp>
      <p:sp>
        <p:nvSpPr>
          <p:cNvPr id="28675" name="Rectangle 3">
            <a:extLst>
              <a:ext uri="{FF2B5EF4-FFF2-40B4-BE49-F238E27FC236}">
                <a16:creationId xmlns:a16="http://schemas.microsoft.com/office/drawing/2014/main" id="{8CD9A2A0-8CF8-BD2D-76E9-8587C80AD1B1}"/>
              </a:ext>
            </a:extLst>
          </p:cNvPr>
          <p:cNvSpPr>
            <a:spLocks noGrp="1" noChangeArrowheads="1"/>
          </p:cNvSpPr>
          <p:nvPr>
            <p:ph type="body" idx="1"/>
          </p:nvPr>
        </p:nvSpPr>
        <p:spPr/>
        <p:txBody>
          <a:bodyPr/>
          <a:lstStyle/>
          <a:p>
            <a:pPr eaLnBrk="1" hangingPunct="1"/>
            <a:r>
              <a:rPr lang="zh-CN" altLang="en-US"/>
              <a:t>例</a:t>
            </a:r>
            <a:r>
              <a:rPr lang="en-US" altLang="zh-CN"/>
              <a:t>10.3.1</a:t>
            </a:r>
            <a:r>
              <a:rPr lang="zh-CN" altLang="en-US"/>
              <a:t>（</a:t>
            </a:r>
            <a:r>
              <a:rPr lang="en-US" altLang="zh-CN"/>
              <a:t>Div3</a:t>
            </a:r>
            <a:r>
              <a:rPr lang="zh-CN" altLang="en-US"/>
              <a:t>语言</a:t>
            </a:r>
            <a:r>
              <a:rPr lang="en-US" altLang="zh-CN"/>
              <a:t>) </a:t>
            </a:r>
            <a:r>
              <a:rPr lang="zh-CN" altLang="en-US"/>
              <a:t>设</a:t>
            </a:r>
            <a:r>
              <a:rPr lang="en-US" altLang="zh-CN"/>
              <a:t>Div3</a:t>
            </a:r>
            <a:r>
              <a:rPr lang="zh-CN" altLang="en-US"/>
              <a:t>表示被</a:t>
            </a:r>
            <a:r>
              <a:rPr lang="en-US" altLang="zh-CN"/>
              <a:t>3</a:t>
            </a:r>
            <a:r>
              <a:rPr lang="zh-CN" altLang="en-US"/>
              <a:t>整除的非负整数集，证明</a:t>
            </a:r>
            <a:r>
              <a:rPr lang="en-US" altLang="zh-CN"/>
              <a:t>Div3∈L </a:t>
            </a:r>
            <a:r>
              <a:rPr lang="zh-CN" altLang="en-US"/>
              <a:t>。</a:t>
            </a:r>
          </a:p>
          <a:p>
            <a:pPr eaLnBrk="1" hangingPunct="1"/>
            <a:r>
              <a:rPr lang="zh-CN" altLang="en-US"/>
              <a:t>例 </a:t>
            </a:r>
            <a:r>
              <a:rPr lang="en-US" altLang="zh-CN"/>
              <a:t>10.3.2 </a:t>
            </a:r>
            <a:r>
              <a:rPr lang="zh-CN" altLang="en-US"/>
              <a:t>计算两个整数的最大公因子问题是</a:t>
            </a:r>
            <a:r>
              <a:rPr lang="en-US" altLang="zh-CN"/>
              <a:t>P</a:t>
            </a:r>
            <a:r>
              <a:rPr lang="zh-CN" altLang="en-US"/>
              <a:t>问题。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E10C3B2-23D2-D5E0-32B9-4C605EC2F796}"/>
              </a:ext>
            </a:extLst>
          </p:cNvPr>
          <p:cNvSpPr>
            <a:spLocks noGrp="1" noChangeArrowheads="1"/>
          </p:cNvSpPr>
          <p:nvPr>
            <p:ph type="title"/>
          </p:nvPr>
        </p:nvSpPr>
        <p:spPr/>
        <p:txBody>
          <a:bodyPr/>
          <a:lstStyle/>
          <a:p>
            <a:pPr eaLnBrk="1" hangingPunct="1"/>
            <a:r>
              <a:rPr lang="en-US" altLang="zh-CN" sz="4000"/>
              <a:t>10.3.2 </a:t>
            </a:r>
            <a:r>
              <a:rPr lang="zh-CN" altLang="en-US" sz="4000"/>
              <a:t>非确定性多项式时间可识别语言 </a:t>
            </a:r>
          </a:p>
        </p:txBody>
      </p:sp>
      <p:sp>
        <p:nvSpPr>
          <p:cNvPr id="29699" name="Rectangle 3">
            <a:extLst>
              <a:ext uri="{FF2B5EF4-FFF2-40B4-BE49-F238E27FC236}">
                <a16:creationId xmlns:a16="http://schemas.microsoft.com/office/drawing/2014/main" id="{34C6C97B-B447-048E-FFD9-079E153FEAFB}"/>
              </a:ext>
            </a:extLst>
          </p:cNvPr>
          <p:cNvSpPr>
            <a:spLocks noGrp="1" noChangeArrowheads="1"/>
          </p:cNvSpPr>
          <p:nvPr>
            <p:ph type="body" idx="1"/>
          </p:nvPr>
        </p:nvSpPr>
        <p:spPr/>
        <p:txBody>
          <a:bodyPr/>
          <a:lstStyle/>
          <a:p>
            <a:pPr eaLnBrk="1" hangingPunct="1"/>
            <a:r>
              <a:rPr lang="zh-CN" altLang="en-US"/>
              <a:t>如果一个语言不属于</a:t>
            </a:r>
            <a:r>
              <a:rPr lang="en-US" altLang="zh-CN"/>
              <a:t>P,</a:t>
            </a:r>
            <a:r>
              <a:rPr lang="zh-CN" altLang="en-US"/>
              <a:t>那么不存在总能有效地识别它的图灵机。但是，有一类语言具有以下特性：没有证明它们属于</a:t>
            </a:r>
            <a:r>
              <a:rPr lang="en-US" altLang="zh-CN"/>
              <a:t>P</a:t>
            </a:r>
            <a:r>
              <a:rPr lang="zh-CN" altLang="en-US"/>
              <a:t>，但它们总能用一种图灵机有效地识别，尽管有时也会出现错误。这种机器有时出错的原因，是在有些操作步骤中机器会做随机移动。有些移动会产生正确的结果，而其他移动则会产生错误的结果。这种图灵机成为非确定性图灵机。</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E7CF5923-80A6-C99C-F33A-4F7BA02A426C}"/>
              </a:ext>
            </a:extLst>
          </p:cNvPr>
          <p:cNvSpPr>
            <a:spLocks noGrp="1" noChangeArrowheads="1"/>
          </p:cNvSpPr>
          <p:nvPr>
            <p:ph type="title"/>
          </p:nvPr>
        </p:nvSpPr>
        <p:spPr/>
        <p:txBody>
          <a:bodyPr/>
          <a:lstStyle/>
          <a:p>
            <a:pPr eaLnBrk="1" hangingPunct="1"/>
            <a:r>
              <a:rPr lang="en-US" altLang="zh-CN" sz="4000"/>
              <a:t>10.3.2 </a:t>
            </a:r>
            <a:r>
              <a:rPr lang="zh-CN" altLang="en-US" sz="4000"/>
              <a:t>非确定性多项式时间可识别语言 </a:t>
            </a:r>
          </a:p>
        </p:txBody>
      </p:sp>
      <p:sp>
        <p:nvSpPr>
          <p:cNvPr id="30723" name="Rectangle 3">
            <a:extLst>
              <a:ext uri="{FF2B5EF4-FFF2-40B4-BE49-F238E27FC236}">
                <a16:creationId xmlns:a16="http://schemas.microsoft.com/office/drawing/2014/main" id="{458490ED-B195-8256-06A5-4922A9D0E036}"/>
              </a:ext>
            </a:extLst>
          </p:cNvPr>
          <p:cNvSpPr>
            <a:spLocks noGrp="1" noChangeArrowheads="1"/>
          </p:cNvSpPr>
          <p:nvPr>
            <p:ph type="body" idx="1"/>
          </p:nvPr>
        </p:nvSpPr>
        <p:spPr/>
        <p:txBody>
          <a:bodyPr/>
          <a:lstStyle/>
          <a:p>
            <a:pPr eaLnBrk="1" hangingPunct="1"/>
            <a:r>
              <a:rPr lang="zh-CN" altLang="en-US"/>
              <a:t>习惯上，称具有有界差错概率的非确定图灵机为概率图灵机。而“非确定性图灵机”则专指下面讨论的另一类不同的判定性问题。概率图灵机实质上是指有随机输入并在其输入的长度的多项式时间一定停机的图灵机。</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94A68F3-1881-537A-81EA-6BEA32BF8174}"/>
              </a:ext>
            </a:extLst>
          </p:cNvPr>
          <p:cNvSpPr>
            <a:spLocks noGrp="1" noChangeArrowheads="1"/>
          </p:cNvSpPr>
          <p:nvPr>
            <p:ph type="title"/>
          </p:nvPr>
        </p:nvSpPr>
        <p:spPr/>
        <p:txBody>
          <a:bodyPr/>
          <a:lstStyle/>
          <a:p>
            <a:pPr eaLnBrk="1" hangingPunct="1"/>
            <a:r>
              <a:rPr lang="en-US" altLang="zh-CN" sz="4000"/>
              <a:t>10.3.2 </a:t>
            </a:r>
            <a:r>
              <a:rPr lang="zh-CN" altLang="en-US" sz="4000"/>
              <a:t>非确定性多项式时间可识别语言 </a:t>
            </a:r>
          </a:p>
        </p:txBody>
      </p:sp>
      <p:sp>
        <p:nvSpPr>
          <p:cNvPr id="31747" name="Rectangle 3">
            <a:extLst>
              <a:ext uri="{FF2B5EF4-FFF2-40B4-BE49-F238E27FC236}">
                <a16:creationId xmlns:a16="http://schemas.microsoft.com/office/drawing/2014/main" id="{27B5B288-49A0-E06E-97FC-F10586ECB8E0}"/>
              </a:ext>
            </a:extLst>
          </p:cNvPr>
          <p:cNvSpPr>
            <a:spLocks noGrp="1" noChangeArrowheads="1"/>
          </p:cNvSpPr>
          <p:nvPr>
            <p:ph type="body" idx="1"/>
          </p:nvPr>
        </p:nvSpPr>
        <p:spPr/>
        <p:txBody>
          <a:bodyPr/>
          <a:lstStyle/>
          <a:p>
            <a:pPr eaLnBrk="1" hangingPunct="1"/>
            <a:r>
              <a:rPr lang="zh-CN" altLang="en-US"/>
              <a:t>概率图灵机有多条纸带，其中有一条称为随机纸带，上面是一些均匀分布的随机字符。在扫描一个输入实例</a:t>
            </a:r>
            <a:r>
              <a:rPr lang="en-US" altLang="zh-CN"/>
              <a:t>I</a:t>
            </a:r>
            <a:r>
              <a:rPr lang="zh-CN" altLang="en-US"/>
              <a:t>时，机器将和随机纸带交互，读取一个随机字符，然后像确定性图灵机一样工作。该随机串成为概率图灵机的随机输入。概率图灵机对输入</a:t>
            </a:r>
            <a:r>
              <a:rPr lang="en-US" altLang="zh-CN"/>
              <a:t>I</a:t>
            </a:r>
            <a:r>
              <a:rPr lang="zh-CN" altLang="en-US"/>
              <a:t>的识别不再是</a:t>
            </a:r>
            <a:r>
              <a:rPr lang="en-US" altLang="zh-CN"/>
              <a:t>I</a:t>
            </a:r>
            <a:r>
              <a:rPr lang="zh-CN" altLang="en-US"/>
              <a:t>的确定性函数，而是与一个随机变量（即随机输入）有关的函数。该随机变量对识别</a:t>
            </a:r>
            <a:r>
              <a:rPr lang="en-US" altLang="zh-CN"/>
              <a:t>I</a:t>
            </a:r>
            <a:r>
              <a:rPr lang="zh-CN" altLang="en-US"/>
              <a:t>造成了一定的差错概率。</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BCC7808-D8C8-FF7E-4879-4E792731D5A9}"/>
              </a:ext>
            </a:extLst>
          </p:cNvPr>
          <p:cNvSpPr>
            <a:spLocks noGrp="1" noChangeArrowheads="1"/>
          </p:cNvSpPr>
          <p:nvPr>
            <p:ph type="title"/>
          </p:nvPr>
        </p:nvSpPr>
        <p:spPr/>
        <p:txBody>
          <a:bodyPr/>
          <a:lstStyle/>
          <a:p>
            <a:pPr eaLnBrk="1" hangingPunct="1"/>
            <a:r>
              <a:rPr lang="en-US" altLang="zh-CN" sz="4000"/>
              <a:t>10.3.2 </a:t>
            </a:r>
            <a:r>
              <a:rPr lang="zh-CN" altLang="en-US" sz="4000"/>
              <a:t>非确定性多项式时间可识别语言 </a:t>
            </a:r>
          </a:p>
        </p:txBody>
      </p:sp>
      <p:sp>
        <p:nvSpPr>
          <p:cNvPr id="32771" name="Rectangle 3">
            <a:extLst>
              <a:ext uri="{FF2B5EF4-FFF2-40B4-BE49-F238E27FC236}">
                <a16:creationId xmlns:a16="http://schemas.microsoft.com/office/drawing/2014/main" id="{66E0B573-A475-CC49-10E8-07798FC55FC7}"/>
              </a:ext>
            </a:extLst>
          </p:cNvPr>
          <p:cNvSpPr>
            <a:spLocks noGrp="1" noChangeArrowheads="1"/>
          </p:cNvSpPr>
          <p:nvPr>
            <p:ph type="body" idx="1"/>
          </p:nvPr>
        </p:nvSpPr>
        <p:spPr/>
        <p:txBody>
          <a:bodyPr/>
          <a:lstStyle/>
          <a:p>
            <a:pPr eaLnBrk="1" hangingPunct="1"/>
            <a:r>
              <a:rPr lang="zh-CN" altLang="en-US"/>
              <a:t>能够解决多项式时间可识别语言类或者概率多项式时间可识别语言类中的问题的算法称为有效算法。</a:t>
            </a:r>
          </a:p>
          <a:p>
            <a:pPr eaLnBrk="1" hangingPunct="1"/>
            <a:r>
              <a:rPr lang="zh-CN" altLang="en-US"/>
              <a:t>定义</a:t>
            </a:r>
            <a:r>
              <a:rPr lang="en-US" altLang="zh-CN"/>
              <a:t>10.3.2 </a:t>
            </a:r>
            <a:r>
              <a:rPr lang="zh-CN" altLang="en-US"/>
              <a:t>对于一个算法，无论是确定性或者是随机化的，如果其运行时间可以表示为输入规模的多项式，则称该算法是有效算法。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F32A05D-9AC0-BB53-B990-54B6DAC9C920}"/>
              </a:ext>
            </a:extLst>
          </p:cNvPr>
          <p:cNvSpPr>
            <a:spLocks noGrp="1" noChangeArrowheads="1"/>
          </p:cNvSpPr>
          <p:nvPr>
            <p:ph type="title"/>
          </p:nvPr>
        </p:nvSpPr>
        <p:spPr/>
        <p:txBody>
          <a:bodyPr/>
          <a:lstStyle/>
          <a:p>
            <a:pPr eaLnBrk="1" hangingPunct="1"/>
            <a:endParaRPr lang="zh-CN" altLang="zh-CN"/>
          </a:p>
        </p:txBody>
      </p:sp>
      <p:sp>
        <p:nvSpPr>
          <p:cNvPr id="33795" name="Rectangle 3">
            <a:extLst>
              <a:ext uri="{FF2B5EF4-FFF2-40B4-BE49-F238E27FC236}">
                <a16:creationId xmlns:a16="http://schemas.microsoft.com/office/drawing/2014/main" id="{4B3721B6-8761-EB73-A89E-42645BBE99F3}"/>
              </a:ext>
            </a:extLst>
          </p:cNvPr>
          <p:cNvSpPr>
            <a:spLocks noGrp="1" noChangeArrowheads="1"/>
          </p:cNvSpPr>
          <p:nvPr>
            <p:ph type="body" idx="1"/>
          </p:nvPr>
        </p:nvSpPr>
        <p:spPr/>
        <p:txBody>
          <a:bodyPr/>
          <a:lstStyle/>
          <a:p>
            <a:pPr eaLnBrk="1" hangingPunct="1"/>
            <a:r>
              <a:rPr lang="zh-CN" altLang="en-US"/>
              <a:t>有效算法这一定义给出了容易处理的问题的概念：不过是确定性还是随机化的，多项式时间的问题是容易处理的，也就是说，即使这类问题的输入规模非常大，它要求的资源也是可以处理的。相对的，易处理之外的问题就是难处理的。</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C20E433-4318-ECB1-51DD-A0BC7EFCC1D8}"/>
              </a:ext>
            </a:extLst>
          </p:cNvPr>
          <p:cNvSpPr>
            <a:spLocks noGrp="1" noChangeArrowheads="1"/>
          </p:cNvSpPr>
          <p:nvPr>
            <p:ph type="title"/>
          </p:nvPr>
        </p:nvSpPr>
        <p:spPr/>
        <p:txBody>
          <a:bodyPr/>
          <a:lstStyle/>
          <a:p>
            <a:pPr eaLnBrk="1" hangingPunct="1"/>
            <a:endParaRPr lang="zh-CN" altLang="zh-CN"/>
          </a:p>
        </p:txBody>
      </p:sp>
      <p:sp>
        <p:nvSpPr>
          <p:cNvPr id="34819" name="Rectangle 3">
            <a:extLst>
              <a:ext uri="{FF2B5EF4-FFF2-40B4-BE49-F238E27FC236}">
                <a16:creationId xmlns:a16="http://schemas.microsoft.com/office/drawing/2014/main" id="{7AC1B99D-291E-89BB-5DB0-64CBABF70A29}"/>
              </a:ext>
            </a:extLst>
          </p:cNvPr>
          <p:cNvSpPr>
            <a:spLocks noGrp="1" noChangeArrowheads="1"/>
          </p:cNvSpPr>
          <p:nvPr>
            <p:ph type="body" idx="1"/>
          </p:nvPr>
        </p:nvSpPr>
        <p:spPr/>
        <p:txBody>
          <a:bodyPr/>
          <a:lstStyle/>
          <a:p>
            <a:pPr eaLnBrk="1" hangingPunct="1"/>
            <a:r>
              <a:rPr lang="zh-CN" altLang="en-US"/>
              <a:t>非确定性图灵机是图灵机的一个变型，在每一步，机器具有有限个选择进行下一步。一个输入串称为可识别的，条件是至少存在一系列合法的移动，当机器扫描第一个输入符号时，它从机器的初始状态开始，完成扫描输入串后到达满足中止条件的状态。这样的一系列移动称为一个识别序列。</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F0F9EC4-7892-15B4-1BF7-3D62B6A436DD}"/>
              </a:ext>
            </a:extLst>
          </p:cNvPr>
          <p:cNvSpPr>
            <a:spLocks noGrp="1" noChangeArrowheads="1"/>
          </p:cNvSpPr>
          <p:nvPr>
            <p:ph type="title"/>
          </p:nvPr>
        </p:nvSpPr>
        <p:spPr/>
        <p:txBody>
          <a:bodyPr/>
          <a:lstStyle/>
          <a:p>
            <a:pPr eaLnBrk="1" hangingPunct="1"/>
            <a:endParaRPr lang="zh-CN" altLang="zh-CN"/>
          </a:p>
        </p:txBody>
      </p:sp>
      <p:sp>
        <p:nvSpPr>
          <p:cNvPr id="35843" name="Rectangle 3">
            <a:extLst>
              <a:ext uri="{FF2B5EF4-FFF2-40B4-BE49-F238E27FC236}">
                <a16:creationId xmlns:a16="http://schemas.microsoft.com/office/drawing/2014/main" id="{AC209E6F-0725-AB1B-B5C2-5E1B66F40B14}"/>
              </a:ext>
            </a:extLst>
          </p:cNvPr>
          <p:cNvSpPr>
            <a:spLocks noGrp="1" noChangeArrowheads="1"/>
          </p:cNvSpPr>
          <p:nvPr>
            <p:ph type="body" idx="1"/>
          </p:nvPr>
        </p:nvSpPr>
        <p:spPr/>
        <p:txBody>
          <a:bodyPr/>
          <a:lstStyle/>
          <a:p>
            <a:pPr eaLnBrk="1" hangingPunct="1"/>
            <a:r>
              <a:rPr lang="zh-CN" altLang="en-US"/>
              <a:t>可以想象，非确定性图灵机解一个问题分两个阶段：</a:t>
            </a:r>
          </a:p>
          <a:p>
            <a:pPr eaLnBrk="1" hangingPunct="1">
              <a:buFontTx/>
              <a:buNone/>
            </a:pPr>
            <a:r>
              <a:rPr lang="zh-CN" altLang="en-US"/>
              <a:t>    猜测阶段</a:t>
            </a:r>
          </a:p>
          <a:p>
            <a:pPr eaLnBrk="1" hangingPunct="1">
              <a:buFontTx/>
              <a:buNone/>
            </a:pPr>
            <a:r>
              <a:rPr lang="zh-CN" altLang="en-US"/>
              <a:t>    验证阶段。</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022F69F-18D3-9ED6-C369-D08065700C04}"/>
              </a:ext>
            </a:extLst>
          </p:cNvPr>
          <p:cNvSpPr>
            <a:spLocks noGrp="1" noChangeArrowheads="1"/>
          </p:cNvSpPr>
          <p:nvPr>
            <p:ph type="title"/>
          </p:nvPr>
        </p:nvSpPr>
        <p:spPr/>
        <p:txBody>
          <a:bodyPr/>
          <a:lstStyle/>
          <a:p>
            <a:pPr eaLnBrk="1" hangingPunct="1"/>
            <a:endParaRPr lang="zh-CN" altLang="zh-CN"/>
          </a:p>
        </p:txBody>
      </p:sp>
      <p:sp>
        <p:nvSpPr>
          <p:cNvPr id="36867" name="Rectangle 3">
            <a:extLst>
              <a:ext uri="{FF2B5EF4-FFF2-40B4-BE49-F238E27FC236}">
                <a16:creationId xmlns:a16="http://schemas.microsoft.com/office/drawing/2014/main" id="{8548E36B-AEC7-3EC5-2429-74ECED55DA8B}"/>
              </a:ext>
            </a:extLst>
          </p:cNvPr>
          <p:cNvSpPr>
            <a:spLocks noGrp="1" noChangeArrowheads="1"/>
          </p:cNvSpPr>
          <p:nvPr>
            <p:ph type="body" idx="1"/>
          </p:nvPr>
        </p:nvSpPr>
        <p:spPr/>
        <p:txBody>
          <a:bodyPr/>
          <a:lstStyle/>
          <a:p>
            <a:pPr eaLnBrk="1" hangingPunct="1"/>
            <a:r>
              <a:rPr lang="zh-CN" altLang="en-US"/>
              <a:t>定义</a:t>
            </a:r>
            <a:r>
              <a:rPr lang="en-US" altLang="zh-CN"/>
              <a:t>10.3.3 </a:t>
            </a:r>
            <a:r>
              <a:rPr lang="zh-CN" altLang="en-US"/>
              <a:t>人们称非确定性图灵机在多项式时间内可以识别的语言类为</a:t>
            </a:r>
            <a:r>
              <a:rPr lang="en-US" altLang="zh-CN"/>
              <a:t>NP</a:t>
            </a:r>
            <a:r>
              <a:rPr lang="zh-CN" altLang="en-US"/>
              <a:t>类。</a:t>
            </a:r>
          </a:p>
          <a:p>
            <a:pPr eaLnBrk="1" hangingPunct="1"/>
            <a:r>
              <a:rPr lang="zh-CN" altLang="en-US"/>
              <a:t>直接可以看出 </a:t>
            </a:r>
          </a:p>
        </p:txBody>
      </p:sp>
      <p:sp>
        <p:nvSpPr>
          <p:cNvPr id="36868" name="Rectangle 5">
            <a:extLst>
              <a:ext uri="{FF2B5EF4-FFF2-40B4-BE49-F238E27FC236}">
                <a16:creationId xmlns:a16="http://schemas.microsoft.com/office/drawing/2014/main" id="{54611E54-5EF4-F1C2-0CEB-1DF88CD0FBC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36869" name="Object 4">
            <a:extLst>
              <a:ext uri="{FF2B5EF4-FFF2-40B4-BE49-F238E27FC236}">
                <a16:creationId xmlns:a16="http://schemas.microsoft.com/office/drawing/2014/main" id="{5BEB349B-B2C3-A6B8-7236-BF84B493EADA}"/>
              </a:ext>
            </a:extLst>
          </p:cNvPr>
          <p:cNvGraphicFramePr>
            <a:graphicFrameLocks noChangeAspect="1"/>
          </p:cNvGraphicFramePr>
          <p:nvPr/>
        </p:nvGraphicFramePr>
        <p:xfrm>
          <a:off x="3276600" y="2743200"/>
          <a:ext cx="2895600" cy="609600"/>
        </p:xfrm>
        <a:graphic>
          <a:graphicData uri="http://schemas.openxmlformats.org/presentationml/2006/ole">
            <mc:AlternateContent xmlns:mc="http://schemas.openxmlformats.org/markup-compatibility/2006">
              <mc:Choice xmlns:v="urn:schemas-microsoft-com:vml" Requires="v">
                <p:oleObj name="公式" r:id="rId2" imgW="12585700" imgH="4394200" progId="Equation.3">
                  <p:embed/>
                </p:oleObj>
              </mc:Choice>
              <mc:Fallback>
                <p:oleObj name="公式" r:id="rId2" imgW="12585700" imgH="4394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743200"/>
                        <a:ext cx="2895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E2931C7-8B55-9709-FDD6-E5DDC9BD1298}"/>
              </a:ext>
            </a:extLst>
          </p:cNvPr>
          <p:cNvSpPr>
            <a:spLocks noGrp="1" noChangeArrowheads="1"/>
          </p:cNvSpPr>
          <p:nvPr>
            <p:ph type="title"/>
          </p:nvPr>
        </p:nvSpPr>
        <p:spPr/>
        <p:txBody>
          <a:bodyPr/>
          <a:lstStyle/>
          <a:p>
            <a:pPr eaLnBrk="1" hangingPunct="1"/>
            <a:endParaRPr lang="zh-CN" altLang="zh-CN"/>
          </a:p>
        </p:txBody>
      </p:sp>
      <p:sp>
        <p:nvSpPr>
          <p:cNvPr id="37891" name="Rectangle 3">
            <a:extLst>
              <a:ext uri="{FF2B5EF4-FFF2-40B4-BE49-F238E27FC236}">
                <a16:creationId xmlns:a16="http://schemas.microsoft.com/office/drawing/2014/main" id="{2125C699-3BE8-6F42-3ACB-6C2A6E946711}"/>
              </a:ext>
            </a:extLst>
          </p:cNvPr>
          <p:cNvSpPr>
            <a:spLocks noGrp="1" noChangeArrowheads="1"/>
          </p:cNvSpPr>
          <p:nvPr>
            <p:ph type="body" idx="1"/>
          </p:nvPr>
        </p:nvSpPr>
        <p:spPr/>
        <p:txBody>
          <a:bodyPr/>
          <a:lstStyle/>
          <a:p>
            <a:pPr eaLnBrk="1" hangingPunct="1"/>
            <a:r>
              <a:rPr lang="zh-CN" altLang="en-US"/>
              <a:t>例 </a:t>
            </a:r>
            <a:r>
              <a:rPr lang="en-US" altLang="zh-CN"/>
              <a:t>10.3.3 </a:t>
            </a:r>
            <a:r>
              <a:rPr lang="zh-CN" altLang="en-US"/>
              <a:t>可满足性问题，简称</a:t>
            </a:r>
            <a:r>
              <a:rPr lang="en-US" altLang="zh-CN"/>
              <a:t>SAT</a:t>
            </a:r>
            <a:r>
              <a:rPr lang="zh-CN" altLang="en-US"/>
              <a:t>问题。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CA908D0-53A6-A45E-0349-B56E4D183B6D}"/>
              </a:ext>
            </a:extLst>
          </p:cNvPr>
          <p:cNvSpPr>
            <a:spLocks noGrp="1" noChangeArrowheads="1"/>
          </p:cNvSpPr>
          <p:nvPr>
            <p:ph type="title"/>
          </p:nvPr>
        </p:nvSpPr>
        <p:spPr/>
        <p:txBody>
          <a:bodyPr/>
          <a:lstStyle/>
          <a:p>
            <a:pPr eaLnBrk="1" hangingPunct="1"/>
            <a:endParaRPr lang="zh-CN" altLang="zh-CN"/>
          </a:p>
        </p:txBody>
      </p:sp>
      <p:sp>
        <p:nvSpPr>
          <p:cNvPr id="38915" name="Rectangle 3">
            <a:extLst>
              <a:ext uri="{FF2B5EF4-FFF2-40B4-BE49-F238E27FC236}">
                <a16:creationId xmlns:a16="http://schemas.microsoft.com/office/drawing/2014/main" id="{B8B13861-A8C1-7B77-CF72-6F5D82501D80}"/>
              </a:ext>
            </a:extLst>
          </p:cNvPr>
          <p:cNvSpPr>
            <a:spLocks noGrp="1" noChangeArrowheads="1"/>
          </p:cNvSpPr>
          <p:nvPr>
            <p:ph type="body" idx="1"/>
          </p:nvPr>
        </p:nvSpPr>
        <p:spPr/>
        <p:txBody>
          <a:bodyPr/>
          <a:lstStyle/>
          <a:p>
            <a:pPr eaLnBrk="1" hangingPunct="1"/>
            <a:r>
              <a:rPr lang="zh-CN" altLang="en-US"/>
              <a:t>以</a:t>
            </a:r>
            <a:r>
              <a:rPr lang="en-US" altLang="zh-CN"/>
              <a:t>NP</a:t>
            </a:r>
            <a:r>
              <a:rPr lang="zh-CN" altLang="en-US"/>
              <a:t>难问题表示只有稀疏证据的非确定性多项式时间（判定性）问题，这里稀疏证据的含义是：在一个</a:t>
            </a:r>
            <a:r>
              <a:rPr lang="en-US" altLang="zh-CN"/>
              <a:t>NP</a:t>
            </a:r>
            <a:r>
              <a:rPr lang="zh-CN" altLang="en-US"/>
              <a:t>问题的计算树种，识别序列个数相对于序列总数而言是一个可忽略的量。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BF9323AE-5581-1F39-CDDA-6935C64D6AD7}"/>
              </a:ext>
            </a:extLst>
          </p:cNvPr>
          <p:cNvSpPr>
            <a:spLocks noGrp="1" noChangeArrowheads="1"/>
          </p:cNvSpPr>
          <p:nvPr>
            <p:ph type="title"/>
          </p:nvPr>
        </p:nvSpPr>
        <p:spPr/>
        <p:txBody>
          <a:bodyPr/>
          <a:lstStyle/>
          <a:p>
            <a:pPr eaLnBrk="1" hangingPunct="1"/>
            <a:endParaRPr lang="zh-CN" altLang="zh-CN"/>
          </a:p>
        </p:txBody>
      </p:sp>
      <p:sp>
        <p:nvSpPr>
          <p:cNvPr id="39939" name="Rectangle 3">
            <a:extLst>
              <a:ext uri="{FF2B5EF4-FFF2-40B4-BE49-F238E27FC236}">
                <a16:creationId xmlns:a16="http://schemas.microsoft.com/office/drawing/2014/main" id="{72E21598-6490-5A3C-0E02-A797E13ACDB5}"/>
              </a:ext>
            </a:extLst>
          </p:cNvPr>
          <p:cNvSpPr>
            <a:spLocks noGrp="1" noChangeArrowheads="1"/>
          </p:cNvSpPr>
          <p:nvPr>
            <p:ph type="body" idx="1"/>
          </p:nvPr>
        </p:nvSpPr>
        <p:spPr/>
        <p:txBody>
          <a:bodyPr/>
          <a:lstStyle/>
          <a:p>
            <a:pPr eaLnBrk="1" hangingPunct="1"/>
            <a:r>
              <a:rPr lang="zh-CN" altLang="en-US"/>
              <a:t>如果某一个问题只有稀疏证据，那么非确定性图灵机实际上并不能提供任何有效的算法来识别它。对于有大量证据的</a:t>
            </a:r>
            <a:r>
              <a:rPr lang="en-US" altLang="zh-CN"/>
              <a:t>NP</a:t>
            </a:r>
            <a:r>
              <a:rPr lang="zh-CN" altLang="en-US"/>
              <a:t>问题非确定性图灵机是有效设备。对于只有稀疏证据的</a:t>
            </a:r>
            <a:r>
              <a:rPr lang="en-US" altLang="zh-CN"/>
              <a:t>NP</a:t>
            </a:r>
            <a:r>
              <a:rPr lang="zh-CN" altLang="en-US"/>
              <a:t>问题，非确定性图灵机只是模型化了具有下列特性的一类判定性问题：给定一个证据，一个判定性问题的答案可以在多项式时间内进行验证。</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9668D02-6461-EC76-E59B-BA734069672A}"/>
              </a:ext>
            </a:extLst>
          </p:cNvPr>
          <p:cNvSpPr>
            <a:spLocks noGrp="1" noChangeArrowheads="1"/>
          </p:cNvSpPr>
          <p:nvPr>
            <p:ph type="title"/>
          </p:nvPr>
        </p:nvSpPr>
        <p:spPr/>
        <p:txBody>
          <a:bodyPr/>
          <a:lstStyle/>
          <a:p>
            <a:pPr eaLnBrk="1" hangingPunct="1"/>
            <a:endParaRPr lang="zh-CN" altLang="zh-CN"/>
          </a:p>
        </p:txBody>
      </p:sp>
      <p:sp>
        <p:nvSpPr>
          <p:cNvPr id="40963" name="Rectangle 3">
            <a:extLst>
              <a:ext uri="{FF2B5EF4-FFF2-40B4-BE49-F238E27FC236}">
                <a16:creationId xmlns:a16="http://schemas.microsoft.com/office/drawing/2014/main" id="{621C25AC-EDEC-7DBB-3166-ED2E60260D04}"/>
              </a:ext>
            </a:extLst>
          </p:cNvPr>
          <p:cNvSpPr>
            <a:spLocks noGrp="1" noChangeArrowheads="1"/>
          </p:cNvSpPr>
          <p:nvPr>
            <p:ph type="body" idx="1"/>
          </p:nvPr>
        </p:nvSpPr>
        <p:spPr/>
        <p:txBody>
          <a:bodyPr/>
          <a:lstStyle/>
          <a:p>
            <a:pPr eaLnBrk="1" hangingPunct="1"/>
            <a:r>
              <a:rPr lang="en-US" altLang="zh-CN" sz="2800"/>
              <a:t>NP</a:t>
            </a:r>
            <a:r>
              <a:rPr lang="zh-CN" altLang="en-US" sz="2800"/>
              <a:t>问题的一个证据由非确定性图灵机的计算树中的一个识别序列来刻画。</a:t>
            </a:r>
          </a:p>
          <a:p>
            <a:pPr eaLnBrk="1" hangingPunct="1"/>
            <a:r>
              <a:rPr lang="zh-CN" altLang="en-US" sz="2800"/>
              <a:t>那么，不用证据，</a:t>
            </a:r>
            <a:r>
              <a:rPr lang="en-US" altLang="zh-CN" sz="2800"/>
              <a:t>NP</a:t>
            </a:r>
            <a:r>
              <a:rPr lang="zh-CN" altLang="en-US" sz="2800"/>
              <a:t>中任意给定问题的确切的复杂度是多少呢？这个问题的答案尚不清楚。不使用证据来求解</a:t>
            </a:r>
            <a:r>
              <a:rPr lang="en-US" altLang="zh-CN" sz="2800"/>
              <a:t>NP</a:t>
            </a:r>
            <a:r>
              <a:rPr lang="zh-CN" altLang="en-US" sz="2800"/>
              <a:t>中任意问题的所有已知算法表明，它没有多项式界的时间复杂度。但到目前为止，还没有人证明这事必要的，即证</a:t>
            </a:r>
            <a:r>
              <a:rPr lang="en-US" altLang="zh-CN" sz="2800"/>
              <a:t>P=NP</a:t>
            </a:r>
            <a:r>
              <a:rPr lang="zh-CN" altLang="en-US" sz="2800"/>
              <a:t>。问题“</a:t>
            </a:r>
            <a:r>
              <a:rPr lang="en-US" altLang="zh-CN" sz="2800"/>
              <a:t>P=NP?”</a:t>
            </a:r>
            <a:r>
              <a:rPr lang="zh-CN" altLang="en-US" sz="2800"/>
              <a:t>是计算机科学中一个非常著名的公开问题。</a:t>
            </a:r>
          </a:p>
          <a:p>
            <a:pPr eaLnBrk="1" hangingPunct="1"/>
            <a:endParaRPr lang="en-US" altLang="zh-CN" sz="2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58F6601-F4BE-708A-9150-CDE32E15A674}"/>
              </a:ext>
            </a:extLst>
          </p:cNvPr>
          <p:cNvSpPr>
            <a:spLocks noGrp="1" noChangeArrowheads="1"/>
          </p:cNvSpPr>
          <p:nvPr>
            <p:ph type="title"/>
          </p:nvPr>
        </p:nvSpPr>
        <p:spPr/>
        <p:txBody>
          <a:bodyPr/>
          <a:lstStyle/>
          <a:p>
            <a:pPr eaLnBrk="1" hangingPunct="1"/>
            <a:r>
              <a:rPr lang="zh-CN" altLang="en-US"/>
              <a:t>计算复杂性理论与现代密码学</a:t>
            </a:r>
          </a:p>
        </p:txBody>
      </p:sp>
      <p:sp>
        <p:nvSpPr>
          <p:cNvPr id="41987" name="Rectangle 3">
            <a:extLst>
              <a:ext uri="{FF2B5EF4-FFF2-40B4-BE49-F238E27FC236}">
                <a16:creationId xmlns:a16="http://schemas.microsoft.com/office/drawing/2014/main" id="{B92DCF6B-9104-4E55-C1B3-2663CD871056}"/>
              </a:ext>
            </a:extLst>
          </p:cNvPr>
          <p:cNvSpPr>
            <a:spLocks noGrp="1" noChangeArrowheads="1"/>
          </p:cNvSpPr>
          <p:nvPr>
            <p:ph type="body" idx="1"/>
          </p:nvPr>
        </p:nvSpPr>
        <p:spPr/>
        <p:txBody>
          <a:bodyPr/>
          <a:lstStyle/>
          <a:p>
            <a:pPr eaLnBrk="1" hangingPunct="1"/>
            <a:r>
              <a:rPr lang="zh-CN" altLang="en-US" sz="2800"/>
              <a:t>基于复杂性理论的现代密码学将</a:t>
            </a:r>
            <a:r>
              <a:rPr lang="en-US" altLang="zh-CN" sz="2800"/>
              <a:t>P</a:t>
            </a:r>
            <a:r>
              <a:rPr lang="zh-CN" altLang="en-US" sz="2800"/>
              <a:t>不等于</a:t>
            </a:r>
            <a:r>
              <a:rPr lang="en-US" altLang="zh-CN" sz="2800"/>
              <a:t>NP</a:t>
            </a:r>
            <a:r>
              <a:rPr lang="zh-CN" altLang="en-US" sz="2800"/>
              <a:t>作为必要条件，称之为“</a:t>
            </a:r>
            <a:r>
              <a:rPr lang="en-US" altLang="zh-CN" sz="2800"/>
              <a:t>P</a:t>
            </a:r>
            <a:r>
              <a:rPr lang="zh-CN" altLang="en-US" sz="2800"/>
              <a:t>不等于</a:t>
            </a:r>
            <a:r>
              <a:rPr lang="en-US" altLang="zh-CN" sz="2800"/>
              <a:t>NP”</a:t>
            </a:r>
            <a:r>
              <a:rPr lang="zh-CN" altLang="en-US" sz="2800"/>
              <a:t>猜想。</a:t>
            </a:r>
          </a:p>
          <a:p>
            <a:pPr eaLnBrk="1" hangingPunct="1"/>
            <a:r>
              <a:rPr lang="zh-CN" altLang="en-US" sz="2800"/>
              <a:t>另一方面，加密算法应向拥有正确的密钥的用户提供有效的加密</a:t>
            </a:r>
            <a:r>
              <a:rPr lang="en-US" altLang="zh-CN" sz="2800"/>
              <a:t>/</a:t>
            </a:r>
            <a:r>
              <a:rPr lang="zh-CN" altLang="en-US" sz="2800"/>
              <a:t>解密算法，而对于试图从密文中提取明文或者不用正确的密钥构造合法密文的人（攻击者或者密码分析者）来说，这是一个难处理的问题。因此，密钥对基于</a:t>
            </a:r>
            <a:r>
              <a:rPr lang="en-US" altLang="zh-CN" sz="2800"/>
              <a:t>NP</a:t>
            </a:r>
            <a:r>
              <a:rPr lang="zh-CN" altLang="en-US" sz="2800"/>
              <a:t>问题的密码体制来说起着一个证据或者辅助输入的作用。</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365B7EE-7ABC-3A36-C96B-AD787579A0B1}"/>
              </a:ext>
            </a:extLst>
          </p:cNvPr>
          <p:cNvSpPr>
            <a:spLocks noGrp="1" noChangeArrowheads="1"/>
          </p:cNvSpPr>
          <p:nvPr>
            <p:ph type="title"/>
          </p:nvPr>
        </p:nvSpPr>
        <p:spPr/>
        <p:txBody>
          <a:bodyPr/>
          <a:lstStyle/>
          <a:p>
            <a:pPr eaLnBrk="1" hangingPunct="1"/>
            <a:r>
              <a:rPr lang="zh-CN" altLang="en-US"/>
              <a:t>计算复杂性理论与现代密码学</a:t>
            </a:r>
          </a:p>
        </p:txBody>
      </p:sp>
      <p:sp>
        <p:nvSpPr>
          <p:cNvPr id="43011" name="Rectangle 3">
            <a:extLst>
              <a:ext uri="{FF2B5EF4-FFF2-40B4-BE49-F238E27FC236}">
                <a16:creationId xmlns:a16="http://schemas.microsoft.com/office/drawing/2014/main" id="{3B998C72-05AF-4502-8F06-13A358CDCE83}"/>
              </a:ext>
            </a:extLst>
          </p:cNvPr>
          <p:cNvSpPr>
            <a:spLocks noGrp="1" noChangeArrowheads="1"/>
          </p:cNvSpPr>
          <p:nvPr>
            <p:ph type="body" idx="1"/>
          </p:nvPr>
        </p:nvSpPr>
        <p:spPr/>
        <p:txBody>
          <a:bodyPr/>
          <a:lstStyle/>
          <a:p>
            <a:pPr eaLnBrk="1" hangingPunct="1">
              <a:lnSpc>
                <a:spcPct val="90000"/>
              </a:lnSpc>
            </a:pPr>
            <a:r>
              <a:rPr lang="zh-CN" altLang="en-US" sz="2800"/>
              <a:t>该猜想还构成了单向函数存在的必要条件。单向函数具有有趣而神奇的性质：对所有的输入</a:t>
            </a:r>
            <a:r>
              <a:rPr lang="en-US" altLang="zh-CN" sz="2800"/>
              <a:t>x</a:t>
            </a:r>
            <a:r>
              <a:rPr lang="zh-CN" altLang="en-US" sz="2800"/>
              <a:t>，计算是容易的，但是，除了可忽略的部分实例，给定绝大多数的值，要找出</a:t>
            </a:r>
            <a:r>
              <a:rPr lang="en-US" altLang="zh-CN" sz="2800"/>
              <a:t>x</a:t>
            </a:r>
            <a:r>
              <a:rPr lang="zh-CN" altLang="en-US" sz="2800"/>
              <a:t>是极为困难的。我们知道</a:t>
            </a:r>
            <a:r>
              <a:rPr lang="en-US" altLang="zh-CN" sz="2800"/>
              <a:t>NP</a:t>
            </a:r>
            <a:r>
              <a:rPr lang="zh-CN" altLang="en-US" sz="2800"/>
              <a:t>难问题提供了实现具有这一性质的单向函数的候选问题。</a:t>
            </a:r>
          </a:p>
          <a:p>
            <a:pPr eaLnBrk="1" hangingPunct="1">
              <a:lnSpc>
                <a:spcPct val="90000"/>
              </a:lnSpc>
            </a:pPr>
            <a:r>
              <a:rPr lang="zh-CN" altLang="en-US" sz="2800"/>
              <a:t>进一步，单向函数的存在构成了数字签名存在的必要条件。数字签名应该具有这样的性质：验证一个签名的有效性是容易的，但是伪造一个合法的签名是困难的。</a:t>
            </a:r>
          </a:p>
          <a:p>
            <a:pPr eaLnBrk="1" hangingPunct="1">
              <a:lnSpc>
                <a:spcPct val="90000"/>
              </a:lnSpc>
            </a:pPr>
            <a:r>
              <a:rPr lang="zh-CN" altLang="en-US" sz="280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C9DAFD4-369A-247B-703B-668966C9AF9C}"/>
              </a:ext>
            </a:extLst>
          </p:cNvPr>
          <p:cNvSpPr>
            <a:spLocks noGrp="1" noChangeArrowheads="1"/>
          </p:cNvSpPr>
          <p:nvPr>
            <p:ph type="title"/>
          </p:nvPr>
        </p:nvSpPr>
        <p:spPr/>
        <p:txBody>
          <a:bodyPr/>
          <a:lstStyle/>
          <a:p>
            <a:pPr eaLnBrk="1" hangingPunct="1"/>
            <a:r>
              <a:rPr lang="zh-CN" altLang="en-US"/>
              <a:t>计算复杂性理论与现代密码学</a:t>
            </a:r>
          </a:p>
        </p:txBody>
      </p:sp>
      <p:sp>
        <p:nvSpPr>
          <p:cNvPr id="44035" name="Rectangle 3">
            <a:extLst>
              <a:ext uri="{FF2B5EF4-FFF2-40B4-BE49-F238E27FC236}">
                <a16:creationId xmlns:a16="http://schemas.microsoft.com/office/drawing/2014/main" id="{27AA50C7-A5D2-6791-FDF1-882375FC0AB2}"/>
              </a:ext>
            </a:extLst>
          </p:cNvPr>
          <p:cNvSpPr>
            <a:spLocks noGrp="1" noChangeArrowheads="1"/>
          </p:cNvSpPr>
          <p:nvPr>
            <p:ph type="body" idx="1"/>
          </p:nvPr>
        </p:nvSpPr>
        <p:spPr/>
        <p:txBody>
          <a:bodyPr/>
          <a:lstStyle/>
          <a:p>
            <a:pPr eaLnBrk="1" hangingPunct="1"/>
            <a:r>
              <a:rPr lang="zh-CN" altLang="en-US"/>
              <a:t>需要特别提及的是猜想在密码学中有另一个令人着迷的应用：它在零知识证明协议和交互式证明系统中起着根本性的重要作用。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68D7A45-7B3A-E1F8-7004-BE9B56C2DCDC}"/>
              </a:ext>
            </a:extLst>
          </p:cNvPr>
          <p:cNvSpPr>
            <a:spLocks noGrp="1" noChangeArrowheads="1"/>
          </p:cNvSpPr>
          <p:nvPr>
            <p:ph type="title"/>
          </p:nvPr>
        </p:nvSpPr>
        <p:spPr/>
        <p:txBody>
          <a:bodyPr/>
          <a:lstStyle/>
          <a:p>
            <a:pPr eaLnBrk="1" hangingPunct="1"/>
            <a:r>
              <a:rPr lang="en-US" altLang="zh-CN"/>
              <a:t>10.4</a:t>
            </a:r>
            <a:r>
              <a:rPr lang="zh-CN" altLang="en-US"/>
              <a:t>归约方法</a:t>
            </a:r>
          </a:p>
        </p:txBody>
      </p:sp>
      <p:sp>
        <p:nvSpPr>
          <p:cNvPr id="45059" name="Rectangle 3">
            <a:extLst>
              <a:ext uri="{FF2B5EF4-FFF2-40B4-BE49-F238E27FC236}">
                <a16:creationId xmlns:a16="http://schemas.microsoft.com/office/drawing/2014/main" id="{FC48BC57-B0EB-491B-2F6F-0B51A54070D8}"/>
              </a:ext>
            </a:extLst>
          </p:cNvPr>
          <p:cNvSpPr>
            <a:spLocks noGrp="1" noChangeArrowheads="1"/>
          </p:cNvSpPr>
          <p:nvPr>
            <p:ph type="body" idx="1"/>
          </p:nvPr>
        </p:nvSpPr>
        <p:spPr/>
        <p:txBody>
          <a:bodyPr/>
          <a:lstStyle/>
          <a:p>
            <a:pPr eaLnBrk="1" hangingPunct="1">
              <a:lnSpc>
                <a:spcPct val="90000"/>
              </a:lnSpc>
            </a:pPr>
            <a:r>
              <a:rPr lang="zh-CN" altLang="en-US"/>
              <a:t>在许多情况下，可以把问题Ａ的一个实例</a:t>
            </a:r>
            <a:r>
              <a:rPr lang="en-US" altLang="zh-CN"/>
              <a:t>I</a:t>
            </a:r>
            <a:r>
              <a:rPr lang="zh-CN" altLang="en-US"/>
              <a:t>转换为问题Ｂ的一个实例</a:t>
            </a:r>
            <a:r>
              <a:rPr lang="en-US" altLang="zh-CN"/>
              <a:t>f(I)</a:t>
            </a:r>
            <a:r>
              <a:rPr lang="zh-CN" altLang="en-US"/>
              <a:t>，通过求解</a:t>
            </a:r>
            <a:r>
              <a:rPr lang="en-US" altLang="zh-CN"/>
              <a:t>f(I)</a:t>
            </a:r>
            <a:r>
              <a:rPr lang="zh-CN" altLang="en-US"/>
              <a:t>就得到了实例</a:t>
            </a:r>
            <a:r>
              <a:rPr lang="en-US" altLang="zh-CN"/>
              <a:t>I</a:t>
            </a:r>
            <a:r>
              <a:rPr lang="zh-CN" altLang="en-US"/>
              <a:t>的解。</a:t>
            </a:r>
          </a:p>
          <a:p>
            <a:pPr eaLnBrk="1" hangingPunct="1">
              <a:lnSpc>
                <a:spcPct val="90000"/>
              </a:lnSpc>
            </a:pPr>
            <a:r>
              <a:rPr lang="zh-CN" altLang="en-US"/>
              <a:t>定义</a:t>
            </a:r>
            <a:r>
              <a:rPr lang="en-US" altLang="zh-CN"/>
              <a:t>10.4.1</a:t>
            </a:r>
            <a:r>
              <a:rPr lang="zh-CN" altLang="en-US"/>
              <a:t>（多项式归约） 设语言</a:t>
            </a:r>
            <a:r>
              <a:rPr lang="en-US" altLang="zh-CN"/>
              <a:t>A,B</a:t>
            </a:r>
            <a:r>
              <a:rPr lang="zh-CN" altLang="en-US"/>
              <a:t>为</a:t>
            </a:r>
            <a:r>
              <a:rPr lang="en-US" altLang="zh-CN"/>
              <a:t>{0,1}*</a:t>
            </a:r>
            <a:r>
              <a:rPr lang="zh-CN" altLang="en-US"/>
              <a:t>子集。如果存在一个确定性多项式时间可计算的函数</a:t>
            </a:r>
            <a:r>
              <a:rPr lang="en-US" altLang="zh-CN"/>
              <a:t>f:{0,1}*→{0,1}*</a:t>
            </a:r>
            <a:r>
              <a:rPr lang="zh-CN" altLang="en-US"/>
              <a:t>，使得对于任意的</a:t>
            </a:r>
            <a:r>
              <a:rPr lang="en-US" altLang="zh-CN"/>
              <a:t>x ∈{0,1}*</a:t>
            </a:r>
            <a:r>
              <a:rPr lang="zh-CN" altLang="en-US"/>
              <a:t>， </a:t>
            </a:r>
            <a:r>
              <a:rPr lang="en-US" altLang="zh-CN"/>
              <a:t>x ∈ A</a:t>
            </a:r>
            <a:r>
              <a:rPr lang="zh-CN" altLang="en-US"/>
              <a:t>当且仅当</a:t>
            </a:r>
            <a:r>
              <a:rPr lang="en-US" altLang="zh-CN"/>
              <a:t>f(x) ∈</a:t>
            </a:r>
            <a:r>
              <a:rPr lang="zh-CN" altLang="en-US"/>
              <a:t>于</a:t>
            </a:r>
            <a:r>
              <a:rPr lang="en-US" altLang="zh-CN"/>
              <a:t>B</a:t>
            </a:r>
            <a:r>
              <a:rPr lang="zh-CN" altLang="en-US"/>
              <a:t>，那么就称语言</a:t>
            </a:r>
            <a:r>
              <a:rPr lang="en-US" altLang="zh-CN"/>
              <a:t>A</a:t>
            </a:r>
            <a:r>
              <a:rPr lang="zh-CN" altLang="en-US"/>
              <a:t>可以多项式归约到语言</a:t>
            </a:r>
            <a:r>
              <a:rPr lang="en-US" altLang="zh-CN"/>
              <a:t>B</a:t>
            </a:r>
            <a:r>
              <a:rPr lang="zh-CN" altLang="en-US"/>
              <a:t>，记为</a:t>
            </a:r>
            <a:r>
              <a:rPr lang="en-US" altLang="zh-CN"/>
              <a:t>A</a:t>
            </a:r>
            <a:r>
              <a:rPr lang="en-US" altLang="en-US"/>
              <a:t>≤</a:t>
            </a:r>
            <a:r>
              <a:rPr lang="en-US" altLang="zh-CN" baseline="-25000"/>
              <a:t>m</a:t>
            </a:r>
            <a:r>
              <a:rPr lang="en-US" altLang="zh-CN"/>
              <a:t>B</a:t>
            </a:r>
            <a:r>
              <a:rPr lang="zh-CN" altLang="en-US"/>
              <a:t>。称</a:t>
            </a:r>
            <a:r>
              <a:rPr lang="en-US" altLang="zh-CN"/>
              <a:t>f</a:t>
            </a:r>
            <a:r>
              <a:rPr lang="zh-CN" altLang="en-US"/>
              <a:t>为从</a:t>
            </a:r>
            <a:r>
              <a:rPr lang="en-US" altLang="zh-CN"/>
              <a:t>A</a:t>
            </a:r>
            <a:r>
              <a:rPr lang="zh-CN" altLang="en-US"/>
              <a:t>到</a:t>
            </a:r>
            <a:r>
              <a:rPr lang="en-US" altLang="zh-CN"/>
              <a:t>B</a:t>
            </a:r>
            <a:r>
              <a:rPr lang="zh-CN" altLang="en-US"/>
              <a:t>的归约。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E62AA53-0936-E6E6-027D-A2694A27B370}"/>
              </a:ext>
            </a:extLst>
          </p:cNvPr>
          <p:cNvSpPr>
            <a:spLocks noGrp="1" noChangeArrowheads="1"/>
          </p:cNvSpPr>
          <p:nvPr>
            <p:ph type="title"/>
          </p:nvPr>
        </p:nvSpPr>
        <p:spPr/>
        <p:txBody>
          <a:bodyPr/>
          <a:lstStyle/>
          <a:p>
            <a:pPr eaLnBrk="1" hangingPunct="1"/>
            <a:endParaRPr lang="zh-CN" altLang="zh-CN"/>
          </a:p>
        </p:txBody>
      </p:sp>
      <p:sp>
        <p:nvSpPr>
          <p:cNvPr id="46083" name="Rectangle 3">
            <a:extLst>
              <a:ext uri="{FF2B5EF4-FFF2-40B4-BE49-F238E27FC236}">
                <a16:creationId xmlns:a16="http://schemas.microsoft.com/office/drawing/2014/main" id="{08F14A5B-F98D-F008-88BF-50836AE0E9EC}"/>
              </a:ext>
            </a:extLst>
          </p:cNvPr>
          <p:cNvSpPr>
            <a:spLocks noGrp="1" noChangeArrowheads="1"/>
          </p:cNvSpPr>
          <p:nvPr>
            <p:ph type="body" idx="1"/>
          </p:nvPr>
        </p:nvSpPr>
        <p:spPr/>
        <p:txBody>
          <a:bodyPr/>
          <a:lstStyle/>
          <a:p>
            <a:pPr eaLnBrk="1" hangingPunct="1"/>
            <a:r>
              <a:rPr lang="zh-CN" altLang="en-US"/>
              <a:t>引理</a:t>
            </a:r>
            <a:r>
              <a:rPr lang="en-US" altLang="zh-CN"/>
              <a:t>10.4.1 </a:t>
            </a:r>
            <a:r>
              <a:rPr lang="zh-CN" altLang="en-US"/>
              <a:t>如果</a:t>
            </a:r>
            <a:r>
              <a:rPr lang="en-US" altLang="zh-CN"/>
              <a:t>A</a:t>
            </a:r>
            <a:r>
              <a:rPr lang="en-US" altLang="en-US"/>
              <a:t>≤</a:t>
            </a:r>
            <a:r>
              <a:rPr lang="en-US" altLang="zh-CN" baseline="-25000"/>
              <a:t>m</a:t>
            </a:r>
            <a:r>
              <a:rPr lang="en-US" altLang="zh-CN"/>
              <a:t>B </a:t>
            </a:r>
            <a:r>
              <a:rPr lang="zh-CN" altLang="en-US"/>
              <a:t>，并且</a:t>
            </a:r>
            <a:r>
              <a:rPr lang="en-US" altLang="zh-CN"/>
              <a:t>B∈ P </a:t>
            </a:r>
            <a:r>
              <a:rPr lang="zh-CN" altLang="en-US"/>
              <a:t>，那么</a:t>
            </a:r>
            <a:r>
              <a:rPr lang="en-US" altLang="zh-CN"/>
              <a:t>A ∈ P </a:t>
            </a:r>
          </a:p>
          <a:p>
            <a:pPr eaLnBrk="1" hangingPunct="1"/>
            <a:r>
              <a:rPr lang="zh-CN" altLang="en-US"/>
              <a:t>引理</a:t>
            </a:r>
            <a:r>
              <a:rPr lang="en-US" altLang="zh-CN"/>
              <a:t>10.4.2 </a:t>
            </a:r>
            <a:r>
              <a:rPr lang="zh-CN" altLang="en-US"/>
              <a:t>如果</a:t>
            </a:r>
            <a:r>
              <a:rPr lang="en-US" altLang="zh-CN"/>
              <a:t>A</a:t>
            </a:r>
            <a:r>
              <a:rPr lang="en-US" altLang="en-US"/>
              <a:t>≤</a:t>
            </a:r>
            <a:r>
              <a:rPr lang="en-US" altLang="zh-CN" baseline="-25000"/>
              <a:t>m</a:t>
            </a:r>
            <a:r>
              <a:rPr lang="en-US" altLang="zh-CN"/>
              <a:t>B </a:t>
            </a:r>
            <a:r>
              <a:rPr lang="zh-CN" altLang="en-US"/>
              <a:t>，并且</a:t>
            </a:r>
            <a:r>
              <a:rPr lang="en-US" altLang="zh-CN"/>
              <a:t>B∈ NP </a:t>
            </a:r>
            <a:r>
              <a:rPr lang="zh-CN" altLang="en-US"/>
              <a:t>，那么</a:t>
            </a:r>
            <a:r>
              <a:rPr lang="en-US" altLang="zh-CN"/>
              <a:t>A ∈ NP</a:t>
            </a:r>
          </a:p>
          <a:p>
            <a:pPr eaLnBrk="1" hangingPunct="1"/>
            <a:r>
              <a:rPr lang="zh-CN" altLang="en-US"/>
              <a:t>引理</a:t>
            </a:r>
            <a:r>
              <a:rPr lang="en-US" altLang="zh-CN"/>
              <a:t>10.4.3 </a:t>
            </a:r>
            <a:r>
              <a:rPr lang="zh-CN" altLang="en-US"/>
              <a:t>如果</a:t>
            </a:r>
            <a:r>
              <a:rPr lang="en-US" altLang="zh-CN"/>
              <a:t>A</a:t>
            </a:r>
            <a:r>
              <a:rPr lang="en-US" altLang="en-US"/>
              <a:t>≤</a:t>
            </a:r>
            <a:r>
              <a:rPr lang="en-US" altLang="zh-CN" baseline="-25000"/>
              <a:t>m</a:t>
            </a:r>
            <a:r>
              <a:rPr lang="en-US" altLang="zh-CN"/>
              <a:t>B </a:t>
            </a:r>
            <a:r>
              <a:rPr lang="zh-CN" altLang="en-US"/>
              <a:t>， </a:t>
            </a:r>
            <a:r>
              <a:rPr lang="en-US" altLang="zh-CN"/>
              <a:t>B</a:t>
            </a:r>
            <a:r>
              <a:rPr lang="en-US" altLang="en-US"/>
              <a:t>≤</a:t>
            </a:r>
            <a:r>
              <a:rPr lang="en-US" altLang="zh-CN" baseline="-25000"/>
              <a:t>m</a:t>
            </a:r>
            <a:r>
              <a:rPr lang="en-US" altLang="zh-CN"/>
              <a:t>C </a:t>
            </a:r>
            <a:r>
              <a:rPr lang="zh-CN" altLang="en-US"/>
              <a:t>，那么</a:t>
            </a:r>
            <a:r>
              <a:rPr lang="en-US" altLang="zh-CN"/>
              <a:t>A </a:t>
            </a:r>
            <a:r>
              <a:rPr lang="en-US" altLang="en-US"/>
              <a:t>≤</a:t>
            </a:r>
            <a:r>
              <a:rPr lang="en-US" altLang="zh-CN" baseline="-25000"/>
              <a:t>m</a:t>
            </a:r>
            <a:r>
              <a:rPr lang="en-US" altLang="zh-CN"/>
              <a:t>C</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E6226AD-F1EF-58D0-07BE-FCD8AF6D8BC6}"/>
              </a:ext>
            </a:extLst>
          </p:cNvPr>
          <p:cNvSpPr>
            <a:spLocks noGrp="1" noChangeArrowheads="1"/>
          </p:cNvSpPr>
          <p:nvPr>
            <p:ph type="title"/>
          </p:nvPr>
        </p:nvSpPr>
        <p:spPr/>
        <p:txBody>
          <a:bodyPr/>
          <a:lstStyle/>
          <a:p>
            <a:pPr eaLnBrk="1" hangingPunct="1"/>
            <a:r>
              <a:rPr lang="zh-CN" altLang="en-US"/>
              <a:t>非确定性多项式时间完备 </a:t>
            </a:r>
          </a:p>
        </p:txBody>
      </p:sp>
      <p:sp>
        <p:nvSpPr>
          <p:cNvPr id="47107" name="Rectangle 3">
            <a:extLst>
              <a:ext uri="{FF2B5EF4-FFF2-40B4-BE49-F238E27FC236}">
                <a16:creationId xmlns:a16="http://schemas.microsoft.com/office/drawing/2014/main" id="{03E790D1-4C03-66C9-A90C-09CE3EBC6BA5}"/>
              </a:ext>
            </a:extLst>
          </p:cNvPr>
          <p:cNvSpPr>
            <a:spLocks noGrp="1" noChangeArrowheads="1"/>
          </p:cNvSpPr>
          <p:nvPr>
            <p:ph type="body" idx="1"/>
          </p:nvPr>
        </p:nvSpPr>
        <p:spPr/>
        <p:txBody>
          <a:bodyPr/>
          <a:lstStyle/>
          <a:p>
            <a:pPr eaLnBrk="1" hangingPunct="1"/>
            <a:r>
              <a:rPr lang="zh-CN" altLang="en-US"/>
              <a:t>尽管不清楚是否</a:t>
            </a:r>
            <a:r>
              <a:rPr lang="en-US" altLang="zh-CN"/>
              <a:t>P=NP</a:t>
            </a:r>
            <a:r>
              <a:rPr lang="zh-CN" altLang="en-US"/>
              <a:t>，但是知道</a:t>
            </a:r>
            <a:r>
              <a:rPr lang="en-US" altLang="zh-CN"/>
              <a:t>NP</a:t>
            </a:r>
            <a:r>
              <a:rPr lang="zh-CN" altLang="en-US"/>
              <a:t>中某些问题和</a:t>
            </a:r>
            <a:r>
              <a:rPr lang="en-US" altLang="zh-CN"/>
              <a:t>NP</a:t>
            </a:r>
            <a:r>
              <a:rPr lang="zh-CN" altLang="en-US"/>
              <a:t>中任何问题的难度是一样的。在这个意义上，如果有一个有效算法求解其中一个问题，那么中的任何问题都能够找到有效的求解算法。这种问题称为非确定性多项式时间完备的（</a:t>
            </a:r>
            <a:r>
              <a:rPr lang="en-US" altLang="zh-CN"/>
              <a:t>NP</a:t>
            </a:r>
            <a:r>
              <a:rPr lang="zh-CN" altLang="en-US"/>
              <a:t>完全，简单记为</a:t>
            </a:r>
            <a:r>
              <a:rPr lang="en-US" altLang="zh-CN"/>
              <a:t>NPC</a:t>
            </a:r>
            <a:r>
              <a:rPr lang="zh-CN" altLang="en-US"/>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31698159-DACE-1C41-9421-C76C208A30DE}"/>
              </a:ext>
            </a:extLst>
          </p:cNvPr>
          <p:cNvSpPr>
            <a:spLocks noGrp="1" noChangeArrowheads="1"/>
          </p:cNvSpPr>
          <p:nvPr>
            <p:ph type="title"/>
          </p:nvPr>
        </p:nvSpPr>
        <p:spPr/>
        <p:txBody>
          <a:bodyPr/>
          <a:lstStyle/>
          <a:p>
            <a:pPr eaLnBrk="1" hangingPunct="1"/>
            <a:endParaRPr lang="zh-CN" altLang="zh-CN"/>
          </a:p>
        </p:txBody>
      </p:sp>
      <p:sp>
        <p:nvSpPr>
          <p:cNvPr id="48131" name="Rectangle 3">
            <a:extLst>
              <a:ext uri="{FF2B5EF4-FFF2-40B4-BE49-F238E27FC236}">
                <a16:creationId xmlns:a16="http://schemas.microsoft.com/office/drawing/2014/main" id="{8D18BA86-F350-FC66-B55A-A56C4917CF7B}"/>
              </a:ext>
            </a:extLst>
          </p:cNvPr>
          <p:cNvSpPr>
            <a:spLocks noGrp="1" noChangeArrowheads="1"/>
          </p:cNvSpPr>
          <p:nvPr>
            <p:ph type="body" idx="1"/>
          </p:nvPr>
        </p:nvSpPr>
        <p:spPr/>
        <p:txBody>
          <a:bodyPr/>
          <a:lstStyle/>
          <a:p>
            <a:pPr eaLnBrk="1" hangingPunct="1"/>
            <a:r>
              <a:rPr lang="en-US" altLang="zh-CN"/>
              <a:t>SATISFIABILITY</a:t>
            </a:r>
            <a:r>
              <a:rPr lang="zh-CN" altLang="en-US"/>
              <a:t>（可满足性）问题是一个著名的</a:t>
            </a:r>
            <a:r>
              <a:rPr lang="en-US" altLang="zh-CN"/>
              <a:t>NP</a:t>
            </a:r>
            <a:r>
              <a:rPr lang="zh-CN" altLang="en-US"/>
              <a:t>完全问题，也就是发现的第一个</a:t>
            </a:r>
            <a:r>
              <a:rPr lang="en-US" altLang="zh-CN"/>
              <a:t>NP</a:t>
            </a:r>
            <a:r>
              <a:rPr lang="zh-CN" altLang="en-US"/>
              <a:t>完全问题。 </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218</TotalTime>
  <Words>4068</Words>
  <Application>Microsoft Macintosh PowerPoint</Application>
  <PresentationFormat>全屏显示(4:3)</PresentationFormat>
  <Paragraphs>120</Paragraphs>
  <Slides>46</Slides>
  <Notes>0</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46</vt:i4>
      </vt:variant>
    </vt:vector>
  </HeadingPairs>
  <TitlesOfParts>
    <vt:vector size="51" baseType="lpstr">
      <vt:lpstr>Arial</vt:lpstr>
      <vt:lpstr>宋体</vt:lpstr>
      <vt:lpstr>Calibri</vt:lpstr>
      <vt:lpstr>默认设计模板</vt:lpstr>
      <vt:lpstr>Microsoft 公式 3.0</vt:lpstr>
      <vt:lpstr>第10章</vt:lpstr>
      <vt:lpstr>计算复杂性</vt:lpstr>
      <vt:lpstr>PowerPoint 演示文稿</vt:lpstr>
      <vt:lpstr>基本概念</vt:lpstr>
      <vt:lpstr>问题</vt:lpstr>
      <vt:lpstr>PowerPoint 演示文稿</vt:lpstr>
      <vt:lpstr>算法</vt:lpstr>
      <vt:lpstr>旅行商问题</vt:lpstr>
      <vt:lpstr>PowerPoint 演示文稿</vt:lpstr>
      <vt:lpstr>PowerPoint 演示文稿</vt:lpstr>
      <vt:lpstr>PowerPoint 演示文稿</vt:lpstr>
      <vt:lpstr>PowerPoint 演示文稿</vt:lpstr>
      <vt:lpstr>PowerPoint 演示文稿</vt:lpstr>
      <vt:lpstr>10.2图灵机</vt:lpstr>
      <vt:lpstr>PowerPoint 演示文稿</vt:lpstr>
      <vt:lpstr>PowerPoint 演示文稿</vt:lpstr>
      <vt:lpstr>PowerPoint 演示文稿</vt:lpstr>
      <vt:lpstr>计算复杂度的表示方法 </vt:lpstr>
      <vt:lpstr>计算复杂度的表示方法 </vt:lpstr>
      <vt:lpstr>PowerPoint 演示文稿</vt:lpstr>
      <vt:lpstr>PowerPoint 演示文稿</vt:lpstr>
      <vt:lpstr>PowerPoint 演示文稿</vt:lpstr>
      <vt:lpstr>PowerPoint 演示文稿</vt:lpstr>
      <vt:lpstr>PowerPoint 演示文稿</vt:lpstr>
      <vt:lpstr>10.3基本原理 </vt:lpstr>
      <vt:lpstr>10.3.1多项式时间可识别语言</vt:lpstr>
      <vt:lpstr>PowerPoint 演示文稿</vt:lpstr>
      <vt:lpstr>10.3.2 非确定性多项式时间可识别语言 </vt:lpstr>
      <vt:lpstr>10.3.2 非确定性多项式时间可识别语言 </vt:lpstr>
      <vt:lpstr>10.3.2 非确定性多项式时间可识别语言 </vt:lpstr>
      <vt:lpstr>10.3.2 非确定性多项式时间可识别语言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计算复杂性理论与现代密码学</vt:lpstr>
      <vt:lpstr>计算复杂性理论与现代密码学</vt:lpstr>
      <vt:lpstr>计算复杂性理论与现代密码学</vt:lpstr>
      <vt:lpstr>10.4归约方法</vt:lpstr>
      <vt:lpstr>PowerPoint 演示文稿</vt:lpstr>
      <vt:lpstr>非确定性多项式时间完备 </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liaoyj</dc:creator>
  <cp:lastModifiedBy>涵宇 况</cp:lastModifiedBy>
  <cp:revision>19</cp:revision>
  <cp:lastPrinted>1601-01-01T00:00:00Z</cp:lastPrinted>
  <dcterms:created xsi:type="dcterms:W3CDTF">2013-10-28T01:33:07Z</dcterms:created>
  <dcterms:modified xsi:type="dcterms:W3CDTF">2026-06-09T13:10:35Z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