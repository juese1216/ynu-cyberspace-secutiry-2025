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23" r:id="rId30"/>
    <p:sldId id="324" r:id="rId31"/>
    <p:sldId id="325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7" r:id="rId45"/>
    <p:sldId id="298" r:id="rId46"/>
    <p:sldId id="296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22" r:id="rId6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emf"/><Relationship Id="rId4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4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50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3.emf"/><Relationship Id="rId2" Type="http://schemas.openxmlformats.org/officeDocument/2006/relationships/image" Target="../media/image68.wmf"/><Relationship Id="rId1" Type="http://schemas.openxmlformats.org/officeDocument/2006/relationships/image" Target="../media/image67.e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image" Target="../media/image74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5" Type="http://schemas.openxmlformats.org/officeDocument/2006/relationships/image" Target="../media/image85.emf"/><Relationship Id="rId4" Type="http://schemas.openxmlformats.org/officeDocument/2006/relationships/image" Target="../media/image84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e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4" Type="http://schemas.openxmlformats.org/officeDocument/2006/relationships/image" Target="../media/image110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5.bin"/><Relationship Id="rId4" Type="http://schemas.openxmlformats.org/officeDocument/2006/relationships/package" Target="../embeddings/Microsoft_Word___2.docx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3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4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5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6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7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8.docx"/><Relationship Id="rId9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3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0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1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3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9.bin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5.docx"/><Relationship Id="rId9" Type="http://schemas.openxmlformats.org/officeDocument/2006/relationships/image" Target="../media/image3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oleObject" Target="../embeddings/oleObject32.bin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16.docx"/><Relationship Id="rId9" Type="http://schemas.openxmlformats.org/officeDocument/2006/relationships/image" Target="../media/image3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17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18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19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9.bin"/><Relationship Id="rId7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20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22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23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24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5.docx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6.wmf"/><Relationship Id="rId11" Type="http://schemas.openxmlformats.org/officeDocument/2006/relationships/image" Target="../media/image48.wmf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47.bin"/><Relationship Id="rId4" Type="http://schemas.openxmlformats.org/officeDocument/2006/relationships/image" Target="../media/image45.wmf"/><Relationship Id="rId9" Type="http://schemas.openxmlformats.org/officeDocument/2006/relationships/image" Target="../media/image47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0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5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5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4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26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57.emf"/><Relationship Id="rId4" Type="http://schemas.openxmlformats.org/officeDocument/2006/relationships/package" Target="../embeddings/Microsoft_Word___27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58.emf"/><Relationship Id="rId4" Type="http://schemas.openxmlformats.org/officeDocument/2006/relationships/package" Target="../embeddings/Microsoft_Word___28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59.emf"/><Relationship Id="rId4" Type="http://schemas.openxmlformats.org/officeDocument/2006/relationships/package" Target="../embeddings/Microsoft_Word___29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60.emf"/><Relationship Id="rId4" Type="http://schemas.openxmlformats.org/officeDocument/2006/relationships/package" Target="../embeddings/Microsoft_Word___30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61.emf"/><Relationship Id="rId4" Type="http://schemas.openxmlformats.org/officeDocument/2006/relationships/package" Target="../embeddings/Microsoft_Word___31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64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63.emf"/><Relationship Id="rId4" Type="http://schemas.openxmlformats.org/officeDocument/2006/relationships/package" Target="../embeddings/Microsoft_Word___32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65.emf"/><Relationship Id="rId4" Type="http://schemas.openxmlformats.org/officeDocument/2006/relationships/package" Target="../embeddings/Microsoft_Word___34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66.emf"/><Relationship Id="rId4" Type="http://schemas.openxmlformats.org/officeDocument/2006/relationships/package" Target="../embeddings/Microsoft_Word___35.docx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1.wmf"/><Relationship Id="rId18" Type="http://schemas.openxmlformats.org/officeDocument/2006/relationships/image" Target="../media/image73.emf"/><Relationship Id="rId3" Type="http://schemas.openxmlformats.org/officeDocument/2006/relationships/oleObject" Target="../embeddings/oleObject68.bin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72.bin"/><Relationship Id="rId1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4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0.wmf"/><Relationship Id="rId5" Type="http://schemas.openxmlformats.org/officeDocument/2006/relationships/image" Target="../media/image67.emf"/><Relationship Id="rId15" Type="http://schemas.openxmlformats.org/officeDocument/2006/relationships/image" Target="../media/image72.wmf"/><Relationship Id="rId10" Type="http://schemas.openxmlformats.org/officeDocument/2006/relationships/oleObject" Target="../embeddings/oleObject71.bin"/><Relationship Id="rId4" Type="http://schemas.openxmlformats.org/officeDocument/2006/relationships/package" Target="../embeddings/Microsoft_Word___36.docx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7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oleObject" Target="../embeddings/oleObject75.bin"/><Relationship Id="rId7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4.emf"/><Relationship Id="rId4" Type="http://schemas.openxmlformats.org/officeDocument/2006/relationships/package" Target="../embeddings/Microsoft_Word___38.docx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5" Type="http://schemas.openxmlformats.org/officeDocument/2006/relationships/image" Target="../media/image76.emf"/><Relationship Id="rId4" Type="http://schemas.openxmlformats.org/officeDocument/2006/relationships/package" Target="../embeddings/Microsoft_Word___40.docx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5" Type="http://schemas.openxmlformats.org/officeDocument/2006/relationships/image" Target="../media/image77.emf"/><Relationship Id="rId4" Type="http://schemas.openxmlformats.org/officeDocument/2006/relationships/package" Target="../embeddings/Microsoft_Word___41.doc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5" Type="http://schemas.openxmlformats.org/officeDocument/2006/relationships/image" Target="../media/image78.emf"/><Relationship Id="rId4" Type="http://schemas.openxmlformats.org/officeDocument/2006/relationships/package" Target="../embeddings/Microsoft_Word___42.docx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5" Type="http://schemas.openxmlformats.org/officeDocument/2006/relationships/image" Target="../media/image79.emf"/><Relationship Id="rId4" Type="http://schemas.openxmlformats.org/officeDocument/2006/relationships/package" Target="../embeddings/Microsoft_Word___43.docx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5" Type="http://schemas.openxmlformats.org/officeDocument/2006/relationships/image" Target="../media/image80.emf"/><Relationship Id="rId4" Type="http://schemas.openxmlformats.org/officeDocument/2006/relationships/package" Target="../embeddings/Microsoft_Word___44.docx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5.e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oleObject" Target="../embeddings/oleObject87.bin"/><Relationship Id="rId7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8.emf"/><Relationship Id="rId5" Type="http://schemas.openxmlformats.org/officeDocument/2006/relationships/image" Target="../media/image86.emf"/><Relationship Id="rId10" Type="http://schemas.openxmlformats.org/officeDocument/2006/relationships/package" Target="../embeddings/Microsoft_Word___48.docx"/><Relationship Id="rId4" Type="http://schemas.openxmlformats.org/officeDocument/2006/relationships/package" Target="../embeddings/Microsoft_Word___46.docx"/><Relationship Id="rId9" Type="http://schemas.openxmlformats.org/officeDocument/2006/relationships/oleObject" Target="../embeddings/oleObject89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5" Type="http://schemas.openxmlformats.org/officeDocument/2006/relationships/image" Target="../media/image89.emf"/><Relationship Id="rId4" Type="http://schemas.openxmlformats.org/officeDocument/2006/relationships/package" Target="../embeddings/Microsoft_Word___49.docx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5" Type="http://schemas.openxmlformats.org/officeDocument/2006/relationships/image" Target="../media/image90.emf"/><Relationship Id="rId4" Type="http://schemas.openxmlformats.org/officeDocument/2006/relationships/package" Target="../embeddings/Microsoft_Word___50.docx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5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0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5" Type="http://schemas.openxmlformats.org/officeDocument/2006/relationships/image" Target="../media/image99.emf"/><Relationship Id="rId4" Type="http://schemas.openxmlformats.org/officeDocument/2006/relationships/package" Target="../embeddings/Microsoft_Word___51.docx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5" Type="http://schemas.openxmlformats.org/officeDocument/2006/relationships/image" Target="../media/image100.emf"/><Relationship Id="rId4" Type="http://schemas.openxmlformats.org/officeDocument/2006/relationships/package" Target="../embeddings/Microsoft_Word___52.docx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5" Type="http://schemas.openxmlformats.org/officeDocument/2006/relationships/image" Target="../media/image101.emf"/><Relationship Id="rId4" Type="http://schemas.openxmlformats.org/officeDocument/2006/relationships/package" Target="../embeddings/Microsoft_Word___53.docx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5" Type="http://schemas.openxmlformats.org/officeDocument/2006/relationships/image" Target="../media/image102.emf"/><Relationship Id="rId4" Type="http://schemas.openxmlformats.org/officeDocument/2006/relationships/package" Target="../embeddings/Microsoft_Word___54.docx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3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5" Type="http://schemas.openxmlformats.org/officeDocument/2006/relationships/image" Target="../media/image105.emf"/><Relationship Id="rId4" Type="http://schemas.openxmlformats.org/officeDocument/2006/relationships/package" Target="../embeddings/Microsoft_Word___55.docx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5" Type="http://schemas.openxmlformats.org/officeDocument/2006/relationships/image" Target="../media/image106.emf"/><Relationship Id="rId4" Type="http://schemas.openxmlformats.org/officeDocument/2006/relationships/package" Target="../embeddings/Microsoft_Word___56.docx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10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10.wmf"/><Relationship Id="rId5" Type="http://schemas.openxmlformats.org/officeDocument/2006/relationships/image" Target="../media/image107.emf"/><Relationship Id="rId10" Type="http://schemas.openxmlformats.org/officeDocument/2006/relationships/oleObject" Target="../embeddings/oleObject112.bin"/><Relationship Id="rId4" Type="http://schemas.openxmlformats.org/officeDocument/2006/relationships/package" Target="../embeddings/Microsoft_Word___57.docx"/><Relationship Id="rId9" Type="http://schemas.openxmlformats.org/officeDocument/2006/relationships/image" Target="../media/image109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111.emf"/><Relationship Id="rId4" Type="http://schemas.openxmlformats.org/officeDocument/2006/relationships/package" Target="../embeddings/Microsoft_Word___58.docx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5" Type="http://schemas.openxmlformats.org/officeDocument/2006/relationships/image" Target="../media/image112.emf"/><Relationship Id="rId4" Type="http://schemas.openxmlformats.org/officeDocument/2006/relationships/package" Target="../embeddings/Microsoft_Word___59.docx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4" Type="http://schemas.openxmlformats.org/officeDocument/2006/relationships/image" Target="../media/image113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4" Type="http://schemas.openxmlformats.org/officeDocument/2006/relationships/image" Target="../media/image114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第六章 多项式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信息与软件学院</a:t>
            </a:r>
            <a:endParaRPr lang="en-US" altLang="zh-CN" dirty="0" smtClean="0"/>
          </a:p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多项式相关概念</a:t>
            </a:r>
            <a:endParaRPr lang="en-US" altLang="zh-CN" dirty="0" smtClean="0"/>
          </a:p>
          <a:p>
            <a:r>
              <a:rPr lang="en-US" altLang="zh-CN" dirty="0" smtClean="0"/>
              <a:t>6.2 </a:t>
            </a:r>
            <a:r>
              <a:rPr lang="zh-CN" altLang="en-US" dirty="0" smtClean="0"/>
              <a:t>因式</a:t>
            </a:r>
            <a:endParaRPr lang="en-US" altLang="zh-CN" dirty="0" smtClean="0"/>
          </a:p>
          <a:p>
            <a:r>
              <a:rPr lang="en-US" altLang="zh-CN" dirty="0" smtClean="0"/>
              <a:t>6.3 </a:t>
            </a:r>
            <a:r>
              <a:rPr lang="zh-CN" altLang="en-US" dirty="0" smtClean="0"/>
              <a:t>多项式同余</a:t>
            </a:r>
            <a:endParaRPr lang="en-US" altLang="zh-CN" dirty="0" smtClean="0"/>
          </a:p>
          <a:p>
            <a:r>
              <a:rPr lang="en-US" altLang="zh-CN" dirty="0" smtClean="0"/>
              <a:t>6.4 </a:t>
            </a:r>
            <a:r>
              <a:rPr lang="zh-CN" altLang="en-US" dirty="0" smtClean="0"/>
              <a:t>多元多项式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 </a:t>
            </a:r>
            <a:r>
              <a:rPr lang="zh-CN" altLang="en-US" dirty="0" smtClean="0"/>
              <a:t>多项式相关概念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791874"/>
              </p:ext>
            </p:extLst>
          </p:nvPr>
        </p:nvGraphicFramePr>
        <p:xfrm>
          <a:off x="546100" y="1460500"/>
          <a:ext cx="8070850" cy="421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8698001" imgH="4557715" progId="Word.Document.12">
                  <p:embed/>
                </p:oleObj>
              </mc:Choice>
              <mc:Fallback>
                <p:oleObj name="文档" r:id="rId4" imgW="8698001" imgH="455771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460500"/>
                        <a:ext cx="8070850" cy="421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概念（续）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28688" y="1379538"/>
          <a:ext cx="7445375" cy="275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" name="文档" r:id="rId4" imgW="7845601" imgH="2970593" progId="Word.Document.12">
                  <p:embed/>
                </p:oleObj>
              </mc:Choice>
              <mc:Fallback>
                <p:oleObj name="文档" r:id="rId4" imgW="7845601" imgH="297059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379538"/>
                        <a:ext cx="7445375" cy="2757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85786" y="4146058"/>
            <a:ext cx="75724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0070C0"/>
                </a:solidFill>
              </a:rPr>
              <a:t>定义</a:t>
            </a:r>
            <a:r>
              <a:rPr lang="en-US" sz="2400" dirty="0" smtClean="0">
                <a:solidFill>
                  <a:srgbClr val="0070C0"/>
                </a:solidFill>
              </a:rPr>
              <a:t>6.1.2 </a:t>
            </a:r>
            <a:r>
              <a:rPr lang="zh-CN" altLang="en-US" sz="2400" dirty="0" smtClean="0"/>
              <a:t>设             </a:t>
            </a:r>
            <a:r>
              <a:rPr lang="en-US" sz="2400" dirty="0" smtClean="0"/>
              <a:t>       </a:t>
            </a:r>
            <a:r>
              <a:rPr lang="zh-CN" altLang="en-US" sz="2400" dirty="0" smtClean="0"/>
              <a:t>和    </a:t>
            </a:r>
            <a:r>
              <a:rPr lang="en-US" sz="2400" dirty="0" smtClean="0"/>
              <a:t>                 </a:t>
            </a:r>
            <a:r>
              <a:rPr lang="zh-CN" altLang="en-US" sz="2400" dirty="0" smtClean="0"/>
              <a:t>是整环</a:t>
            </a:r>
            <a:r>
              <a:rPr lang="en-US" sz="2400" dirty="0" smtClean="0"/>
              <a:t>R</a:t>
            </a:r>
            <a:r>
              <a:rPr lang="zh-CN" altLang="en-US" sz="2400" dirty="0" smtClean="0"/>
              <a:t>上的两个多项式，若满足</a:t>
            </a:r>
            <a:r>
              <a:rPr lang="en-US" sz="2400" dirty="0" smtClean="0"/>
              <a:t>m=n</a:t>
            </a:r>
            <a:r>
              <a:rPr lang="zh-CN" altLang="en-US" sz="2400" dirty="0" smtClean="0"/>
              <a:t>且              </a:t>
            </a:r>
            <a:r>
              <a:rPr lang="en-US" sz="2400" dirty="0" smtClean="0"/>
              <a:t>               </a:t>
            </a:r>
            <a:r>
              <a:rPr lang="zh-CN" altLang="en-US" sz="2400" dirty="0" smtClean="0"/>
              <a:t>，则称             </a:t>
            </a:r>
            <a:r>
              <a:rPr lang="en-US" sz="2400" dirty="0" smtClean="0"/>
              <a:t>        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320102"/>
              </p:ext>
            </p:extLst>
          </p:nvPr>
        </p:nvGraphicFramePr>
        <p:xfrm>
          <a:off x="2597114" y="4173115"/>
          <a:ext cx="1523959" cy="71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" name="Equation" r:id="rId6" imgW="914400" imgH="431800" progId="Equation.DSMT4">
                  <p:embed/>
                </p:oleObj>
              </mc:Choice>
              <mc:Fallback>
                <p:oleObj name="Equation" r:id="rId6" imgW="914400" imgH="431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14" y="4173115"/>
                        <a:ext cx="1523959" cy="714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114025"/>
              </p:ext>
            </p:extLst>
          </p:nvPr>
        </p:nvGraphicFramePr>
        <p:xfrm>
          <a:off x="4415917" y="4128349"/>
          <a:ext cx="1571604" cy="75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Equation" r:id="rId8" imgW="888614" imgH="431613" progId="Equation.DSMT4">
                  <p:embed/>
                </p:oleObj>
              </mc:Choice>
              <mc:Fallback>
                <p:oleObj name="Equation" r:id="rId8" imgW="888614" imgH="431613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917" y="4128349"/>
                        <a:ext cx="1571604" cy="7523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35472"/>
              </p:ext>
            </p:extLst>
          </p:nvPr>
        </p:nvGraphicFramePr>
        <p:xfrm>
          <a:off x="4211960" y="4801142"/>
          <a:ext cx="2187789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6" name="Equation" r:id="rId10" imgW="1002865" imgH="228501" progId="Equation.DSMT4">
                  <p:embed/>
                </p:oleObj>
              </mc:Choice>
              <mc:Fallback>
                <p:oleObj name="Equation" r:id="rId10" imgW="1002865" imgH="228501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801142"/>
                        <a:ext cx="2187789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660722"/>
              </p:ext>
            </p:extLst>
          </p:nvPr>
        </p:nvGraphicFramePr>
        <p:xfrm>
          <a:off x="1259632" y="5373216"/>
          <a:ext cx="157804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12" imgW="774364" imgH="203112" progId="Equation.DSMT4">
                  <p:embed/>
                </p:oleObj>
              </mc:Choice>
              <mc:Fallback>
                <p:oleObj name="Equation" r:id="rId12" imgW="774364" imgH="203112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373216"/>
                        <a:ext cx="157804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多项式的运算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02860"/>
              </p:ext>
            </p:extLst>
          </p:nvPr>
        </p:nvGraphicFramePr>
        <p:xfrm>
          <a:off x="914400" y="1311275"/>
          <a:ext cx="7593013" cy="491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4" imgW="7653724" imgH="4960268" progId="Word.Document.12">
                  <p:embed/>
                </p:oleObj>
              </mc:Choice>
              <mc:Fallback>
                <p:oleObj name="文档" r:id="rId4" imgW="7653724" imgH="496026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11275"/>
                        <a:ext cx="7593013" cy="491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多项式的运算（续）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多项式的乘法：</a:t>
            </a:r>
            <a:endParaRPr lang="zh-CN" altLang="en-US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433" name="Object 1"/>
          <p:cNvGraphicFramePr>
            <a:graphicFrameLocks noChangeAspect="1"/>
          </p:cNvGraphicFramePr>
          <p:nvPr/>
        </p:nvGraphicFramePr>
        <p:xfrm>
          <a:off x="1000099" y="2500306"/>
          <a:ext cx="7654071" cy="250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3" imgW="2857500" imgH="939800" progId="Equation.DSMT4">
                  <p:embed/>
                </p:oleObj>
              </mc:Choice>
              <mc:Fallback>
                <p:oleObj name="Equation" r:id="rId3" imgW="2857500" imgH="939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099" y="2500306"/>
                        <a:ext cx="7654071" cy="25003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多项式运算律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52463" y="1466870"/>
          <a:ext cx="8288337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4" imgW="8585411" imgH="4950869" progId="Word.Document.12">
                  <p:embed/>
                </p:oleObj>
              </mc:Choice>
              <mc:Fallback>
                <p:oleObj name="文档" r:id="rId4" imgW="8585411" imgH="495086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466870"/>
                        <a:ext cx="8288337" cy="481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57362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定义</a:t>
            </a:r>
            <a:r>
              <a:rPr lang="en-US" b="1" dirty="0" smtClean="0">
                <a:solidFill>
                  <a:srgbClr val="0070C0"/>
                </a:solidFill>
              </a:rPr>
              <a:t>6.1.4 </a:t>
            </a:r>
            <a:r>
              <a:rPr lang="en-US" dirty="0" smtClean="0"/>
              <a:t>R</a:t>
            </a:r>
            <a:r>
              <a:rPr lang="zh-CN" altLang="en-US" dirty="0" smtClean="0"/>
              <a:t>为一个整环，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是</a:t>
            </a:r>
            <a:r>
              <a:rPr lang="en-US" altLang="zh-CN" dirty="0" smtClean="0"/>
              <a:t>R</a:t>
            </a:r>
            <a:r>
              <a:rPr lang="zh-CN" altLang="en-US" dirty="0" smtClean="0"/>
              <a:t>上的未定元，</a:t>
            </a:r>
            <a:r>
              <a:rPr lang="en-US" altLang="zh-CN" dirty="0" smtClean="0"/>
              <a:t>R[x]</a:t>
            </a:r>
            <a:r>
              <a:rPr lang="zh-CN" altLang="en-US" dirty="0" smtClean="0"/>
              <a:t>对于多项式的加法和乘法构成环，称为</a:t>
            </a:r>
            <a:r>
              <a:rPr lang="zh-CN" altLang="en-US" dirty="0" smtClean="0">
                <a:solidFill>
                  <a:srgbClr val="FF0000"/>
                </a:solidFill>
              </a:rPr>
              <a:t>多项式环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28662" y="3571876"/>
          <a:ext cx="7632700" cy="2460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文档" r:id="rId4" imgW="7633041" imgH="2376475" progId="Word.Document.12">
                  <p:embed/>
                </p:oleObj>
              </mc:Choice>
              <mc:Fallback>
                <p:oleObj name="文档" r:id="rId4" imgW="7633041" imgH="237647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3571876"/>
                        <a:ext cx="7632700" cy="24606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多项式环（续）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614354"/>
          </a:xfrm>
        </p:spPr>
        <p:txBody>
          <a:bodyPr/>
          <a:lstStyle/>
          <a:p>
            <a:r>
              <a:rPr lang="zh-CN" altLang="en-US" b="1" dirty="0" smtClean="0"/>
              <a:t>定理</a:t>
            </a:r>
            <a:r>
              <a:rPr lang="en-US" b="1" dirty="0" smtClean="0"/>
              <a:t>6.1.1 </a:t>
            </a:r>
            <a:r>
              <a:rPr lang="zh-CN" altLang="en-US" dirty="0" smtClean="0"/>
              <a:t>整环</a:t>
            </a:r>
            <a:r>
              <a:rPr lang="en-US" altLang="zh-CN" dirty="0" smtClean="0"/>
              <a:t>R</a:t>
            </a:r>
            <a:r>
              <a:rPr lang="zh-CN" altLang="en-US" dirty="0" smtClean="0"/>
              <a:t>上的多项式环</a:t>
            </a:r>
            <a:r>
              <a:rPr lang="en-US" dirty="0" smtClean="0"/>
              <a:t>R[x]</a:t>
            </a:r>
            <a:r>
              <a:rPr lang="zh-CN" altLang="en-US" dirty="0" smtClean="0"/>
              <a:t>是整环。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4348" y="1857364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证明要点：</a:t>
            </a:r>
            <a:r>
              <a:rPr lang="zh-CN" altLang="en-US" sz="2400" b="1" dirty="0" smtClean="0"/>
              <a:t>紧扣整环定义，只需证明</a:t>
            </a:r>
            <a:r>
              <a:rPr lang="en-US" altLang="zh-CN" sz="2400" b="1" dirty="0" smtClean="0"/>
              <a:t>R[x]</a:t>
            </a:r>
            <a:r>
              <a:rPr lang="zh-CN" altLang="en-US" sz="2400" b="1" dirty="0" smtClean="0"/>
              <a:t>中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无零因子。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84225" y="2357430"/>
          <a:ext cx="7504113" cy="436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文档" r:id="rId4" imgW="7771620" imgH="4555030" progId="Word.Document.12">
                  <p:embed/>
                </p:oleObj>
              </mc:Choice>
              <mc:Fallback>
                <p:oleObj name="文档" r:id="rId4" imgW="7771620" imgH="455503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2357430"/>
                        <a:ext cx="7504113" cy="436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6.1.1</a:t>
            </a:r>
            <a:r>
              <a:rPr lang="zh-CN" altLang="en-US" dirty="0" smtClean="0"/>
              <a:t>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6469"/>
              </p:ext>
            </p:extLst>
          </p:nvPr>
        </p:nvGraphicFramePr>
        <p:xfrm>
          <a:off x="1110456" y="1556792"/>
          <a:ext cx="6923088" cy="467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文档" r:id="rId4" imgW="7131413" imgH="4801890" progId="Word.Document.12">
                  <p:embed/>
                </p:oleObj>
              </mc:Choice>
              <mc:Fallback>
                <p:oleObj name="文档" r:id="rId4" imgW="7131413" imgH="480189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0456" y="1556792"/>
                        <a:ext cx="6923088" cy="467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470507"/>
              </p:ext>
            </p:extLst>
          </p:nvPr>
        </p:nvGraphicFramePr>
        <p:xfrm>
          <a:off x="2212181" y="1700808"/>
          <a:ext cx="4719637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Formula" r:id="rId6" imgW="2357280" imgH="1021320" progId="Equation.Ribbit">
                  <p:embed/>
                </p:oleObj>
              </mc:Choice>
              <mc:Fallback>
                <p:oleObj name="Formula" r:id="rId6" imgW="2357280" imgH="10213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12181" y="1700808"/>
                        <a:ext cx="4719637" cy="204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105680"/>
              </p:ext>
            </p:extLst>
          </p:nvPr>
        </p:nvGraphicFramePr>
        <p:xfrm>
          <a:off x="1441450" y="1928813"/>
          <a:ext cx="6002338" cy="396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文档" r:id="rId4" imgW="6133469" imgH="4055063" progId="Word.Document.12">
                  <p:embed/>
                </p:oleObj>
              </mc:Choice>
              <mc:Fallback>
                <p:oleObj name="文档" r:id="rId4" imgW="6133469" imgH="405506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1928813"/>
                        <a:ext cx="6002338" cy="3965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2714612" y="3429000"/>
          <a:ext cx="32194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8" name="Equation" r:id="rId6" imgW="1511300" imgH="228600" progId="Equation.DSMT4">
                  <p:embed/>
                </p:oleObj>
              </mc:Choice>
              <mc:Fallback>
                <p:oleObj name="Equation" r:id="rId6" imgW="15113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3429000"/>
                        <a:ext cx="32194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2071670" y="4500570"/>
          <a:ext cx="42767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9" name="Equation" r:id="rId8" imgW="1752600" imgH="228600" progId="Equation.DSMT4">
                  <p:embed/>
                </p:oleObj>
              </mc:Choice>
              <mc:Fallback>
                <p:oleObj name="Equation" r:id="rId8" imgW="17526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4500570"/>
                        <a:ext cx="4276725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多项式除法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6.1.2 </a:t>
            </a:r>
            <a:r>
              <a:rPr lang="zh-CN" altLang="en-US" sz="2800" dirty="0" smtClean="0"/>
              <a:t>在有理数域中取               </a:t>
            </a:r>
            <a:r>
              <a:rPr lang="en-US" sz="2800" dirty="0" smtClean="0"/>
              <a:t>                   </a:t>
            </a:r>
            <a:r>
              <a:rPr lang="zh-CN" altLang="en-US" sz="2800" dirty="0" smtClean="0"/>
              <a:t>， </a:t>
            </a:r>
            <a:r>
              <a:rPr lang="en-US" altLang="zh-CN" sz="2800" dirty="0" smtClean="0"/>
              <a:t>			</a:t>
            </a:r>
            <a:r>
              <a:rPr lang="zh-CN" altLang="en-US" sz="2800" dirty="0" smtClean="0"/>
              <a:t>求    </a:t>
            </a:r>
            <a:r>
              <a:rPr lang="en-US" sz="2800" dirty="0" smtClean="0"/>
              <a:t>    </a:t>
            </a:r>
            <a:r>
              <a:rPr lang="zh-CN" altLang="en-US" sz="2800" dirty="0" smtClean="0"/>
              <a:t>除 </a:t>
            </a:r>
            <a:r>
              <a:rPr lang="en-US" sz="2800" dirty="0" smtClean="0"/>
              <a:t>       </a:t>
            </a:r>
            <a:r>
              <a:rPr lang="zh-CN" altLang="en-US" sz="2800" dirty="0" smtClean="0"/>
              <a:t>的商式和余式。</a:t>
            </a:r>
            <a:endParaRPr lang="zh-CN" altLang="en-US" sz="2800" dirty="0"/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001471"/>
              </p:ext>
            </p:extLst>
          </p:nvPr>
        </p:nvGraphicFramePr>
        <p:xfrm>
          <a:off x="4797724" y="1597814"/>
          <a:ext cx="2886144" cy="48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5" name="Equation" r:id="rId3" imgW="1371600" imgH="228600" progId="Equation.DSMT4">
                  <p:embed/>
                </p:oleObj>
              </mc:Choice>
              <mc:Fallback>
                <p:oleObj name="Equation" r:id="rId3" imgW="13716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7724" y="1597814"/>
                        <a:ext cx="2886144" cy="48102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034646"/>
              </p:ext>
            </p:extLst>
          </p:nvPr>
        </p:nvGraphicFramePr>
        <p:xfrm>
          <a:off x="3626250" y="2064217"/>
          <a:ext cx="727338" cy="457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6" name="Equation" r:id="rId5" imgW="330057" imgH="203112" progId="Equation.DSMT4">
                  <p:embed/>
                </p:oleObj>
              </mc:Choice>
              <mc:Fallback>
                <p:oleObj name="Equation" r:id="rId5" imgW="330057" imgH="20311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250" y="2064217"/>
                        <a:ext cx="727338" cy="4571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243503"/>
              </p:ext>
            </p:extLst>
          </p:nvPr>
        </p:nvGraphicFramePr>
        <p:xfrm>
          <a:off x="4644008" y="2078837"/>
          <a:ext cx="755915" cy="461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7" name="Equation" r:id="rId7" imgW="342751" imgH="203112" progId="Equation.DSMT4">
                  <p:embed/>
                </p:oleObj>
              </mc:Choice>
              <mc:Fallback>
                <p:oleObj name="Equation" r:id="rId7" imgW="342751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078837"/>
                        <a:ext cx="755915" cy="4619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834275"/>
              </p:ext>
            </p:extLst>
          </p:nvPr>
        </p:nvGraphicFramePr>
        <p:xfrm>
          <a:off x="702246" y="2038349"/>
          <a:ext cx="241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8" name="Equation" r:id="rId9" imgW="1015920" imgH="228600" progId="Equation.DSMT4">
                  <p:embed/>
                </p:oleObj>
              </mc:Choice>
              <mc:Fallback>
                <p:oleObj name="Equation" r:id="rId9" imgW="1015920" imgH="228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246" y="2038349"/>
                        <a:ext cx="241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403350" y="2724174"/>
          <a:ext cx="6264275" cy="406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9" name="文档" r:id="rId12" imgW="6436713" imgH="4060591" progId="Word.Document.12">
                  <p:embed/>
                </p:oleObj>
              </mc:Choice>
              <mc:Fallback>
                <p:oleObj name="文档" r:id="rId12" imgW="6436713" imgH="4060591" progId="Word.Document.1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24174"/>
                        <a:ext cx="6264275" cy="406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1000100" y="6143644"/>
          <a:ext cx="6188020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0" name="Equation" r:id="rId14" imgW="2832100" imgH="228600" progId="Equation.DSMT4">
                  <p:embed/>
                </p:oleObj>
              </mc:Choice>
              <mc:Fallback>
                <p:oleObj name="Equation" r:id="rId14" imgW="2832100" imgH="2286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6143644"/>
                        <a:ext cx="6188020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带余除法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217117"/>
              </p:ext>
            </p:extLst>
          </p:nvPr>
        </p:nvGraphicFramePr>
        <p:xfrm>
          <a:off x="927100" y="1492250"/>
          <a:ext cx="7504113" cy="337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文档" r:id="rId4" imgW="7732754" imgH="3472426" progId="Word.Document.12">
                  <p:embed/>
                </p:oleObj>
              </mc:Choice>
              <mc:Fallback>
                <p:oleObj name="文档" r:id="rId4" imgW="7732754" imgH="3472426" progId="Word.Document.12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492250"/>
                        <a:ext cx="7504113" cy="337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7224" y="5357826"/>
            <a:ext cx="6858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证明思路：</a:t>
            </a:r>
            <a:r>
              <a:rPr lang="zh-CN" altLang="en-US" sz="2800" b="1" dirty="0" smtClean="0"/>
              <a:t>需要证明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存在性和惟一性</a:t>
            </a:r>
            <a:r>
              <a:rPr lang="zh-CN" altLang="en-US" sz="2800" b="1" dirty="0" smtClean="0"/>
              <a:t>，注意利用条件</a:t>
            </a:r>
            <a:endParaRPr lang="zh-CN" altLang="en-US" sz="2800" b="1" dirty="0"/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2805673" y="5857892"/>
          <a:ext cx="2909335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2" name="Equation" r:id="rId6" imgW="1218671" imgH="203112" progId="Equation.DSMT4">
                  <p:embed/>
                </p:oleObj>
              </mc:Choice>
              <mc:Fallback>
                <p:oleObj name="Equation" r:id="rId6" imgW="1218671" imgH="20311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673" y="5857892"/>
                        <a:ext cx="2909335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带余除法的证明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00100" y="1357298"/>
          <a:ext cx="7532688" cy="524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0" name="文档" r:id="rId4" imgW="7551481" imgH="5241271" progId="Word.Document.12">
                  <p:embed/>
                </p:oleObj>
              </mc:Choice>
              <mc:Fallback>
                <p:oleObj name="文档" r:id="rId4" imgW="7551481" imgH="524127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1357298"/>
                        <a:ext cx="7532688" cy="5243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带余除法的证明（续）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24809"/>
              </p:ext>
            </p:extLst>
          </p:nvPr>
        </p:nvGraphicFramePr>
        <p:xfrm>
          <a:off x="1420813" y="1331913"/>
          <a:ext cx="7326312" cy="526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文档" r:id="rId4" imgW="7379992" imgH="5317454" progId="Word.Document.12">
                  <p:embed/>
                </p:oleObj>
              </mc:Choice>
              <mc:Fallback>
                <p:oleObj name="文档" r:id="rId4" imgW="7379992" imgH="531745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1331913"/>
                        <a:ext cx="7326312" cy="5267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带余除法的证明（续）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412188"/>
              </p:ext>
            </p:extLst>
          </p:nvPr>
        </p:nvGraphicFramePr>
        <p:xfrm>
          <a:off x="1073150" y="1322388"/>
          <a:ext cx="7275513" cy="529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文档" r:id="rId4" imgW="7329341" imgH="5347699" progId="Word.Document.12">
                  <p:embed/>
                </p:oleObj>
              </mc:Choice>
              <mc:Fallback>
                <p:oleObj name="文档" r:id="rId4" imgW="7329341" imgH="534769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1322388"/>
                        <a:ext cx="7275513" cy="5297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带余除法的证明（续）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28688" y="1292225"/>
          <a:ext cx="7605712" cy="510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文档" r:id="rId4" imgW="7747441" imgH="5155626" progId="Word.Document.12">
                  <p:embed/>
                </p:oleObj>
              </mc:Choice>
              <mc:Fallback>
                <p:oleObj name="文档" r:id="rId4" imgW="7747441" imgH="515562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292225"/>
                        <a:ext cx="7605712" cy="510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758811"/>
              </p:ext>
            </p:extLst>
          </p:nvPr>
        </p:nvGraphicFramePr>
        <p:xfrm>
          <a:off x="714348" y="785794"/>
          <a:ext cx="7710488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文档" r:id="rId4" imgW="7674559" imgH="2575912" progId="Word.Document.12">
                  <p:embed/>
                </p:oleObj>
              </mc:Choice>
              <mc:Fallback>
                <p:oleObj name="文档" r:id="rId4" imgW="7674559" imgH="257591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785794"/>
                        <a:ext cx="7710488" cy="2574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2071670" y="3143248"/>
          <a:ext cx="5422144" cy="235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Equation" r:id="rId6" imgW="2184400" imgH="952500" progId="Equation.DSMT4">
                  <p:embed/>
                </p:oleObj>
              </mc:Choice>
              <mc:Fallback>
                <p:oleObj name="Equation" r:id="rId6" imgW="2184400" imgH="9525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3143248"/>
                        <a:ext cx="5422144" cy="23574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714348" y="5572140"/>
          <a:ext cx="4143404" cy="55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8" imgW="1689100" imgH="228600" progId="Equation.DSMT4">
                  <p:embed/>
                </p:oleObj>
              </mc:Choice>
              <mc:Fallback>
                <p:oleObj name="Equation" r:id="rId8" imgW="16891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5572140"/>
                        <a:ext cx="4143404" cy="558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多项式整除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2441664"/>
              </p:ext>
            </p:extLst>
          </p:nvPr>
        </p:nvGraphicFramePr>
        <p:xfrm>
          <a:off x="895350" y="1412875"/>
          <a:ext cx="7643813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9" name="文档" r:id="rId4" imgW="7631093" imgH="2575912" progId="Word.Document.12">
                  <p:embed/>
                </p:oleObj>
              </mc:Choice>
              <mc:Fallback>
                <p:oleObj name="文档" r:id="rId4" imgW="7631093" imgH="257591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412875"/>
                        <a:ext cx="7643813" cy="2574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034" y="4071942"/>
            <a:ext cx="80010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0070C0"/>
                </a:solidFill>
              </a:rPr>
              <a:t>定理</a:t>
            </a:r>
            <a:r>
              <a:rPr lang="en-US" sz="2800" dirty="0" smtClean="0">
                <a:solidFill>
                  <a:srgbClr val="0070C0"/>
                </a:solidFill>
              </a:rPr>
              <a:t>6.1.3</a:t>
            </a:r>
            <a:r>
              <a:rPr lang="zh-CN" altLang="en-US" sz="2800" dirty="0" smtClean="0"/>
              <a:t>设  </a:t>
            </a:r>
            <a:r>
              <a:rPr lang="en-US" sz="2800" dirty="0" smtClean="0"/>
              <a:t>                         </a:t>
            </a:r>
            <a:r>
              <a:rPr lang="zh-CN" altLang="en-US" sz="2800" dirty="0" smtClean="0"/>
              <a:t>，</a:t>
            </a:r>
            <a:r>
              <a:rPr lang="en-US" sz="2800" dirty="0" smtClean="0"/>
              <a:t>            </a:t>
            </a:r>
            <a:r>
              <a:rPr lang="zh-CN" altLang="en-US" sz="2800" dirty="0" smtClean="0"/>
              <a:t>，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 smtClean="0"/>
              <a:t>整除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dirty="0" smtClean="0"/>
              <a:t>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 smtClean="0"/>
              <a:t>)</a:t>
            </a:r>
            <a:r>
              <a:rPr lang="zh-CN" altLang="en-US" sz="2800" dirty="0" smtClean="0"/>
              <a:t>的充要条件是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dirty="0" smtClean="0"/>
              <a:t>除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dirty="0" smtClean="0"/>
              <a:t>(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dirty="0" smtClean="0"/>
              <a:t>)</a:t>
            </a:r>
            <a:r>
              <a:rPr lang="zh-CN" altLang="en-US" sz="2800" dirty="0" smtClean="0"/>
              <a:t>的</a:t>
            </a:r>
            <a:r>
              <a:rPr lang="zh-CN" altLang="en-US" sz="2800" dirty="0" smtClean="0">
                <a:solidFill>
                  <a:srgbClr val="FF0000"/>
                </a:solidFill>
              </a:rPr>
              <a:t>余式为零</a:t>
            </a:r>
            <a:r>
              <a:rPr lang="zh-CN" altLang="en-US" sz="2800" dirty="0" smtClean="0"/>
              <a:t>。</a:t>
            </a:r>
          </a:p>
          <a:p>
            <a:endParaRPr lang="zh-CN" altLang="en-US" sz="2800" dirty="0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941802"/>
              </p:ext>
            </p:extLst>
          </p:nvPr>
        </p:nvGraphicFramePr>
        <p:xfrm>
          <a:off x="2483768" y="4112747"/>
          <a:ext cx="2357453" cy="447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0" name="Equation" r:id="rId6" imgW="1104900" imgH="203200" progId="Equation.DSMT4">
                  <p:embed/>
                </p:oleObj>
              </mc:Choice>
              <mc:Fallback>
                <p:oleObj name="Equation" r:id="rId6" imgW="11049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4112747"/>
                        <a:ext cx="2357453" cy="447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744158"/>
              </p:ext>
            </p:extLst>
          </p:nvPr>
        </p:nvGraphicFramePr>
        <p:xfrm>
          <a:off x="5082056" y="4153405"/>
          <a:ext cx="1071539" cy="406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1" name="Equation" r:id="rId8" imgW="558558" imgH="203112" progId="Equation.DSMT4">
                  <p:embed/>
                </p:oleObj>
              </mc:Choice>
              <mc:Fallback>
                <p:oleObj name="Equation" r:id="rId8" imgW="558558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056" y="4153405"/>
                        <a:ext cx="1071539" cy="406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多项式整除的性质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006257"/>
              </p:ext>
            </p:extLst>
          </p:nvPr>
        </p:nvGraphicFramePr>
        <p:xfrm>
          <a:off x="1003300" y="1301750"/>
          <a:ext cx="7216775" cy="557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4" name="文档" r:id="rId4" imgW="7370652" imgH="5548256" progId="Word.Document.12">
                  <p:embed/>
                </p:oleObj>
              </mc:Choice>
              <mc:Fallback>
                <p:oleObj name="文档" r:id="rId4" imgW="7370652" imgH="554825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301750"/>
                        <a:ext cx="7216775" cy="557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多项式整除的性质（续）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720" y="1357334"/>
          <a:ext cx="8639175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文档" r:id="rId4" imgW="8639544" imgH="5144111" progId="Word.Document.12">
                  <p:embed/>
                </p:oleObj>
              </mc:Choice>
              <mc:Fallback>
                <p:oleObj name="文档" r:id="rId4" imgW="8639544" imgH="514411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1357334"/>
                        <a:ext cx="8639175" cy="5143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 </a:t>
            </a:r>
            <a:r>
              <a:rPr lang="zh-CN" altLang="en-US" dirty="0" smtClean="0"/>
              <a:t>因式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285860"/>
            <a:ext cx="8229600" cy="3257560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定义</a:t>
            </a:r>
            <a:r>
              <a:rPr lang="en-US" b="1" dirty="0" smtClean="0">
                <a:solidFill>
                  <a:srgbClr val="0070C0"/>
                </a:solidFill>
              </a:rPr>
              <a:t>6.2.1 </a:t>
            </a:r>
            <a:r>
              <a:rPr lang="zh-CN" altLang="en-US" b="1" dirty="0" smtClean="0"/>
              <a:t>如果</a:t>
            </a:r>
            <a:r>
              <a:rPr lang="en-US" altLang="zh-CN" b="1" dirty="0" smtClean="0"/>
              <a:t>h(x)</a:t>
            </a:r>
            <a:r>
              <a:rPr lang="zh-CN" altLang="en-US" b="1" dirty="0" smtClean="0"/>
              <a:t>既是</a:t>
            </a:r>
            <a:r>
              <a:rPr lang="en-US" b="1" dirty="0" smtClean="0"/>
              <a:t>f(x)</a:t>
            </a:r>
            <a:r>
              <a:rPr lang="zh-CN" altLang="en-US" b="1" dirty="0" smtClean="0"/>
              <a:t>的因式，又是</a:t>
            </a:r>
            <a:r>
              <a:rPr lang="en-US" b="1" dirty="0" smtClean="0"/>
              <a:t>g(x)</a:t>
            </a:r>
            <a:r>
              <a:rPr lang="zh-CN" altLang="en-US" b="1" dirty="0" smtClean="0"/>
              <a:t>的因式，则称</a:t>
            </a:r>
            <a:r>
              <a:rPr lang="en-US" b="1" dirty="0" smtClean="0"/>
              <a:t>h(x)</a:t>
            </a:r>
            <a:r>
              <a:rPr lang="zh-CN" altLang="en-US" b="1" dirty="0" smtClean="0"/>
              <a:t>是</a:t>
            </a:r>
            <a:r>
              <a:rPr lang="en-US" b="1" dirty="0" smtClean="0"/>
              <a:t>f(x)</a:t>
            </a:r>
            <a:r>
              <a:rPr lang="zh-CN" altLang="en-US" b="1" dirty="0" smtClean="0"/>
              <a:t>和</a:t>
            </a:r>
            <a:r>
              <a:rPr lang="en-US" b="1" dirty="0" smtClean="0"/>
              <a:t>g(x)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FF0000"/>
                </a:solidFill>
              </a:rPr>
              <a:t>公因式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zh-CN" altLang="en-US" b="1" dirty="0" smtClean="0"/>
              <a:t>若</a:t>
            </a:r>
            <a:r>
              <a:rPr lang="en-US" b="1" dirty="0" smtClean="0"/>
              <a:t>f(x)</a:t>
            </a:r>
            <a:r>
              <a:rPr lang="zh-CN" altLang="en-US" b="1" dirty="0" smtClean="0"/>
              <a:t>和</a:t>
            </a:r>
            <a:r>
              <a:rPr lang="en-US" b="1" dirty="0" smtClean="0"/>
              <a:t>g(x)</a:t>
            </a:r>
            <a:r>
              <a:rPr lang="zh-CN" altLang="en-US" b="1" dirty="0" smtClean="0"/>
              <a:t>的公因式</a:t>
            </a:r>
            <a:r>
              <a:rPr lang="en-US" b="1" dirty="0" smtClean="0"/>
              <a:t>d(x)</a:t>
            </a:r>
            <a:r>
              <a:rPr lang="zh-CN" altLang="en-US" b="1" dirty="0" smtClean="0"/>
              <a:t>满足</a:t>
            </a:r>
            <a:r>
              <a:rPr lang="en-US" b="1" dirty="0" smtClean="0"/>
              <a:t>f(x)</a:t>
            </a:r>
            <a:r>
              <a:rPr lang="zh-CN" altLang="en-US" b="1" dirty="0" smtClean="0"/>
              <a:t>和</a:t>
            </a:r>
            <a:r>
              <a:rPr lang="en-US" b="1" dirty="0" smtClean="0"/>
              <a:t>g(x)</a:t>
            </a:r>
            <a:r>
              <a:rPr lang="zh-CN" altLang="en-US" b="1" dirty="0" smtClean="0"/>
              <a:t>的公因式都是</a:t>
            </a:r>
            <a:r>
              <a:rPr lang="en-US" b="1" dirty="0" smtClean="0"/>
              <a:t>d(x)</a:t>
            </a:r>
            <a:r>
              <a:rPr lang="zh-CN" altLang="en-US" b="1" dirty="0" smtClean="0"/>
              <a:t>的因式，则称</a:t>
            </a:r>
            <a:r>
              <a:rPr lang="en-US" b="1" dirty="0" smtClean="0"/>
              <a:t>d(x)</a:t>
            </a:r>
            <a:r>
              <a:rPr lang="zh-CN" altLang="en-US" b="1" dirty="0" smtClean="0"/>
              <a:t>是</a:t>
            </a:r>
            <a:r>
              <a:rPr lang="en-US" b="1" dirty="0" smtClean="0"/>
              <a:t>f(x)</a:t>
            </a:r>
            <a:r>
              <a:rPr lang="zh-CN" altLang="en-US" b="1" dirty="0" smtClean="0"/>
              <a:t>和</a:t>
            </a:r>
            <a:r>
              <a:rPr lang="en-US" b="1" dirty="0" smtClean="0"/>
              <a:t>g(x)</a:t>
            </a:r>
            <a:r>
              <a:rPr lang="zh-CN" altLang="en-US" b="1" dirty="0" smtClean="0"/>
              <a:t>的</a:t>
            </a:r>
            <a:r>
              <a:rPr lang="zh-CN" altLang="en-US" b="1" dirty="0"/>
              <a:t>一个</a:t>
            </a:r>
            <a:r>
              <a:rPr lang="zh-CN" altLang="en-US" b="1" dirty="0" smtClean="0">
                <a:solidFill>
                  <a:srgbClr val="FF0000"/>
                </a:solidFill>
              </a:rPr>
              <a:t>最大公因式</a:t>
            </a:r>
            <a:r>
              <a:rPr lang="zh-CN" altLang="en-US" b="1" dirty="0" smtClean="0"/>
              <a:t>。记首项系数为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的最大公因式为</a:t>
            </a:r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393165"/>
              </p:ext>
            </p:extLst>
          </p:nvPr>
        </p:nvGraphicFramePr>
        <p:xfrm>
          <a:off x="619125" y="4532313"/>
          <a:ext cx="7826375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文档" r:id="rId4" imgW="8021933" imgH="2376795" progId="Word.Document.12">
                  <p:embed/>
                </p:oleObj>
              </mc:Choice>
              <mc:Fallback>
                <p:oleObj name="文档" r:id="rId4" imgW="8021933" imgH="237679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4532313"/>
                        <a:ext cx="7826375" cy="2312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938028"/>
              </p:ext>
            </p:extLst>
          </p:nvPr>
        </p:nvGraphicFramePr>
        <p:xfrm>
          <a:off x="2483768" y="3933056"/>
          <a:ext cx="1872602" cy="44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Formula" r:id="rId6" imgW="734400" imgH="176760" progId="Equation.Ribbit">
                  <p:embed/>
                </p:oleObj>
              </mc:Choice>
              <mc:Fallback>
                <p:oleObj name="Formula" r:id="rId6" imgW="734400" imgH="1767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83768" y="3933056"/>
                        <a:ext cx="1872602" cy="448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最大公因式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99093"/>
              </p:ext>
            </p:extLst>
          </p:nvPr>
        </p:nvGraphicFramePr>
        <p:xfrm>
          <a:off x="646113" y="3648075"/>
          <a:ext cx="8150225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2" name="文档" r:id="rId4" imgW="8209451" imgH="2395879" progId="Word.Document.12">
                  <p:embed/>
                </p:oleObj>
              </mc:Choice>
              <mc:Fallback>
                <p:oleObj name="文档" r:id="rId4" imgW="8209451" imgH="2395879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3648075"/>
                        <a:ext cx="8150225" cy="236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931539"/>
              </p:ext>
            </p:extLst>
          </p:nvPr>
        </p:nvGraphicFramePr>
        <p:xfrm>
          <a:off x="808037" y="1484784"/>
          <a:ext cx="7826375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文档" r:id="rId7" imgW="8021933" imgH="2376795" progId="Word.Document.12">
                  <p:embed/>
                </p:oleObj>
              </mc:Choice>
              <mc:Fallback>
                <p:oleObj name="文档" r:id="rId7" imgW="8021933" imgH="2376795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" y="1484784"/>
                        <a:ext cx="7826375" cy="2312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6.2.1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28688" y="1257300"/>
          <a:ext cx="7939087" cy="539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name="文档" r:id="rId4" imgW="7938348" imgH="5394929" progId="Word.Document.12">
                  <p:embed/>
                </p:oleObj>
              </mc:Choice>
              <mc:Fallback>
                <p:oleObj name="文档" r:id="rId4" imgW="7938348" imgH="539492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257300"/>
                        <a:ext cx="7939087" cy="539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6.2.1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28688" y="1373211"/>
          <a:ext cx="7851775" cy="534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4" name="文档" r:id="rId4" imgW="7957475" imgH="5392050" progId="Word.Document.12">
                  <p:embed/>
                </p:oleObj>
              </mc:Choice>
              <mc:Fallback>
                <p:oleObj name="文档" r:id="rId4" imgW="7957475" imgH="539205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373211"/>
                        <a:ext cx="7851775" cy="5341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6.2.1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4348" y="1571637"/>
          <a:ext cx="7750175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8" name="文档" r:id="rId4" imgW="8028208" imgH="3658994" progId="Word.Document.12">
                  <p:embed/>
                </p:oleObj>
              </mc:Choice>
              <mc:Fallback>
                <p:oleObj name="文档" r:id="rId4" imgW="8028208" imgH="365899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1571637"/>
                        <a:ext cx="7750175" cy="357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2910" y="5429265"/>
            <a:ext cx="7500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定理中所使用的方法也称为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辗转相除法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34" y="500042"/>
            <a:ext cx="8286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6.2.1 </a:t>
            </a:r>
            <a:r>
              <a:rPr lang="zh-CN" altLang="en-US" sz="2800" b="1" dirty="0" smtClean="0"/>
              <a:t>求</a:t>
            </a:r>
            <a:r>
              <a:rPr lang="en-US" altLang="zh-CN" sz="2800" b="1" dirty="0" smtClean="0"/>
              <a:t>Z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[x]</a:t>
            </a:r>
            <a:r>
              <a:rPr lang="zh-CN" altLang="en-US" sz="2800" b="1" dirty="0" smtClean="0"/>
              <a:t>中的多项式             </a:t>
            </a:r>
            <a:r>
              <a:rPr lang="en-US" sz="2800" b="1" dirty="0" smtClean="0"/>
              <a:t>                     </a:t>
            </a:r>
            <a:r>
              <a:rPr lang="zh-CN" altLang="en-US" sz="2800" b="1" dirty="0" smtClean="0"/>
              <a:t>和</a:t>
            </a:r>
            <a:r>
              <a:rPr lang="en-US" sz="2800" b="1" dirty="0" smtClean="0"/>
              <a:t>       			</a:t>
            </a:r>
            <a:r>
              <a:rPr lang="zh-CN" altLang="en-US" sz="2800" b="1" dirty="0" smtClean="0"/>
              <a:t>的最大公因式，并将最大公因式表示成这两个多项式的组合。</a:t>
            </a:r>
            <a:endParaRPr lang="zh-CN" altLang="en-US" sz="2800" b="1" dirty="0"/>
          </a:p>
        </p:txBody>
      </p:sp>
      <p:graphicFrame>
        <p:nvGraphicFramePr>
          <p:cNvPr id="3993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000726"/>
              </p:ext>
            </p:extLst>
          </p:nvPr>
        </p:nvGraphicFramePr>
        <p:xfrm>
          <a:off x="4788024" y="513914"/>
          <a:ext cx="2883336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5" name="Equation" r:id="rId3" imgW="1409088" imgH="203112" progId="Equation.DSMT4">
                  <p:embed/>
                </p:oleObj>
              </mc:Choice>
              <mc:Fallback>
                <p:oleObj name="Equation" r:id="rId3" imgW="1409088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513914"/>
                        <a:ext cx="2883336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267935"/>
              </p:ext>
            </p:extLst>
          </p:nvPr>
        </p:nvGraphicFramePr>
        <p:xfrm>
          <a:off x="1331640" y="942518"/>
          <a:ext cx="2068356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6" name="Equation" r:id="rId5" imgW="863225" imgH="203112" progId="Equation.DSMT4">
                  <p:embed/>
                </p:oleObj>
              </mc:Choice>
              <mc:Fallback>
                <p:oleObj name="Equation" r:id="rId5" imgW="863225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942518"/>
                        <a:ext cx="2068356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142976" y="1928802"/>
          <a:ext cx="7113588" cy="369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name="文档" r:id="rId8" imgW="7113008" imgH="3699297" progId="Word.Document.12">
                  <p:embed/>
                </p:oleObj>
              </mc:Choice>
              <mc:Fallback>
                <p:oleObj name="文档" r:id="rId8" imgW="7113008" imgH="3699297" progId="Word.Document.12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1928802"/>
                        <a:ext cx="7113588" cy="369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63591"/>
              </p:ext>
            </p:extLst>
          </p:nvPr>
        </p:nvGraphicFramePr>
        <p:xfrm>
          <a:off x="755576" y="5671442"/>
          <a:ext cx="6294749" cy="5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r:id="rId10" imgW="2895600" imgH="228600" progId="Equation.DSMT4">
                  <p:embed/>
                </p:oleObj>
              </mc:Choice>
              <mc:Fallback>
                <p:oleObj r:id="rId10" imgW="2895600" imgH="228600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671442"/>
                        <a:ext cx="6294749" cy="515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 smtClean="0"/>
              <a:t>6.2.1</a:t>
            </a:r>
            <a:r>
              <a:rPr lang="zh-CN" altLang="en-US" dirty="0" smtClean="0"/>
              <a:t>（续）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2910" y="1571612"/>
            <a:ext cx="8072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为了将</a:t>
            </a:r>
            <a:r>
              <a:rPr lang="en-US" sz="2800" b="1" dirty="0" smtClean="0"/>
              <a:t>x+1</a:t>
            </a:r>
            <a:r>
              <a:rPr lang="zh-CN" altLang="en-US" sz="2800" b="1" dirty="0" smtClean="0"/>
              <a:t>表示成               </a:t>
            </a:r>
            <a:r>
              <a:rPr lang="en-US" sz="2800" b="1" dirty="0" smtClean="0"/>
              <a:t>                   </a:t>
            </a:r>
            <a:r>
              <a:rPr lang="zh-CN" altLang="en-US" sz="2800" b="1" dirty="0" smtClean="0"/>
              <a:t>和</a:t>
            </a:r>
            <a:r>
              <a:rPr lang="en-US" sz="2800" b="1" dirty="0" smtClean="0"/>
              <a:t>                 </a:t>
            </a:r>
            <a:r>
              <a:rPr lang="zh-CN" altLang="en-US" sz="2800" b="1" dirty="0" smtClean="0"/>
              <a:t>的组合，可将上述竖式写成横式：</a:t>
            </a: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3571868" y="1643050"/>
          <a:ext cx="2882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9" name="Equation" r:id="rId3" imgW="1409088" imgH="203112" progId="Equation.DSMT4">
                  <p:embed/>
                </p:oleObj>
              </mc:Choice>
              <mc:Fallback>
                <p:oleObj name="Equation" r:id="rId3" imgW="1409088" imgH="203112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1643050"/>
                        <a:ext cx="28829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870296"/>
              </p:ext>
            </p:extLst>
          </p:nvPr>
        </p:nvGraphicFramePr>
        <p:xfrm>
          <a:off x="6876256" y="1468937"/>
          <a:ext cx="20685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0" name="Equation" r:id="rId5" imgW="863225" imgH="203112" progId="Equation.DSMT4">
                  <p:embed/>
                </p:oleObj>
              </mc:Choice>
              <mc:Fallback>
                <p:oleObj name="Equation" r:id="rId5" imgW="863225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1468937"/>
                        <a:ext cx="206851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802442"/>
              </p:ext>
            </p:extLst>
          </p:nvPr>
        </p:nvGraphicFramePr>
        <p:xfrm>
          <a:off x="802310" y="2827049"/>
          <a:ext cx="7825099" cy="17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1" name="Equation" r:id="rId7" imgW="3390900" imgH="736600" progId="Equation.DSMT4">
                  <p:embed/>
                </p:oleObj>
              </mc:Choice>
              <mc:Fallback>
                <p:oleObj name="Equation" r:id="rId7" imgW="3390900" imgH="736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310" y="2827049"/>
                        <a:ext cx="7825099" cy="171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585749"/>
              </p:ext>
            </p:extLst>
          </p:nvPr>
        </p:nvGraphicFramePr>
        <p:xfrm>
          <a:off x="250017" y="4809693"/>
          <a:ext cx="8858280" cy="134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2" name="Equation" r:id="rId9" imgW="4876800" imgH="736600" progId="Equation.DSMT4">
                  <p:embed/>
                </p:oleObj>
              </mc:Choice>
              <mc:Fallback>
                <p:oleObj name="Equation" r:id="rId9" imgW="4876800" imgH="736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17" y="4809693"/>
                        <a:ext cx="8858280" cy="13468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多项式环中的欧几里得算法</a:t>
            </a:r>
            <a:endParaRPr lang="zh-CN" altLang="en-US" dirty="0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782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632219"/>
              </p:ext>
            </p:extLst>
          </p:nvPr>
        </p:nvGraphicFramePr>
        <p:xfrm>
          <a:off x="506413" y="1574800"/>
          <a:ext cx="7585075" cy="477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8" name="Picture" r:id="rId3" imgW="4328640" imgH="2720160" progId="Word.Picture.8">
                  <p:embed/>
                </p:oleObj>
              </mc:Choice>
              <mc:Fallback>
                <p:oleObj name="Picture" r:id="rId3" imgW="4328640" imgH="272016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1574800"/>
                        <a:ext cx="7585075" cy="477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813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884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551455"/>
              </p:ext>
            </p:extLst>
          </p:nvPr>
        </p:nvGraphicFramePr>
        <p:xfrm>
          <a:off x="357158" y="928670"/>
          <a:ext cx="8381787" cy="545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1" name="Picture" r:id="rId3" imgW="4328640" imgH="2809800" progId="Word.Picture.8">
                  <p:embed/>
                </p:oleObj>
              </mc:Choice>
              <mc:Fallback>
                <p:oleObj name="Picture" r:id="rId3" imgW="4328640" imgH="2809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928670"/>
                        <a:ext cx="8381787" cy="545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995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987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0865"/>
              </p:ext>
            </p:extLst>
          </p:nvPr>
        </p:nvGraphicFramePr>
        <p:xfrm>
          <a:off x="500034" y="1196752"/>
          <a:ext cx="8005399" cy="554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4" name="Picture" r:id="rId3" imgW="4328640" imgH="2990160" progId="Word.Picture.8">
                  <p:embed/>
                </p:oleObj>
              </mc:Choice>
              <mc:Fallback>
                <p:oleObj name="Picture" r:id="rId3" imgW="4328640" imgH="299016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196752"/>
                        <a:ext cx="8005399" cy="554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340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多项式互素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5858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定义</a:t>
            </a:r>
            <a:r>
              <a:rPr lang="en-US" b="1" dirty="0" smtClean="0">
                <a:solidFill>
                  <a:srgbClr val="0070C0"/>
                </a:solidFill>
              </a:rPr>
              <a:t>6.2.2 </a:t>
            </a:r>
            <a:r>
              <a:rPr lang="zh-CN" altLang="en-US" b="1" dirty="0" smtClean="0"/>
              <a:t>如果</a:t>
            </a:r>
            <a:r>
              <a:rPr lang="en-US" altLang="zh-CN" b="1" dirty="0" smtClean="0"/>
              <a:t>F[x]</a:t>
            </a:r>
            <a:r>
              <a:rPr lang="zh-CN" altLang="en-US" b="1" dirty="0" smtClean="0"/>
              <a:t>中的多项式</a:t>
            </a:r>
            <a:r>
              <a:rPr lang="en-US" b="1" dirty="0" smtClean="0"/>
              <a:t>f(x)</a:t>
            </a:r>
            <a:r>
              <a:rPr lang="zh-CN" altLang="en-US" b="1" dirty="0" smtClean="0"/>
              <a:t>和</a:t>
            </a:r>
            <a:r>
              <a:rPr lang="en-US" b="1" dirty="0" smtClean="0"/>
              <a:t>g(x)</a:t>
            </a:r>
            <a:r>
              <a:rPr lang="zh-CN" altLang="en-US" b="1" dirty="0" smtClean="0"/>
              <a:t>满足</a:t>
            </a:r>
            <a:r>
              <a:rPr lang="en-US" b="1" dirty="0" smtClean="0"/>
              <a:t>(f(x),g(x))=1</a:t>
            </a:r>
            <a:r>
              <a:rPr lang="zh-CN" altLang="en-US" b="1" dirty="0" smtClean="0"/>
              <a:t>，则称</a:t>
            </a:r>
            <a:r>
              <a:rPr lang="en-US" b="1" dirty="0" smtClean="0"/>
              <a:t>f(x)</a:t>
            </a:r>
            <a:r>
              <a:rPr lang="zh-CN" altLang="en-US" b="1" dirty="0" smtClean="0"/>
              <a:t>与</a:t>
            </a:r>
            <a:r>
              <a:rPr lang="en-US" b="1" dirty="0" smtClean="0"/>
              <a:t>g(x)</a:t>
            </a:r>
            <a:r>
              <a:rPr lang="zh-CN" altLang="en-US" b="1" dirty="0" smtClean="0">
                <a:solidFill>
                  <a:srgbClr val="FF0000"/>
                </a:solidFill>
              </a:rPr>
              <a:t>互素</a:t>
            </a:r>
            <a:r>
              <a:rPr lang="zh-CN" altLang="en-US" b="1" dirty="0" smtClean="0"/>
              <a:t>。</a:t>
            </a:r>
          </a:p>
          <a:p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57224" y="3286124"/>
            <a:ext cx="77867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定理</a:t>
            </a:r>
            <a:r>
              <a:rPr lang="en-US" sz="2800" b="1" dirty="0" smtClean="0">
                <a:solidFill>
                  <a:srgbClr val="0070C0"/>
                </a:solidFill>
              </a:rPr>
              <a:t>6.2.2  </a:t>
            </a:r>
            <a:r>
              <a:rPr lang="en-US" sz="2800" b="1" dirty="0" smtClean="0"/>
              <a:t>F[x]</a:t>
            </a:r>
            <a:r>
              <a:rPr lang="zh-CN" altLang="en-US" sz="2800" b="1" dirty="0" smtClean="0"/>
              <a:t>中的两个多项式</a:t>
            </a:r>
            <a:r>
              <a:rPr lang="en-US" sz="2800" b="1" dirty="0" smtClean="0"/>
              <a:t> f(x)</a:t>
            </a:r>
            <a:r>
              <a:rPr lang="zh-CN" altLang="en-US" sz="2800" b="1" dirty="0" smtClean="0"/>
              <a:t>和</a:t>
            </a:r>
            <a:r>
              <a:rPr lang="en-US" sz="2800" b="1" dirty="0" smtClean="0"/>
              <a:t>g(x)</a:t>
            </a:r>
            <a:r>
              <a:rPr lang="zh-CN" altLang="en-US" sz="2800" b="1" dirty="0" smtClean="0"/>
              <a:t>互素的充要条件是存在                    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，使得</a:t>
            </a:r>
          </a:p>
          <a:p>
            <a:endParaRPr lang="zh-CN" altLang="en-US" sz="2800" b="1" dirty="0" smtClean="0"/>
          </a:p>
          <a:p>
            <a:endParaRPr lang="zh-CN" altLang="en-US" sz="2800" b="1" dirty="0"/>
          </a:p>
        </p:txBody>
      </p:sp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8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403368"/>
              </p:ext>
            </p:extLst>
          </p:nvPr>
        </p:nvGraphicFramePr>
        <p:xfrm>
          <a:off x="3489125" y="3750483"/>
          <a:ext cx="2522939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name="Equation" r:id="rId3" imgW="1054100" imgH="203200" progId="Equation.DSMT4">
                  <p:embed/>
                </p:oleObj>
              </mc:Choice>
              <mc:Fallback>
                <p:oleObj name="Equation" r:id="rId3" imgW="10541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125" y="3750483"/>
                        <a:ext cx="2522939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428860" y="4714884"/>
          <a:ext cx="4052313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7" name="Equation" r:id="rId5" imgW="1485900" imgH="203200" progId="Equation.DSMT4">
                  <p:embed/>
                </p:oleObj>
              </mc:Choice>
              <mc:Fallback>
                <p:oleObj name="Equation" r:id="rId5" imgW="14859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4714884"/>
                        <a:ext cx="4052313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多项式互素的性质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784461"/>
              </p:ext>
            </p:extLst>
          </p:nvPr>
        </p:nvGraphicFramePr>
        <p:xfrm>
          <a:off x="755650" y="1600200"/>
          <a:ext cx="7772400" cy="400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4" name="文档" r:id="rId4" imgW="7825435" imgH="4047141" progId="Word.Document.12">
                  <p:embed/>
                </p:oleObj>
              </mc:Choice>
              <mc:Fallback>
                <p:oleObj name="文档" r:id="rId4" imgW="7825435" imgH="404714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600200"/>
                        <a:ext cx="7772400" cy="4005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不可约多项式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114684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定义</a:t>
            </a:r>
            <a:r>
              <a:rPr lang="en-US" b="1" dirty="0" smtClean="0">
                <a:solidFill>
                  <a:srgbClr val="0070C0"/>
                </a:solidFill>
              </a:rPr>
              <a:t>6.2.3 </a:t>
            </a:r>
            <a:r>
              <a:rPr lang="zh-CN" altLang="en-US" b="1" dirty="0" smtClean="0"/>
              <a:t>如果域</a:t>
            </a:r>
            <a:r>
              <a:rPr lang="en-US" altLang="zh-CN" b="1" dirty="0" smtClean="0"/>
              <a:t>F</a:t>
            </a:r>
            <a:r>
              <a:rPr lang="zh-CN" altLang="en-US" b="1" dirty="0" smtClean="0"/>
              <a:t>上的次数大于等于</a:t>
            </a:r>
            <a:r>
              <a:rPr lang="en-US" b="1" dirty="0" smtClean="0"/>
              <a:t>1</a:t>
            </a:r>
            <a:r>
              <a:rPr lang="zh-CN" altLang="en-US" b="1" dirty="0" smtClean="0"/>
              <a:t>的多项式</a:t>
            </a:r>
            <a:r>
              <a:rPr lang="en-US" b="1" dirty="0" smtClean="0"/>
              <a:t>p(x)</a:t>
            </a:r>
            <a:r>
              <a:rPr lang="zh-CN" altLang="en-US" b="1" dirty="0" smtClean="0">
                <a:solidFill>
                  <a:srgbClr val="FF0000"/>
                </a:solidFill>
              </a:rPr>
              <a:t>不能分解</a:t>
            </a:r>
            <a:r>
              <a:rPr lang="zh-CN" altLang="en-US" b="1" dirty="0" smtClean="0"/>
              <a:t>为域</a:t>
            </a:r>
            <a:r>
              <a:rPr lang="en-US" b="1" dirty="0" smtClean="0"/>
              <a:t>F</a:t>
            </a:r>
            <a:r>
              <a:rPr lang="zh-CN" altLang="en-US" b="1" dirty="0" smtClean="0"/>
              <a:t>上的两个次数比</a:t>
            </a:r>
            <a:r>
              <a:rPr lang="en-US" b="1" dirty="0" smtClean="0"/>
              <a:t>p(x)</a:t>
            </a:r>
            <a:r>
              <a:rPr lang="zh-CN" altLang="en-US" b="1" dirty="0" smtClean="0"/>
              <a:t>低的多项式的乘积，则称</a:t>
            </a:r>
            <a:r>
              <a:rPr lang="en-US" b="1" dirty="0" smtClean="0"/>
              <a:t>p(x)</a:t>
            </a:r>
            <a:r>
              <a:rPr lang="zh-CN" altLang="en-US" b="1" dirty="0" smtClean="0"/>
              <a:t>为域</a:t>
            </a:r>
            <a:r>
              <a:rPr lang="en-US" b="1" dirty="0" smtClean="0"/>
              <a:t>F</a:t>
            </a:r>
            <a:r>
              <a:rPr lang="zh-CN" altLang="en-US" b="1" dirty="0" smtClean="0"/>
              <a:t>上的</a:t>
            </a:r>
            <a:r>
              <a:rPr lang="zh-CN" altLang="en-US" b="1" dirty="0" smtClean="0">
                <a:solidFill>
                  <a:srgbClr val="FF0000"/>
                </a:solidFill>
              </a:rPr>
              <a:t>不可约多项式</a:t>
            </a:r>
            <a:r>
              <a:rPr lang="zh-CN" altLang="en-US" b="1" dirty="0" smtClean="0"/>
              <a:t>。换句话说，如果</a:t>
            </a:r>
            <a:r>
              <a:rPr lang="en-US" b="1" dirty="0" smtClean="0"/>
              <a:t>p(x)</a:t>
            </a:r>
            <a:r>
              <a:rPr lang="zh-CN" altLang="en-US" b="1" dirty="0" smtClean="0"/>
              <a:t>在</a:t>
            </a:r>
            <a:r>
              <a:rPr lang="en-US" b="1" dirty="0" smtClean="0"/>
              <a:t>F[x]</a:t>
            </a:r>
            <a:r>
              <a:rPr lang="zh-CN" altLang="en-US" b="1" dirty="0" smtClean="0"/>
              <a:t>中只有</a:t>
            </a:r>
            <a:r>
              <a:rPr lang="en-US" b="1" dirty="0" smtClean="0"/>
              <a:t>F</a:t>
            </a:r>
            <a:r>
              <a:rPr lang="zh-CN" altLang="en-US" b="1" dirty="0" smtClean="0"/>
              <a:t>中不等于</a:t>
            </a:r>
            <a:r>
              <a:rPr lang="en-US" b="1" dirty="0" smtClean="0"/>
              <a:t>0</a:t>
            </a:r>
            <a:r>
              <a:rPr lang="zh-CN" altLang="en-US" b="1" dirty="0" smtClean="0"/>
              <a:t>的元素</a:t>
            </a:r>
            <a:r>
              <a:rPr lang="en-US" altLang="zh-CN" b="1" dirty="0" smtClean="0"/>
              <a:t>c</a:t>
            </a:r>
            <a:r>
              <a:rPr lang="zh-CN" altLang="en-US" b="1" dirty="0" smtClean="0"/>
              <a:t>和</a:t>
            </a:r>
            <a:r>
              <a:rPr lang="en-US" b="1" dirty="0" smtClean="0"/>
              <a:t>cp(x)</a:t>
            </a:r>
            <a:r>
              <a:rPr lang="zh-CN" altLang="en-US" b="1" dirty="0" smtClean="0"/>
              <a:t>为因式，则称</a:t>
            </a:r>
            <a:r>
              <a:rPr lang="en-US" b="1" dirty="0" smtClean="0"/>
              <a:t>p(x)</a:t>
            </a:r>
            <a:r>
              <a:rPr lang="zh-CN" altLang="en-US" b="1" dirty="0" smtClean="0"/>
              <a:t>为域</a:t>
            </a:r>
            <a:r>
              <a:rPr lang="en-US" b="1" dirty="0" smtClean="0"/>
              <a:t> </a:t>
            </a:r>
            <a:r>
              <a:rPr lang="zh-CN" altLang="en-US" b="1" dirty="0" smtClean="0"/>
              <a:t>上的</a:t>
            </a:r>
            <a:r>
              <a:rPr lang="zh-CN" altLang="en-US" b="1" dirty="0" smtClean="0">
                <a:solidFill>
                  <a:srgbClr val="FF0000"/>
                </a:solidFill>
              </a:rPr>
              <a:t>不可约多项式</a:t>
            </a:r>
            <a:r>
              <a:rPr lang="zh-CN" altLang="en-US" b="1" dirty="0" smtClean="0"/>
              <a:t>。</a:t>
            </a:r>
          </a:p>
          <a:p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301546"/>
              </p:ext>
            </p:extLst>
          </p:nvPr>
        </p:nvGraphicFramePr>
        <p:xfrm>
          <a:off x="715963" y="4791075"/>
          <a:ext cx="7653337" cy="175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8" name="文档" r:id="rId4" imgW="7704375" imgH="1783407" progId="Word.Document.12">
                  <p:embed/>
                </p:oleObj>
              </mc:Choice>
              <mc:Fallback>
                <p:oleObj name="文档" r:id="rId4" imgW="7704375" imgH="178340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4791075"/>
                        <a:ext cx="7653337" cy="175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因式分解唯一性定理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730407"/>
              </p:ext>
            </p:extLst>
          </p:nvPr>
        </p:nvGraphicFramePr>
        <p:xfrm>
          <a:off x="536575" y="1908175"/>
          <a:ext cx="8439150" cy="438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2" name="文档" r:id="rId4" imgW="8496474" imgH="4423410" progId="Word.Document.12">
                  <p:embed/>
                </p:oleObj>
              </mc:Choice>
              <mc:Fallback>
                <p:oleObj name="文档" r:id="rId4" imgW="8496474" imgH="442341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1908175"/>
                        <a:ext cx="8439150" cy="438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标准分解式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33425" y="1738329"/>
          <a:ext cx="7837488" cy="411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6" name="文档" r:id="rId4" imgW="7837300" imgH="4120326" progId="Word.Document.12">
                  <p:embed/>
                </p:oleObj>
              </mc:Choice>
              <mc:Fallback>
                <p:oleObj name="文档" r:id="rId4" imgW="7837300" imgH="412032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1738329"/>
                        <a:ext cx="7837488" cy="411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重因式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569943"/>
              </p:ext>
            </p:extLst>
          </p:nvPr>
        </p:nvGraphicFramePr>
        <p:xfrm>
          <a:off x="1214414" y="2214554"/>
          <a:ext cx="6911975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0" name="文档" r:id="rId4" imgW="6902936" imgH="3170381" progId="Word.Document.12">
                  <p:embed/>
                </p:oleObj>
              </mc:Choice>
              <mc:Fallback>
                <p:oleObj name="文档" r:id="rId4" imgW="6902936" imgH="317038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2214554"/>
                        <a:ext cx="6911975" cy="316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形式微商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450679"/>
              </p:ext>
            </p:extLst>
          </p:nvPr>
        </p:nvGraphicFramePr>
        <p:xfrm>
          <a:off x="1143000" y="1639888"/>
          <a:ext cx="7394575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8" name="文档" r:id="rId4" imgW="7758978" imgH="1981443" progId="Word.Document.12">
                  <p:embed/>
                </p:oleObj>
              </mc:Choice>
              <mc:Fallback>
                <p:oleObj name="文档" r:id="rId4" imgW="7758978" imgH="198144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639888"/>
                        <a:ext cx="7394575" cy="187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500166" y="3571876"/>
          <a:ext cx="5918192" cy="235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9" name="Equation" r:id="rId6" imgW="2298700" imgH="914400" progId="Equation.DSMT4">
                  <p:embed/>
                </p:oleObj>
              </mc:Choice>
              <mc:Fallback>
                <p:oleObj name="Equation" r:id="rId6" imgW="2298700" imgH="914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3571876"/>
                        <a:ext cx="5918192" cy="23574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重因式的判定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224169"/>
              </p:ext>
            </p:extLst>
          </p:nvPr>
        </p:nvGraphicFramePr>
        <p:xfrm>
          <a:off x="1000100" y="1428736"/>
          <a:ext cx="7551738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2" name="文档" r:id="rId4" imgW="7540208" imgH="1386974" progId="Word.Document.12">
                  <p:embed/>
                </p:oleObj>
              </mc:Choice>
              <mc:Fallback>
                <p:oleObj name="文档" r:id="rId4" imgW="7540208" imgH="138697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1428736"/>
                        <a:ext cx="7551738" cy="1385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63663" y="2608286"/>
          <a:ext cx="6807200" cy="410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name="文档" r:id="rId7" imgW="6896478" imgH="4158831" progId="Word.Document.12">
                  <p:embed/>
                </p:oleObj>
              </mc:Choice>
              <mc:Fallback>
                <p:oleObj name="文档" r:id="rId7" imgW="6896478" imgH="4158831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663" y="2608286"/>
                        <a:ext cx="6807200" cy="410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重因式的判定（续）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95388" y="1711325"/>
          <a:ext cx="7335837" cy="447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文档" r:id="rId4" imgW="7336395" imgH="4472983" progId="Word.Document.12">
                  <p:embed/>
                </p:oleObj>
              </mc:Choice>
              <mc:Fallback>
                <p:oleObj name="文档" r:id="rId4" imgW="7336395" imgH="4472983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1711325"/>
                        <a:ext cx="7335837" cy="447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多项式的根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141290"/>
              </p:ext>
            </p:extLst>
          </p:nvPr>
        </p:nvGraphicFramePr>
        <p:xfrm>
          <a:off x="714348" y="1643050"/>
          <a:ext cx="8058150" cy="382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6" name="文档" r:id="rId4" imgW="8044205" imgH="3823540" progId="Word.Document.12">
                  <p:embed/>
                </p:oleObj>
              </mc:Choice>
              <mc:Fallback>
                <p:oleObj name="文档" r:id="rId4" imgW="8044205" imgH="382354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8" y="1643050"/>
                        <a:ext cx="8058150" cy="382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余元定理</a:t>
            </a:r>
            <a:r>
              <a:rPr lang="en-US" altLang="zh-CN" dirty="0" smtClean="0"/>
              <a:t>·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32363"/>
              </p:ext>
            </p:extLst>
          </p:nvPr>
        </p:nvGraphicFramePr>
        <p:xfrm>
          <a:off x="1282700" y="1500188"/>
          <a:ext cx="6877050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9" name="文档" r:id="rId4" imgW="6923771" imgH="1859380" progId="Word.Document.12">
                  <p:embed/>
                </p:oleObj>
              </mc:Choice>
              <mc:Fallback>
                <p:oleObj name="文档" r:id="rId4" imgW="6923771" imgH="185938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1500188"/>
                        <a:ext cx="6877050" cy="183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8662" y="3429000"/>
            <a:ext cx="7643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推论</a:t>
            </a:r>
            <a:r>
              <a:rPr lang="en-US" sz="2800" b="1" dirty="0" smtClean="0">
                <a:solidFill>
                  <a:srgbClr val="0070C0"/>
                </a:solidFill>
              </a:rPr>
              <a:t>6.2.1</a:t>
            </a:r>
            <a:r>
              <a:rPr lang="zh-CN" altLang="en-US" sz="2800" b="1" dirty="0" smtClean="0"/>
              <a:t>设         </a:t>
            </a:r>
            <a:r>
              <a:rPr lang="en-US" sz="2800" b="1" dirty="0" smtClean="0"/>
              <a:t>          </a:t>
            </a:r>
            <a:r>
              <a:rPr lang="zh-CN" altLang="en-US" sz="2800" b="1" dirty="0" smtClean="0"/>
              <a:t>，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，则</a:t>
            </a:r>
            <a:r>
              <a:rPr lang="en-US" sz="2800" b="1" dirty="0" smtClean="0"/>
              <a:t>    </a:t>
            </a:r>
            <a:r>
              <a:rPr lang="zh-CN" altLang="en-US" sz="2800" b="1" dirty="0" smtClean="0"/>
              <a:t>是    </a:t>
            </a:r>
            <a:r>
              <a:rPr lang="en-US" sz="2800" b="1" dirty="0" smtClean="0"/>
              <a:t>     </a:t>
            </a:r>
            <a:r>
              <a:rPr lang="zh-CN" altLang="en-US" sz="2800" b="1" dirty="0" smtClean="0"/>
              <a:t>的根的充要条件是  </a:t>
            </a:r>
            <a:r>
              <a:rPr lang="en-US" sz="2800" b="1" dirty="0" smtClean="0"/>
              <a:t>                      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897520"/>
              </p:ext>
            </p:extLst>
          </p:nvPr>
        </p:nvGraphicFramePr>
        <p:xfrm>
          <a:off x="2919152" y="3484640"/>
          <a:ext cx="157804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0" name="Equation" r:id="rId6" imgW="774364" imgH="203112" progId="Equation.DSMT4">
                  <p:embed/>
                </p:oleObj>
              </mc:Choice>
              <mc:Fallback>
                <p:oleObj name="Equation" r:id="rId6" imgW="774364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152" y="3484640"/>
                        <a:ext cx="157804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179986"/>
              </p:ext>
            </p:extLst>
          </p:nvPr>
        </p:nvGraphicFramePr>
        <p:xfrm>
          <a:off x="4768691" y="3532626"/>
          <a:ext cx="873072" cy="35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1" name="Equation" r:id="rId8" imgW="418918" imgH="177723" progId="Equation.DSMT4">
                  <p:embed/>
                </p:oleObj>
              </mc:Choice>
              <mc:Fallback>
                <p:oleObj name="Equation" r:id="rId8" imgW="418918" imgH="177723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691" y="3532626"/>
                        <a:ext cx="873072" cy="357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39593"/>
              </p:ext>
            </p:extLst>
          </p:nvPr>
        </p:nvGraphicFramePr>
        <p:xfrm>
          <a:off x="6293803" y="3532423"/>
          <a:ext cx="357190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2" name="Equation" r:id="rId10" imgW="152334" imgH="139639" progId="Equation.DSMT4">
                  <p:embed/>
                </p:oleObj>
              </mc:Choice>
              <mc:Fallback>
                <p:oleObj name="Equation" r:id="rId10" imgW="152334" imgH="139639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803" y="3532423"/>
                        <a:ext cx="357190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676094"/>
              </p:ext>
            </p:extLst>
          </p:nvPr>
        </p:nvGraphicFramePr>
        <p:xfrm>
          <a:off x="7087696" y="3477449"/>
          <a:ext cx="70135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3" name="Equation" r:id="rId12" imgW="342751" imgH="203112" progId="Equation.DSMT4">
                  <p:embed/>
                </p:oleObj>
              </mc:Choice>
              <mc:Fallback>
                <p:oleObj name="Equation" r:id="rId12" imgW="342751" imgH="203112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7696" y="3477449"/>
                        <a:ext cx="701352" cy="4286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2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575902"/>
              </p:ext>
            </p:extLst>
          </p:nvPr>
        </p:nvGraphicFramePr>
        <p:xfrm>
          <a:off x="3641405" y="3888830"/>
          <a:ext cx="2022897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4" name="Equation" r:id="rId14" imgW="850531" imgH="203112" progId="Equation.DSMT4">
                  <p:embed/>
                </p:oleObj>
              </mc:Choice>
              <mc:Fallback>
                <p:oleObj name="Equation" r:id="rId14" imgW="850531" imgH="203112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405" y="3888830"/>
                        <a:ext cx="2022897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81574"/>
              </p:ext>
            </p:extLst>
          </p:nvPr>
        </p:nvGraphicFramePr>
        <p:xfrm>
          <a:off x="1364846" y="4941168"/>
          <a:ext cx="6264696" cy="1156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5" name="文档" r:id="rId17" imgW="7036569" imgH="1338365" progId="Word.Document.12">
                  <p:embed/>
                </p:oleObj>
              </mc:Choice>
              <mc:Fallback>
                <p:oleObj name="文档" r:id="rId17" imgW="7036569" imgH="1338365" progId="Word.Document.12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846" y="4941168"/>
                        <a:ext cx="6264696" cy="11563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6.3 </a:t>
            </a:r>
            <a:r>
              <a:rPr lang="zh-CN" altLang="en-US" dirty="0" smtClean="0"/>
              <a:t>多项式同余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565"/>
              </p:ext>
            </p:extLst>
          </p:nvPr>
        </p:nvGraphicFramePr>
        <p:xfrm>
          <a:off x="785813" y="1639888"/>
          <a:ext cx="76930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文档" r:id="rId4" imgW="8181071" imgH="1224224" progId="Word.Document.12">
                  <p:embed/>
                </p:oleObj>
              </mc:Choice>
              <mc:Fallback>
                <p:oleObj name="文档" r:id="rId4" imgW="8181071" imgH="122422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639888"/>
                        <a:ext cx="769302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781443"/>
              </p:ext>
            </p:extLst>
          </p:nvPr>
        </p:nvGraphicFramePr>
        <p:xfrm>
          <a:off x="566738" y="2932113"/>
          <a:ext cx="8169275" cy="343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文档" r:id="rId7" imgW="8449415" imgH="3566813" progId="Word.Document.12">
                  <p:embed/>
                </p:oleObj>
              </mc:Choice>
              <mc:Fallback>
                <p:oleObj name="文档" r:id="rId7" imgW="8449415" imgH="356681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2932113"/>
                        <a:ext cx="8169275" cy="343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6.3.1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50875" y="1941513"/>
          <a:ext cx="8189913" cy="436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8" name="文档" r:id="rId4" imgW="8190605" imgH="4361069" progId="Word.Document.12">
                  <p:embed/>
                </p:oleObj>
              </mc:Choice>
              <mc:Fallback>
                <p:oleObj name="文档" r:id="rId4" imgW="8190605" imgH="436106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1941513"/>
                        <a:ext cx="8189913" cy="436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6.3.1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85786" y="1368448"/>
          <a:ext cx="7824788" cy="534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2" name="文档" r:id="rId4" imgW="7824670" imgH="5347068" progId="Word.Document.12">
                  <p:embed/>
                </p:oleObj>
              </mc:Choice>
              <mc:Fallback>
                <p:oleObj name="文档" r:id="rId4" imgW="7824670" imgH="534706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1368448"/>
                        <a:ext cx="7824788" cy="534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多项式同余的性质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98083"/>
              </p:ext>
            </p:extLst>
          </p:nvPr>
        </p:nvGraphicFramePr>
        <p:xfrm>
          <a:off x="428596" y="1785926"/>
          <a:ext cx="8393113" cy="439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6" name="文档" r:id="rId4" imgW="8376851" imgH="4398205" progId="Word.Document.12">
                  <p:embed/>
                </p:oleObj>
              </mc:Choice>
              <mc:Fallback>
                <p:oleObj name="文档" r:id="rId4" imgW="8376851" imgH="439820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1785926"/>
                        <a:ext cx="8393113" cy="439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多项式剩余类环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93713" y="1146175"/>
          <a:ext cx="8286750" cy="568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0" name="文档" r:id="rId4" imgW="8402444" imgH="5743267" progId="Word.Document.12">
                  <p:embed/>
                </p:oleObj>
              </mc:Choice>
              <mc:Fallback>
                <p:oleObj name="文档" r:id="rId4" imgW="8402444" imgH="574326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13" y="1146175"/>
                        <a:ext cx="8286750" cy="568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73825"/>
              </p:ext>
            </p:extLst>
          </p:nvPr>
        </p:nvGraphicFramePr>
        <p:xfrm>
          <a:off x="725488" y="1460500"/>
          <a:ext cx="761365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name="文档" r:id="rId4" imgW="7671326" imgH="1294077" progId="Word.Document.12">
                  <p:embed/>
                </p:oleObj>
              </mc:Choice>
              <mc:Fallback>
                <p:oleObj name="文档" r:id="rId4" imgW="7671326" imgH="129407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8" y="1460500"/>
                        <a:ext cx="7613650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1472" y="3071810"/>
          <a:ext cx="4000530" cy="2133600"/>
        </p:xfrm>
        <a:graphic>
          <a:graphicData uri="http://schemas.openxmlformats.org/drawingml/2006/table">
            <a:tbl>
              <a:tblPr/>
              <a:tblGrid>
                <a:gridCol w="800106"/>
                <a:gridCol w="800106"/>
                <a:gridCol w="800106"/>
                <a:gridCol w="800106"/>
                <a:gridCol w="800106"/>
              </a:tblGrid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+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 smtClean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3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+mn-ea"/>
                          <a:ea typeface="+mn-ea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+mn-ea"/>
                          <a:ea typeface="+mn-ea"/>
                          <a:cs typeface="Times New Roman"/>
                        </a:rPr>
                        <a:t>1</a:t>
                      </a:r>
                      <a:endParaRPr lang="zh-CN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+mn-ea"/>
                          <a:ea typeface="+mn-ea"/>
                          <a:cs typeface="Times New Roman"/>
                        </a:rPr>
                        <a:t>0</a:t>
                      </a:r>
                      <a:endParaRPr lang="zh-CN" sz="280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786314" y="3071810"/>
          <a:ext cx="4071967" cy="2143140"/>
        </p:xfrm>
        <a:graphic>
          <a:graphicData uri="http://schemas.openxmlformats.org/drawingml/2006/table">
            <a:tbl>
              <a:tblPr/>
              <a:tblGrid>
                <a:gridCol w="848821"/>
                <a:gridCol w="676683"/>
                <a:gridCol w="848821"/>
                <a:gridCol w="848821"/>
                <a:gridCol w="848821"/>
              </a:tblGrid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*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</a:t>
                      </a:r>
                      <a:endParaRPr lang="en-US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  <a:endParaRPr lang="en-US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00" dirty="0" smtClean="0">
                          <a:latin typeface="Calibri"/>
                          <a:ea typeface="宋体"/>
                          <a:cs typeface="Times New Roman"/>
                        </a:rPr>
                        <a:t>x+1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模多项式乘法逆元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6478"/>
            <a:ext cx="8435280" cy="104298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0070C0"/>
                </a:solidFill>
              </a:rPr>
              <a:t>定理</a:t>
            </a:r>
            <a:r>
              <a:rPr lang="en-US" b="1" dirty="0" smtClean="0">
                <a:solidFill>
                  <a:srgbClr val="0070C0"/>
                </a:solidFill>
              </a:rPr>
              <a:t>6.3.3</a:t>
            </a:r>
            <a:r>
              <a:rPr lang="zh-CN" altLang="en-US" dirty="0" smtClean="0"/>
              <a:t>设              </a:t>
            </a:r>
            <a:r>
              <a:rPr lang="en-US" dirty="0" smtClean="0"/>
              <a:t>             </a:t>
            </a:r>
            <a:r>
              <a:rPr lang="zh-CN" altLang="en-US" dirty="0" smtClean="0"/>
              <a:t>为非零多项式，    </a:t>
            </a:r>
            <a:r>
              <a:rPr lang="en-US" dirty="0" smtClean="0"/>
              <a:t> </a:t>
            </a:r>
            <a:r>
              <a:rPr lang="zh-CN" altLang="en-US" dirty="0" smtClean="0"/>
              <a:t>模</a:t>
            </a:r>
            <a:r>
              <a:rPr lang="en-US" dirty="0" smtClean="0"/>
              <a:t>       </a:t>
            </a:r>
            <a:r>
              <a:rPr lang="zh-CN" altLang="en-US" dirty="0" smtClean="0"/>
              <a:t>有乘法逆元当且仅当                 </a:t>
            </a:r>
            <a:r>
              <a:rPr lang="en-US" dirty="0" smtClean="0"/>
              <a:t>                  </a:t>
            </a:r>
            <a:r>
              <a:rPr lang="zh-CN" altLang="en-US" dirty="0" smtClean="0"/>
              <a:t>。</a:t>
            </a:r>
          </a:p>
        </p:txBody>
      </p:sp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39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175542"/>
              </p:ext>
            </p:extLst>
          </p:nvPr>
        </p:nvGraphicFramePr>
        <p:xfrm>
          <a:off x="2718724" y="1509070"/>
          <a:ext cx="225991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2" name="Equation" r:id="rId3" imgW="1104900" imgH="203200" progId="Equation.DSMT4">
                  <p:embed/>
                </p:oleObj>
              </mc:Choice>
              <mc:Fallback>
                <p:oleObj name="Equation" r:id="rId3" imgW="11049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724" y="1509070"/>
                        <a:ext cx="225991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006797"/>
              </p:ext>
            </p:extLst>
          </p:nvPr>
        </p:nvGraphicFramePr>
        <p:xfrm>
          <a:off x="7164288" y="1477973"/>
          <a:ext cx="681870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3" name="Equation" r:id="rId5" imgW="330057" imgH="203112" progId="Equation.DSMT4">
                  <p:embed/>
                </p:oleObj>
              </mc:Choice>
              <mc:Fallback>
                <p:oleObj name="Equation" r:id="rId5" imgW="330057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477973"/>
                        <a:ext cx="681870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86277"/>
              </p:ext>
            </p:extLst>
          </p:nvPr>
        </p:nvGraphicFramePr>
        <p:xfrm>
          <a:off x="106524" y="1981831"/>
          <a:ext cx="70135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4" name="Equation" r:id="rId7" imgW="342751" imgH="203112" progId="Equation.DSMT4">
                  <p:embed/>
                </p:oleObj>
              </mc:Choice>
              <mc:Fallback>
                <p:oleObj name="Equation" r:id="rId7" imgW="342751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4" y="1981831"/>
                        <a:ext cx="70135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9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652451"/>
              </p:ext>
            </p:extLst>
          </p:nvPr>
        </p:nvGraphicFramePr>
        <p:xfrm>
          <a:off x="4122596" y="1896405"/>
          <a:ext cx="2886606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5" name="Equation" r:id="rId9" imgW="1206500" imgH="203200" progId="Equation.DSMT4">
                  <p:embed/>
                </p:oleObj>
              </mc:Choice>
              <mc:Fallback>
                <p:oleObj name="Equation" r:id="rId9" imgW="1206500" imgH="203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596" y="1896405"/>
                        <a:ext cx="2886606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830123"/>
              </p:ext>
            </p:extLst>
          </p:nvPr>
        </p:nvGraphicFramePr>
        <p:xfrm>
          <a:off x="715963" y="2444750"/>
          <a:ext cx="7831137" cy="440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76" name="文档" r:id="rId12" imgW="8439357" imgH="4755751" progId="Word.Document.12">
                  <p:embed/>
                </p:oleObj>
              </mc:Choice>
              <mc:Fallback>
                <p:oleObj name="文档" r:id="rId12" imgW="8439357" imgH="4755751" progId="Word.Document.12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2444750"/>
                        <a:ext cx="7831137" cy="440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域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088631"/>
              </p:ext>
            </p:extLst>
          </p:nvPr>
        </p:nvGraphicFramePr>
        <p:xfrm>
          <a:off x="457200" y="1500188"/>
          <a:ext cx="84677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0" name="文档" r:id="rId4" imgW="8527368" imgH="594469" progId="Word.Document.12">
                  <p:embed/>
                </p:oleObj>
              </mc:Choice>
              <mc:Fallback>
                <p:oleObj name="文档" r:id="rId4" imgW="8527368" imgH="59446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00188"/>
                        <a:ext cx="8467725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3256509"/>
              </p:ext>
            </p:extLst>
          </p:nvPr>
        </p:nvGraphicFramePr>
        <p:xfrm>
          <a:off x="427038" y="2066925"/>
          <a:ext cx="8408987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1" name="文档" r:id="rId7" imgW="8358890" imgH="2207204" progId="Word.Document.12">
                  <p:embed/>
                </p:oleObj>
              </mc:Choice>
              <mc:Fallback>
                <p:oleObj name="文档" r:id="rId7" imgW="8358890" imgH="2207204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2066925"/>
                        <a:ext cx="8408987" cy="220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90471" y="4714884"/>
          <a:ext cx="9053529" cy="142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2" name="文档" r:id="rId10" imgW="10046267" imgH="1584436" progId="Word.Document.12">
                  <p:embed/>
                </p:oleObj>
              </mc:Choice>
              <mc:Fallback>
                <p:oleObj name="文档" r:id="rId10" imgW="10046267" imgH="1584436" progId="Word.Document.12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1" y="4714884"/>
                        <a:ext cx="9053529" cy="1428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6.4 </a:t>
            </a:r>
            <a:r>
              <a:rPr lang="zh-CN" altLang="en-US" dirty="0" smtClean="0"/>
              <a:t>多元多项式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89845"/>
              </p:ext>
            </p:extLst>
          </p:nvPr>
        </p:nvGraphicFramePr>
        <p:xfrm>
          <a:off x="427038" y="1431925"/>
          <a:ext cx="8339137" cy="522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6" name="文档" r:id="rId4" imgW="8515513" imgH="5350220" progId="Word.Document.12">
                  <p:embed/>
                </p:oleObj>
              </mc:Choice>
              <mc:Fallback>
                <p:oleObj name="文档" r:id="rId4" imgW="8515513" imgH="535022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1431925"/>
                        <a:ext cx="8339137" cy="522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多元多项式例子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14414" y="1825631"/>
          <a:ext cx="6845300" cy="246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0" name="文档" r:id="rId4" imgW="6845593" imgH="2460681" progId="Word.Document.12">
                  <p:embed/>
                </p:oleObj>
              </mc:Choice>
              <mc:Fallback>
                <p:oleObj name="文档" r:id="rId4" imgW="6845593" imgH="246068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1825631"/>
                        <a:ext cx="6845300" cy="246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多元多项式的加法与乘法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定义</a:t>
            </a:r>
            <a:r>
              <a:rPr lang="en-US" b="1" dirty="0" smtClean="0">
                <a:solidFill>
                  <a:srgbClr val="0070C0"/>
                </a:solidFill>
              </a:rPr>
              <a:t>6.4.2 </a:t>
            </a:r>
            <a:r>
              <a:rPr lang="zh-CN" altLang="en-US" b="1" dirty="0" smtClean="0"/>
              <a:t>在        </a:t>
            </a:r>
            <a:r>
              <a:rPr lang="en-US" b="1" dirty="0" smtClean="0"/>
              <a:t>               </a:t>
            </a:r>
            <a:r>
              <a:rPr lang="zh-CN" altLang="en-US" b="1" dirty="0" smtClean="0"/>
              <a:t>中定义加法与乘法如下</a:t>
            </a:r>
          </a:p>
          <a:p>
            <a:pPr lvl="1"/>
            <a:r>
              <a:rPr lang="zh-CN" altLang="en-US" b="1" dirty="0" smtClean="0"/>
              <a:t>（</a:t>
            </a:r>
            <a:r>
              <a:rPr lang="en-US" b="1" dirty="0" smtClean="0"/>
              <a:t>1</a:t>
            </a:r>
            <a:r>
              <a:rPr lang="zh-CN" altLang="en-US" b="1" dirty="0" smtClean="0"/>
              <a:t>）加法：同类项系数相加，即</a:t>
            </a:r>
            <a:endParaRPr lang="en-US" altLang="zh-CN" b="1" dirty="0" smtClean="0"/>
          </a:p>
          <a:p>
            <a:pPr lvl="1"/>
            <a:endParaRPr lang="en-US" altLang="zh-CN" b="1" dirty="0" smtClean="0"/>
          </a:p>
          <a:p>
            <a:pPr lvl="1"/>
            <a:r>
              <a:rPr lang="zh-CN" altLang="en-US" b="1" dirty="0" smtClean="0"/>
              <a:t>（</a:t>
            </a:r>
            <a:r>
              <a:rPr lang="en-US" b="1" dirty="0" smtClean="0"/>
              <a:t>2</a:t>
            </a:r>
            <a:r>
              <a:rPr lang="zh-CN" altLang="en-US" b="1" dirty="0" smtClean="0"/>
              <a:t>）乘法：</a:t>
            </a:r>
            <a:endParaRPr lang="en-US" altLang="zh-CN" b="1" dirty="0" smtClean="0"/>
          </a:p>
          <a:p>
            <a:pPr lvl="1"/>
            <a:endParaRPr lang="zh-CN" altLang="en-US" b="1" dirty="0" smtClean="0"/>
          </a:p>
          <a:p>
            <a:pPr lvl="1">
              <a:buNone/>
            </a:pPr>
            <a:r>
              <a:rPr lang="zh-CN" altLang="en-US" b="1" dirty="0" smtClean="0"/>
              <a:t>其中                                                   </a:t>
            </a:r>
            <a:r>
              <a:rPr lang="en-US" b="1" dirty="0" smtClean="0"/>
              <a:t>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89" name="Object 1"/>
          <p:cNvGraphicFramePr>
            <a:graphicFrameLocks noChangeAspect="1"/>
          </p:cNvGraphicFramePr>
          <p:nvPr/>
        </p:nvGraphicFramePr>
        <p:xfrm>
          <a:off x="3214678" y="1643050"/>
          <a:ext cx="2381167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8" name="Equation" r:id="rId3" imgW="952087" imgH="228501" progId="Equation.DSMT4">
                  <p:embed/>
                </p:oleObj>
              </mc:Choice>
              <mc:Fallback>
                <p:oleObj name="Equation" r:id="rId3" imgW="952087" imgH="228501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1643050"/>
                        <a:ext cx="2381167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214314" y="3135313"/>
          <a:ext cx="8786842" cy="650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9" name="Equation" r:id="rId5" imgW="4889500" imgH="368300" progId="Equation.DSMT4">
                  <p:embed/>
                </p:oleObj>
              </mc:Choice>
              <mc:Fallback>
                <p:oleObj name="Equation" r:id="rId5" imgW="4889500" imgH="3683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4" y="3135313"/>
                        <a:ext cx="8786842" cy="6508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357158" y="4143380"/>
          <a:ext cx="8544042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0" name="Equation" r:id="rId7" imgW="4813300" imgH="368300" progId="Equation.DSMT4">
                  <p:embed/>
                </p:oleObj>
              </mc:Choice>
              <mc:Fallback>
                <p:oleObj name="Equation" r:id="rId7" imgW="4813300" imgH="3683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4143380"/>
                        <a:ext cx="8544042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1785918" y="4857760"/>
          <a:ext cx="4483674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1" name="Equation" r:id="rId9" imgW="2527300" imgH="368300" progId="Equation.DSMT4">
                  <p:embed/>
                </p:oleObj>
              </mc:Choice>
              <mc:Fallback>
                <p:oleObj name="Equation" r:id="rId9" imgW="2527300" imgH="3683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8" y="4857760"/>
                        <a:ext cx="4483674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28794" y="5857892"/>
            <a:ext cx="71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在上述加法和乘法下构成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有单位元的交换环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7" name="Object 9"/>
          <p:cNvGraphicFramePr>
            <a:graphicFrameLocks noChangeAspect="1"/>
          </p:cNvGraphicFramePr>
          <p:nvPr/>
        </p:nvGraphicFramePr>
        <p:xfrm>
          <a:off x="0" y="5857892"/>
          <a:ext cx="2083508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2" name="Equation" r:id="rId11" imgW="952087" imgH="228501" progId="Equation.DSMT4">
                  <p:embed/>
                </p:oleObj>
              </mc:Choice>
              <mc:Fallback>
                <p:oleObj name="Equation" r:id="rId11" imgW="952087" imgH="228501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57892"/>
                        <a:ext cx="2083508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运算举例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42982"/>
          </a:xfrm>
        </p:spPr>
        <p:txBody>
          <a:bodyPr>
            <a:norm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>
                <a:solidFill>
                  <a:srgbClr val="0070C0"/>
                </a:solidFill>
              </a:rPr>
              <a:t>6.4.1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求有理数域上的多项式 </a:t>
            </a:r>
            <a:r>
              <a:rPr lang="en-US" sz="2800" b="1" dirty="0" smtClean="0"/>
              <a:t>                            </a:t>
            </a:r>
            <a:r>
              <a:rPr lang="zh-CN" altLang="en-US" sz="2800" b="1" dirty="0" smtClean="0"/>
              <a:t>与           </a:t>
            </a:r>
            <a:r>
              <a:rPr lang="en-US" sz="2800" b="1" dirty="0" smtClean="0"/>
              <a:t>                    </a:t>
            </a:r>
            <a:r>
              <a:rPr lang="zh-CN" altLang="en-US" sz="2800" b="1" dirty="0" smtClean="0"/>
              <a:t>的和与积。</a:t>
            </a:r>
            <a:endParaRPr lang="zh-CN" altLang="en-US" sz="2800" b="1" dirty="0"/>
          </a:p>
        </p:txBody>
      </p:sp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4513" name="Object 1"/>
          <p:cNvGraphicFramePr>
            <a:graphicFrameLocks noChangeAspect="1"/>
          </p:cNvGraphicFramePr>
          <p:nvPr/>
        </p:nvGraphicFramePr>
        <p:xfrm>
          <a:off x="5875894" y="1643050"/>
          <a:ext cx="3268106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2" name="Equation" r:id="rId3" imgW="1739900" imgH="228600" progId="Equation.DSMT4">
                  <p:embed/>
                </p:oleObj>
              </mc:Choice>
              <mc:Fallback>
                <p:oleObj name="Equation" r:id="rId3" imgW="173990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894" y="1643050"/>
                        <a:ext cx="3268106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1285852" y="2071678"/>
          <a:ext cx="2636585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3" name="Equation" r:id="rId5" imgW="1104900" imgH="203200" progId="Equation.DSMT4">
                  <p:embed/>
                </p:oleObj>
              </mc:Choice>
              <mc:Fallback>
                <p:oleObj name="Equation" r:id="rId5" imgW="11049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2071678"/>
                        <a:ext cx="2636585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1142976" y="2786058"/>
          <a:ext cx="6857904" cy="1142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4" name="Equation" r:id="rId7" imgW="2921000" imgH="482600" progId="Equation.DSMT4">
                  <p:embed/>
                </p:oleObj>
              </mc:Choice>
              <mc:Fallback>
                <p:oleObj name="Equation" r:id="rId7" imgW="2921000" imgH="482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2786058"/>
                        <a:ext cx="6857904" cy="11429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4519" name="Object 7"/>
          <p:cNvGraphicFramePr>
            <a:graphicFrameLocks noChangeAspect="1"/>
          </p:cNvGraphicFramePr>
          <p:nvPr/>
        </p:nvGraphicFramePr>
        <p:xfrm>
          <a:off x="285720" y="4357694"/>
          <a:ext cx="8706823" cy="100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5" name="Equation" r:id="rId9" imgW="4229100" imgH="482600" progId="Equation.DSMT4">
                  <p:embed/>
                </p:oleObj>
              </mc:Choice>
              <mc:Fallback>
                <p:oleObj name="Equation" r:id="rId9" imgW="4229100" imgH="4826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4357694"/>
                        <a:ext cx="8706823" cy="10001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多元多项式的除法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85792"/>
          </a:xfrm>
        </p:spPr>
        <p:txBody>
          <a:bodyPr/>
          <a:lstStyle/>
          <a:p>
            <a:r>
              <a:rPr lang="zh-CN" altLang="en-US" dirty="0" smtClean="0"/>
              <a:t>一些记号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42976" y="2428868"/>
          <a:ext cx="6965950" cy="285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文档" r:id="rId4" imgW="7338921" imgH="2977071" progId="Word.Document.12">
                  <p:embed/>
                </p:oleObj>
              </mc:Choice>
              <mc:Fallback>
                <p:oleObj name="文档" r:id="rId4" imgW="7338921" imgH="297707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2976" y="2428868"/>
                        <a:ext cx="6965950" cy="285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多元多项式的除法（续）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14354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全序和良序</a:t>
            </a:r>
            <a:endParaRPr lang="zh-CN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442191"/>
              </p:ext>
            </p:extLst>
          </p:nvPr>
        </p:nvGraphicFramePr>
        <p:xfrm>
          <a:off x="1003300" y="2643188"/>
          <a:ext cx="7445375" cy="330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6" name="文档" r:id="rId4" imgW="7802085" imgH="3475716" progId="Word.Document.12">
                  <p:embed/>
                </p:oleObj>
              </mc:Choice>
              <mc:Fallback>
                <p:oleObj name="文档" r:id="rId4" imgW="7802085" imgH="347571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2643188"/>
                        <a:ext cx="7445375" cy="330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多元多项式的除法（续）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14354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70C0"/>
                </a:solidFill>
              </a:rPr>
              <a:t>项序</a:t>
            </a:r>
            <a:endParaRPr lang="zh-CN" altLang="en-US" dirty="0">
              <a:solidFill>
                <a:srgbClr val="0070C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517398"/>
              </p:ext>
            </p:extLst>
          </p:nvPr>
        </p:nvGraphicFramePr>
        <p:xfrm>
          <a:off x="1003300" y="2643188"/>
          <a:ext cx="737552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0" name="文档" r:id="rId4" imgW="7843756" imgH="3473916" progId="Word.Document.12">
                  <p:embed/>
                </p:oleObj>
              </mc:Choice>
              <mc:Fallback>
                <p:oleObj name="文档" r:id="rId4" imgW="7843756" imgH="347391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2643188"/>
                        <a:ext cx="7375525" cy="326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常用的项序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64630"/>
              </p:ext>
            </p:extLst>
          </p:nvPr>
        </p:nvGraphicFramePr>
        <p:xfrm>
          <a:off x="288925" y="1052736"/>
          <a:ext cx="8526463" cy="576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4" name="文档" r:id="rId4" imgW="9062978" imgH="6142725" progId="Word.Document.12">
                  <p:embed/>
                </p:oleObj>
              </mc:Choice>
              <mc:Fallback>
                <p:oleObj name="文档" r:id="rId4" imgW="9062978" imgH="614272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052736"/>
                        <a:ext cx="8526463" cy="576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例</a:t>
            </a:r>
            <a:r>
              <a:rPr lang="en-US" b="1" dirty="0" smtClean="0">
                <a:solidFill>
                  <a:srgbClr val="0070C0"/>
                </a:solidFill>
              </a:rPr>
              <a:t>6.4.3</a:t>
            </a:r>
            <a:r>
              <a:rPr lang="zh-CN" altLang="en-US" dirty="0" smtClean="0"/>
              <a:t>设</a:t>
            </a:r>
            <a:r>
              <a:rPr lang="en-US" altLang="zh-CN" b="1" i="1" dirty="0" smtClean="0"/>
              <a:t>F</a:t>
            </a:r>
            <a:r>
              <a:rPr lang="zh-CN" altLang="en-US" dirty="0" smtClean="0"/>
              <a:t>是域，将</a:t>
            </a:r>
            <a:r>
              <a:rPr lang="en-US" dirty="0" smtClean="0"/>
              <a:t> </a:t>
            </a:r>
          </a:p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按照次数字典序进行重排列。</a:t>
            </a:r>
          </a:p>
          <a:p>
            <a:r>
              <a:rPr lang="zh-CN" altLang="en-US" b="1" dirty="0" smtClean="0"/>
              <a:t>解：</a:t>
            </a:r>
            <a:r>
              <a:rPr lang="en-US" dirty="0" smtClean="0"/>
              <a:t> </a:t>
            </a:r>
            <a:r>
              <a:rPr lang="zh-CN" altLang="en-US" dirty="0" smtClean="0"/>
              <a:t>按照次数字典序重排列为</a:t>
            </a:r>
          </a:p>
          <a:p>
            <a:endParaRPr lang="zh-CN" altLang="en-US" dirty="0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3" name="Object 1"/>
          <p:cNvGraphicFramePr>
            <a:graphicFrameLocks noChangeAspect="1"/>
          </p:cNvGraphicFramePr>
          <p:nvPr/>
        </p:nvGraphicFramePr>
        <p:xfrm>
          <a:off x="1071538" y="2143116"/>
          <a:ext cx="7445048" cy="984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2" name="Equation" r:id="rId3" imgW="3593880" imgH="482400" progId="Equation.DSMT4">
                  <p:embed/>
                </p:oleObj>
              </mc:Choice>
              <mc:Fallback>
                <p:oleObj name="Equation" r:id="rId3" imgW="3593880" imgH="4824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2143116"/>
                        <a:ext cx="7445048" cy="9842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214282" y="4786322"/>
          <a:ext cx="8772949" cy="85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3" name="Equation" r:id="rId5" imgW="4711700" imgH="457200" progId="Equation.DSMT4">
                  <p:embed/>
                </p:oleObj>
              </mc:Choice>
              <mc:Fallback>
                <p:oleObj name="Equation" r:id="rId5" imgW="471170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4786322"/>
                        <a:ext cx="8772949" cy="8572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一些定义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802813"/>
              </p:ext>
            </p:extLst>
          </p:nvPr>
        </p:nvGraphicFramePr>
        <p:xfrm>
          <a:off x="158750" y="1719263"/>
          <a:ext cx="8836025" cy="471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72" name="文档" r:id="rId4" imgW="8894859" imgH="4755751" progId="Word.Document.12">
                  <p:embed/>
                </p:oleObj>
              </mc:Choice>
              <mc:Fallback>
                <p:oleObj name="文档" r:id="rId4" imgW="8894859" imgH="4755751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1719263"/>
                        <a:ext cx="8836025" cy="471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约化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570490"/>
              </p:ext>
            </p:extLst>
          </p:nvPr>
        </p:nvGraphicFramePr>
        <p:xfrm>
          <a:off x="646113" y="1719263"/>
          <a:ext cx="7821612" cy="289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6" name="文档" r:id="rId4" imgW="8315423" imgH="3086845" progId="Word.Document.12">
                  <p:embed/>
                </p:oleObj>
              </mc:Choice>
              <mc:Fallback>
                <p:oleObj name="文档" r:id="rId4" imgW="8315423" imgH="308684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1719263"/>
                        <a:ext cx="7821612" cy="289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8596" y="4857760"/>
            <a:ext cx="82868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这个约化过程实际上就是将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en-US" sz="2800" b="1" dirty="0" smtClean="0"/>
              <a:t>中的一个项用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严格比它小</a:t>
            </a:r>
            <a:r>
              <a:rPr lang="zh-CN" altLang="en-US" sz="2800" b="1" dirty="0" smtClean="0"/>
              <a:t>的一些项的和来代替。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016001"/>
              </p:ext>
            </p:extLst>
          </p:nvPr>
        </p:nvGraphicFramePr>
        <p:xfrm>
          <a:off x="249238" y="219075"/>
          <a:ext cx="8645525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4" name="文档" r:id="rId4" imgW="9196611" imgH="2387957" progId="Word.Document.12">
                  <p:embed/>
                </p:oleObj>
              </mc:Choice>
              <mc:Fallback>
                <p:oleObj name="文档" r:id="rId4" imgW="9196611" imgH="238795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219075"/>
                        <a:ext cx="8645525" cy="223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7158" y="2500306"/>
            <a:ext cx="7429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</a:rPr>
              <a:t>解</a:t>
            </a:r>
            <a:r>
              <a:rPr lang="zh-CN" altLang="en-US" sz="2800" b="1" dirty="0" smtClean="0"/>
              <a:t>：由于                           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   </a:t>
            </a:r>
            <a:r>
              <a:rPr lang="en-US" sz="2800" b="1" dirty="0" smtClean="0"/>
              <a:t>           </a:t>
            </a:r>
            <a:r>
              <a:rPr lang="zh-CN" altLang="en-US" sz="2800" b="1" dirty="0" smtClean="0"/>
              <a:t>，所以</a:t>
            </a:r>
            <a:endParaRPr lang="zh-CN" altLang="en-US" sz="2800" b="1" dirty="0"/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1857356" y="2571744"/>
          <a:ext cx="3196851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5" name="Equation" r:id="rId6" imgW="1701800" imgH="228600" progId="Equation.DSMT4">
                  <p:embed/>
                </p:oleObj>
              </mc:Choice>
              <mc:Fallback>
                <p:oleObj name="Equation" r:id="rId6" imgW="17018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2571744"/>
                        <a:ext cx="3196851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5143504" y="2571744"/>
          <a:ext cx="148063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6" name="Equation" r:id="rId8" imgW="723586" imgH="203112" progId="Equation.DSMT4">
                  <p:embed/>
                </p:oleObj>
              </mc:Choice>
              <mc:Fallback>
                <p:oleObj name="Equation" r:id="rId8" imgW="723586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4" y="2571744"/>
                        <a:ext cx="148063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126175" y="3286124"/>
          <a:ext cx="8946419" cy="242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67" name="Equation" r:id="rId10" imgW="4203700" imgH="1143000" progId="Equation.DSMT4">
                  <p:embed/>
                </p:oleObj>
              </mc:Choice>
              <mc:Fallback>
                <p:oleObj name="Equation" r:id="rId10" imgW="4203700" imgH="11430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75" y="3286124"/>
                        <a:ext cx="8946419" cy="2428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模约化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693927"/>
              </p:ext>
            </p:extLst>
          </p:nvPr>
        </p:nvGraphicFramePr>
        <p:xfrm>
          <a:off x="923925" y="2008188"/>
          <a:ext cx="738505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4" name="文档" r:id="rId4" imgW="7536975" imgH="2754864" progId="Word.Document.12">
                  <p:embed/>
                </p:oleObj>
              </mc:Choice>
              <mc:Fallback>
                <p:oleObj name="文档" r:id="rId4" imgW="7536975" imgH="275486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2008188"/>
                        <a:ext cx="7385050" cy="269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既约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423008"/>
              </p:ext>
            </p:extLst>
          </p:nvPr>
        </p:nvGraphicFramePr>
        <p:xfrm>
          <a:off x="288925" y="1858963"/>
          <a:ext cx="8458200" cy="310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68" name="文档" r:id="rId4" imgW="8516591" imgH="3148417" progId="Word.Document.12">
                  <p:embed/>
                </p:oleObj>
              </mc:Choice>
              <mc:Fallback>
                <p:oleObj name="文档" r:id="rId4" imgW="8516591" imgH="314841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858963"/>
                        <a:ext cx="8458200" cy="310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域上的多元多项式除法算法</a:t>
            </a:r>
            <a:endParaRPr lang="zh-CN" altLang="en-US" dirty="0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459156"/>
              </p:ext>
            </p:extLst>
          </p:nvPr>
        </p:nvGraphicFramePr>
        <p:xfrm>
          <a:off x="571472" y="1428736"/>
          <a:ext cx="7843838" cy="526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1" name="Picture" r:id="rId3" imgW="4328640" imgH="2900160" progId="Word.Picture.8">
                  <p:embed/>
                </p:oleObj>
              </mc:Choice>
              <mc:Fallback>
                <p:oleObj name="Picture" r:id="rId3" imgW="4328640" imgH="290016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1428736"/>
                        <a:ext cx="7843838" cy="5265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域上的多元多项式除法（续）</a:t>
            </a:r>
            <a:endParaRPr lang="zh-CN" altLang="en-US" dirty="0"/>
          </a:p>
        </p:txBody>
      </p:sp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785786" y="1428736"/>
          <a:ext cx="6918491" cy="522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5" name="Picture" r:id="rId3" imgW="4328640" imgH="3260160" progId="Word.Picture.8">
                  <p:embed/>
                </p:oleObj>
              </mc:Choice>
              <mc:Fallback>
                <p:oleObj name="Picture" r:id="rId3" imgW="4328640" imgH="3260160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1428736"/>
                        <a:ext cx="6918491" cy="52213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292494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谢谢！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1677</TotalTime>
  <Words>797</Words>
  <Application>Microsoft Office PowerPoint</Application>
  <PresentationFormat>全屏显示(4:3)</PresentationFormat>
  <Paragraphs>152</Paragraphs>
  <Slides>67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67</vt:i4>
      </vt:variant>
    </vt:vector>
  </HeadingPairs>
  <TitlesOfParts>
    <vt:vector size="82" baseType="lpstr">
      <vt:lpstr>黑体</vt:lpstr>
      <vt:lpstr>宋体</vt:lpstr>
      <vt:lpstr>微软雅黑</vt:lpstr>
      <vt:lpstr>Arial</vt:lpstr>
      <vt:lpstr>Calibri</vt:lpstr>
      <vt:lpstr>Franklin Gothic Book</vt:lpstr>
      <vt:lpstr>Franklin Gothic Medium</vt:lpstr>
      <vt:lpstr>Times New Roman</vt:lpstr>
      <vt:lpstr>Wingdings 2</vt:lpstr>
      <vt:lpstr>暗香扑面</vt:lpstr>
      <vt:lpstr>文档</vt:lpstr>
      <vt:lpstr>Equation</vt:lpstr>
      <vt:lpstr>Formula</vt:lpstr>
      <vt:lpstr>Equation.DSMT4</vt:lpstr>
      <vt:lpstr>Picture</vt:lpstr>
      <vt:lpstr>第六章 多项式</vt:lpstr>
      <vt:lpstr>内容安排</vt:lpstr>
      <vt:lpstr>6.1 多项式相关概念</vt:lpstr>
      <vt:lpstr>概念（续）</vt:lpstr>
      <vt:lpstr>多项式的运算</vt:lpstr>
      <vt:lpstr>多项式的运算（续）</vt:lpstr>
      <vt:lpstr>多项式运算律</vt:lpstr>
      <vt:lpstr>多项式环</vt:lpstr>
      <vt:lpstr>多项式环（续）</vt:lpstr>
      <vt:lpstr>定理6.1.1证明（续）</vt:lpstr>
      <vt:lpstr>PowerPoint 演示文稿</vt:lpstr>
      <vt:lpstr>多项式除法</vt:lpstr>
      <vt:lpstr>带余除法</vt:lpstr>
      <vt:lpstr>带余除法的证明</vt:lpstr>
      <vt:lpstr>带余除法的证明（续）</vt:lpstr>
      <vt:lpstr>带余除法的证明（续）</vt:lpstr>
      <vt:lpstr>带余除法的证明（续）</vt:lpstr>
      <vt:lpstr>PowerPoint 演示文稿</vt:lpstr>
      <vt:lpstr>多项式整除</vt:lpstr>
      <vt:lpstr>多项式整除的性质</vt:lpstr>
      <vt:lpstr>多项式整除的性质（续）</vt:lpstr>
      <vt:lpstr>6.2 因式</vt:lpstr>
      <vt:lpstr>最大公因式</vt:lpstr>
      <vt:lpstr>定理6.2.1的证明</vt:lpstr>
      <vt:lpstr>定理6.2.1的证明（续）</vt:lpstr>
      <vt:lpstr>定理6.2.1的证明（续）</vt:lpstr>
      <vt:lpstr>PowerPoint 演示文稿</vt:lpstr>
      <vt:lpstr>例6.2.1（续）</vt:lpstr>
      <vt:lpstr>多项式环中的欧几里得算法</vt:lpstr>
      <vt:lpstr>PowerPoint 演示文稿</vt:lpstr>
      <vt:lpstr>PowerPoint 演示文稿</vt:lpstr>
      <vt:lpstr>多项式互素</vt:lpstr>
      <vt:lpstr>多项式互素的性质</vt:lpstr>
      <vt:lpstr>不可约多项式</vt:lpstr>
      <vt:lpstr>因式分解唯一性定理</vt:lpstr>
      <vt:lpstr>标准分解式</vt:lpstr>
      <vt:lpstr>重因式</vt:lpstr>
      <vt:lpstr>形式微商</vt:lpstr>
      <vt:lpstr>重因式的判定</vt:lpstr>
      <vt:lpstr>重因式的判定（续）</vt:lpstr>
      <vt:lpstr>多项式的根</vt:lpstr>
      <vt:lpstr>余元定理·</vt:lpstr>
      <vt:lpstr>6.3 多项式同余</vt:lpstr>
      <vt:lpstr>定理6.3.1的证明</vt:lpstr>
      <vt:lpstr>定理6.3.1的证明（续）</vt:lpstr>
      <vt:lpstr>多项式同余的性质</vt:lpstr>
      <vt:lpstr>多项式剩余类环</vt:lpstr>
      <vt:lpstr>例</vt:lpstr>
      <vt:lpstr>模多项式乘法逆元</vt:lpstr>
      <vt:lpstr>域</vt:lpstr>
      <vt:lpstr>6.4 多元多项式</vt:lpstr>
      <vt:lpstr>多元多项式例子</vt:lpstr>
      <vt:lpstr>多元多项式的加法与乘法</vt:lpstr>
      <vt:lpstr>运算举例</vt:lpstr>
      <vt:lpstr>多元多项式的除法</vt:lpstr>
      <vt:lpstr>多元多项式的除法（续）</vt:lpstr>
      <vt:lpstr>多元多项式的除法（续）</vt:lpstr>
      <vt:lpstr>常用的项序</vt:lpstr>
      <vt:lpstr>PowerPoint 演示文稿</vt:lpstr>
      <vt:lpstr>一些定义</vt:lpstr>
      <vt:lpstr>约化</vt:lpstr>
      <vt:lpstr>PowerPoint 演示文稿</vt:lpstr>
      <vt:lpstr>模约化</vt:lpstr>
      <vt:lpstr>既约</vt:lpstr>
      <vt:lpstr>域上的多元多项式除法算法</vt:lpstr>
      <vt:lpstr>域上的多元多项式除法（续）</vt:lpstr>
      <vt:lpstr>谢谢！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多项式</dc:title>
  <dc:creator>nxy7509</dc:creator>
  <cp:lastModifiedBy>聂 不再流浪</cp:lastModifiedBy>
  <cp:revision>86</cp:revision>
  <dcterms:created xsi:type="dcterms:W3CDTF">2013-10-01T07:34:12Z</dcterms:created>
  <dcterms:modified xsi:type="dcterms:W3CDTF">2020-04-28T08:31:20Z</dcterms:modified>
</cp:coreProperties>
</file>