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290" r:id="rId47"/>
    <p:sldId id="306" r:id="rId48"/>
    <p:sldId id="307" r:id="rId49"/>
    <p:sldId id="308" r:id="rId50"/>
    <p:sldId id="309" r:id="rId5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p:cViewPr varScale="1">
        <p:scale>
          <a:sx n="120" d="100"/>
          <a:sy n="120" d="100"/>
        </p:scale>
        <p:origin x="19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350577F3-21D6-45C6-38DB-74F1057B163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32F8C34-5521-3150-3F6A-47258E7E53D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F36177B-E9B8-A9AC-AA9A-421B37CE606D}"/>
              </a:ext>
            </a:extLst>
          </p:cNvPr>
          <p:cNvSpPr>
            <a:spLocks noGrp="1" noChangeArrowheads="1"/>
          </p:cNvSpPr>
          <p:nvPr>
            <p:ph type="sldNum" sz="quarter" idx="12"/>
          </p:nvPr>
        </p:nvSpPr>
        <p:spPr>
          <a:ln/>
        </p:spPr>
        <p:txBody>
          <a:bodyPr/>
          <a:lstStyle>
            <a:lvl1pPr>
              <a:defRPr/>
            </a:lvl1pPr>
          </a:lstStyle>
          <a:p>
            <a:fld id="{66BC91BF-11A8-934A-AC20-A8E523F63D60}" type="slidenum">
              <a:rPr lang="en-US" altLang="zh-CN"/>
              <a:pPr/>
              <a:t>‹#›</a:t>
            </a:fld>
            <a:endParaRPr lang="en-US" altLang="zh-CN"/>
          </a:p>
        </p:txBody>
      </p:sp>
    </p:spTree>
    <p:extLst>
      <p:ext uri="{BB962C8B-B14F-4D97-AF65-F5344CB8AC3E}">
        <p14:creationId xmlns:p14="http://schemas.microsoft.com/office/powerpoint/2010/main" val="4122243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6C5A62D-B514-FD4F-BAEC-DAE6CE3E333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7A321ED-E396-21CB-B5C8-C4F5A517BDC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24BA91D-2FED-8480-2427-A63425E63547}"/>
              </a:ext>
            </a:extLst>
          </p:cNvPr>
          <p:cNvSpPr>
            <a:spLocks noGrp="1" noChangeArrowheads="1"/>
          </p:cNvSpPr>
          <p:nvPr>
            <p:ph type="sldNum" sz="quarter" idx="12"/>
          </p:nvPr>
        </p:nvSpPr>
        <p:spPr>
          <a:ln/>
        </p:spPr>
        <p:txBody>
          <a:bodyPr/>
          <a:lstStyle>
            <a:lvl1pPr>
              <a:defRPr/>
            </a:lvl1pPr>
          </a:lstStyle>
          <a:p>
            <a:fld id="{3A5C08E2-D311-5946-8725-D3BF319FA1A0}" type="slidenum">
              <a:rPr lang="en-US" altLang="zh-CN"/>
              <a:pPr/>
              <a:t>‹#›</a:t>
            </a:fld>
            <a:endParaRPr lang="en-US" altLang="zh-CN"/>
          </a:p>
        </p:txBody>
      </p:sp>
    </p:spTree>
    <p:extLst>
      <p:ext uri="{BB962C8B-B14F-4D97-AF65-F5344CB8AC3E}">
        <p14:creationId xmlns:p14="http://schemas.microsoft.com/office/powerpoint/2010/main" val="2478222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37749046-2865-E51C-6D9B-84C9E247BD3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8F1F76D-686E-1B69-6315-94157121FA7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690E3A0-BE13-2B50-6A14-284210671789}"/>
              </a:ext>
            </a:extLst>
          </p:cNvPr>
          <p:cNvSpPr>
            <a:spLocks noGrp="1" noChangeArrowheads="1"/>
          </p:cNvSpPr>
          <p:nvPr>
            <p:ph type="sldNum" sz="quarter" idx="12"/>
          </p:nvPr>
        </p:nvSpPr>
        <p:spPr>
          <a:ln/>
        </p:spPr>
        <p:txBody>
          <a:bodyPr/>
          <a:lstStyle>
            <a:lvl1pPr>
              <a:defRPr/>
            </a:lvl1pPr>
          </a:lstStyle>
          <a:p>
            <a:fld id="{538FEB10-0A73-AE4C-8331-496F50266B89}" type="slidenum">
              <a:rPr lang="en-US" altLang="zh-CN"/>
              <a:pPr/>
              <a:t>‹#›</a:t>
            </a:fld>
            <a:endParaRPr lang="en-US" altLang="zh-CN"/>
          </a:p>
        </p:txBody>
      </p:sp>
    </p:spTree>
    <p:extLst>
      <p:ext uri="{BB962C8B-B14F-4D97-AF65-F5344CB8AC3E}">
        <p14:creationId xmlns:p14="http://schemas.microsoft.com/office/powerpoint/2010/main" val="3446531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2CF4638A-D2E2-0D6F-B157-FF7C80BF18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84C363C-F41B-3C7A-C91E-4BDEBF26487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18347AB-70CA-2C1A-B9A5-B3165678A807}"/>
              </a:ext>
            </a:extLst>
          </p:cNvPr>
          <p:cNvSpPr>
            <a:spLocks noGrp="1" noChangeArrowheads="1"/>
          </p:cNvSpPr>
          <p:nvPr>
            <p:ph type="sldNum" sz="quarter" idx="12"/>
          </p:nvPr>
        </p:nvSpPr>
        <p:spPr>
          <a:ln/>
        </p:spPr>
        <p:txBody>
          <a:bodyPr/>
          <a:lstStyle>
            <a:lvl1pPr>
              <a:defRPr/>
            </a:lvl1pPr>
          </a:lstStyle>
          <a:p>
            <a:fld id="{CD647784-6916-6D40-9ABA-86A7BE47397A}" type="slidenum">
              <a:rPr lang="en-US" altLang="zh-CN"/>
              <a:pPr/>
              <a:t>‹#›</a:t>
            </a:fld>
            <a:endParaRPr lang="en-US" altLang="zh-CN"/>
          </a:p>
        </p:txBody>
      </p:sp>
    </p:spTree>
    <p:extLst>
      <p:ext uri="{BB962C8B-B14F-4D97-AF65-F5344CB8AC3E}">
        <p14:creationId xmlns:p14="http://schemas.microsoft.com/office/powerpoint/2010/main" val="1224083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55991ED-CA1A-1F4E-1452-3CE405EB7D9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B6919859-382D-E150-2F5F-3A51154C104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6CB6638E-79C7-DA4B-1C71-47FCF8332A20}"/>
              </a:ext>
            </a:extLst>
          </p:cNvPr>
          <p:cNvSpPr>
            <a:spLocks noGrp="1" noChangeArrowheads="1"/>
          </p:cNvSpPr>
          <p:nvPr>
            <p:ph type="sldNum" sz="quarter" idx="12"/>
          </p:nvPr>
        </p:nvSpPr>
        <p:spPr>
          <a:ln/>
        </p:spPr>
        <p:txBody>
          <a:bodyPr/>
          <a:lstStyle>
            <a:lvl1pPr>
              <a:defRPr/>
            </a:lvl1pPr>
          </a:lstStyle>
          <a:p>
            <a:fld id="{93D1510D-94B6-B64A-8716-EFE4969A2D0D}" type="slidenum">
              <a:rPr lang="en-US" altLang="zh-CN"/>
              <a:pPr/>
              <a:t>‹#›</a:t>
            </a:fld>
            <a:endParaRPr lang="en-US" altLang="zh-CN"/>
          </a:p>
        </p:txBody>
      </p:sp>
    </p:spTree>
    <p:extLst>
      <p:ext uri="{BB962C8B-B14F-4D97-AF65-F5344CB8AC3E}">
        <p14:creationId xmlns:p14="http://schemas.microsoft.com/office/powerpoint/2010/main" val="1703993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098C364D-3A75-599D-9043-1BCFAC82996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440D0C48-E587-3C6D-93B5-6BF09E8A46E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1AB981B-20D2-5D63-4DB8-3451C23C1CD0}"/>
              </a:ext>
            </a:extLst>
          </p:cNvPr>
          <p:cNvSpPr>
            <a:spLocks noGrp="1" noChangeArrowheads="1"/>
          </p:cNvSpPr>
          <p:nvPr>
            <p:ph type="sldNum" sz="quarter" idx="12"/>
          </p:nvPr>
        </p:nvSpPr>
        <p:spPr>
          <a:ln/>
        </p:spPr>
        <p:txBody>
          <a:bodyPr/>
          <a:lstStyle>
            <a:lvl1pPr>
              <a:defRPr/>
            </a:lvl1pPr>
          </a:lstStyle>
          <a:p>
            <a:fld id="{5D8B8B11-5465-6641-8477-C54FDBE77AEC}" type="slidenum">
              <a:rPr lang="en-US" altLang="zh-CN"/>
              <a:pPr/>
              <a:t>‹#›</a:t>
            </a:fld>
            <a:endParaRPr lang="en-US" altLang="zh-CN"/>
          </a:p>
        </p:txBody>
      </p:sp>
    </p:spTree>
    <p:extLst>
      <p:ext uri="{BB962C8B-B14F-4D97-AF65-F5344CB8AC3E}">
        <p14:creationId xmlns:p14="http://schemas.microsoft.com/office/powerpoint/2010/main" val="3036599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576CDE0-763E-40D1-4FAD-5FCA53A9226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A88CACAB-13E9-F6E0-5028-0A3E31077DD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18B9E20E-6807-BFEF-0FA6-0F88967347D2}"/>
              </a:ext>
            </a:extLst>
          </p:cNvPr>
          <p:cNvSpPr>
            <a:spLocks noGrp="1" noChangeArrowheads="1"/>
          </p:cNvSpPr>
          <p:nvPr>
            <p:ph type="sldNum" sz="quarter" idx="12"/>
          </p:nvPr>
        </p:nvSpPr>
        <p:spPr>
          <a:ln/>
        </p:spPr>
        <p:txBody>
          <a:bodyPr/>
          <a:lstStyle>
            <a:lvl1pPr>
              <a:defRPr/>
            </a:lvl1pPr>
          </a:lstStyle>
          <a:p>
            <a:fld id="{E9338327-372F-7446-B558-3EA28F35BB48}" type="slidenum">
              <a:rPr lang="en-US" altLang="zh-CN"/>
              <a:pPr/>
              <a:t>‹#›</a:t>
            </a:fld>
            <a:endParaRPr lang="en-US" altLang="zh-CN"/>
          </a:p>
        </p:txBody>
      </p:sp>
    </p:spTree>
    <p:extLst>
      <p:ext uri="{BB962C8B-B14F-4D97-AF65-F5344CB8AC3E}">
        <p14:creationId xmlns:p14="http://schemas.microsoft.com/office/powerpoint/2010/main" val="3073308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0F570233-BC63-5625-E023-BD91154829A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96CE4BA-C55E-DED5-3E4A-AFDEA2255D3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322945F-A405-AC8B-0B71-08D89E4F45E8}"/>
              </a:ext>
            </a:extLst>
          </p:cNvPr>
          <p:cNvSpPr>
            <a:spLocks noGrp="1" noChangeArrowheads="1"/>
          </p:cNvSpPr>
          <p:nvPr>
            <p:ph type="sldNum" sz="quarter" idx="12"/>
          </p:nvPr>
        </p:nvSpPr>
        <p:spPr>
          <a:ln/>
        </p:spPr>
        <p:txBody>
          <a:bodyPr/>
          <a:lstStyle>
            <a:lvl1pPr>
              <a:defRPr/>
            </a:lvl1pPr>
          </a:lstStyle>
          <a:p>
            <a:fld id="{5F6D5767-0ECC-8740-83F0-EE71E0607A3F}" type="slidenum">
              <a:rPr lang="en-US" altLang="zh-CN"/>
              <a:pPr/>
              <a:t>‹#›</a:t>
            </a:fld>
            <a:endParaRPr lang="en-US" altLang="zh-CN"/>
          </a:p>
        </p:txBody>
      </p:sp>
    </p:spTree>
    <p:extLst>
      <p:ext uri="{BB962C8B-B14F-4D97-AF65-F5344CB8AC3E}">
        <p14:creationId xmlns:p14="http://schemas.microsoft.com/office/powerpoint/2010/main" val="3691306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456CA642-6184-2354-15B6-BCEF1FD9478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36710F3-00DC-EC28-38FD-0465569BA93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03D171E-05E0-A0B2-86AB-5EBF6C7D347A}"/>
              </a:ext>
            </a:extLst>
          </p:cNvPr>
          <p:cNvSpPr>
            <a:spLocks noGrp="1" noChangeArrowheads="1"/>
          </p:cNvSpPr>
          <p:nvPr>
            <p:ph type="sldNum" sz="quarter" idx="12"/>
          </p:nvPr>
        </p:nvSpPr>
        <p:spPr>
          <a:ln/>
        </p:spPr>
        <p:txBody>
          <a:bodyPr/>
          <a:lstStyle>
            <a:lvl1pPr>
              <a:defRPr/>
            </a:lvl1pPr>
          </a:lstStyle>
          <a:p>
            <a:fld id="{AE4580CE-BA70-6C4A-8819-661149DBF353}" type="slidenum">
              <a:rPr lang="en-US" altLang="zh-CN"/>
              <a:pPr/>
              <a:t>‹#›</a:t>
            </a:fld>
            <a:endParaRPr lang="en-US" altLang="zh-CN"/>
          </a:p>
        </p:txBody>
      </p:sp>
    </p:spTree>
    <p:extLst>
      <p:ext uri="{BB962C8B-B14F-4D97-AF65-F5344CB8AC3E}">
        <p14:creationId xmlns:p14="http://schemas.microsoft.com/office/powerpoint/2010/main" val="483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C0ED619F-0D9B-E1BD-1A92-EAECB637A18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3E18E675-C5DA-6BF2-5C02-68F5FDA2B2E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F6A986F5-CC70-7353-B5DF-DB58D8D06033}"/>
              </a:ext>
            </a:extLst>
          </p:cNvPr>
          <p:cNvSpPr>
            <a:spLocks noGrp="1" noChangeArrowheads="1"/>
          </p:cNvSpPr>
          <p:nvPr>
            <p:ph type="sldNum" sz="quarter" idx="12"/>
          </p:nvPr>
        </p:nvSpPr>
        <p:spPr>
          <a:ln/>
        </p:spPr>
        <p:txBody>
          <a:bodyPr/>
          <a:lstStyle>
            <a:lvl1pPr>
              <a:defRPr/>
            </a:lvl1pPr>
          </a:lstStyle>
          <a:p>
            <a:fld id="{50158659-C55D-DB4A-AFAD-52E143EDA0D5}" type="slidenum">
              <a:rPr lang="en-US" altLang="zh-CN"/>
              <a:pPr/>
              <a:t>‹#›</a:t>
            </a:fld>
            <a:endParaRPr lang="en-US" altLang="zh-CN"/>
          </a:p>
        </p:txBody>
      </p:sp>
    </p:spTree>
    <p:extLst>
      <p:ext uri="{BB962C8B-B14F-4D97-AF65-F5344CB8AC3E}">
        <p14:creationId xmlns:p14="http://schemas.microsoft.com/office/powerpoint/2010/main" val="333849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0F58A486-3953-8919-DE0F-105A1280E44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B668837-567B-BF5C-CC23-DD6B3B4EF0C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4B540FC-539E-102D-56A7-AB74FDC025D2}"/>
              </a:ext>
            </a:extLst>
          </p:cNvPr>
          <p:cNvSpPr>
            <a:spLocks noGrp="1" noChangeArrowheads="1"/>
          </p:cNvSpPr>
          <p:nvPr>
            <p:ph type="sldNum" sz="quarter" idx="12"/>
          </p:nvPr>
        </p:nvSpPr>
        <p:spPr>
          <a:ln/>
        </p:spPr>
        <p:txBody>
          <a:bodyPr/>
          <a:lstStyle>
            <a:lvl1pPr>
              <a:defRPr/>
            </a:lvl1pPr>
          </a:lstStyle>
          <a:p>
            <a:fld id="{A957D095-FFA9-F545-8DAF-EEC51AA62927}" type="slidenum">
              <a:rPr lang="en-US" altLang="zh-CN"/>
              <a:pPr/>
              <a:t>‹#›</a:t>
            </a:fld>
            <a:endParaRPr lang="en-US" altLang="zh-CN"/>
          </a:p>
        </p:txBody>
      </p:sp>
    </p:spTree>
    <p:extLst>
      <p:ext uri="{BB962C8B-B14F-4D97-AF65-F5344CB8AC3E}">
        <p14:creationId xmlns:p14="http://schemas.microsoft.com/office/powerpoint/2010/main" val="1606849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8B3FC8F-B563-0AC2-B284-3A246AFE85E0}"/>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C9851A92-6C09-97DE-B789-0EE747D0B0CC}"/>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B80F02CC-7106-E684-30B3-9A84DE193002}"/>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smtClean="0"/>
            </a:lvl1pPr>
          </a:lstStyle>
          <a:p>
            <a:pPr>
              <a:defRPr/>
            </a:pPr>
            <a:endParaRPr lang="en-US" altLang="zh-CN"/>
          </a:p>
        </p:txBody>
      </p:sp>
      <p:sp>
        <p:nvSpPr>
          <p:cNvPr id="1029" name="Rectangle 5">
            <a:extLst>
              <a:ext uri="{FF2B5EF4-FFF2-40B4-BE49-F238E27FC236}">
                <a16:creationId xmlns:a16="http://schemas.microsoft.com/office/drawing/2014/main" id="{CEDA69CD-C5FB-6B07-CB67-190458A00DA6}"/>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smtClean="0"/>
            </a:lvl1pPr>
          </a:lstStyle>
          <a:p>
            <a:pPr>
              <a:defRPr/>
            </a:pPr>
            <a:endParaRPr lang="en-US" altLang="zh-CN"/>
          </a:p>
        </p:txBody>
      </p:sp>
      <p:sp>
        <p:nvSpPr>
          <p:cNvPr id="1030" name="Rectangle 6">
            <a:extLst>
              <a:ext uri="{FF2B5EF4-FFF2-40B4-BE49-F238E27FC236}">
                <a16:creationId xmlns:a16="http://schemas.microsoft.com/office/drawing/2014/main" id="{D10A20B0-2A0F-5825-4D9F-B6360C75BEF1}"/>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386C11E1-81AE-3D4E-B564-6A25A3882D1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2D28F4E8-613B-9351-9C28-9AEA242C7C7A}"/>
              </a:ext>
            </a:extLst>
          </p:cNvPr>
          <p:cNvSpPr>
            <a:spLocks noGrp="1" noChangeArrowheads="1"/>
          </p:cNvSpPr>
          <p:nvPr>
            <p:ph type="ctrTitle"/>
          </p:nvPr>
        </p:nvSpPr>
        <p:spPr>
          <a:xfrm>
            <a:off x="685800" y="2130425"/>
            <a:ext cx="7772400" cy="1470025"/>
          </a:xfrm>
        </p:spPr>
        <p:txBody>
          <a:bodyPr anchor="ctr"/>
          <a:lstStyle/>
          <a:p>
            <a:pPr eaLnBrk="1" hangingPunct="1"/>
            <a:r>
              <a:rPr lang="zh-CN" altLang="en-US" sz="4400"/>
              <a:t>第</a:t>
            </a:r>
            <a:r>
              <a:rPr lang="en-US" altLang="zh-CN" sz="4400"/>
              <a:t>9</a:t>
            </a:r>
            <a:r>
              <a:rPr lang="zh-CN" altLang="en-US" sz="4400"/>
              <a:t>章</a:t>
            </a:r>
          </a:p>
        </p:txBody>
      </p:sp>
      <p:sp>
        <p:nvSpPr>
          <p:cNvPr id="2051" name="Rectangle 3">
            <a:extLst>
              <a:ext uri="{FF2B5EF4-FFF2-40B4-BE49-F238E27FC236}">
                <a16:creationId xmlns:a16="http://schemas.microsoft.com/office/drawing/2014/main" id="{04BCFB46-FC41-D1A4-FF71-6E87D560D558}"/>
              </a:ext>
            </a:extLst>
          </p:cNvPr>
          <p:cNvSpPr>
            <a:spLocks noGrp="1" noChangeArrowheads="1"/>
          </p:cNvSpPr>
          <p:nvPr>
            <p:ph type="subTitle" idx="1"/>
          </p:nvPr>
        </p:nvSpPr>
        <p:spPr>
          <a:xfrm>
            <a:off x="1371600" y="3886200"/>
            <a:ext cx="6400800" cy="1752600"/>
          </a:xfrm>
        </p:spPr>
        <p:txBody>
          <a:bodyPr/>
          <a:lstStyle/>
          <a:p>
            <a:pPr eaLnBrk="1" hangingPunct="1"/>
            <a:r>
              <a:rPr lang="zh-CN" altLang="en-US" sz="3200"/>
              <a:t>保密系统的信息理论</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1EC37CB5-5038-37A1-D627-27DF40716C63}"/>
              </a:ext>
            </a:extLst>
          </p:cNvPr>
          <p:cNvSpPr>
            <a:spLocks noGrp="1" noChangeArrowheads="1"/>
          </p:cNvSpPr>
          <p:nvPr>
            <p:ph type="title"/>
          </p:nvPr>
        </p:nvSpPr>
        <p:spPr/>
        <p:txBody>
          <a:bodyPr/>
          <a:lstStyle/>
          <a:p>
            <a:pPr eaLnBrk="1" hangingPunct="1"/>
            <a:endParaRPr lang="zh-CN" altLang="zh-CN"/>
          </a:p>
        </p:txBody>
      </p:sp>
      <p:sp>
        <p:nvSpPr>
          <p:cNvPr id="3075" name="Rectangle 3">
            <a:extLst>
              <a:ext uri="{FF2B5EF4-FFF2-40B4-BE49-F238E27FC236}">
                <a16:creationId xmlns:a16="http://schemas.microsoft.com/office/drawing/2014/main" id="{3DD5EF7E-D71B-74E1-5E43-740F3D5982E0}"/>
              </a:ext>
            </a:extLst>
          </p:cNvPr>
          <p:cNvSpPr>
            <a:spLocks noGrp="1" noChangeArrowheads="1"/>
          </p:cNvSpPr>
          <p:nvPr>
            <p:ph type="body" idx="1"/>
          </p:nvPr>
        </p:nvSpPr>
        <p:spPr/>
        <p:txBody>
          <a:bodyPr/>
          <a:lstStyle/>
          <a:p>
            <a:pPr eaLnBrk="1" hangingPunct="1"/>
            <a:r>
              <a:rPr lang="en-US" altLang="zh-CN"/>
              <a:t>1948</a:t>
            </a:r>
            <a:r>
              <a:rPr lang="zh-CN" altLang="en-US"/>
              <a:t>年， </a:t>
            </a:r>
            <a:r>
              <a:rPr lang="en-US" altLang="zh-CN"/>
              <a:t>C. E. Shannon</a:t>
            </a:r>
            <a:r>
              <a:rPr lang="zh-CN" altLang="en-US"/>
              <a:t>在贝尔实验室技术期刊上上发表了题目为“通信的数学理论”，从此奠定信息论的理论基础。</a:t>
            </a:r>
          </a:p>
          <a:p>
            <a:pPr eaLnBrk="1" hangingPunct="1"/>
            <a:r>
              <a:rPr lang="zh-CN" altLang="en-US"/>
              <a:t>在</a:t>
            </a:r>
            <a:r>
              <a:rPr lang="en-US" altLang="zh-CN"/>
              <a:t>1949</a:t>
            </a:r>
            <a:r>
              <a:rPr lang="zh-CN" altLang="en-US"/>
              <a:t>年，</a:t>
            </a:r>
            <a:r>
              <a:rPr lang="en-US" altLang="zh-CN"/>
              <a:t>Shannon</a:t>
            </a:r>
            <a:r>
              <a:rPr lang="zh-CN" altLang="en-US"/>
              <a:t>又在该期刊发表了“保密系统的通信理论”</a:t>
            </a:r>
            <a:r>
              <a:rPr lang="en-US" altLang="zh-CN"/>
              <a:t>,</a:t>
            </a:r>
            <a:r>
              <a:rPr lang="zh-CN" altLang="en-US"/>
              <a:t>该论文奠定了现代密码学的系统研究的理论基础。</a:t>
            </a:r>
          </a:p>
          <a:p>
            <a:pPr eaLnBrk="1" hangingPunct="1"/>
            <a:r>
              <a:rPr lang="zh-CN" altLang="en-US"/>
              <a:t>这两篇论文开辟了现代通信和保密通信的科学研究方向。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08AD3CA-CDFD-B4B5-A91F-668F21481968}"/>
              </a:ext>
            </a:extLst>
          </p:cNvPr>
          <p:cNvSpPr>
            <a:spLocks noGrp="1" noChangeArrowheads="1"/>
          </p:cNvSpPr>
          <p:nvPr>
            <p:ph type="title"/>
          </p:nvPr>
        </p:nvSpPr>
        <p:spPr/>
        <p:txBody>
          <a:bodyPr/>
          <a:lstStyle/>
          <a:p>
            <a:pPr eaLnBrk="1" hangingPunct="1"/>
            <a:r>
              <a:rPr lang="en-US" altLang="zh-CN" b="1"/>
              <a:t>9.1 </a:t>
            </a:r>
            <a:r>
              <a:rPr lang="zh-CN" altLang="en-US" b="1"/>
              <a:t>保密系统的数学模型</a:t>
            </a:r>
          </a:p>
        </p:txBody>
      </p:sp>
      <p:sp>
        <p:nvSpPr>
          <p:cNvPr id="4099" name="Rectangle 3">
            <a:extLst>
              <a:ext uri="{FF2B5EF4-FFF2-40B4-BE49-F238E27FC236}">
                <a16:creationId xmlns:a16="http://schemas.microsoft.com/office/drawing/2014/main" id="{A726CACB-C82D-B72D-C7E6-CB9EB7AEB755}"/>
              </a:ext>
            </a:extLst>
          </p:cNvPr>
          <p:cNvSpPr>
            <a:spLocks noGrp="1" noChangeArrowheads="1"/>
          </p:cNvSpPr>
          <p:nvPr>
            <p:ph type="body" idx="1"/>
          </p:nvPr>
        </p:nvSpPr>
        <p:spPr/>
        <p:txBody>
          <a:bodyPr/>
          <a:lstStyle/>
          <a:p>
            <a:pPr eaLnBrk="1" hangingPunct="1"/>
            <a:r>
              <a:rPr lang="en-US" altLang="zh-CN" b="1"/>
              <a:t>Shannon </a:t>
            </a:r>
            <a:r>
              <a:rPr lang="zh-CN" altLang="en-US" b="1"/>
              <a:t>从概率统计观点出发研究信息的传输和保密问题，将通信系统归纳为图</a:t>
            </a:r>
            <a:r>
              <a:rPr lang="en-US" altLang="zh-CN" b="1"/>
              <a:t>9-1</a:t>
            </a:r>
            <a:r>
              <a:rPr lang="zh-CN" altLang="en-US" b="1"/>
              <a:t>，</a:t>
            </a:r>
            <a:endParaRPr lang="zh-CN" altLang="en-US"/>
          </a:p>
          <a:p>
            <a:pPr eaLnBrk="1" hangingPunct="1"/>
            <a:endParaRPr lang="en-US" altLang="zh-CN"/>
          </a:p>
        </p:txBody>
      </p:sp>
      <p:grpSp>
        <p:nvGrpSpPr>
          <p:cNvPr id="4100" name="Group 4">
            <a:extLst>
              <a:ext uri="{FF2B5EF4-FFF2-40B4-BE49-F238E27FC236}">
                <a16:creationId xmlns:a16="http://schemas.microsoft.com/office/drawing/2014/main" id="{B1F87683-06CF-096B-40B8-6362E8A50B00}"/>
              </a:ext>
            </a:extLst>
          </p:cNvPr>
          <p:cNvGrpSpPr>
            <a:grpSpLocks noChangeAspect="1"/>
          </p:cNvGrpSpPr>
          <p:nvPr/>
        </p:nvGrpSpPr>
        <p:grpSpPr bwMode="auto">
          <a:xfrm>
            <a:off x="1143000" y="3200400"/>
            <a:ext cx="5257800" cy="990600"/>
            <a:chOff x="2655" y="5899"/>
            <a:chExt cx="7200" cy="1359"/>
          </a:xfrm>
        </p:grpSpPr>
        <p:sp>
          <p:nvSpPr>
            <p:cNvPr id="4101" name="AutoShape 5">
              <a:extLst>
                <a:ext uri="{FF2B5EF4-FFF2-40B4-BE49-F238E27FC236}">
                  <a16:creationId xmlns:a16="http://schemas.microsoft.com/office/drawing/2014/main" id="{A6E9DC13-AB44-6F0C-B5D7-773000E80AD9}"/>
                </a:ext>
              </a:extLst>
            </p:cNvPr>
            <p:cNvSpPr>
              <a:spLocks noChangeAspect="1" noChangeArrowheads="1"/>
            </p:cNvSpPr>
            <p:nvPr/>
          </p:nvSpPr>
          <p:spPr bwMode="auto">
            <a:xfrm>
              <a:off x="2655" y="5899"/>
              <a:ext cx="7200" cy="1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02" name="Rectangle 6">
              <a:extLst>
                <a:ext uri="{FF2B5EF4-FFF2-40B4-BE49-F238E27FC236}">
                  <a16:creationId xmlns:a16="http://schemas.microsoft.com/office/drawing/2014/main" id="{4399A912-38BD-39A6-4D45-0E4CC1C58D2B}"/>
                </a:ext>
              </a:extLst>
            </p:cNvPr>
            <p:cNvSpPr>
              <a:spLocks noChangeArrowheads="1"/>
            </p:cNvSpPr>
            <p:nvPr/>
          </p:nvSpPr>
          <p:spPr bwMode="auto">
            <a:xfrm>
              <a:off x="3281" y="6171"/>
              <a:ext cx="1252" cy="40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信源</a:t>
              </a:r>
              <a:endParaRPr lang="zh-CN" altLang="en-US"/>
            </a:p>
          </p:txBody>
        </p:sp>
        <p:sp>
          <p:nvSpPr>
            <p:cNvPr id="4103" name="Rectangle 7">
              <a:extLst>
                <a:ext uri="{FF2B5EF4-FFF2-40B4-BE49-F238E27FC236}">
                  <a16:creationId xmlns:a16="http://schemas.microsoft.com/office/drawing/2014/main" id="{261CC44A-761E-B67F-4D2B-5230FD6EF2FA}"/>
                </a:ext>
              </a:extLst>
            </p:cNvPr>
            <p:cNvSpPr>
              <a:spLocks noChangeArrowheads="1"/>
            </p:cNvSpPr>
            <p:nvPr/>
          </p:nvSpPr>
          <p:spPr bwMode="auto">
            <a:xfrm>
              <a:off x="5316" y="6171"/>
              <a:ext cx="1878" cy="40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信道</a:t>
              </a:r>
              <a:endParaRPr lang="zh-CN" altLang="en-US"/>
            </a:p>
          </p:txBody>
        </p:sp>
        <p:sp>
          <p:nvSpPr>
            <p:cNvPr id="4104" name="Rectangle 8">
              <a:extLst>
                <a:ext uri="{FF2B5EF4-FFF2-40B4-BE49-F238E27FC236}">
                  <a16:creationId xmlns:a16="http://schemas.microsoft.com/office/drawing/2014/main" id="{FC8A1737-16A2-E4B8-E304-2D1E4F4E451B}"/>
                </a:ext>
              </a:extLst>
            </p:cNvPr>
            <p:cNvSpPr>
              <a:spLocks noChangeArrowheads="1"/>
            </p:cNvSpPr>
            <p:nvPr/>
          </p:nvSpPr>
          <p:spPr bwMode="auto">
            <a:xfrm>
              <a:off x="8290" y="6171"/>
              <a:ext cx="1252" cy="40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信宿</a:t>
              </a:r>
              <a:endParaRPr lang="zh-CN" altLang="en-US"/>
            </a:p>
          </p:txBody>
        </p:sp>
        <p:sp>
          <p:nvSpPr>
            <p:cNvPr id="4105" name="Line 9">
              <a:extLst>
                <a:ext uri="{FF2B5EF4-FFF2-40B4-BE49-F238E27FC236}">
                  <a16:creationId xmlns:a16="http://schemas.microsoft.com/office/drawing/2014/main" id="{9BD49B3C-699D-B1A6-AA11-6214022E0EB5}"/>
                </a:ext>
              </a:extLst>
            </p:cNvPr>
            <p:cNvSpPr>
              <a:spLocks noChangeShapeType="1"/>
            </p:cNvSpPr>
            <p:nvPr/>
          </p:nvSpPr>
          <p:spPr bwMode="auto">
            <a:xfrm>
              <a:off x="4533" y="6306"/>
              <a:ext cx="783" cy="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6" name="Line 10">
              <a:extLst>
                <a:ext uri="{FF2B5EF4-FFF2-40B4-BE49-F238E27FC236}">
                  <a16:creationId xmlns:a16="http://schemas.microsoft.com/office/drawing/2014/main" id="{7BEF5427-881C-8460-5661-BB44CAFF51FB}"/>
                </a:ext>
              </a:extLst>
            </p:cNvPr>
            <p:cNvSpPr>
              <a:spLocks noChangeShapeType="1"/>
            </p:cNvSpPr>
            <p:nvPr/>
          </p:nvSpPr>
          <p:spPr bwMode="auto">
            <a:xfrm>
              <a:off x="7194" y="6306"/>
              <a:ext cx="109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07" name="Rectangle 11">
              <a:extLst>
                <a:ext uri="{FF2B5EF4-FFF2-40B4-BE49-F238E27FC236}">
                  <a16:creationId xmlns:a16="http://schemas.microsoft.com/office/drawing/2014/main" id="{7BEB3609-3E9A-8E8F-E749-0854951C9944}"/>
                </a:ext>
              </a:extLst>
            </p:cNvPr>
            <p:cNvSpPr>
              <a:spLocks noChangeArrowheads="1"/>
            </p:cNvSpPr>
            <p:nvPr/>
          </p:nvSpPr>
          <p:spPr bwMode="auto">
            <a:xfrm>
              <a:off x="5316" y="6850"/>
              <a:ext cx="2035" cy="408"/>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干扰源</a:t>
              </a:r>
              <a:endParaRPr lang="zh-CN" altLang="en-US"/>
            </a:p>
          </p:txBody>
        </p:sp>
        <p:sp>
          <p:nvSpPr>
            <p:cNvPr id="4108" name="Line 12">
              <a:extLst>
                <a:ext uri="{FF2B5EF4-FFF2-40B4-BE49-F238E27FC236}">
                  <a16:creationId xmlns:a16="http://schemas.microsoft.com/office/drawing/2014/main" id="{31A0EAF9-A87A-E237-5C47-15A8F07E717D}"/>
                </a:ext>
              </a:extLst>
            </p:cNvPr>
            <p:cNvSpPr>
              <a:spLocks noChangeShapeType="1"/>
            </p:cNvSpPr>
            <p:nvPr/>
          </p:nvSpPr>
          <p:spPr bwMode="auto">
            <a:xfrm flipV="1">
              <a:off x="6255" y="6579"/>
              <a:ext cx="0" cy="27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3B42015-7E7B-5D8F-F755-C4DC0F2A1EA8}"/>
              </a:ext>
            </a:extLst>
          </p:cNvPr>
          <p:cNvSpPr>
            <a:spLocks noGrp="1" noChangeArrowheads="1"/>
          </p:cNvSpPr>
          <p:nvPr>
            <p:ph type="title"/>
          </p:nvPr>
        </p:nvSpPr>
        <p:spPr/>
        <p:txBody>
          <a:bodyPr/>
          <a:lstStyle/>
          <a:p>
            <a:pPr eaLnBrk="1" hangingPunct="1"/>
            <a:endParaRPr lang="zh-CN" altLang="zh-CN"/>
          </a:p>
        </p:txBody>
      </p:sp>
      <p:sp>
        <p:nvSpPr>
          <p:cNvPr id="5123" name="Rectangle 3">
            <a:extLst>
              <a:ext uri="{FF2B5EF4-FFF2-40B4-BE49-F238E27FC236}">
                <a16:creationId xmlns:a16="http://schemas.microsoft.com/office/drawing/2014/main" id="{3DDEA894-9C36-659D-AB21-8AD07337A3BB}"/>
              </a:ext>
            </a:extLst>
          </p:cNvPr>
          <p:cNvSpPr>
            <a:spLocks noGrp="1" noChangeArrowheads="1"/>
          </p:cNvSpPr>
          <p:nvPr>
            <p:ph type="body" idx="1"/>
          </p:nvPr>
        </p:nvSpPr>
        <p:spPr/>
        <p:txBody>
          <a:bodyPr/>
          <a:lstStyle/>
          <a:p>
            <a:pPr eaLnBrk="1" hangingPunct="1"/>
            <a:r>
              <a:rPr lang="zh-CN" altLang="en-US"/>
              <a:t>将保密系统归纳为图</a:t>
            </a:r>
            <a:r>
              <a:rPr lang="en-US" altLang="zh-CN"/>
              <a:t>9-2 </a:t>
            </a:r>
          </a:p>
          <a:p>
            <a:pPr eaLnBrk="1" hangingPunct="1"/>
            <a:endParaRPr lang="en-US" altLang="zh-CN"/>
          </a:p>
        </p:txBody>
      </p:sp>
      <p:grpSp>
        <p:nvGrpSpPr>
          <p:cNvPr id="5124" name="Group 5">
            <a:extLst>
              <a:ext uri="{FF2B5EF4-FFF2-40B4-BE49-F238E27FC236}">
                <a16:creationId xmlns:a16="http://schemas.microsoft.com/office/drawing/2014/main" id="{41670B1C-7A68-AAEB-1E21-22366557188F}"/>
              </a:ext>
            </a:extLst>
          </p:cNvPr>
          <p:cNvGrpSpPr>
            <a:grpSpLocks noChangeAspect="1"/>
          </p:cNvGrpSpPr>
          <p:nvPr/>
        </p:nvGrpSpPr>
        <p:grpSpPr bwMode="auto">
          <a:xfrm>
            <a:off x="914400" y="2667000"/>
            <a:ext cx="5257800" cy="990600"/>
            <a:chOff x="2655" y="5899"/>
            <a:chExt cx="7200" cy="1358"/>
          </a:xfrm>
        </p:grpSpPr>
        <p:sp>
          <p:nvSpPr>
            <p:cNvPr id="5125" name="AutoShape 6">
              <a:extLst>
                <a:ext uri="{FF2B5EF4-FFF2-40B4-BE49-F238E27FC236}">
                  <a16:creationId xmlns:a16="http://schemas.microsoft.com/office/drawing/2014/main" id="{AAF6071E-4213-60BB-78A3-0A9DC386F30B}"/>
                </a:ext>
              </a:extLst>
            </p:cNvPr>
            <p:cNvSpPr>
              <a:spLocks noChangeAspect="1" noChangeArrowheads="1"/>
            </p:cNvSpPr>
            <p:nvPr/>
          </p:nvSpPr>
          <p:spPr bwMode="auto">
            <a:xfrm>
              <a:off x="2655" y="5899"/>
              <a:ext cx="7200" cy="1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126" name="Rectangle 7">
              <a:extLst>
                <a:ext uri="{FF2B5EF4-FFF2-40B4-BE49-F238E27FC236}">
                  <a16:creationId xmlns:a16="http://schemas.microsoft.com/office/drawing/2014/main" id="{061E3819-2200-7287-2980-A33D73F26AC7}"/>
                </a:ext>
              </a:extLst>
            </p:cNvPr>
            <p:cNvSpPr>
              <a:spLocks noChangeArrowheads="1"/>
            </p:cNvSpPr>
            <p:nvPr/>
          </p:nvSpPr>
          <p:spPr bwMode="auto">
            <a:xfrm>
              <a:off x="2968" y="6171"/>
              <a:ext cx="938" cy="40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信源</a:t>
              </a:r>
              <a:endParaRPr lang="zh-CN" altLang="en-US"/>
            </a:p>
          </p:txBody>
        </p:sp>
        <p:sp>
          <p:nvSpPr>
            <p:cNvPr id="5127" name="Rectangle 8">
              <a:extLst>
                <a:ext uri="{FF2B5EF4-FFF2-40B4-BE49-F238E27FC236}">
                  <a16:creationId xmlns:a16="http://schemas.microsoft.com/office/drawing/2014/main" id="{2C095E57-374F-0F65-5F02-B9958E565A6A}"/>
                </a:ext>
              </a:extLst>
            </p:cNvPr>
            <p:cNvSpPr>
              <a:spLocks noChangeArrowheads="1"/>
            </p:cNvSpPr>
            <p:nvPr/>
          </p:nvSpPr>
          <p:spPr bwMode="auto">
            <a:xfrm>
              <a:off x="5785" y="6171"/>
              <a:ext cx="1096" cy="40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信道</a:t>
              </a:r>
              <a:endParaRPr lang="zh-CN" altLang="en-US"/>
            </a:p>
          </p:txBody>
        </p:sp>
        <p:sp>
          <p:nvSpPr>
            <p:cNvPr id="5128" name="Rectangle 9">
              <a:extLst>
                <a:ext uri="{FF2B5EF4-FFF2-40B4-BE49-F238E27FC236}">
                  <a16:creationId xmlns:a16="http://schemas.microsoft.com/office/drawing/2014/main" id="{8FDAE094-EE6A-4116-6D7E-C5C9640D4D53}"/>
                </a:ext>
              </a:extLst>
            </p:cNvPr>
            <p:cNvSpPr>
              <a:spLocks noChangeArrowheads="1"/>
            </p:cNvSpPr>
            <p:nvPr/>
          </p:nvSpPr>
          <p:spPr bwMode="auto">
            <a:xfrm>
              <a:off x="8759" y="6171"/>
              <a:ext cx="939" cy="40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信宿</a:t>
              </a:r>
              <a:endParaRPr lang="zh-CN" altLang="en-US"/>
            </a:p>
          </p:txBody>
        </p:sp>
        <p:sp>
          <p:nvSpPr>
            <p:cNvPr id="5129" name="Rectangle 10">
              <a:extLst>
                <a:ext uri="{FF2B5EF4-FFF2-40B4-BE49-F238E27FC236}">
                  <a16:creationId xmlns:a16="http://schemas.microsoft.com/office/drawing/2014/main" id="{5054F63F-50AD-37BF-D142-50F2524062D2}"/>
                </a:ext>
              </a:extLst>
            </p:cNvPr>
            <p:cNvSpPr>
              <a:spLocks noChangeArrowheads="1"/>
            </p:cNvSpPr>
            <p:nvPr/>
          </p:nvSpPr>
          <p:spPr bwMode="auto">
            <a:xfrm>
              <a:off x="7194" y="6171"/>
              <a:ext cx="939" cy="40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解密机</a:t>
              </a:r>
              <a:endParaRPr lang="zh-CN" altLang="en-US"/>
            </a:p>
          </p:txBody>
        </p:sp>
        <p:sp>
          <p:nvSpPr>
            <p:cNvPr id="5130" name="Rectangle 11">
              <a:extLst>
                <a:ext uri="{FF2B5EF4-FFF2-40B4-BE49-F238E27FC236}">
                  <a16:creationId xmlns:a16="http://schemas.microsoft.com/office/drawing/2014/main" id="{07D8476C-FA19-65C1-4BAB-140D6FEA312D}"/>
                </a:ext>
              </a:extLst>
            </p:cNvPr>
            <p:cNvSpPr>
              <a:spLocks noChangeArrowheads="1"/>
            </p:cNvSpPr>
            <p:nvPr/>
          </p:nvSpPr>
          <p:spPr bwMode="auto">
            <a:xfrm>
              <a:off x="4377" y="6171"/>
              <a:ext cx="939" cy="40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加密机</a:t>
              </a:r>
              <a:endParaRPr lang="zh-CN" altLang="en-US"/>
            </a:p>
          </p:txBody>
        </p:sp>
        <p:sp>
          <p:nvSpPr>
            <p:cNvPr id="5131" name="Line 12">
              <a:extLst>
                <a:ext uri="{FF2B5EF4-FFF2-40B4-BE49-F238E27FC236}">
                  <a16:creationId xmlns:a16="http://schemas.microsoft.com/office/drawing/2014/main" id="{8AEDCA53-EB17-4EB0-6B75-3BEA58A6E116}"/>
                </a:ext>
              </a:extLst>
            </p:cNvPr>
            <p:cNvSpPr>
              <a:spLocks noChangeShapeType="1"/>
            </p:cNvSpPr>
            <p:nvPr/>
          </p:nvSpPr>
          <p:spPr bwMode="auto">
            <a:xfrm>
              <a:off x="3907" y="6307"/>
              <a:ext cx="47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32" name="Line 13">
              <a:extLst>
                <a:ext uri="{FF2B5EF4-FFF2-40B4-BE49-F238E27FC236}">
                  <a16:creationId xmlns:a16="http://schemas.microsoft.com/office/drawing/2014/main" id="{2256149C-B15F-AFE9-138A-8E315FFFFA4A}"/>
                </a:ext>
              </a:extLst>
            </p:cNvPr>
            <p:cNvSpPr>
              <a:spLocks noChangeShapeType="1"/>
            </p:cNvSpPr>
            <p:nvPr/>
          </p:nvSpPr>
          <p:spPr bwMode="auto">
            <a:xfrm>
              <a:off x="5316" y="6307"/>
              <a:ext cx="46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33" name="Line 14">
              <a:extLst>
                <a:ext uri="{FF2B5EF4-FFF2-40B4-BE49-F238E27FC236}">
                  <a16:creationId xmlns:a16="http://schemas.microsoft.com/office/drawing/2014/main" id="{DC02B95A-AA14-2465-5257-3B24181EC868}"/>
                </a:ext>
              </a:extLst>
            </p:cNvPr>
            <p:cNvSpPr>
              <a:spLocks noChangeShapeType="1"/>
            </p:cNvSpPr>
            <p:nvPr/>
          </p:nvSpPr>
          <p:spPr bwMode="auto">
            <a:xfrm>
              <a:off x="6881" y="6307"/>
              <a:ext cx="31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34" name="Line 15">
              <a:extLst>
                <a:ext uri="{FF2B5EF4-FFF2-40B4-BE49-F238E27FC236}">
                  <a16:creationId xmlns:a16="http://schemas.microsoft.com/office/drawing/2014/main" id="{B0EDD2DE-CC8E-80D0-DA49-C8B947F22E75}"/>
                </a:ext>
              </a:extLst>
            </p:cNvPr>
            <p:cNvSpPr>
              <a:spLocks noChangeShapeType="1"/>
            </p:cNvSpPr>
            <p:nvPr/>
          </p:nvSpPr>
          <p:spPr bwMode="auto">
            <a:xfrm>
              <a:off x="8133" y="6307"/>
              <a:ext cx="62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35" name="Rectangle 16">
              <a:extLst>
                <a:ext uri="{FF2B5EF4-FFF2-40B4-BE49-F238E27FC236}">
                  <a16:creationId xmlns:a16="http://schemas.microsoft.com/office/drawing/2014/main" id="{627827B2-C3FB-1B59-101E-C7D71A559F1F}"/>
                </a:ext>
              </a:extLst>
            </p:cNvPr>
            <p:cNvSpPr>
              <a:spLocks noChangeArrowheads="1"/>
            </p:cNvSpPr>
            <p:nvPr/>
          </p:nvSpPr>
          <p:spPr bwMode="auto">
            <a:xfrm>
              <a:off x="5785" y="6850"/>
              <a:ext cx="1096" cy="40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a:latin typeface="Times New Roman" panose="02020603050405020304" pitchFamily="18" charset="0"/>
                </a:rPr>
                <a:t>干扰源</a:t>
              </a:r>
              <a:endParaRPr lang="zh-CN" altLang="en-US"/>
            </a:p>
          </p:txBody>
        </p:sp>
        <p:sp>
          <p:nvSpPr>
            <p:cNvPr id="5136" name="Line 17">
              <a:extLst>
                <a:ext uri="{FF2B5EF4-FFF2-40B4-BE49-F238E27FC236}">
                  <a16:creationId xmlns:a16="http://schemas.microsoft.com/office/drawing/2014/main" id="{2293A1FB-C9A9-C687-4D1F-3B93304279C9}"/>
                </a:ext>
              </a:extLst>
            </p:cNvPr>
            <p:cNvSpPr>
              <a:spLocks noChangeShapeType="1"/>
            </p:cNvSpPr>
            <p:nvPr/>
          </p:nvSpPr>
          <p:spPr bwMode="auto">
            <a:xfrm flipV="1">
              <a:off x="6255" y="6578"/>
              <a:ext cx="0" cy="2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C8A5A22-C28A-13F8-2845-35E423D58C85}"/>
              </a:ext>
            </a:extLst>
          </p:cNvPr>
          <p:cNvSpPr>
            <a:spLocks noGrp="1" noChangeArrowheads="1"/>
          </p:cNvSpPr>
          <p:nvPr>
            <p:ph type="title"/>
          </p:nvPr>
        </p:nvSpPr>
        <p:spPr/>
        <p:txBody>
          <a:bodyPr/>
          <a:lstStyle/>
          <a:p>
            <a:pPr eaLnBrk="1" hangingPunct="1"/>
            <a:endParaRPr lang="zh-CN" altLang="zh-CN"/>
          </a:p>
        </p:txBody>
      </p:sp>
      <p:sp>
        <p:nvSpPr>
          <p:cNvPr id="6147" name="Rectangle 3">
            <a:extLst>
              <a:ext uri="{FF2B5EF4-FFF2-40B4-BE49-F238E27FC236}">
                <a16:creationId xmlns:a16="http://schemas.microsoft.com/office/drawing/2014/main" id="{D596E466-535D-D2D5-DBCD-22FC72C9DA4D}"/>
              </a:ext>
            </a:extLst>
          </p:cNvPr>
          <p:cNvSpPr>
            <a:spLocks noGrp="1" noChangeArrowheads="1"/>
          </p:cNvSpPr>
          <p:nvPr>
            <p:ph type="body" idx="1"/>
          </p:nvPr>
        </p:nvSpPr>
        <p:spPr/>
        <p:txBody>
          <a:bodyPr/>
          <a:lstStyle/>
          <a:p>
            <a:pPr eaLnBrk="1" hangingPunct="1">
              <a:lnSpc>
                <a:spcPct val="90000"/>
              </a:lnSpc>
            </a:pPr>
            <a:r>
              <a:rPr lang="zh-CN" altLang="en-US"/>
              <a:t>通信系统设计的目的是在信道有干扰的情况下，使接受的信息无错或差错尽可能小。保密系统的设计目的是使窃听者即使在完全正确地收到了接收信号的情况下也无法恢复出消息。在实际应用中，通信系统和保密系统中都存在编码和解码的过程，即信源发出的信息会以一定的规则进行编码，而接受到的信息会被执行相应的逆过程，解码。这些技术的实施是为了使信道有一定的抗干扰能力。</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16ACE99-2542-AD58-BD83-4C319AAA946B}"/>
              </a:ext>
            </a:extLst>
          </p:cNvPr>
          <p:cNvSpPr>
            <a:spLocks noGrp="1" noChangeArrowheads="1"/>
          </p:cNvSpPr>
          <p:nvPr>
            <p:ph type="title"/>
          </p:nvPr>
        </p:nvSpPr>
        <p:spPr/>
        <p:txBody>
          <a:bodyPr/>
          <a:lstStyle/>
          <a:p>
            <a:pPr eaLnBrk="1" hangingPunct="1"/>
            <a:endParaRPr lang="zh-CN" altLang="zh-CN"/>
          </a:p>
        </p:txBody>
      </p:sp>
      <p:pic>
        <p:nvPicPr>
          <p:cNvPr id="7171" name="Picture 4">
            <a:extLst>
              <a:ext uri="{FF2B5EF4-FFF2-40B4-BE49-F238E27FC236}">
                <a16:creationId xmlns:a16="http://schemas.microsoft.com/office/drawing/2014/main" id="{63C52CED-DD88-19F7-DC04-CB2652EE97EB}"/>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28600" y="1524000"/>
            <a:ext cx="8229600" cy="3479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172" name="Picture 5">
            <a:extLst>
              <a:ext uri="{FF2B5EF4-FFF2-40B4-BE49-F238E27FC236}">
                <a16:creationId xmlns:a16="http://schemas.microsoft.com/office/drawing/2014/main" id="{B1B75073-9592-9187-EE0A-E406E5D8D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5105400"/>
            <a:ext cx="8151813"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C1EF977-DBE1-8D92-843F-BA9F4FD3BF91}"/>
              </a:ext>
            </a:extLst>
          </p:cNvPr>
          <p:cNvSpPr>
            <a:spLocks noGrp="1" noChangeArrowheads="1"/>
          </p:cNvSpPr>
          <p:nvPr>
            <p:ph type="title"/>
          </p:nvPr>
        </p:nvSpPr>
        <p:spPr/>
        <p:txBody>
          <a:bodyPr/>
          <a:lstStyle/>
          <a:p>
            <a:pPr eaLnBrk="1" hangingPunct="1"/>
            <a:r>
              <a:rPr lang="en-US" altLang="zh-CN"/>
              <a:t>9.1.1 </a:t>
            </a:r>
            <a:r>
              <a:rPr lang="zh-CN" altLang="en-US"/>
              <a:t>完全保密</a:t>
            </a:r>
          </a:p>
        </p:txBody>
      </p:sp>
      <p:sp>
        <p:nvSpPr>
          <p:cNvPr id="8195" name="Rectangle 3">
            <a:extLst>
              <a:ext uri="{FF2B5EF4-FFF2-40B4-BE49-F238E27FC236}">
                <a16:creationId xmlns:a16="http://schemas.microsoft.com/office/drawing/2014/main" id="{F0F01E87-BA9A-AAA2-1249-D449D0FE8520}"/>
              </a:ext>
            </a:extLst>
          </p:cNvPr>
          <p:cNvSpPr>
            <a:spLocks noGrp="1" noChangeArrowheads="1"/>
          </p:cNvSpPr>
          <p:nvPr>
            <p:ph type="body" idx="1"/>
          </p:nvPr>
        </p:nvSpPr>
        <p:spPr/>
        <p:txBody>
          <a:bodyPr/>
          <a:lstStyle/>
          <a:p>
            <a:pPr eaLnBrk="1" hangingPunct="1">
              <a:lnSpc>
                <a:spcPct val="80000"/>
              </a:lnSpc>
            </a:pPr>
            <a:r>
              <a:rPr lang="zh-CN" altLang="en-US" sz="1800"/>
              <a:t>这里我们介绍两个用于密码体制保密性的基本方法：计算保密性和无条件保密性。</a:t>
            </a:r>
          </a:p>
          <a:p>
            <a:pPr eaLnBrk="1" hangingPunct="1">
              <a:lnSpc>
                <a:spcPct val="80000"/>
              </a:lnSpc>
            </a:pPr>
            <a:r>
              <a:rPr lang="zh-CN" altLang="en-US" sz="1800"/>
              <a:t>计算保密性：这个指标涉及到破译一个密码体制所需要的计算能力，我们可能定义一个密码体制是计算保密的，如果破译这个体制的最好的算法需要至少次运算，是某一特定的非常大的数，问题是没有已知的实际密码体制在这个定义下能被证明是保密的。实际中，人们称一个密码体制是“计算上保密的”，是当攻破攻破这个体制已知最好的方法需要的计算机时间过大时。另一个提供保密性的方法是把一个密码体制的保密性转换为一些已经研究过的非常困难的问题。比如说，能够证明如下的一类陈述：“如果给定的一个整数不可分解成一些素数的乘积，则给定的密码体制是保密的”，或者 “如果在给定的一个素数，不可能求解离散对数的，则给定的密码体制是保密的”等等。这些密码体制有时也被称为“可证明保密的”。但是必须理解这个仅提供了与领一个问题有关的保密性证明，它并不是保密性的绝对证明。这是因为所依赖的问题只是现阶段没有好的解决方法，并不能保证将来也是不能解决的。</a:t>
            </a:r>
          </a:p>
          <a:p>
            <a:pPr eaLnBrk="1" hangingPunct="1">
              <a:lnSpc>
                <a:spcPct val="80000"/>
              </a:lnSpc>
            </a:pPr>
            <a:r>
              <a:rPr lang="zh-CN" altLang="en-US" sz="1800"/>
              <a:t>无条件保密性：这个指标涉及到当</a:t>
            </a:r>
            <a:r>
              <a:rPr lang="en-US" altLang="zh-CN" sz="1800"/>
              <a:t>Oscar</a:t>
            </a:r>
            <a:r>
              <a:rPr lang="zh-CN" altLang="en-US" sz="1800"/>
              <a:t>允许做无限的计算总数时密码体制的保密性，如果一个密码体制甚至在有无限的计算资源条件下都不能被破译，则称之为无条件保密的。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5B87F27-71A5-D449-1853-BB79EE418426}"/>
              </a:ext>
            </a:extLst>
          </p:cNvPr>
          <p:cNvSpPr>
            <a:spLocks noGrp="1" noChangeArrowheads="1"/>
          </p:cNvSpPr>
          <p:nvPr>
            <p:ph type="title"/>
          </p:nvPr>
        </p:nvSpPr>
        <p:spPr/>
        <p:txBody>
          <a:bodyPr/>
          <a:lstStyle/>
          <a:p>
            <a:pPr eaLnBrk="1" hangingPunct="1"/>
            <a:endParaRPr lang="zh-CN" altLang="zh-CN"/>
          </a:p>
        </p:txBody>
      </p:sp>
      <p:pic>
        <p:nvPicPr>
          <p:cNvPr id="9219" name="Picture 6">
            <a:extLst>
              <a:ext uri="{FF2B5EF4-FFF2-40B4-BE49-F238E27FC236}">
                <a16:creationId xmlns:a16="http://schemas.microsoft.com/office/drawing/2014/main" id="{E26AFB8C-F07C-AC5F-AA9D-40BAB6C70C47}"/>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1947863"/>
            <a:ext cx="8229600" cy="38290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6B0F38F-EC43-0656-C59E-06F0AEA25E5F}"/>
              </a:ext>
            </a:extLst>
          </p:cNvPr>
          <p:cNvSpPr>
            <a:spLocks noGrp="1" noChangeArrowheads="1"/>
          </p:cNvSpPr>
          <p:nvPr>
            <p:ph type="title"/>
          </p:nvPr>
        </p:nvSpPr>
        <p:spPr/>
        <p:txBody>
          <a:bodyPr/>
          <a:lstStyle/>
          <a:p>
            <a:pPr eaLnBrk="1" hangingPunct="1"/>
            <a:r>
              <a:rPr lang="zh-CN" altLang="en-US"/>
              <a:t>贝叶斯定理</a:t>
            </a:r>
          </a:p>
        </p:txBody>
      </p:sp>
      <p:pic>
        <p:nvPicPr>
          <p:cNvPr id="10243" name="Picture 8">
            <a:extLst>
              <a:ext uri="{FF2B5EF4-FFF2-40B4-BE49-F238E27FC236}">
                <a16:creationId xmlns:a16="http://schemas.microsoft.com/office/drawing/2014/main" id="{B1AE0F8E-C7EB-32BB-3697-9705B3072280}"/>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909888"/>
            <a:ext cx="8229600" cy="1906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D453BEEC-FC95-762A-5B86-4521ACCF57EE}"/>
              </a:ext>
            </a:extLst>
          </p:cNvPr>
          <p:cNvSpPr>
            <a:spLocks noGrp="1" noChangeArrowheads="1"/>
          </p:cNvSpPr>
          <p:nvPr>
            <p:ph type="title"/>
          </p:nvPr>
        </p:nvSpPr>
        <p:spPr/>
        <p:txBody>
          <a:bodyPr/>
          <a:lstStyle/>
          <a:p>
            <a:pPr eaLnBrk="1" hangingPunct="1"/>
            <a:endParaRPr lang="zh-CN" altLang="zh-CN"/>
          </a:p>
        </p:txBody>
      </p:sp>
      <p:pic>
        <p:nvPicPr>
          <p:cNvPr id="11267" name="Picture 4">
            <a:extLst>
              <a:ext uri="{FF2B5EF4-FFF2-40B4-BE49-F238E27FC236}">
                <a16:creationId xmlns:a16="http://schemas.microsoft.com/office/drawing/2014/main" id="{E7D69D82-193D-FD2B-3C3A-E9A5CE33611A}"/>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3238500"/>
            <a:ext cx="8229600" cy="1249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8472D1F0-3E80-FF41-095F-EF941DC144A5}"/>
              </a:ext>
            </a:extLst>
          </p:cNvPr>
          <p:cNvSpPr>
            <a:spLocks noGrp="1" noChangeArrowheads="1"/>
          </p:cNvSpPr>
          <p:nvPr>
            <p:ph type="title"/>
          </p:nvPr>
        </p:nvSpPr>
        <p:spPr/>
        <p:txBody>
          <a:bodyPr/>
          <a:lstStyle/>
          <a:p>
            <a:pPr eaLnBrk="1" hangingPunct="1"/>
            <a:endParaRPr lang="zh-CN" altLang="zh-CN"/>
          </a:p>
        </p:txBody>
      </p:sp>
      <p:pic>
        <p:nvPicPr>
          <p:cNvPr id="12291" name="Picture 4">
            <a:extLst>
              <a:ext uri="{FF2B5EF4-FFF2-40B4-BE49-F238E27FC236}">
                <a16:creationId xmlns:a16="http://schemas.microsoft.com/office/drawing/2014/main" id="{AA9343DE-C765-DB54-DB77-EB6F74802EE5}"/>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873125" y="1600200"/>
            <a:ext cx="7396163"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A190B7B-EEE6-88CE-3F9C-6DA6C232E712}"/>
              </a:ext>
            </a:extLst>
          </p:cNvPr>
          <p:cNvSpPr>
            <a:spLocks noGrp="1" noChangeArrowheads="1"/>
          </p:cNvSpPr>
          <p:nvPr>
            <p:ph type="title"/>
          </p:nvPr>
        </p:nvSpPr>
        <p:spPr/>
        <p:txBody>
          <a:bodyPr/>
          <a:lstStyle/>
          <a:p>
            <a:pPr eaLnBrk="1" hangingPunct="1"/>
            <a:endParaRPr lang="zh-CN" altLang="zh-CN"/>
          </a:p>
        </p:txBody>
      </p:sp>
      <p:pic>
        <p:nvPicPr>
          <p:cNvPr id="13315" name="Picture 4">
            <a:extLst>
              <a:ext uri="{FF2B5EF4-FFF2-40B4-BE49-F238E27FC236}">
                <a16:creationId xmlns:a16="http://schemas.microsoft.com/office/drawing/2014/main" id="{73DAAA08-9AEC-3762-F23F-8005C9778078}"/>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777875" y="1600200"/>
            <a:ext cx="7586663"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7213F58A-3E67-5642-0501-FE7B338E79D4}"/>
              </a:ext>
            </a:extLst>
          </p:cNvPr>
          <p:cNvSpPr>
            <a:spLocks noGrp="1" noChangeArrowheads="1"/>
          </p:cNvSpPr>
          <p:nvPr>
            <p:ph type="title"/>
          </p:nvPr>
        </p:nvSpPr>
        <p:spPr/>
        <p:txBody>
          <a:bodyPr/>
          <a:lstStyle/>
          <a:p>
            <a:pPr eaLnBrk="1" hangingPunct="1"/>
            <a:endParaRPr lang="zh-CN" altLang="zh-CN"/>
          </a:p>
        </p:txBody>
      </p:sp>
      <p:pic>
        <p:nvPicPr>
          <p:cNvPr id="14339" name="Picture 4">
            <a:extLst>
              <a:ext uri="{FF2B5EF4-FFF2-40B4-BE49-F238E27FC236}">
                <a16:creationId xmlns:a16="http://schemas.microsoft.com/office/drawing/2014/main" id="{558ABC76-BC1D-F7CE-73AF-164DC8F0910C}"/>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109788"/>
            <a:ext cx="8229600" cy="35067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C951931-53BC-F4E3-B50A-96BF53078C4A}"/>
              </a:ext>
            </a:extLst>
          </p:cNvPr>
          <p:cNvSpPr>
            <a:spLocks noGrp="1" noChangeArrowheads="1"/>
          </p:cNvSpPr>
          <p:nvPr>
            <p:ph type="title"/>
          </p:nvPr>
        </p:nvSpPr>
        <p:spPr/>
        <p:txBody>
          <a:bodyPr/>
          <a:lstStyle/>
          <a:p>
            <a:pPr eaLnBrk="1" hangingPunct="1"/>
            <a:endParaRPr lang="zh-CN" altLang="zh-CN"/>
          </a:p>
        </p:txBody>
      </p:sp>
      <p:pic>
        <p:nvPicPr>
          <p:cNvPr id="15363" name="Picture 4">
            <a:extLst>
              <a:ext uri="{FF2B5EF4-FFF2-40B4-BE49-F238E27FC236}">
                <a16:creationId xmlns:a16="http://schemas.microsoft.com/office/drawing/2014/main" id="{70498E4F-FCC6-F40B-75FA-6383099FA2A9}"/>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614613"/>
            <a:ext cx="8229600" cy="2495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21BF414-E324-A287-96F8-1AC8490D124C}"/>
              </a:ext>
            </a:extLst>
          </p:cNvPr>
          <p:cNvSpPr>
            <a:spLocks noGrp="1" noChangeArrowheads="1"/>
          </p:cNvSpPr>
          <p:nvPr>
            <p:ph type="title"/>
          </p:nvPr>
        </p:nvSpPr>
        <p:spPr/>
        <p:txBody>
          <a:bodyPr/>
          <a:lstStyle/>
          <a:p>
            <a:pPr eaLnBrk="1" hangingPunct="1"/>
            <a:r>
              <a:rPr lang="en-US" altLang="zh-CN"/>
              <a:t>9.2</a:t>
            </a:r>
            <a:r>
              <a:rPr lang="zh-CN" altLang="en-US"/>
              <a:t>熵</a:t>
            </a:r>
          </a:p>
        </p:txBody>
      </p:sp>
      <p:sp>
        <p:nvSpPr>
          <p:cNvPr id="16387" name="Rectangle 3">
            <a:extLst>
              <a:ext uri="{FF2B5EF4-FFF2-40B4-BE49-F238E27FC236}">
                <a16:creationId xmlns:a16="http://schemas.microsoft.com/office/drawing/2014/main" id="{A1784E8A-AA39-3B8F-BFEE-BE7F770322AB}"/>
              </a:ext>
            </a:extLst>
          </p:cNvPr>
          <p:cNvSpPr>
            <a:spLocks noGrp="1" noChangeArrowheads="1"/>
          </p:cNvSpPr>
          <p:nvPr>
            <p:ph type="body" idx="1"/>
          </p:nvPr>
        </p:nvSpPr>
        <p:spPr/>
        <p:txBody>
          <a:bodyPr/>
          <a:lstStyle/>
          <a:p>
            <a:pPr eaLnBrk="1" hangingPunct="1">
              <a:lnSpc>
                <a:spcPct val="90000"/>
              </a:lnSpc>
            </a:pPr>
            <a:r>
              <a:rPr lang="zh-CN" altLang="en-US" sz="2800"/>
              <a:t>为了定量地研究通信系统，首先要建立信息量的概念，以便度量各种通信系统中最本质的东西，即信息量的大小。本节将通过定义熵来定义信息量大小的平均值。它是</a:t>
            </a:r>
            <a:r>
              <a:rPr lang="en-US" altLang="zh-CN" sz="2800"/>
              <a:t>1949</a:t>
            </a:r>
            <a:r>
              <a:rPr lang="zh-CN" altLang="en-US" sz="2800"/>
              <a:t>年引进的信息论中的概念，被认为是信息的数学测定和不确定性，它是通过计算概率分布的加权和得到。</a:t>
            </a:r>
          </a:p>
          <a:p>
            <a:pPr eaLnBrk="1" hangingPunct="1">
              <a:lnSpc>
                <a:spcPct val="90000"/>
              </a:lnSpc>
            </a:pPr>
            <a:r>
              <a:rPr lang="zh-CN" altLang="en-US" sz="2800"/>
              <a:t>假设有一个随机变量</a:t>
            </a:r>
            <a:r>
              <a:rPr lang="en-US" altLang="zh-CN" sz="2800"/>
              <a:t>X,</a:t>
            </a:r>
            <a:r>
              <a:rPr lang="zh-CN" altLang="en-US" sz="2800"/>
              <a:t>它根据概率分布</a:t>
            </a:r>
            <a:r>
              <a:rPr lang="en-US" altLang="zh-CN" sz="2800"/>
              <a:t>p(X)</a:t>
            </a:r>
            <a:r>
              <a:rPr lang="zh-CN" altLang="en-US" sz="2800"/>
              <a:t>在一个有限集合上取值。根据分布</a:t>
            </a:r>
            <a:r>
              <a:rPr lang="en-US" altLang="zh-CN" sz="2800"/>
              <a:t>p(X)</a:t>
            </a:r>
            <a:r>
              <a:rPr lang="zh-CN" altLang="en-US" sz="2800"/>
              <a:t>发生的事件来获得的信息是什么？等价地，如果一个事件还没有发生，有关这个结果的不确定性是什么？这个量称为</a:t>
            </a:r>
            <a:r>
              <a:rPr lang="en-US" altLang="zh-CN" sz="2800"/>
              <a:t>X</a:t>
            </a:r>
            <a:r>
              <a:rPr lang="zh-CN" altLang="en-US" sz="2800"/>
              <a:t>的熵，并用符号</a:t>
            </a:r>
            <a:r>
              <a:rPr lang="en-US" altLang="zh-CN" sz="2800"/>
              <a:t>H(X)</a:t>
            </a:r>
            <a:r>
              <a:rPr lang="zh-CN" altLang="en-US" sz="2800"/>
              <a:t>表示。</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D1594A1-7B56-BEB1-90E3-E929BAFA87EE}"/>
              </a:ext>
            </a:extLst>
          </p:cNvPr>
          <p:cNvSpPr>
            <a:spLocks noGrp="1" noChangeArrowheads="1"/>
          </p:cNvSpPr>
          <p:nvPr>
            <p:ph type="title"/>
          </p:nvPr>
        </p:nvSpPr>
        <p:spPr/>
        <p:txBody>
          <a:bodyPr/>
          <a:lstStyle/>
          <a:p>
            <a:pPr eaLnBrk="1" hangingPunct="1"/>
            <a:endParaRPr lang="zh-CN" altLang="zh-CN"/>
          </a:p>
        </p:txBody>
      </p:sp>
      <p:pic>
        <p:nvPicPr>
          <p:cNvPr id="17411" name="Picture 4">
            <a:extLst>
              <a:ext uri="{FF2B5EF4-FFF2-40B4-BE49-F238E27FC236}">
                <a16:creationId xmlns:a16="http://schemas.microsoft.com/office/drawing/2014/main" id="{03DF7E6F-BC37-499F-174C-618106A3A651}"/>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151063"/>
            <a:ext cx="8229600" cy="3424237"/>
          </a:xfrm>
          <a:noFill/>
        </p:spPr>
      </p:pic>
      <p:pic>
        <p:nvPicPr>
          <p:cNvPr id="17412" name="Picture 5">
            <a:extLst>
              <a:ext uri="{FF2B5EF4-FFF2-40B4-BE49-F238E27FC236}">
                <a16:creationId xmlns:a16="http://schemas.microsoft.com/office/drawing/2014/main" id="{4E7EFD8F-90EF-D7E7-0BB6-D0E032470E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334000"/>
            <a:ext cx="7823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AB2F853-B4DB-C764-6844-CCE162DAF9A5}"/>
              </a:ext>
            </a:extLst>
          </p:cNvPr>
          <p:cNvSpPr>
            <a:spLocks noGrp="1" noChangeArrowheads="1"/>
          </p:cNvSpPr>
          <p:nvPr>
            <p:ph type="title"/>
          </p:nvPr>
        </p:nvSpPr>
        <p:spPr/>
        <p:txBody>
          <a:bodyPr/>
          <a:lstStyle/>
          <a:p>
            <a:pPr eaLnBrk="1" hangingPunct="1"/>
            <a:endParaRPr lang="zh-CN" altLang="zh-CN"/>
          </a:p>
        </p:txBody>
      </p:sp>
      <p:pic>
        <p:nvPicPr>
          <p:cNvPr id="18435" name="Picture 4">
            <a:extLst>
              <a:ext uri="{FF2B5EF4-FFF2-40B4-BE49-F238E27FC236}">
                <a16:creationId xmlns:a16="http://schemas.microsoft.com/office/drawing/2014/main" id="{C0D48057-4C3A-CEFC-E907-5DFE7B63FA5E}"/>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944813"/>
            <a:ext cx="8229600" cy="1836737"/>
          </a:xfr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BB510FE-B115-9915-97AA-61C297D802B6}"/>
              </a:ext>
            </a:extLst>
          </p:cNvPr>
          <p:cNvSpPr>
            <a:spLocks noGrp="1" noChangeArrowheads="1"/>
          </p:cNvSpPr>
          <p:nvPr>
            <p:ph type="title"/>
          </p:nvPr>
        </p:nvSpPr>
        <p:spPr/>
        <p:txBody>
          <a:bodyPr/>
          <a:lstStyle/>
          <a:p>
            <a:pPr eaLnBrk="1" hangingPunct="1"/>
            <a:endParaRPr lang="zh-CN" altLang="zh-CN"/>
          </a:p>
        </p:txBody>
      </p:sp>
      <p:pic>
        <p:nvPicPr>
          <p:cNvPr id="19459" name="Picture 4">
            <a:extLst>
              <a:ext uri="{FF2B5EF4-FFF2-40B4-BE49-F238E27FC236}">
                <a16:creationId xmlns:a16="http://schemas.microsoft.com/office/drawing/2014/main" id="{44940E6A-FCBF-D4EB-DD67-E2E5F2203D8A}"/>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386013"/>
            <a:ext cx="8229600" cy="2954337"/>
          </a:xfr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D960066-5FF5-E01A-BE3A-11FBE3725FD8}"/>
              </a:ext>
            </a:extLst>
          </p:cNvPr>
          <p:cNvSpPr>
            <a:spLocks noGrp="1" noChangeArrowheads="1"/>
          </p:cNvSpPr>
          <p:nvPr>
            <p:ph type="title"/>
          </p:nvPr>
        </p:nvSpPr>
        <p:spPr/>
        <p:txBody>
          <a:bodyPr/>
          <a:lstStyle/>
          <a:p>
            <a:pPr eaLnBrk="1" hangingPunct="1"/>
            <a:endParaRPr lang="zh-CN" altLang="zh-CN"/>
          </a:p>
        </p:txBody>
      </p:sp>
      <p:pic>
        <p:nvPicPr>
          <p:cNvPr id="20483" name="Picture 4">
            <a:extLst>
              <a:ext uri="{FF2B5EF4-FFF2-40B4-BE49-F238E27FC236}">
                <a16:creationId xmlns:a16="http://schemas.microsoft.com/office/drawing/2014/main" id="{77B0A7F6-1E9B-5367-E3A8-881B9959EABA}"/>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1766888"/>
            <a:ext cx="8229600" cy="4191000"/>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4F5C9EE9-E3B4-5BCE-A7CB-18085B776985}"/>
              </a:ext>
            </a:extLst>
          </p:cNvPr>
          <p:cNvSpPr>
            <a:spLocks noGrp="1" noChangeArrowheads="1"/>
          </p:cNvSpPr>
          <p:nvPr>
            <p:ph type="title"/>
          </p:nvPr>
        </p:nvSpPr>
        <p:spPr/>
        <p:txBody>
          <a:bodyPr/>
          <a:lstStyle/>
          <a:p>
            <a:pPr eaLnBrk="1" hangingPunct="1"/>
            <a:r>
              <a:rPr lang="zh-CN" altLang="en-US"/>
              <a:t>定理 </a:t>
            </a:r>
            <a:r>
              <a:rPr lang="en-US" altLang="zh-CN"/>
              <a:t>9.2.1 </a:t>
            </a:r>
            <a:r>
              <a:rPr lang="zh-CN" altLang="en-US"/>
              <a:t>熵的性质 </a:t>
            </a:r>
          </a:p>
        </p:txBody>
      </p:sp>
      <p:sp>
        <p:nvSpPr>
          <p:cNvPr id="21507" name="Rectangle 3">
            <a:extLst>
              <a:ext uri="{FF2B5EF4-FFF2-40B4-BE49-F238E27FC236}">
                <a16:creationId xmlns:a16="http://schemas.microsoft.com/office/drawing/2014/main" id="{15C094C2-6D8F-E4B5-D01B-6F58BDD1579D}"/>
              </a:ext>
            </a:extLst>
          </p:cNvPr>
          <p:cNvSpPr>
            <a:spLocks noGrp="1" noChangeArrowheads="1"/>
          </p:cNvSpPr>
          <p:nvPr>
            <p:ph type="body" idx="1"/>
          </p:nvPr>
        </p:nvSpPr>
        <p:spPr/>
        <p:txBody>
          <a:bodyPr/>
          <a:lstStyle/>
          <a:p>
            <a:pPr eaLnBrk="1" hangingPunct="1"/>
            <a:endParaRPr lang="en-US" altLang="zh-CN"/>
          </a:p>
          <a:p>
            <a:pPr eaLnBrk="1" hangingPunct="1"/>
            <a:endParaRPr lang="en-US" altLang="zh-CN"/>
          </a:p>
        </p:txBody>
      </p:sp>
      <p:pic>
        <p:nvPicPr>
          <p:cNvPr id="21508" name="Picture 4">
            <a:extLst>
              <a:ext uri="{FF2B5EF4-FFF2-40B4-BE49-F238E27FC236}">
                <a16:creationId xmlns:a16="http://schemas.microsoft.com/office/drawing/2014/main" id="{D8754658-8E03-1E60-3A13-B82755C5A8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38400"/>
            <a:ext cx="9547225" cy="243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DC8B228-D29E-DC8E-F64F-817218339ECC}"/>
              </a:ext>
            </a:extLst>
          </p:cNvPr>
          <p:cNvSpPr>
            <a:spLocks noGrp="1" noChangeArrowheads="1"/>
          </p:cNvSpPr>
          <p:nvPr>
            <p:ph type="title"/>
          </p:nvPr>
        </p:nvSpPr>
        <p:spPr/>
        <p:txBody>
          <a:bodyPr/>
          <a:lstStyle/>
          <a:p>
            <a:pPr eaLnBrk="1" hangingPunct="1"/>
            <a:r>
              <a:rPr lang="en-US" altLang="zh-CN"/>
              <a:t>9.3 </a:t>
            </a:r>
            <a:r>
              <a:rPr lang="zh-CN" altLang="en-US"/>
              <a:t>熵的特性</a:t>
            </a:r>
          </a:p>
        </p:txBody>
      </p:sp>
      <p:sp>
        <p:nvSpPr>
          <p:cNvPr id="22531" name="Rectangle 3">
            <a:extLst>
              <a:ext uri="{FF2B5EF4-FFF2-40B4-BE49-F238E27FC236}">
                <a16:creationId xmlns:a16="http://schemas.microsoft.com/office/drawing/2014/main" id="{0EC52C56-789F-E74C-7C00-332D3F2F10D4}"/>
              </a:ext>
            </a:extLst>
          </p:cNvPr>
          <p:cNvSpPr>
            <a:spLocks noGrp="1" noChangeArrowheads="1"/>
          </p:cNvSpPr>
          <p:nvPr>
            <p:ph type="body" idx="1"/>
          </p:nvPr>
        </p:nvSpPr>
        <p:spPr/>
        <p:txBody>
          <a:bodyPr/>
          <a:lstStyle/>
          <a:p>
            <a:pPr eaLnBrk="1" hangingPunct="1"/>
            <a:r>
              <a:rPr lang="en-US" altLang="zh-CN"/>
              <a:t> </a:t>
            </a:r>
            <a:r>
              <a:rPr lang="zh-CN" altLang="en-US"/>
              <a:t>在这一节</a:t>
            </a:r>
            <a:r>
              <a:rPr lang="en-US" altLang="zh-CN"/>
              <a:t>,</a:t>
            </a:r>
            <a:r>
              <a:rPr lang="zh-CN" altLang="en-US"/>
              <a:t>我们将要证明一些关于熵的基本结果。首先我们将介绍一个非常有用的基本结论</a:t>
            </a:r>
            <a:r>
              <a:rPr lang="en-US" altLang="zh-CN"/>
              <a:t>——Jensen</a:t>
            </a:r>
            <a:r>
              <a:rPr lang="zh-CN" altLang="en-US"/>
              <a:t>不等式。而</a:t>
            </a:r>
            <a:r>
              <a:rPr lang="en-US" altLang="zh-CN"/>
              <a:t>Jensen</a:t>
            </a:r>
            <a:r>
              <a:rPr lang="zh-CN" altLang="en-US"/>
              <a:t>不等式涉及到凹函数。我们先介绍凹函数及相关概念。 </a:t>
            </a:r>
          </a:p>
          <a:p>
            <a:pPr eaLnBrk="1" hangingPunct="1"/>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22F005F-CD3D-8A68-7DAF-0C376D2D7706}"/>
              </a:ext>
            </a:extLst>
          </p:cNvPr>
          <p:cNvSpPr>
            <a:spLocks noGrp="1" noChangeArrowheads="1"/>
          </p:cNvSpPr>
          <p:nvPr>
            <p:ph type="title"/>
          </p:nvPr>
        </p:nvSpPr>
        <p:spPr/>
        <p:txBody>
          <a:bodyPr/>
          <a:lstStyle/>
          <a:p>
            <a:pPr eaLnBrk="1" hangingPunct="1"/>
            <a:endParaRPr lang="zh-CN" altLang="zh-CN"/>
          </a:p>
        </p:txBody>
      </p:sp>
      <p:pic>
        <p:nvPicPr>
          <p:cNvPr id="23555" name="Picture 4">
            <a:extLst>
              <a:ext uri="{FF2B5EF4-FFF2-40B4-BE49-F238E27FC236}">
                <a16:creationId xmlns:a16="http://schemas.microsoft.com/office/drawing/2014/main" id="{B8865A43-5ED4-E3EB-E71A-A9787EDF95CF}"/>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81000" y="1905000"/>
            <a:ext cx="8229600" cy="1217613"/>
          </a:xfrm>
          <a:noFill/>
        </p:spPr>
      </p:pic>
      <p:pic>
        <p:nvPicPr>
          <p:cNvPr id="23556" name="Picture 5">
            <a:extLst>
              <a:ext uri="{FF2B5EF4-FFF2-40B4-BE49-F238E27FC236}">
                <a16:creationId xmlns:a16="http://schemas.microsoft.com/office/drawing/2014/main" id="{6FF182CA-1F9A-9A2D-FFD6-0014CEEE91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352800"/>
            <a:ext cx="8305800"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4314755A-CB33-BC4B-628A-123CBA6B5108}"/>
              </a:ext>
            </a:extLst>
          </p:cNvPr>
          <p:cNvSpPr>
            <a:spLocks noGrp="1" noChangeArrowheads="1"/>
          </p:cNvSpPr>
          <p:nvPr>
            <p:ph type="title"/>
          </p:nvPr>
        </p:nvSpPr>
        <p:spPr/>
        <p:txBody>
          <a:bodyPr/>
          <a:lstStyle/>
          <a:p>
            <a:pPr eaLnBrk="1" hangingPunct="1"/>
            <a:endParaRPr lang="zh-CN" altLang="zh-CN"/>
          </a:p>
        </p:txBody>
      </p:sp>
      <p:pic>
        <p:nvPicPr>
          <p:cNvPr id="24579" name="Picture 4">
            <a:extLst>
              <a:ext uri="{FF2B5EF4-FFF2-40B4-BE49-F238E27FC236}">
                <a16:creationId xmlns:a16="http://schemas.microsoft.com/office/drawing/2014/main" id="{931653E4-BB84-3B1A-C518-C8D33B21E0ED}"/>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924175"/>
            <a:ext cx="8229600" cy="1876425"/>
          </a:xfr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CEE6E2E-9190-AABE-7C76-80E240570000}"/>
              </a:ext>
            </a:extLst>
          </p:cNvPr>
          <p:cNvSpPr>
            <a:spLocks noGrp="1" noChangeArrowheads="1"/>
          </p:cNvSpPr>
          <p:nvPr>
            <p:ph type="title"/>
          </p:nvPr>
        </p:nvSpPr>
        <p:spPr/>
        <p:txBody>
          <a:bodyPr/>
          <a:lstStyle/>
          <a:p>
            <a:pPr eaLnBrk="1" hangingPunct="1"/>
            <a:endParaRPr lang="zh-CN" altLang="zh-CN"/>
          </a:p>
        </p:txBody>
      </p:sp>
      <p:pic>
        <p:nvPicPr>
          <p:cNvPr id="25603" name="Picture 4">
            <a:extLst>
              <a:ext uri="{FF2B5EF4-FFF2-40B4-BE49-F238E27FC236}">
                <a16:creationId xmlns:a16="http://schemas.microsoft.com/office/drawing/2014/main" id="{300CE125-6E06-E274-25B2-1592C75C4CBC}"/>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709863"/>
            <a:ext cx="8229600" cy="2306637"/>
          </a:xfr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F654FF35-A657-99AF-6958-EDB05F25E596}"/>
              </a:ext>
            </a:extLst>
          </p:cNvPr>
          <p:cNvSpPr>
            <a:spLocks noGrp="1" noChangeArrowheads="1"/>
          </p:cNvSpPr>
          <p:nvPr>
            <p:ph type="title"/>
          </p:nvPr>
        </p:nvSpPr>
        <p:spPr/>
        <p:txBody>
          <a:bodyPr/>
          <a:lstStyle/>
          <a:p>
            <a:pPr eaLnBrk="1" hangingPunct="1"/>
            <a:endParaRPr lang="zh-CN" altLang="zh-CN"/>
          </a:p>
        </p:txBody>
      </p:sp>
      <p:pic>
        <p:nvPicPr>
          <p:cNvPr id="26627" name="Picture 4">
            <a:extLst>
              <a:ext uri="{FF2B5EF4-FFF2-40B4-BE49-F238E27FC236}">
                <a16:creationId xmlns:a16="http://schemas.microsoft.com/office/drawing/2014/main" id="{14BAD994-F271-9581-FC29-3E8B3E58333A}"/>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216150"/>
            <a:ext cx="8229600" cy="3294063"/>
          </a:xfr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EB8CA47-C969-7141-7A5A-3B98B0745435}"/>
              </a:ext>
            </a:extLst>
          </p:cNvPr>
          <p:cNvSpPr>
            <a:spLocks noGrp="1" noChangeArrowheads="1"/>
          </p:cNvSpPr>
          <p:nvPr>
            <p:ph type="title"/>
          </p:nvPr>
        </p:nvSpPr>
        <p:spPr/>
        <p:txBody>
          <a:bodyPr/>
          <a:lstStyle/>
          <a:p>
            <a:pPr eaLnBrk="1" hangingPunct="1"/>
            <a:endParaRPr lang="zh-CN" altLang="zh-CN"/>
          </a:p>
        </p:txBody>
      </p:sp>
      <p:pic>
        <p:nvPicPr>
          <p:cNvPr id="27651" name="Picture 4">
            <a:extLst>
              <a:ext uri="{FF2B5EF4-FFF2-40B4-BE49-F238E27FC236}">
                <a16:creationId xmlns:a16="http://schemas.microsoft.com/office/drawing/2014/main" id="{6B283C00-9FB0-45F6-509E-DA80AD9A7670}"/>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04800" y="2133600"/>
            <a:ext cx="8229600" cy="715963"/>
          </a:xfr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D06E93C1-B0A5-8578-EC68-57228A78A7FB}"/>
              </a:ext>
            </a:extLst>
          </p:cNvPr>
          <p:cNvSpPr>
            <a:spLocks noGrp="1" noChangeArrowheads="1"/>
          </p:cNvSpPr>
          <p:nvPr>
            <p:ph type="title"/>
          </p:nvPr>
        </p:nvSpPr>
        <p:spPr/>
        <p:txBody>
          <a:bodyPr/>
          <a:lstStyle/>
          <a:p>
            <a:pPr eaLnBrk="1" hangingPunct="1"/>
            <a:endParaRPr lang="zh-CN" altLang="zh-CN"/>
          </a:p>
        </p:txBody>
      </p:sp>
      <p:pic>
        <p:nvPicPr>
          <p:cNvPr id="28675" name="Picture 4">
            <a:extLst>
              <a:ext uri="{FF2B5EF4-FFF2-40B4-BE49-F238E27FC236}">
                <a16:creationId xmlns:a16="http://schemas.microsoft.com/office/drawing/2014/main" id="{DDF48433-082E-391C-6C11-046D931BB6A7}"/>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1895475"/>
            <a:ext cx="8229600" cy="3935413"/>
          </a:xfr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1C936ADD-2C87-1113-ED67-C68D69743A05}"/>
              </a:ext>
            </a:extLst>
          </p:cNvPr>
          <p:cNvSpPr>
            <a:spLocks noGrp="1" noChangeArrowheads="1"/>
          </p:cNvSpPr>
          <p:nvPr>
            <p:ph type="title"/>
          </p:nvPr>
        </p:nvSpPr>
        <p:spPr/>
        <p:txBody>
          <a:bodyPr/>
          <a:lstStyle/>
          <a:p>
            <a:pPr eaLnBrk="1" hangingPunct="1"/>
            <a:endParaRPr lang="zh-CN" altLang="zh-CN"/>
          </a:p>
        </p:txBody>
      </p:sp>
      <p:pic>
        <p:nvPicPr>
          <p:cNvPr id="29699" name="Picture 4">
            <a:extLst>
              <a:ext uri="{FF2B5EF4-FFF2-40B4-BE49-F238E27FC236}">
                <a16:creationId xmlns:a16="http://schemas.microsoft.com/office/drawing/2014/main" id="{631D3EF5-BAA5-2C8E-DA85-98CA2FB441A6}"/>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04800" y="1752600"/>
            <a:ext cx="7869238" cy="609600"/>
          </a:xfrm>
          <a:noFill/>
        </p:spPr>
      </p:pic>
      <p:pic>
        <p:nvPicPr>
          <p:cNvPr id="29700" name="Picture 5">
            <a:extLst>
              <a:ext uri="{FF2B5EF4-FFF2-40B4-BE49-F238E27FC236}">
                <a16:creationId xmlns:a16="http://schemas.microsoft.com/office/drawing/2014/main" id="{3E27447F-C351-A7FD-AFB9-CA7EBF971A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90800"/>
            <a:ext cx="8783638"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4289F1D0-8A26-5541-B4EA-E88403FEEC49}"/>
              </a:ext>
            </a:extLst>
          </p:cNvPr>
          <p:cNvSpPr>
            <a:spLocks noGrp="1" noChangeArrowheads="1"/>
          </p:cNvSpPr>
          <p:nvPr>
            <p:ph type="title"/>
          </p:nvPr>
        </p:nvSpPr>
        <p:spPr/>
        <p:txBody>
          <a:bodyPr/>
          <a:lstStyle/>
          <a:p>
            <a:pPr eaLnBrk="1" hangingPunct="1"/>
            <a:r>
              <a:rPr lang="en-US" altLang="zh-CN"/>
              <a:t>9.4 </a:t>
            </a:r>
            <a:r>
              <a:rPr lang="zh-CN" altLang="en-US"/>
              <a:t>假密钥和唯一性距离</a:t>
            </a:r>
          </a:p>
        </p:txBody>
      </p:sp>
      <p:sp>
        <p:nvSpPr>
          <p:cNvPr id="30723" name="Rectangle 3">
            <a:extLst>
              <a:ext uri="{FF2B5EF4-FFF2-40B4-BE49-F238E27FC236}">
                <a16:creationId xmlns:a16="http://schemas.microsoft.com/office/drawing/2014/main" id="{5AE45C50-6443-16EE-831E-4786CCB8EFCE}"/>
              </a:ext>
            </a:extLst>
          </p:cNvPr>
          <p:cNvSpPr>
            <a:spLocks noGrp="1" noChangeArrowheads="1"/>
          </p:cNvSpPr>
          <p:nvPr>
            <p:ph type="body" idx="1"/>
          </p:nvPr>
        </p:nvSpPr>
        <p:spPr/>
        <p:txBody>
          <a:bodyPr/>
          <a:lstStyle/>
          <a:p>
            <a:pPr eaLnBrk="1" hangingPunct="1"/>
            <a:r>
              <a:rPr lang="zh-CN" altLang="en-US"/>
              <a:t>在这一节，我们把已证明了的熵的结论应用到密码体制上，首先我们证明在密码体制的组成部分之间存在一个基本关系。对密文空间和密钥空间，条件熵称为密钥暧昧度，它是密文能泄露多少有关密钥的一个测度。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13A5986E-E0AB-0A9C-BE42-67AFF953FCA3}"/>
              </a:ext>
            </a:extLst>
          </p:cNvPr>
          <p:cNvSpPr>
            <a:spLocks noGrp="1" noChangeArrowheads="1"/>
          </p:cNvSpPr>
          <p:nvPr>
            <p:ph type="title"/>
          </p:nvPr>
        </p:nvSpPr>
        <p:spPr/>
        <p:txBody>
          <a:bodyPr/>
          <a:lstStyle/>
          <a:p>
            <a:pPr eaLnBrk="1" hangingPunct="1"/>
            <a:endParaRPr lang="zh-CN" altLang="zh-CN"/>
          </a:p>
        </p:txBody>
      </p:sp>
      <p:pic>
        <p:nvPicPr>
          <p:cNvPr id="31747" name="Picture 4">
            <a:extLst>
              <a:ext uri="{FF2B5EF4-FFF2-40B4-BE49-F238E27FC236}">
                <a16:creationId xmlns:a16="http://schemas.microsoft.com/office/drawing/2014/main" id="{3C8C1541-44A7-211C-4C82-5ED48FB09E61}"/>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81000" y="1828800"/>
            <a:ext cx="8229600" cy="1341438"/>
          </a:xfr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FB526FE0-BBF3-FA32-0BEE-4F3374657B86}"/>
              </a:ext>
            </a:extLst>
          </p:cNvPr>
          <p:cNvSpPr>
            <a:spLocks noGrp="1" noChangeArrowheads="1"/>
          </p:cNvSpPr>
          <p:nvPr>
            <p:ph type="title"/>
          </p:nvPr>
        </p:nvSpPr>
        <p:spPr/>
        <p:txBody>
          <a:bodyPr/>
          <a:lstStyle/>
          <a:p>
            <a:pPr eaLnBrk="1" hangingPunct="1"/>
            <a:endParaRPr lang="zh-CN" altLang="zh-CN"/>
          </a:p>
        </p:txBody>
      </p:sp>
      <p:pic>
        <p:nvPicPr>
          <p:cNvPr id="32771" name="Picture 4">
            <a:extLst>
              <a:ext uri="{FF2B5EF4-FFF2-40B4-BE49-F238E27FC236}">
                <a16:creationId xmlns:a16="http://schemas.microsoft.com/office/drawing/2014/main" id="{C1DF9800-88B0-5730-598E-2F4737E06D72}"/>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998538" y="1600200"/>
            <a:ext cx="7145337" cy="4525963"/>
          </a:xfr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BF3D7D0-6C08-CF3E-3C79-09066FCB721A}"/>
              </a:ext>
            </a:extLst>
          </p:cNvPr>
          <p:cNvSpPr>
            <a:spLocks noGrp="1" noChangeArrowheads="1"/>
          </p:cNvSpPr>
          <p:nvPr>
            <p:ph type="title"/>
          </p:nvPr>
        </p:nvSpPr>
        <p:spPr/>
        <p:txBody>
          <a:bodyPr/>
          <a:lstStyle/>
          <a:p>
            <a:pPr eaLnBrk="1" hangingPunct="1"/>
            <a:endParaRPr lang="zh-CN" altLang="zh-CN"/>
          </a:p>
        </p:txBody>
      </p:sp>
      <p:pic>
        <p:nvPicPr>
          <p:cNvPr id="33795" name="Picture 4">
            <a:extLst>
              <a:ext uri="{FF2B5EF4-FFF2-40B4-BE49-F238E27FC236}">
                <a16:creationId xmlns:a16="http://schemas.microsoft.com/office/drawing/2014/main" id="{55D69DA3-4874-F576-1141-BF76AEA3A5C6}"/>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533400" y="1524000"/>
            <a:ext cx="8229600" cy="346075"/>
          </a:xfrm>
          <a:noFill/>
        </p:spPr>
      </p:pic>
      <p:pic>
        <p:nvPicPr>
          <p:cNvPr id="33796" name="Picture 5">
            <a:extLst>
              <a:ext uri="{FF2B5EF4-FFF2-40B4-BE49-F238E27FC236}">
                <a16:creationId xmlns:a16="http://schemas.microsoft.com/office/drawing/2014/main" id="{061AC7B1-A7AC-7750-DB00-489A0CFAB1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57400"/>
            <a:ext cx="7543800" cy="122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0C7F306-F9AA-A392-843C-BFED92D3342B}"/>
              </a:ext>
            </a:extLst>
          </p:cNvPr>
          <p:cNvSpPr>
            <a:spLocks noGrp="1" noChangeArrowheads="1"/>
          </p:cNvSpPr>
          <p:nvPr>
            <p:ph type="title"/>
          </p:nvPr>
        </p:nvSpPr>
        <p:spPr/>
        <p:txBody>
          <a:bodyPr/>
          <a:lstStyle/>
          <a:p>
            <a:pPr eaLnBrk="1" hangingPunct="1"/>
            <a:endParaRPr lang="zh-CN" altLang="zh-CN"/>
          </a:p>
        </p:txBody>
      </p:sp>
      <p:sp>
        <p:nvSpPr>
          <p:cNvPr id="34819" name="Rectangle 3">
            <a:extLst>
              <a:ext uri="{FF2B5EF4-FFF2-40B4-BE49-F238E27FC236}">
                <a16:creationId xmlns:a16="http://schemas.microsoft.com/office/drawing/2014/main" id="{4F416C4A-549F-BB16-BE99-E51305944AA2}"/>
              </a:ext>
            </a:extLst>
          </p:cNvPr>
          <p:cNvSpPr>
            <a:spLocks noGrp="1" noChangeArrowheads="1"/>
          </p:cNvSpPr>
          <p:nvPr>
            <p:ph type="body" idx="1"/>
          </p:nvPr>
        </p:nvSpPr>
        <p:spPr/>
        <p:txBody>
          <a:bodyPr/>
          <a:lstStyle/>
          <a:p>
            <a:pPr eaLnBrk="1" hangingPunct="1">
              <a:lnSpc>
                <a:spcPct val="90000"/>
              </a:lnSpc>
            </a:pPr>
            <a:r>
              <a:rPr lang="zh-CN" altLang="en-US"/>
              <a:t>假设攻击者在得到密文串</a:t>
            </a:r>
            <a:r>
              <a:rPr lang="en-US" altLang="zh-CN"/>
              <a:t>WNAJW</a:t>
            </a:r>
            <a:r>
              <a:rPr lang="zh-CN" altLang="en-US"/>
              <a:t>，它是通过使用移位密码加密而得到的（在密码分析学方面，为了说明密码算法是安全的，一个自然的假设是：加密算法的公开的，任何人都知道，而唯一保密的只是解密密钥），很容易看到这里仅有两个有“意义”明文串，即</a:t>
            </a:r>
            <a:r>
              <a:rPr lang="en-US" altLang="zh-CN"/>
              <a:t>river</a:t>
            </a:r>
            <a:r>
              <a:rPr lang="zh-CN" altLang="en-US"/>
              <a:t>和</a:t>
            </a:r>
            <a:r>
              <a:rPr lang="en-US" altLang="zh-CN"/>
              <a:t>arena</a:t>
            </a:r>
            <a:r>
              <a:rPr lang="zh-CN" altLang="en-US"/>
              <a:t>，它是根据可能的加密密钥</a:t>
            </a:r>
            <a:r>
              <a:rPr lang="en-US" altLang="zh-CN"/>
              <a:t>F</a:t>
            </a:r>
            <a:r>
              <a:rPr lang="zh-CN" altLang="en-US"/>
              <a:t>（</a:t>
            </a:r>
            <a:r>
              <a:rPr lang="en-US" altLang="zh-CN"/>
              <a:t>=5</a:t>
            </a:r>
            <a:r>
              <a:rPr lang="zh-CN" altLang="en-US"/>
              <a:t>）和</a:t>
            </a:r>
            <a:r>
              <a:rPr lang="en-US" altLang="zh-CN"/>
              <a:t>W</a:t>
            </a:r>
            <a:r>
              <a:rPr lang="zh-CN" altLang="en-US"/>
              <a:t>（</a:t>
            </a:r>
            <a:r>
              <a:rPr lang="en-US" altLang="zh-CN"/>
              <a:t>=22</a:t>
            </a:r>
            <a:r>
              <a:rPr lang="zh-CN" altLang="en-US"/>
              <a:t>）得到的。当然这两个密钥，一个是正确的，另一个是假密钥。</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FD0A383-0B66-230D-0C00-84E2B8E7B6E2}"/>
              </a:ext>
            </a:extLst>
          </p:cNvPr>
          <p:cNvSpPr>
            <a:spLocks noGrp="1" noChangeArrowheads="1"/>
          </p:cNvSpPr>
          <p:nvPr>
            <p:ph type="title"/>
          </p:nvPr>
        </p:nvSpPr>
        <p:spPr/>
        <p:txBody>
          <a:bodyPr/>
          <a:lstStyle/>
          <a:p>
            <a:pPr eaLnBrk="1" hangingPunct="1"/>
            <a:endParaRPr lang="zh-CN" altLang="zh-CN"/>
          </a:p>
        </p:txBody>
      </p:sp>
      <p:sp>
        <p:nvSpPr>
          <p:cNvPr id="35843" name="Rectangle 3">
            <a:extLst>
              <a:ext uri="{FF2B5EF4-FFF2-40B4-BE49-F238E27FC236}">
                <a16:creationId xmlns:a16="http://schemas.microsoft.com/office/drawing/2014/main" id="{26376584-34B4-E422-CCB9-E72C29A69407}"/>
              </a:ext>
            </a:extLst>
          </p:cNvPr>
          <p:cNvSpPr>
            <a:spLocks noGrp="1" noChangeArrowheads="1"/>
          </p:cNvSpPr>
          <p:nvPr>
            <p:ph type="body" idx="1"/>
          </p:nvPr>
        </p:nvSpPr>
        <p:spPr/>
        <p:txBody>
          <a:bodyPr/>
          <a:lstStyle/>
          <a:p>
            <a:pPr eaLnBrk="1" hangingPunct="1"/>
            <a:r>
              <a:rPr lang="zh-CN" altLang="en-US"/>
              <a:t>在这儿，我们不是想要求出这个密钥，因为移位密码算法比较简单，通过穷尽搜索很容易得到答案，我们的目的是证明关于移位密码算法的假密钥的期望值的一个界。表</a:t>
            </a:r>
            <a:r>
              <a:rPr lang="en-US" altLang="zh-CN"/>
              <a:t>9.1</a:t>
            </a:r>
            <a:r>
              <a:rPr lang="zh-CN" altLang="en-US"/>
              <a:t>是通过各种英文小说、杂志和报纸上统计</a:t>
            </a:r>
            <a:r>
              <a:rPr lang="en-US" altLang="zh-CN"/>
              <a:t>26</a:t>
            </a:r>
            <a:r>
              <a:rPr lang="zh-CN" altLang="en-US"/>
              <a:t>个字母出现的概率。</a:t>
            </a:r>
          </a:p>
          <a:p>
            <a:pPr eaLnBrk="1" hangingPunct="1"/>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1C0D3C5-B570-2604-4F58-5C151B086073}"/>
              </a:ext>
            </a:extLst>
          </p:cNvPr>
          <p:cNvSpPr>
            <a:spLocks noGrp="1" noChangeArrowheads="1"/>
          </p:cNvSpPr>
          <p:nvPr>
            <p:ph type="title"/>
          </p:nvPr>
        </p:nvSpPr>
        <p:spPr/>
        <p:txBody>
          <a:bodyPr/>
          <a:lstStyle/>
          <a:p>
            <a:pPr eaLnBrk="1" hangingPunct="1"/>
            <a:endParaRPr lang="zh-CN" altLang="zh-CN"/>
          </a:p>
        </p:txBody>
      </p:sp>
      <p:pic>
        <p:nvPicPr>
          <p:cNvPr id="36867" name="Picture 4">
            <a:extLst>
              <a:ext uri="{FF2B5EF4-FFF2-40B4-BE49-F238E27FC236}">
                <a16:creationId xmlns:a16="http://schemas.microsoft.com/office/drawing/2014/main" id="{9B4CDAD9-1A8A-A2F5-1181-6F775587A695}"/>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1785938"/>
            <a:ext cx="8229600" cy="4154487"/>
          </a:xfr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C915315-729C-D83B-F1C5-23ED73458098}"/>
              </a:ext>
            </a:extLst>
          </p:cNvPr>
          <p:cNvSpPr>
            <a:spLocks noGrp="1" noChangeArrowheads="1"/>
          </p:cNvSpPr>
          <p:nvPr>
            <p:ph type="title"/>
          </p:nvPr>
        </p:nvSpPr>
        <p:spPr/>
        <p:txBody>
          <a:bodyPr/>
          <a:lstStyle/>
          <a:p>
            <a:pPr eaLnBrk="1" hangingPunct="1"/>
            <a:endParaRPr lang="zh-CN" altLang="zh-CN"/>
          </a:p>
        </p:txBody>
      </p:sp>
      <p:pic>
        <p:nvPicPr>
          <p:cNvPr id="37891" name="Picture 4">
            <a:extLst>
              <a:ext uri="{FF2B5EF4-FFF2-40B4-BE49-F238E27FC236}">
                <a16:creationId xmlns:a16="http://schemas.microsoft.com/office/drawing/2014/main" id="{3368A1BC-AF7D-7C1F-EB6D-781A25FD2751}"/>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28600" y="1600200"/>
            <a:ext cx="8229600" cy="2706688"/>
          </a:xfr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71BD502-2FBA-E254-21D3-BA20E996A8E0}"/>
              </a:ext>
            </a:extLst>
          </p:cNvPr>
          <p:cNvSpPr>
            <a:spLocks noGrp="1" noChangeArrowheads="1"/>
          </p:cNvSpPr>
          <p:nvPr>
            <p:ph type="title"/>
          </p:nvPr>
        </p:nvSpPr>
        <p:spPr/>
        <p:txBody>
          <a:bodyPr/>
          <a:lstStyle/>
          <a:p>
            <a:pPr eaLnBrk="1" hangingPunct="1"/>
            <a:endParaRPr lang="zh-CN" altLang="zh-CN"/>
          </a:p>
        </p:txBody>
      </p:sp>
      <p:pic>
        <p:nvPicPr>
          <p:cNvPr id="38915" name="Picture 4">
            <a:extLst>
              <a:ext uri="{FF2B5EF4-FFF2-40B4-BE49-F238E27FC236}">
                <a16:creationId xmlns:a16="http://schemas.microsoft.com/office/drawing/2014/main" id="{4794CDB6-0353-DA10-59EF-CD595E67441D}"/>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1600200"/>
            <a:ext cx="8229600" cy="2024063"/>
          </a:xfrm>
          <a:noFill/>
        </p:spPr>
      </p:pic>
      <p:pic>
        <p:nvPicPr>
          <p:cNvPr id="38916" name="Picture 5">
            <a:extLst>
              <a:ext uri="{FF2B5EF4-FFF2-40B4-BE49-F238E27FC236}">
                <a16:creationId xmlns:a16="http://schemas.microsoft.com/office/drawing/2014/main" id="{EAE1AF21-EAF0-7223-C587-3F18D182A6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3352800"/>
            <a:ext cx="3241675"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E644FC3-B90A-7769-C0BE-364B95BAE8FA}"/>
              </a:ext>
            </a:extLst>
          </p:cNvPr>
          <p:cNvSpPr>
            <a:spLocks noGrp="1" noChangeArrowheads="1"/>
          </p:cNvSpPr>
          <p:nvPr>
            <p:ph type="title"/>
          </p:nvPr>
        </p:nvSpPr>
        <p:spPr/>
        <p:txBody>
          <a:bodyPr/>
          <a:lstStyle/>
          <a:p>
            <a:pPr eaLnBrk="1" hangingPunct="1"/>
            <a:endParaRPr lang="zh-CN" altLang="zh-CN"/>
          </a:p>
        </p:txBody>
      </p:sp>
      <p:pic>
        <p:nvPicPr>
          <p:cNvPr id="39939" name="Picture 4">
            <a:extLst>
              <a:ext uri="{FF2B5EF4-FFF2-40B4-BE49-F238E27FC236}">
                <a16:creationId xmlns:a16="http://schemas.microsoft.com/office/drawing/2014/main" id="{8FC52EB3-BD7C-59E1-C017-686FC680B1D5}"/>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120900"/>
            <a:ext cx="8229600" cy="3484563"/>
          </a:xfr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117A2293-2738-7378-FCB1-A867A615F6A7}"/>
              </a:ext>
            </a:extLst>
          </p:cNvPr>
          <p:cNvSpPr>
            <a:spLocks noGrp="1" noChangeArrowheads="1"/>
          </p:cNvSpPr>
          <p:nvPr>
            <p:ph type="title"/>
          </p:nvPr>
        </p:nvSpPr>
        <p:spPr/>
        <p:txBody>
          <a:bodyPr/>
          <a:lstStyle/>
          <a:p>
            <a:pPr eaLnBrk="1" hangingPunct="1"/>
            <a:endParaRPr lang="zh-CN" altLang="zh-CN"/>
          </a:p>
        </p:txBody>
      </p:sp>
      <p:pic>
        <p:nvPicPr>
          <p:cNvPr id="40963" name="Picture 4">
            <a:extLst>
              <a:ext uri="{FF2B5EF4-FFF2-40B4-BE49-F238E27FC236}">
                <a16:creationId xmlns:a16="http://schemas.microsoft.com/office/drawing/2014/main" id="{6547365D-0750-53F3-8085-D6F8DF755460}"/>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732088"/>
            <a:ext cx="8229600" cy="2262187"/>
          </a:xfr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F55EDEB6-2567-7BC6-BB05-1197587F70EA}"/>
              </a:ext>
            </a:extLst>
          </p:cNvPr>
          <p:cNvSpPr>
            <a:spLocks noGrp="1" noChangeArrowheads="1"/>
          </p:cNvSpPr>
          <p:nvPr>
            <p:ph type="title"/>
          </p:nvPr>
        </p:nvSpPr>
        <p:spPr/>
        <p:txBody>
          <a:bodyPr/>
          <a:lstStyle/>
          <a:p>
            <a:pPr eaLnBrk="1" hangingPunct="1"/>
            <a:endParaRPr lang="zh-CN" altLang="zh-CN"/>
          </a:p>
        </p:txBody>
      </p:sp>
      <p:pic>
        <p:nvPicPr>
          <p:cNvPr id="41987" name="Picture 4">
            <a:extLst>
              <a:ext uri="{FF2B5EF4-FFF2-40B4-BE49-F238E27FC236}">
                <a16:creationId xmlns:a16="http://schemas.microsoft.com/office/drawing/2014/main" id="{045C3091-51CA-FC0C-2539-818DDAC2B540}"/>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332038"/>
            <a:ext cx="8229600" cy="3062287"/>
          </a:xfr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AC9F957-2DD9-4D5C-F3AF-E9A81B737C0C}"/>
              </a:ext>
            </a:extLst>
          </p:cNvPr>
          <p:cNvSpPr>
            <a:spLocks noGrp="1" noChangeArrowheads="1"/>
          </p:cNvSpPr>
          <p:nvPr>
            <p:ph type="title"/>
          </p:nvPr>
        </p:nvSpPr>
        <p:spPr/>
        <p:txBody>
          <a:bodyPr/>
          <a:lstStyle/>
          <a:p>
            <a:pPr eaLnBrk="1" hangingPunct="1"/>
            <a:endParaRPr lang="zh-CN" altLang="zh-CN"/>
          </a:p>
        </p:txBody>
      </p:sp>
      <p:pic>
        <p:nvPicPr>
          <p:cNvPr id="43011" name="Picture 4">
            <a:extLst>
              <a:ext uri="{FF2B5EF4-FFF2-40B4-BE49-F238E27FC236}">
                <a16:creationId xmlns:a16="http://schemas.microsoft.com/office/drawing/2014/main" id="{F78E826E-40AC-374B-2728-7A7CBBB5A30C}"/>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692150" y="1600200"/>
            <a:ext cx="7759700" cy="4525963"/>
          </a:xfr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A105D03-2D9D-A270-72AD-2CF6E54B8769}"/>
              </a:ext>
            </a:extLst>
          </p:cNvPr>
          <p:cNvSpPr>
            <a:spLocks noGrp="1" noChangeArrowheads="1"/>
          </p:cNvSpPr>
          <p:nvPr>
            <p:ph type="title"/>
          </p:nvPr>
        </p:nvSpPr>
        <p:spPr/>
        <p:txBody>
          <a:bodyPr/>
          <a:lstStyle/>
          <a:p>
            <a:pPr eaLnBrk="1" hangingPunct="1"/>
            <a:endParaRPr lang="zh-CN" altLang="zh-CN"/>
          </a:p>
        </p:txBody>
      </p:sp>
      <p:pic>
        <p:nvPicPr>
          <p:cNvPr id="44035" name="Picture 4">
            <a:extLst>
              <a:ext uri="{FF2B5EF4-FFF2-40B4-BE49-F238E27FC236}">
                <a16:creationId xmlns:a16="http://schemas.microsoft.com/office/drawing/2014/main" id="{C1626FC1-0110-C523-6C31-AE2564488ADA}"/>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993775" y="2727325"/>
            <a:ext cx="7156450" cy="2271713"/>
          </a:xfr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69A89AA1-CF89-E607-AEB7-348031EFFFC4}"/>
              </a:ext>
            </a:extLst>
          </p:cNvPr>
          <p:cNvSpPr>
            <a:spLocks noGrp="1" noChangeArrowheads="1"/>
          </p:cNvSpPr>
          <p:nvPr>
            <p:ph type="title"/>
          </p:nvPr>
        </p:nvSpPr>
        <p:spPr/>
        <p:txBody>
          <a:bodyPr/>
          <a:lstStyle/>
          <a:p>
            <a:pPr eaLnBrk="1" hangingPunct="1"/>
            <a:endParaRPr lang="zh-CN" altLang="zh-CN"/>
          </a:p>
        </p:txBody>
      </p:sp>
      <p:pic>
        <p:nvPicPr>
          <p:cNvPr id="45059" name="Picture 4">
            <a:extLst>
              <a:ext uri="{FF2B5EF4-FFF2-40B4-BE49-F238E27FC236}">
                <a16:creationId xmlns:a16="http://schemas.microsoft.com/office/drawing/2014/main" id="{A198C055-6903-7AAA-CBBE-23D5F6BA3D1D}"/>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377950" y="1600200"/>
            <a:ext cx="6388100" cy="4525963"/>
          </a:xfr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AC77B94E-F180-672B-99D1-0D13D008E0C7}"/>
              </a:ext>
            </a:extLst>
          </p:cNvPr>
          <p:cNvSpPr>
            <a:spLocks noGrp="1" noChangeArrowheads="1"/>
          </p:cNvSpPr>
          <p:nvPr>
            <p:ph type="title"/>
          </p:nvPr>
        </p:nvSpPr>
        <p:spPr/>
        <p:txBody>
          <a:bodyPr/>
          <a:lstStyle/>
          <a:p>
            <a:pPr eaLnBrk="1" hangingPunct="1"/>
            <a:endParaRPr lang="zh-CN" altLang="zh-CN"/>
          </a:p>
        </p:txBody>
      </p:sp>
      <p:pic>
        <p:nvPicPr>
          <p:cNvPr id="46083" name="Picture 4">
            <a:extLst>
              <a:ext uri="{FF2B5EF4-FFF2-40B4-BE49-F238E27FC236}">
                <a16:creationId xmlns:a16="http://schemas.microsoft.com/office/drawing/2014/main" id="{938D0EE9-E1E6-CCD7-CECE-B9E9D7255281}"/>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092325"/>
            <a:ext cx="8229600" cy="3540125"/>
          </a:xfr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720CBCE-84F3-03F8-698A-E5CB0B810570}"/>
              </a:ext>
            </a:extLst>
          </p:cNvPr>
          <p:cNvSpPr>
            <a:spLocks noGrp="1" noChangeArrowheads="1"/>
          </p:cNvSpPr>
          <p:nvPr>
            <p:ph type="title"/>
          </p:nvPr>
        </p:nvSpPr>
        <p:spPr/>
        <p:txBody>
          <a:bodyPr/>
          <a:lstStyle/>
          <a:p>
            <a:pPr eaLnBrk="1" hangingPunct="1"/>
            <a:endParaRPr lang="zh-CN" altLang="zh-CN"/>
          </a:p>
        </p:txBody>
      </p:sp>
      <p:pic>
        <p:nvPicPr>
          <p:cNvPr id="47107" name="Picture 4">
            <a:extLst>
              <a:ext uri="{FF2B5EF4-FFF2-40B4-BE49-F238E27FC236}">
                <a16:creationId xmlns:a16="http://schemas.microsoft.com/office/drawing/2014/main" id="{AE83C5CA-35A4-2C6E-B7B3-A2790E34795B}"/>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738438"/>
            <a:ext cx="8229600" cy="2247900"/>
          </a:xfr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CB146CA-CE85-F41F-1F5E-6A70B6FD6DFE}"/>
              </a:ext>
            </a:extLst>
          </p:cNvPr>
          <p:cNvSpPr>
            <a:spLocks noGrp="1" noChangeArrowheads="1"/>
          </p:cNvSpPr>
          <p:nvPr>
            <p:ph type="title"/>
          </p:nvPr>
        </p:nvSpPr>
        <p:spPr/>
        <p:txBody>
          <a:bodyPr/>
          <a:lstStyle/>
          <a:p>
            <a:pPr eaLnBrk="1" hangingPunct="1"/>
            <a:endParaRPr lang="zh-CN" altLang="zh-CN"/>
          </a:p>
        </p:txBody>
      </p:sp>
      <p:pic>
        <p:nvPicPr>
          <p:cNvPr id="48131" name="Picture 4">
            <a:extLst>
              <a:ext uri="{FF2B5EF4-FFF2-40B4-BE49-F238E27FC236}">
                <a16:creationId xmlns:a16="http://schemas.microsoft.com/office/drawing/2014/main" id="{5697B821-87EC-3777-99F2-77600BFB904D}"/>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870200"/>
            <a:ext cx="8229600" cy="1985963"/>
          </a:xfr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F5A9EF2-17DC-6C37-2FEB-9EC6BA733582}"/>
              </a:ext>
            </a:extLst>
          </p:cNvPr>
          <p:cNvSpPr>
            <a:spLocks noGrp="1" noChangeArrowheads="1"/>
          </p:cNvSpPr>
          <p:nvPr>
            <p:ph type="title"/>
          </p:nvPr>
        </p:nvSpPr>
        <p:spPr/>
        <p:txBody>
          <a:bodyPr/>
          <a:lstStyle/>
          <a:p>
            <a:pPr eaLnBrk="1" hangingPunct="1"/>
            <a:r>
              <a:rPr lang="en-US" altLang="zh-CN"/>
              <a:t>9.5 </a:t>
            </a:r>
            <a:r>
              <a:rPr lang="zh-CN" altLang="en-US"/>
              <a:t>互信息 </a:t>
            </a:r>
          </a:p>
        </p:txBody>
      </p:sp>
      <p:pic>
        <p:nvPicPr>
          <p:cNvPr id="49155" name="Picture 4">
            <a:extLst>
              <a:ext uri="{FF2B5EF4-FFF2-40B4-BE49-F238E27FC236}">
                <a16:creationId xmlns:a16="http://schemas.microsoft.com/office/drawing/2014/main" id="{6ED5A3AB-F8FE-2A3E-7A24-E823E942D5CF}"/>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3030538"/>
            <a:ext cx="8229600" cy="1665287"/>
          </a:xfr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B271F4C-D4F7-3C50-24D2-51B62F36B45C}"/>
              </a:ext>
            </a:extLst>
          </p:cNvPr>
          <p:cNvSpPr>
            <a:spLocks noGrp="1" noChangeArrowheads="1"/>
          </p:cNvSpPr>
          <p:nvPr>
            <p:ph type="title"/>
          </p:nvPr>
        </p:nvSpPr>
        <p:spPr/>
        <p:txBody>
          <a:bodyPr/>
          <a:lstStyle/>
          <a:p>
            <a:pPr eaLnBrk="1" hangingPunct="1"/>
            <a:endParaRPr lang="zh-CN" altLang="zh-CN"/>
          </a:p>
        </p:txBody>
      </p:sp>
      <p:pic>
        <p:nvPicPr>
          <p:cNvPr id="50179" name="Picture 4">
            <a:extLst>
              <a:ext uri="{FF2B5EF4-FFF2-40B4-BE49-F238E27FC236}">
                <a16:creationId xmlns:a16="http://schemas.microsoft.com/office/drawing/2014/main" id="{06E8EFF3-AE2E-E7B9-EE7E-C96FA662D878}"/>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81000" y="1676400"/>
            <a:ext cx="8229600" cy="427038"/>
          </a:xfrm>
          <a:noFill/>
        </p:spPr>
      </p:pic>
      <p:pic>
        <p:nvPicPr>
          <p:cNvPr id="50180" name="Picture 5">
            <a:extLst>
              <a:ext uri="{FF2B5EF4-FFF2-40B4-BE49-F238E27FC236}">
                <a16:creationId xmlns:a16="http://schemas.microsoft.com/office/drawing/2014/main" id="{8B991DA3-95CA-9A0B-8165-3E431A65CD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90800"/>
            <a:ext cx="56832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F55B449-62A6-685B-4561-46CCBFC349D5}"/>
              </a:ext>
            </a:extLst>
          </p:cNvPr>
          <p:cNvSpPr>
            <a:spLocks noGrp="1" noChangeArrowheads="1"/>
          </p:cNvSpPr>
          <p:nvPr>
            <p:ph type="title"/>
          </p:nvPr>
        </p:nvSpPr>
        <p:spPr/>
        <p:txBody>
          <a:bodyPr/>
          <a:lstStyle/>
          <a:p>
            <a:pPr eaLnBrk="1" hangingPunct="1"/>
            <a:endParaRPr lang="zh-CN" altLang="zh-CN"/>
          </a:p>
        </p:txBody>
      </p:sp>
      <p:pic>
        <p:nvPicPr>
          <p:cNvPr id="51203" name="Picture 4">
            <a:extLst>
              <a:ext uri="{FF2B5EF4-FFF2-40B4-BE49-F238E27FC236}">
                <a16:creationId xmlns:a16="http://schemas.microsoft.com/office/drawing/2014/main" id="{919B8F51-389A-3FD5-19FF-2F7B387E6424}"/>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7200" y="2459038"/>
            <a:ext cx="8229600" cy="2808287"/>
          </a:xfr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6C06584-B9F8-E4C7-51D5-AFA204794332}"/>
              </a:ext>
            </a:extLst>
          </p:cNvPr>
          <p:cNvSpPr>
            <a:spLocks noGrp="1" noChangeArrowheads="1"/>
          </p:cNvSpPr>
          <p:nvPr>
            <p:ph type="title"/>
          </p:nvPr>
        </p:nvSpPr>
        <p:spPr/>
        <p:txBody>
          <a:bodyPr/>
          <a:lstStyle/>
          <a:p>
            <a:pPr eaLnBrk="1" hangingPunct="1"/>
            <a:endParaRPr lang="zh-CN" altLang="zh-CN"/>
          </a:p>
        </p:txBody>
      </p:sp>
      <p:sp>
        <p:nvSpPr>
          <p:cNvPr id="52227" name="Rectangle 3">
            <a:extLst>
              <a:ext uri="{FF2B5EF4-FFF2-40B4-BE49-F238E27FC236}">
                <a16:creationId xmlns:a16="http://schemas.microsoft.com/office/drawing/2014/main" id="{C28ECF37-B149-D2BA-2F85-0569DA2C44C8}"/>
              </a:ext>
            </a:extLst>
          </p:cNvPr>
          <p:cNvSpPr>
            <a:spLocks noGrp="1" noChangeArrowheads="1"/>
          </p:cNvSpPr>
          <p:nvPr>
            <p:ph type="body" idx="1"/>
          </p:nvPr>
        </p:nvSpPr>
        <p:spPr/>
        <p:txBody>
          <a:bodyPr/>
          <a:lstStyle/>
          <a:p>
            <a:pPr eaLnBrk="1" hangingPunct="1"/>
            <a:endParaRPr lang="zh-CN" altLang="zh-CN"/>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303</TotalTime>
  <Words>1065</Words>
  <Application>Microsoft Macintosh PowerPoint</Application>
  <PresentationFormat>全屏显示(4:3)</PresentationFormat>
  <Paragraphs>35</Paragraphs>
  <Slides>50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50</vt:i4>
      </vt:variant>
    </vt:vector>
  </HeadingPairs>
  <TitlesOfParts>
    <vt:vector size="55" baseType="lpstr">
      <vt:lpstr>Arial</vt:lpstr>
      <vt:lpstr>宋体</vt:lpstr>
      <vt:lpstr>Calibri</vt:lpstr>
      <vt:lpstr>Times New Roman</vt:lpstr>
      <vt:lpstr>默认设计模板</vt:lpstr>
      <vt:lpstr>第9章</vt:lpstr>
      <vt:lpstr>PowerPoint 演示文稿</vt:lpstr>
      <vt:lpstr>9.1 保密系统的数学模型</vt:lpstr>
      <vt:lpstr>PowerPoint 演示文稿</vt:lpstr>
      <vt:lpstr>PowerPoint 演示文稿</vt:lpstr>
      <vt:lpstr>PowerPoint 演示文稿</vt:lpstr>
      <vt:lpstr>9.1.1 完全保密</vt:lpstr>
      <vt:lpstr>PowerPoint 演示文稿</vt:lpstr>
      <vt:lpstr>贝叶斯定理</vt:lpstr>
      <vt:lpstr>PowerPoint 演示文稿</vt:lpstr>
      <vt:lpstr>PowerPoint 演示文稿</vt:lpstr>
      <vt:lpstr>PowerPoint 演示文稿</vt:lpstr>
      <vt:lpstr>PowerPoint 演示文稿</vt:lpstr>
      <vt:lpstr>PowerPoint 演示文稿</vt:lpstr>
      <vt:lpstr>9.2熵</vt:lpstr>
      <vt:lpstr>PowerPoint 演示文稿</vt:lpstr>
      <vt:lpstr>PowerPoint 演示文稿</vt:lpstr>
      <vt:lpstr>PowerPoint 演示文稿</vt:lpstr>
      <vt:lpstr>PowerPoint 演示文稿</vt:lpstr>
      <vt:lpstr>定理 9.2.1 熵的性质 </vt:lpstr>
      <vt:lpstr>9.3 熵的特性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9.4 假密钥和唯一性距离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9.5 互信息 </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liaoyj</dc:creator>
  <cp:lastModifiedBy>涵宇 况</cp:lastModifiedBy>
  <cp:revision>13</cp:revision>
  <cp:lastPrinted>1601-01-01T00:00:00Z</cp:lastPrinted>
  <dcterms:created xsi:type="dcterms:W3CDTF">2013-10-28T01:33:07Z</dcterms:created>
  <dcterms:modified xsi:type="dcterms:W3CDTF">2026-06-09T13:09:52Z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