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docm" ContentType="application/vnd.ms-word.document.macroEnabled.12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6" r:id="rId60"/>
    <p:sldId id="315" r:id="rId61"/>
    <p:sldId id="314" r:id="rId62"/>
    <p:sldId id="317" r:id="rId63"/>
    <p:sldId id="318" r:id="rId64"/>
    <p:sldId id="319" r:id="rId6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7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image" Target="../media/image66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B21A4-0990-46D8-98B4-54A2DE09DC1B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BB9-F437-444A-B2C5-CA4B0714A32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41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BB9-F437-444A-B2C5-CA4B0714A32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3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10" Type="http://schemas.openxmlformats.org/officeDocument/2006/relationships/package" Target="../embeddings/Microsoft_Word_______4.docm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emf"/><Relationship Id="rId4" Type="http://schemas.openxmlformats.org/officeDocument/2006/relationships/oleObject" Target="../embeddings/Microsoft_Word_97_-_2003___1.doc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2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3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5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6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7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8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9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1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2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3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4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6.docx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4.wmf"/><Relationship Id="rId11" Type="http://schemas.openxmlformats.org/officeDocument/2006/relationships/package" Target="../embeddings/Microsoft_Word___27.docx"/><Relationship Id="rId5" Type="http://schemas.openxmlformats.org/officeDocument/2006/relationships/oleObject" Target="../embeddings/oleObject33.bin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33.wmf"/><Relationship Id="rId9" Type="http://schemas.openxmlformats.org/officeDocument/2006/relationships/image" Target="../media/image3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28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0.docx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1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42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3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4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35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37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38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8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39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50.emf"/><Relationship Id="rId4" Type="http://schemas.openxmlformats.org/officeDocument/2006/relationships/package" Target="../embeddings/Microsoft_Word___41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51.bin"/><Relationship Id="rId7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__42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oleObject" Target="../embeddings/oleObject53.bin"/><Relationship Id="rId7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3.emf"/><Relationship Id="rId4" Type="http://schemas.openxmlformats.org/officeDocument/2006/relationships/package" Target="../embeddings/Microsoft_Word___44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55.emf"/><Relationship Id="rId4" Type="http://schemas.openxmlformats.org/officeDocument/2006/relationships/package" Target="../embeddings/Microsoft_Word___46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__47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57.bin"/><Relationship Id="rId7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7.emf"/><Relationship Id="rId4" Type="http://schemas.openxmlformats.org/officeDocument/2006/relationships/package" Target="../embeddings/Microsoft_Word___48.docx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59.emf"/><Relationship Id="rId4" Type="http://schemas.openxmlformats.org/officeDocument/2006/relationships/package" Target="../embeddings/Microsoft_Word___50.docx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60.emf"/><Relationship Id="rId4" Type="http://schemas.openxmlformats.org/officeDocument/2006/relationships/package" Target="../embeddings/Microsoft_Word___51.docx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5" Type="http://schemas.openxmlformats.org/officeDocument/2006/relationships/image" Target="../media/image61.emf"/><Relationship Id="rId4" Type="http://schemas.openxmlformats.org/officeDocument/2006/relationships/package" Target="../embeddings/Microsoft_Word___52.docx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62.bin"/><Relationship Id="rId7" Type="http://schemas.openxmlformats.org/officeDocument/2006/relationships/package" Target="../embeddings/Microsoft_Word___5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62.emf"/><Relationship Id="rId4" Type="http://schemas.openxmlformats.org/officeDocument/2006/relationships/package" Target="../embeddings/Microsoft_Word___53.docx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5" Type="http://schemas.openxmlformats.org/officeDocument/2006/relationships/image" Target="../media/image64.emf"/><Relationship Id="rId4" Type="http://schemas.openxmlformats.org/officeDocument/2006/relationships/package" Target="../embeddings/Microsoft_Word___55.docx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5" Type="http://schemas.openxmlformats.org/officeDocument/2006/relationships/image" Target="../media/image65.emf"/><Relationship Id="rId4" Type="http://schemas.openxmlformats.org/officeDocument/2006/relationships/package" Target="../embeddings/Microsoft_Word___56.docx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66.bin"/><Relationship Id="rId7" Type="http://schemas.openxmlformats.org/officeDocument/2006/relationships/package" Target="../embeddings/Microsoft_Word___5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68.bin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68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69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70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5" Type="http://schemas.openxmlformats.org/officeDocument/2006/relationships/image" Target="../media/image71.emf"/><Relationship Id="rId4" Type="http://schemas.openxmlformats.org/officeDocument/2006/relationships/package" Target="../embeddings/Microsoft_Word___58.docx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73.wmf"/><Relationship Id="rId11" Type="http://schemas.openxmlformats.org/officeDocument/2006/relationships/image" Target="../media/image75.wmf"/><Relationship Id="rId5" Type="http://schemas.openxmlformats.org/officeDocument/2006/relationships/oleObject" Target="../embeddings/oleObject74.bin"/><Relationship Id="rId10" Type="http://schemas.openxmlformats.org/officeDocument/2006/relationships/oleObject" Target="../embeddings/oleObject77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6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5" Type="http://schemas.openxmlformats.org/officeDocument/2006/relationships/image" Target="../media/image76.emf"/><Relationship Id="rId4" Type="http://schemas.openxmlformats.org/officeDocument/2006/relationships/package" Target="../embeddings/Microsoft_Word___59.docx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5" Type="http://schemas.openxmlformats.org/officeDocument/2006/relationships/image" Target="../media/image77.emf"/><Relationship Id="rId4" Type="http://schemas.openxmlformats.org/officeDocument/2006/relationships/package" Target="../embeddings/Microsoft_Word___60.docx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5" Type="http://schemas.openxmlformats.org/officeDocument/2006/relationships/image" Target="../media/image78.emf"/><Relationship Id="rId4" Type="http://schemas.openxmlformats.org/officeDocument/2006/relationships/package" Target="../embeddings/Microsoft_Word___61.docx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81.bin"/><Relationship Id="rId7" Type="http://schemas.openxmlformats.org/officeDocument/2006/relationships/package" Target="../embeddings/Microsoft_Word___6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79.emf"/><Relationship Id="rId4" Type="http://schemas.openxmlformats.org/officeDocument/2006/relationships/package" Target="../embeddings/Microsoft_Word___62.docx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5" Type="http://schemas.openxmlformats.org/officeDocument/2006/relationships/image" Target="../media/image81.emf"/><Relationship Id="rId4" Type="http://schemas.openxmlformats.org/officeDocument/2006/relationships/package" Target="../embeddings/Microsoft_Word___64.docx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第七章 有限域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信息与软件工程学院</a:t>
            </a:r>
            <a:endParaRPr lang="en-US" altLang="zh-CN" dirty="0" smtClean="0"/>
          </a:p>
          <a:p>
            <a:r>
              <a:rPr lang="zh-CN" altLang="en-US" dirty="0" smtClean="0"/>
              <a:t>电子科技大学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内容安排</a:t>
            </a:r>
            <a:endParaRPr lang="zh-CN" altLang="en-US" sz="4000" b="1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 smtClean="0"/>
              <a:t>7.1 </a:t>
            </a:r>
            <a:r>
              <a:rPr lang="zh-CN" altLang="en-US" sz="2800" b="1" dirty="0" smtClean="0"/>
              <a:t>域和扩域</a:t>
            </a:r>
            <a:endParaRPr lang="en-US" altLang="zh-CN" sz="2800" b="1" dirty="0" smtClean="0"/>
          </a:p>
          <a:p>
            <a:r>
              <a:rPr lang="en-US" altLang="zh-CN" sz="2800" b="1" dirty="0" smtClean="0"/>
              <a:t>7.2 </a:t>
            </a:r>
            <a:r>
              <a:rPr lang="zh-CN" altLang="en-US" sz="2800" b="1" dirty="0" smtClean="0"/>
              <a:t>有限域的结构</a:t>
            </a:r>
            <a:endParaRPr lang="en-US" altLang="zh-CN" sz="2800" b="1" dirty="0" smtClean="0"/>
          </a:p>
          <a:p>
            <a:r>
              <a:rPr lang="en-US" altLang="zh-CN" sz="2800" b="1" dirty="0" smtClean="0"/>
              <a:t>7.3 </a:t>
            </a:r>
            <a:r>
              <a:rPr lang="zh-CN" altLang="en-US" sz="2800" b="1" dirty="0" smtClean="0"/>
              <a:t>不可约多项式的根，迹和范数</a:t>
            </a:r>
            <a:endParaRPr lang="en-US" altLang="zh-CN" sz="2800" b="1" dirty="0" smtClean="0"/>
          </a:p>
          <a:p>
            <a:r>
              <a:rPr lang="en-US" altLang="zh-CN" sz="2800" b="1" dirty="0" smtClean="0"/>
              <a:t>7.4 </a:t>
            </a:r>
            <a:r>
              <a:rPr lang="zh-CN" altLang="en-US" sz="2800" b="1" dirty="0" smtClean="0"/>
              <a:t>有限域上元素的表示</a:t>
            </a:r>
            <a:endParaRPr lang="en-US" altLang="zh-CN" sz="2800" b="1" dirty="0" smtClean="0"/>
          </a:p>
          <a:p>
            <a:r>
              <a:rPr lang="en-US" altLang="zh-CN" sz="2800" b="1" dirty="0" smtClean="0"/>
              <a:t>7.5 </a:t>
            </a:r>
            <a:r>
              <a:rPr lang="zh-CN" altLang="en-US" sz="2800" b="1" dirty="0" smtClean="0"/>
              <a:t>有限域中的算法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7.1 </a:t>
            </a:r>
            <a:r>
              <a:rPr lang="zh-CN" altLang="en-US" b="1" dirty="0" smtClean="0"/>
              <a:t>域和扩域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29576" cy="1328734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定义</a:t>
            </a:r>
            <a:r>
              <a:rPr lang="en-US" dirty="0" smtClean="0">
                <a:solidFill>
                  <a:srgbClr val="0070C0"/>
                </a:solidFill>
              </a:rPr>
              <a:t>7.1.1</a:t>
            </a:r>
            <a:r>
              <a:rPr lang="zh-CN" altLang="en-US" dirty="0" smtClean="0"/>
              <a:t>一个有限域</a:t>
            </a:r>
            <a:r>
              <a:rPr lang="en-US" dirty="0" smtClean="0"/>
              <a:t>F</a:t>
            </a:r>
            <a:r>
              <a:rPr lang="zh-CN" altLang="en-US" dirty="0" smtClean="0"/>
              <a:t>是指只含</a:t>
            </a:r>
            <a:r>
              <a:rPr lang="zh-CN" altLang="en-US" dirty="0" smtClean="0">
                <a:solidFill>
                  <a:srgbClr val="FF0000"/>
                </a:solidFill>
              </a:rPr>
              <a:t>有限个元素</a:t>
            </a:r>
            <a:r>
              <a:rPr lang="zh-CN" altLang="en-US" dirty="0" smtClean="0"/>
              <a:t>的域，</a:t>
            </a:r>
            <a:r>
              <a:rPr lang="en-US" dirty="0" smtClean="0"/>
              <a:t>F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0000"/>
                </a:solidFill>
              </a:rPr>
              <a:t>阶</a:t>
            </a:r>
            <a:r>
              <a:rPr lang="zh-CN" altLang="en-US" dirty="0" smtClean="0"/>
              <a:t>是指</a:t>
            </a:r>
            <a:r>
              <a:rPr lang="en-US" dirty="0" smtClean="0"/>
              <a:t>F</a:t>
            </a:r>
            <a:r>
              <a:rPr lang="zh-CN" altLang="en-US" dirty="0" smtClean="0"/>
              <a:t>中元素的个数。有限域又称为</a:t>
            </a:r>
            <a:r>
              <a:rPr lang="en-US" dirty="0" smtClean="0"/>
              <a:t>Galois</a:t>
            </a:r>
            <a:r>
              <a:rPr lang="zh-CN" altLang="en-US" dirty="0" smtClean="0"/>
              <a:t>域。若域</a:t>
            </a:r>
            <a:r>
              <a:rPr lang="en-US" dirty="0" smtClean="0"/>
              <a:t>F</a:t>
            </a:r>
            <a:r>
              <a:rPr lang="zh-CN" altLang="en-US" dirty="0" smtClean="0"/>
              <a:t>的阶为</a:t>
            </a:r>
            <a:r>
              <a:rPr lang="en-US" dirty="0" smtClean="0"/>
              <a:t>n</a:t>
            </a:r>
            <a:r>
              <a:rPr lang="zh-CN" altLang="en-US" dirty="0" smtClean="0"/>
              <a:t>，则可将</a:t>
            </a:r>
            <a:r>
              <a:rPr lang="en-US" dirty="0" smtClean="0"/>
              <a:t>F</a:t>
            </a:r>
            <a:r>
              <a:rPr lang="zh-CN" altLang="en-US" dirty="0" smtClean="0"/>
              <a:t>记为</a:t>
            </a:r>
            <a:r>
              <a:rPr lang="en-US" altLang="zh-CN" dirty="0" smtClean="0">
                <a:solidFill>
                  <a:srgbClr val="FF0000"/>
                </a:solidFill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</a:rPr>
              <a:t>或</a:t>
            </a:r>
            <a:r>
              <a:rPr lang="en-US" altLang="zh-CN" dirty="0" smtClean="0">
                <a:solidFill>
                  <a:srgbClr val="FF0000"/>
                </a:solidFill>
              </a:rPr>
              <a:t>GF(n)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472" y="2928934"/>
            <a:ext cx="80724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</a:rPr>
              <a:t>定义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7.1.2 </a:t>
            </a:r>
            <a:r>
              <a:rPr lang="zh-CN" altLang="en-US" sz="2400" b="1" dirty="0" smtClean="0">
                <a:latin typeface="+mn-ea"/>
              </a:rPr>
              <a:t>设</a:t>
            </a:r>
            <a:r>
              <a:rPr lang="en-US" altLang="en-US" sz="2400" b="1" dirty="0" smtClean="0">
                <a:latin typeface="+mn-ea"/>
              </a:rPr>
              <a:t>F</a:t>
            </a:r>
            <a:r>
              <a:rPr lang="zh-CN" altLang="en-US" sz="2400" b="1" dirty="0" smtClean="0">
                <a:latin typeface="+mn-ea"/>
              </a:rPr>
              <a:t>是域，</a:t>
            </a:r>
            <a:r>
              <a:rPr lang="en-US" altLang="en-US" sz="2400" b="1" dirty="0" smtClean="0">
                <a:latin typeface="+mn-ea"/>
              </a:rPr>
              <a:t>K</a:t>
            </a:r>
            <a:r>
              <a:rPr lang="zh-CN" altLang="en-US" sz="2400" b="1" dirty="0" smtClean="0">
                <a:latin typeface="+mn-ea"/>
              </a:rPr>
              <a:t>是</a:t>
            </a:r>
            <a:r>
              <a:rPr lang="en-US" altLang="en-US" sz="2400" b="1" dirty="0" smtClean="0">
                <a:latin typeface="+mn-ea"/>
              </a:rPr>
              <a:t>F</a:t>
            </a:r>
            <a:r>
              <a:rPr lang="zh-CN" altLang="en-US" sz="2400" b="1" dirty="0" smtClean="0">
                <a:latin typeface="+mn-ea"/>
              </a:rPr>
              <a:t>的子集。如果</a:t>
            </a:r>
            <a:r>
              <a:rPr lang="en-US" altLang="en-US" sz="2400" b="1" dirty="0" smtClean="0">
                <a:latin typeface="+mn-ea"/>
              </a:rPr>
              <a:t>K</a:t>
            </a:r>
            <a:r>
              <a:rPr lang="zh-CN" altLang="en-US" sz="2400" b="1" dirty="0" smtClean="0">
                <a:latin typeface="+mn-ea"/>
              </a:rPr>
              <a:t>在</a:t>
            </a:r>
            <a:r>
              <a:rPr lang="en-US" altLang="en-US" sz="2400" b="1" dirty="0" smtClean="0">
                <a:latin typeface="+mn-ea"/>
              </a:rPr>
              <a:t>F</a:t>
            </a:r>
            <a:r>
              <a:rPr lang="zh-CN" altLang="en-US" sz="2400" b="1" dirty="0" smtClean="0">
                <a:latin typeface="+mn-ea"/>
              </a:rPr>
              <a:t>的运算下也构成一个域，则称</a:t>
            </a:r>
            <a:r>
              <a:rPr lang="en-US" altLang="en-US" sz="2400" b="1" dirty="0" smtClean="0">
                <a:latin typeface="+mn-ea"/>
              </a:rPr>
              <a:t>K</a:t>
            </a:r>
            <a:r>
              <a:rPr lang="zh-CN" altLang="en-US" sz="2400" b="1" dirty="0" smtClean="0">
                <a:latin typeface="+mn-ea"/>
              </a:rPr>
              <a:t>为</a:t>
            </a:r>
            <a:r>
              <a:rPr lang="en-US" altLang="en-US" sz="2400" b="1" dirty="0" smtClean="0">
                <a:latin typeface="+mn-ea"/>
              </a:rPr>
              <a:t>F</a:t>
            </a:r>
            <a:r>
              <a:rPr lang="zh-CN" altLang="en-US" sz="2400" b="1" dirty="0" smtClean="0">
                <a:latin typeface="+mn-ea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子域</a:t>
            </a:r>
            <a:r>
              <a:rPr lang="zh-CN" altLang="en-US" sz="2400" b="1" dirty="0" smtClean="0">
                <a:latin typeface="+mn-ea"/>
              </a:rPr>
              <a:t>，称</a:t>
            </a:r>
            <a:r>
              <a:rPr lang="en-US" altLang="en-US" sz="2400" b="1" dirty="0" smtClean="0">
                <a:latin typeface="+mn-ea"/>
              </a:rPr>
              <a:t>F</a:t>
            </a:r>
            <a:r>
              <a:rPr lang="zh-CN" altLang="en-US" sz="2400" b="1" dirty="0" smtClean="0">
                <a:latin typeface="+mn-ea"/>
              </a:rPr>
              <a:t>为</a:t>
            </a:r>
            <a:r>
              <a:rPr lang="en-US" altLang="en-US" sz="2400" b="1" dirty="0" smtClean="0">
                <a:latin typeface="+mn-ea"/>
              </a:rPr>
              <a:t>K</a:t>
            </a:r>
            <a:r>
              <a:rPr lang="zh-CN" altLang="en-US" sz="2400" b="1" dirty="0" smtClean="0">
                <a:latin typeface="+mn-ea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扩域</a:t>
            </a:r>
            <a:r>
              <a:rPr lang="zh-CN" altLang="en-US" sz="2400" b="1" dirty="0" smtClean="0">
                <a:latin typeface="+mn-ea"/>
              </a:rPr>
              <a:t>。特别地，如果</a:t>
            </a:r>
            <a:r>
              <a:rPr lang="en-US" altLang="en-US" sz="2400" b="1" dirty="0" smtClean="0">
                <a:latin typeface="+mn-ea"/>
              </a:rPr>
              <a:t>K≠F</a:t>
            </a:r>
            <a:r>
              <a:rPr lang="zh-CN" altLang="en-US" sz="2400" b="1" dirty="0" smtClean="0">
                <a:latin typeface="+mn-ea"/>
              </a:rPr>
              <a:t>，则称</a:t>
            </a:r>
            <a:r>
              <a:rPr lang="en-US" altLang="en-US" sz="2400" b="1" dirty="0" smtClean="0">
                <a:latin typeface="+mn-ea"/>
              </a:rPr>
              <a:t>K</a:t>
            </a:r>
            <a:r>
              <a:rPr lang="zh-CN" altLang="en-US" sz="2400" b="1" dirty="0" smtClean="0">
                <a:latin typeface="+mn-ea"/>
              </a:rPr>
              <a:t>为</a:t>
            </a:r>
            <a:r>
              <a:rPr lang="en-US" altLang="en-US" sz="2400" b="1" dirty="0" smtClean="0">
                <a:latin typeface="+mn-ea"/>
              </a:rPr>
              <a:t>F</a:t>
            </a:r>
            <a:r>
              <a:rPr lang="zh-CN" altLang="en-US" sz="2400" b="1" dirty="0" smtClean="0">
                <a:latin typeface="+mn-ea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真子域</a:t>
            </a:r>
            <a:r>
              <a:rPr lang="zh-CN" altLang="en-US" sz="2400" b="1" dirty="0" smtClean="0">
                <a:latin typeface="+mn-ea"/>
              </a:rPr>
              <a:t>。一个域如果不包含真子域，则称该域为素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域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5072074"/>
            <a:ext cx="7929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例</a:t>
            </a:r>
            <a:r>
              <a:rPr lang="en-US" sz="2800" b="1" dirty="0" smtClean="0">
                <a:solidFill>
                  <a:srgbClr val="0070C0"/>
                </a:solidFill>
              </a:rPr>
              <a:t>7.1.1 </a:t>
            </a:r>
            <a:r>
              <a:rPr lang="zh-CN" altLang="en-US" sz="2800" b="1" dirty="0" smtClean="0"/>
              <a:t>有理数域和阶为素数</a:t>
            </a:r>
            <a:r>
              <a:rPr lang="en-US" sz="2800" b="1" dirty="0" smtClean="0"/>
              <a:t>p</a:t>
            </a:r>
            <a:r>
              <a:rPr lang="zh-CN" altLang="en-US" sz="2800" b="1" dirty="0" smtClean="0"/>
              <a:t>的有限域</a:t>
            </a:r>
            <a:r>
              <a:rPr lang="en-US" sz="2800" b="1" dirty="0" err="1" smtClean="0"/>
              <a:t>Z</a:t>
            </a:r>
            <a:r>
              <a:rPr lang="en-US" sz="2800" b="1" baseline="-25000" dirty="0" err="1" smtClean="0"/>
              <a:t>p</a:t>
            </a:r>
            <a:r>
              <a:rPr lang="zh-CN" altLang="en-US" sz="2800" b="1" dirty="0" smtClean="0"/>
              <a:t>都是素域。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素域的结构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971544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7.1.1 </a:t>
            </a:r>
            <a:r>
              <a:rPr lang="zh-CN" altLang="en-US" dirty="0" smtClean="0"/>
              <a:t>特征为素数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的域</a:t>
            </a:r>
            <a:r>
              <a:rPr lang="en-US" dirty="0" smtClean="0"/>
              <a:t>F</a:t>
            </a:r>
            <a:r>
              <a:rPr lang="zh-CN" altLang="en-US" dirty="0" smtClean="0"/>
              <a:t>的素子域同构于</a:t>
            </a:r>
            <a:r>
              <a:rPr lang="en-US" dirty="0" err="1" smtClean="0"/>
              <a:t>Z</a:t>
            </a:r>
            <a:r>
              <a:rPr lang="en-US" baseline="-25000" dirty="0" err="1" smtClean="0"/>
              <a:t>p</a:t>
            </a:r>
            <a:r>
              <a:rPr lang="zh-CN" altLang="en-US" dirty="0" smtClean="0"/>
              <a:t>；特征为</a:t>
            </a:r>
            <a:r>
              <a:rPr lang="en-US" dirty="0" smtClean="0"/>
              <a:t>0</a:t>
            </a:r>
            <a:r>
              <a:rPr lang="zh-CN" altLang="en-US" dirty="0" smtClean="0"/>
              <a:t>的域</a:t>
            </a:r>
            <a:r>
              <a:rPr lang="en-US" dirty="0" smtClean="0"/>
              <a:t>F</a:t>
            </a:r>
            <a:r>
              <a:rPr lang="zh-CN" altLang="en-US" dirty="0" smtClean="0"/>
              <a:t>的素子域同构于有理数域。</a:t>
            </a: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4348" y="2500306"/>
          <a:ext cx="7213600" cy="417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4" imgW="7426615" imgH="4291617" progId="Word.Document.12">
                  <p:embed/>
                </p:oleObj>
              </mc:Choice>
              <mc:Fallback>
                <p:oleObj name="文档" r:id="rId4" imgW="7426615" imgH="429161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2500306"/>
                        <a:ext cx="7213600" cy="417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4291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证明（续）</a:t>
            </a:r>
            <a:endParaRPr lang="zh-CN" altLang="en-US" dirty="0">
              <a:solidFill>
                <a:srgbClr val="0070C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00100" y="2285992"/>
          <a:ext cx="6804025" cy="405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文档" r:id="rId4" imgW="6804092" imgH="4056632" progId="Word.Document.12">
                  <p:embed/>
                </p:oleObj>
              </mc:Choice>
              <mc:Fallback>
                <p:oleObj name="文档" r:id="rId4" imgW="6804092" imgH="405663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2285992"/>
                        <a:ext cx="6804025" cy="405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扩域、单扩域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61448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定义</a:t>
            </a:r>
            <a:r>
              <a:rPr lang="en-US" dirty="0" smtClean="0">
                <a:solidFill>
                  <a:srgbClr val="0070C0"/>
                </a:solidFill>
              </a:rPr>
              <a:t>7.1.3 </a:t>
            </a:r>
            <a:r>
              <a:rPr lang="zh-CN" altLang="en-US" dirty="0" smtClean="0"/>
              <a:t>设</a:t>
            </a:r>
            <a:r>
              <a:rPr lang="en-US" dirty="0" smtClean="0"/>
              <a:t>F</a:t>
            </a:r>
            <a:r>
              <a:rPr lang="zh-CN" altLang="en-US" dirty="0" smtClean="0"/>
              <a:t>是一个域，</a:t>
            </a:r>
            <a:r>
              <a:rPr lang="en-US" dirty="0" smtClean="0"/>
              <a:t>E</a:t>
            </a:r>
            <a:r>
              <a:rPr lang="zh-CN" altLang="en-US" dirty="0" smtClean="0"/>
              <a:t>是</a:t>
            </a:r>
            <a:r>
              <a:rPr lang="en-US" dirty="0" smtClean="0"/>
              <a:t>F</a:t>
            </a:r>
            <a:r>
              <a:rPr lang="zh-CN" altLang="en-US" dirty="0" smtClean="0"/>
              <a:t>的扩域，</a:t>
            </a:r>
            <a:r>
              <a:rPr lang="en-US" dirty="0" smtClean="0"/>
              <a:t>S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E</a:t>
            </a:r>
            <a:r>
              <a:rPr lang="zh-CN" altLang="en-US" dirty="0" smtClean="0"/>
              <a:t>，将</a:t>
            </a:r>
            <a:r>
              <a:rPr lang="en-US" dirty="0" smtClean="0"/>
              <a:t>E</a:t>
            </a:r>
            <a:r>
              <a:rPr lang="zh-CN" altLang="en-US" dirty="0" smtClean="0"/>
              <a:t>中既包含</a:t>
            </a:r>
            <a:r>
              <a:rPr lang="en-US" dirty="0" smtClean="0"/>
              <a:t>F</a:t>
            </a:r>
            <a:r>
              <a:rPr lang="zh-CN" altLang="en-US" dirty="0" smtClean="0"/>
              <a:t>又包含</a:t>
            </a:r>
            <a:r>
              <a:rPr lang="en-US" dirty="0" smtClean="0"/>
              <a:t>S</a:t>
            </a:r>
            <a:r>
              <a:rPr lang="zh-CN" altLang="en-US" dirty="0" smtClean="0"/>
              <a:t>的最小子域记为</a:t>
            </a:r>
            <a:r>
              <a:rPr lang="en-US" dirty="0" smtClean="0"/>
              <a:t>F(S)</a:t>
            </a:r>
            <a:r>
              <a:rPr lang="zh-CN" altLang="en-US" dirty="0" smtClean="0"/>
              <a:t>，称之为由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zh-CN" altLang="en-US" dirty="0" smtClean="0">
                <a:solidFill>
                  <a:srgbClr val="FF0000"/>
                </a:solidFill>
              </a:rPr>
              <a:t>生成的</a:t>
            </a:r>
            <a:r>
              <a:rPr lang="en-US" dirty="0" smtClean="0">
                <a:solidFill>
                  <a:srgbClr val="FF0000"/>
                </a:solidFill>
              </a:rPr>
              <a:t>F</a:t>
            </a:r>
            <a:r>
              <a:rPr lang="zh-CN" altLang="en-US" dirty="0" smtClean="0">
                <a:solidFill>
                  <a:srgbClr val="FF0000"/>
                </a:solidFill>
              </a:rPr>
              <a:t>的扩域</a:t>
            </a:r>
            <a:r>
              <a:rPr lang="zh-CN" altLang="en-US" dirty="0" smtClean="0"/>
              <a:t>。</a:t>
            </a:r>
            <a:r>
              <a:rPr lang="en-US" dirty="0" smtClean="0"/>
              <a:t>F(S)</a:t>
            </a:r>
            <a:r>
              <a:rPr lang="zh-CN" altLang="en-US" dirty="0" smtClean="0"/>
              <a:t>实际上是</a:t>
            </a:r>
            <a:r>
              <a:rPr lang="en-US" dirty="0" smtClean="0"/>
              <a:t>E</a:t>
            </a:r>
            <a:r>
              <a:rPr lang="zh-CN" altLang="en-US" dirty="0" smtClean="0"/>
              <a:t>中全体既包含</a:t>
            </a:r>
            <a:r>
              <a:rPr lang="en-US" dirty="0" smtClean="0"/>
              <a:t>F</a:t>
            </a:r>
            <a:r>
              <a:rPr lang="zh-CN" altLang="en-US" dirty="0" smtClean="0"/>
              <a:t>又包含</a:t>
            </a:r>
            <a:r>
              <a:rPr lang="en-US" dirty="0" smtClean="0"/>
              <a:t>S</a:t>
            </a:r>
            <a:r>
              <a:rPr lang="zh-CN" altLang="en-US" dirty="0" smtClean="0"/>
              <a:t>的子域的交集。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71538" y="3143248"/>
          <a:ext cx="6981825" cy="34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文档" r:id="rId4" imgW="7114091" imgH="3441642" progId="Word.Document.12">
                  <p:embed/>
                </p:oleObj>
              </mc:Choice>
              <mc:Fallback>
                <p:oleObj name="文档" r:id="rId4" imgW="7114091" imgH="344164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3143248"/>
                        <a:ext cx="6981825" cy="340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代数元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97167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定义</a:t>
            </a:r>
            <a:r>
              <a:rPr lang="en-US" dirty="0" smtClean="0">
                <a:solidFill>
                  <a:srgbClr val="0070C0"/>
                </a:solidFill>
              </a:rPr>
              <a:t>7.1.4 </a:t>
            </a:r>
            <a:r>
              <a:rPr lang="zh-CN" altLang="en-US" dirty="0" smtClean="0"/>
              <a:t>设</a:t>
            </a:r>
            <a:r>
              <a:rPr lang="en-US" altLang="zh-CN" dirty="0" smtClean="0"/>
              <a:t>K</a:t>
            </a:r>
            <a:r>
              <a:rPr lang="zh-CN" altLang="en-US" dirty="0" smtClean="0"/>
              <a:t>是</a:t>
            </a:r>
            <a:r>
              <a:rPr lang="en-US" dirty="0" smtClean="0"/>
              <a:t>F</a:t>
            </a:r>
            <a:r>
              <a:rPr lang="zh-CN" altLang="en-US" dirty="0" smtClean="0"/>
              <a:t>的一个子域，       </a:t>
            </a:r>
            <a:r>
              <a:rPr lang="en-US" dirty="0" smtClean="0"/>
              <a:t> </a:t>
            </a:r>
            <a:r>
              <a:rPr lang="zh-CN" altLang="en-US" dirty="0" smtClean="0"/>
              <a:t>，如果     </a:t>
            </a:r>
            <a:r>
              <a:rPr lang="en-US" dirty="0" smtClean="0"/>
              <a:t> </a:t>
            </a:r>
            <a:r>
              <a:rPr lang="zh-CN" altLang="en-US" dirty="0" smtClean="0"/>
              <a:t>满足</a:t>
            </a:r>
            <a:r>
              <a:rPr lang="en-US" dirty="0" smtClean="0"/>
              <a:t>K</a:t>
            </a:r>
            <a:r>
              <a:rPr lang="zh-CN" altLang="en-US" dirty="0" smtClean="0"/>
              <a:t>上的一个非零多项式，则称</a:t>
            </a:r>
            <a:r>
              <a:rPr lang="en-US" dirty="0" smtClean="0"/>
              <a:t>      </a:t>
            </a:r>
            <a:r>
              <a:rPr lang="zh-CN" altLang="en-US" dirty="0" smtClean="0"/>
              <a:t>为</a:t>
            </a:r>
            <a:r>
              <a:rPr lang="en-US" dirty="0" smtClean="0"/>
              <a:t>K</a:t>
            </a:r>
            <a:r>
              <a:rPr lang="zh-CN" altLang="en-US" dirty="0" smtClean="0"/>
              <a:t>上的</a:t>
            </a:r>
            <a:r>
              <a:rPr lang="zh-CN" altLang="en-US" dirty="0" smtClean="0">
                <a:solidFill>
                  <a:srgbClr val="FF0000"/>
                </a:solidFill>
              </a:rPr>
              <a:t>代数元</a:t>
            </a:r>
            <a:r>
              <a:rPr lang="zh-CN" altLang="en-US" dirty="0" smtClean="0"/>
              <a:t>。不是代数元的元素称为</a:t>
            </a:r>
            <a:r>
              <a:rPr lang="zh-CN" altLang="en-US" dirty="0" smtClean="0">
                <a:solidFill>
                  <a:srgbClr val="FF0000"/>
                </a:solidFill>
              </a:rPr>
              <a:t>超越元</a:t>
            </a:r>
            <a:r>
              <a:rPr lang="zh-CN" altLang="en-US" dirty="0" smtClean="0"/>
              <a:t>。如果</a:t>
            </a:r>
            <a:r>
              <a:rPr lang="en-US" dirty="0" smtClean="0"/>
              <a:t> </a:t>
            </a:r>
            <a:r>
              <a:rPr lang="zh-CN" altLang="en-US" dirty="0" smtClean="0"/>
              <a:t>的一个扩张中所有的元素都是</a:t>
            </a:r>
            <a:r>
              <a:rPr lang="en-US" dirty="0" smtClean="0"/>
              <a:t> </a:t>
            </a:r>
            <a:r>
              <a:rPr lang="zh-CN" altLang="en-US" dirty="0" smtClean="0"/>
              <a:t>上的代数元，则称该扩张为</a:t>
            </a:r>
            <a:r>
              <a:rPr lang="zh-CN" altLang="en-US" dirty="0" smtClean="0">
                <a:solidFill>
                  <a:srgbClr val="FF0000"/>
                </a:solidFill>
              </a:rPr>
              <a:t>代数扩张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5000628" y="1643050"/>
          <a:ext cx="827121" cy="35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3" imgW="418918" imgH="177723" progId="Equation.DSMT4">
                  <p:embed/>
                </p:oleObj>
              </mc:Choice>
              <mc:Fallback>
                <p:oleObj name="Equation" r:id="rId3" imgW="418918" imgH="177723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8" y="1643050"/>
                        <a:ext cx="827121" cy="3571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243275"/>
              </p:ext>
            </p:extLst>
          </p:nvPr>
        </p:nvGraphicFramePr>
        <p:xfrm>
          <a:off x="5234007" y="2043066"/>
          <a:ext cx="3603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5" imgW="152280" imgH="139680" progId="Equation.DSMT4">
                  <p:embed/>
                </p:oleObj>
              </mc:Choice>
              <mc:Fallback>
                <p:oleObj name="Equation" r:id="rId5" imgW="152280" imgH="1396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4007" y="2043066"/>
                        <a:ext cx="36036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858016" y="1663690"/>
          <a:ext cx="3603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7" imgW="152280" imgH="139680" progId="Equation.DSMT4">
                  <p:embed/>
                </p:oleObj>
              </mc:Choice>
              <mc:Fallback>
                <p:oleObj name="Equation" r:id="rId7" imgW="152280" imgH="1396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16" y="1663690"/>
                        <a:ext cx="36036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48640"/>
              </p:ext>
            </p:extLst>
          </p:nvPr>
        </p:nvGraphicFramePr>
        <p:xfrm>
          <a:off x="625475" y="3697288"/>
          <a:ext cx="7415213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启用了宏的模板" r:id="rId10" imgW="7888659" imgH="2972344" progId="Word.DocumentMacroEnabled.12">
                  <p:embed/>
                </p:oleObj>
              </mc:Choice>
              <mc:Fallback>
                <p:oleObj name="启用了宏的模板" r:id="rId10" imgW="7888659" imgH="2972344" progId="Word.DocumentMacroEnabled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3697288"/>
                        <a:ext cx="7415213" cy="278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极小多项式的性质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848447"/>
              </p:ext>
            </p:extLst>
          </p:nvPr>
        </p:nvGraphicFramePr>
        <p:xfrm>
          <a:off x="500034" y="1428736"/>
          <a:ext cx="8289328" cy="2928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文档" r:id="rId4" imgW="4189435" imgH="1483915" progId="Word.Document.12">
                  <p:embed/>
                </p:oleObj>
              </mc:Choice>
              <mc:Fallback>
                <p:oleObj name="文档" r:id="rId4" imgW="4189435" imgH="1483915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428736"/>
                        <a:ext cx="8289328" cy="29289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11200" y="4117997"/>
          <a:ext cx="7358063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文档" r:id="rId7" imgW="4324103" imgH="1485117" progId="Word.Document.12">
                  <p:embed/>
                </p:oleObj>
              </mc:Choice>
              <mc:Fallback>
                <p:oleObj name="文档" r:id="rId7" imgW="4324103" imgH="1485117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117997"/>
                        <a:ext cx="7358063" cy="2525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7.1.2 </a:t>
            </a:r>
            <a:r>
              <a:rPr lang="zh-CN" altLang="en-US" dirty="0" smtClean="0"/>
              <a:t>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3538" y="1495425"/>
          <a:ext cx="8213725" cy="237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name="Document" r:id="rId4" imgW="3961776" imgH="1188237" progId="Word.Document.8">
                  <p:embed/>
                </p:oleObj>
              </mc:Choice>
              <mc:Fallback>
                <p:oleObj name="Document" r:id="rId4" imgW="3961776" imgH="1188237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1495425"/>
                        <a:ext cx="8213725" cy="237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85875"/>
              </p:ext>
            </p:extLst>
          </p:nvPr>
        </p:nvGraphicFramePr>
        <p:xfrm>
          <a:off x="219075" y="4352925"/>
          <a:ext cx="8607425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name="文档" r:id="rId7" imgW="3832466" imgH="692709" progId="Word.Document.12">
                  <p:embed/>
                </p:oleObj>
              </mc:Choice>
              <mc:Fallback>
                <p:oleObj name="文档" r:id="rId7" imgW="3832466" imgH="692709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4352925"/>
                        <a:ext cx="8607425" cy="155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向量空间（线性空间）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定义</a:t>
            </a:r>
            <a:r>
              <a:rPr lang="en-US" dirty="0" smtClean="0">
                <a:solidFill>
                  <a:srgbClr val="0070C0"/>
                </a:solidFill>
              </a:rPr>
              <a:t>7.1.6 </a:t>
            </a:r>
            <a:r>
              <a:rPr lang="zh-CN" altLang="en-US" dirty="0" smtClean="0"/>
              <a:t>设</a:t>
            </a:r>
            <a:r>
              <a:rPr lang="en-US" dirty="0" smtClean="0"/>
              <a:t>F</a:t>
            </a:r>
            <a:r>
              <a:rPr lang="zh-CN" altLang="en-US" dirty="0" smtClean="0"/>
              <a:t>是一个域，</a:t>
            </a:r>
            <a:r>
              <a:rPr lang="en-US" dirty="0" smtClean="0"/>
              <a:t>V</a:t>
            </a:r>
            <a:r>
              <a:rPr lang="zh-CN" altLang="en-US" dirty="0" smtClean="0"/>
              <a:t>是一个加群，且集合</a:t>
            </a:r>
            <a:r>
              <a:rPr lang="en-US" dirty="0" smtClean="0"/>
              <a:t>F</a:t>
            </a:r>
            <a:r>
              <a:rPr lang="en-US" altLang="zh-CN" dirty="0" smtClean="0"/>
              <a:t>×</a:t>
            </a:r>
            <a:r>
              <a:rPr lang="en-US" dirty="0" smtClean="0"/>
              <a:t>V={ (</a:t>
            </a:r>
            <a:r>
              <a:rPr lang="en-US" dirty="0" err="1" smtClean="0"/>
              <a:t>a,v</a:t>
            </a:r>
            <a:r>
              <a:rPr lang="en-US" dirty="0" smtClean="0"/>
              <a:t>) | </a:t>
            </a:r>
            <a:r>
              <a:rPr lang="en-US" dirty="0" err="1" smtClean="0"/>
              <a:t>a∈F</a:t>
            </a:r>
            <a:r>
              <a:rPr lang="en-US" dirty="0" smtClean="0"/>
              <a:t>, v ∈ V}</a:t>
            </a:r>
            <a:r>
              <a:rPr lang="zh-CN" altLang="en-US" dirty="0" smtClean="0"/>
              <a:t>到</a:t>
            </a:r>
            <a:r>
              <a:rPr lang="en-US" dirty="0" smtClean="0"/>
              <a:t>V</a:t>
            </a:r>
            <a:r>
              <a:rPr lang="zh-CN" altLang="en-US" dirty="0" smtClean="0"/>
              <a:t>有一个映射，这一映射表示为</a:t>
            </a:r>
            <a:r>
              <a:rPr lang="en-US" dirty="0" smtClean="0"/>
              <a:t> (</a:t>
            </a:r>
            <a:r>
              <a:rPr lang="en-US" dirty="0" err="1" smtClean="0"/>
              <a:t>a,v</a:t>
            </a:r>
            <a:r>
              <a:rPr lang="en-US" dirty="0" smtClean="0"/>
              <a:t>)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</a:t>
            </a:r>
            <a:r>
              <a:rPr lang="en-US" dirty="0" err="1" smtClean="0"/>
              <a:t>av</a:t>
            </a:r>
            <a:r>
              <a:rPr lang="en-US" dirty="0" smtClean="0"/>
              <a:t> ∈ V</a:t>
            </a:r>
            <a:r>
              <a:rPr lang="zh-CN" altLang="en-US" dirty="0" smtClean="0"/>
              <a:t>。假定映射满足下列条件，对每</a:t>
            </a:r>
            <a:r>
              <a:rPr lang="en-US" dirty="0" err="1" smtClean="0"/>
              <a:t>a,b</a:t>
            </a:r>
            <a:r>
              <a:rPr lang="en-US" dirty="0" smtClean="0"/>
              <a:t> ∈ F</a:t>
            </a:r>
            <a:r>
              <a:rPr lang="zh-CN" altLang="en-US" dirty="0" smtClean="0"/>
              <a:t>，</a:t>
            </a:r>
            <a:r>
              <a:rPr lang="en-US" dirty="0" err="1" smtClean="0"/>
              <a:t>u,v</a:t>
            </a:r>
            <a:r>
              <a:rPr lang="en-US" dirty="0" smtClean="0"/>
              <a:t> ∈ V</a:t>
            </a:r>
            <a:r>
              <a:rPr lang="zh-CN" altLang="en-US" dirty="0" smtClean="0"/>
              <a:t>有</a:t>
            </a:r>
          </a:p>
          <a:p>
            <a:pPr lvl="1"/>
            <a:r>
              <a:rPr lang="zh-CN" altLang="en-US" dirty="0" smtClean="0"/>
              <a:t>（</a:t>
            </a:r>
            <a:r>
              <a:rPr lang="en-US" dirty="0" smtClean="0"/>
              <a:t>1</a:t>
            </a:r>
            <a:r>
              <a:rPr lang="zh-CN" altLang="en-US" dirty="0" smtClean="0"/>
              <a:t>）</a:t>
            </a:r>
            <a:r>
              <a:rPr lang="en-US" dirty="0" smtClean="0"/>
              <a:t>a(</a:t>
            </a:r>
            <a:r>
              <a:rPr lang="en-US" dirty="0" err="1" smtClean="0"/>
              <a:t>u+v</a:t>
            </a:r>
            <a:r>
              <a:rPr lang="en-US" dirty="0" smtClean="0"/>
              <a:t>)=</a:t>
            </a:r>
            <a:r>
              <a:rPr lang="en-US" dirty="0" err="1" smtClean="0"/>
              <a:t>au+av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（</a:t>
            </a:r>
            <a:r>
              <a:rPr lang="en-US" dirty="0" smtClean="0"/>
              <a:t>2</a:t>
            </a:r>
            <a:r>
              <a:rPr lang="zh-CN" altLang="en-US" dirty="0" smtClean="0"/>
              <a:t>）</a:t>
            </a:r>
            <a:r>
              <a:rPr lang="en-US" dirty="0" smtClean="0"/>
              <a:t>(</a:t>
            </a:r>
            <a:r>
              <a:rPr lang="en-US" dirty="0" err="1" smtClean="0"/>
              <a:t>a+b</a:t>
            </a:r>
            <a:r>
              <a:rPr lang="en-US" dirty="0" smtClean="0"/>
              <a:t>)v=</a:t>
            </a:r>
            <a:r>
              <a:rPr lang="en-US" dirty="0" err="1" smtClean="0"/>
              <a:t>av+bv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（</a:t>
            </a:r>
            <a:r>
              <a:rPr lang="de-DE" dirty="0" smtClean="0"/>
              <a:t>3</a:t>
            </a:r>
            <a:r>
              <a:rPr lang="zh-CN" altLang="en-US" dirty="0" smtClean="0"/>
              <a:t>）</a:t>
            </a:r>
            <a:r>
              <a:rPr lang="de-DE" dirty="0" smtClean="0"/>
              <a:t>a(bv)=(ab)v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（</a:t>
            </a:r>
            <a:r>
              <a:rPr lang="de-DE" dirty="0" smtClean="0"/>
              <a:t>4</a:t>
            </a:r>
            <a:r>
              <a:rPr lang="zh-CN" altLang="en-US" dirty="0" smtClean="0"/>
              <a:t>）</a:t>
            </a:r>
            <a:r>
              <a:rPr lang="de-DE" dirty="0" smtClean="0"/>
              <a:t>1v=v</a:t>
            </a:r>
            <a:endParaRPr lang="zh-CN" altLang="en-US" dirty="0" smtClean="0"/>
          </a:p>
          <a:p>
            <a:r>
              <a:rPr lang="zh-CN" altLang="en-US" dirty="0" smtClean="0"/>
              <a:t>则</a:t>
            </a:r>
            <a:r>
              <a:rPr lang="en-US" dirty="0" smtClean="0"/>
              <a:t>V</a:t>
            </a:r>
            <a:r>
              <a:rPr lang="zh-CN" altLang="en-US" dirty="0" smtClean="0"/>
              <a:t>称为域</a:t>
            </a:r>
            <a:r>
              <a:rPr lang="en-US" dirty="0" smtClean="0"/>
              <a:t>F</a:t>
            </a:r>
            <a:r>
              <a:rPr lang="zh-CN" altLang="en-US" dirty="0" smtClean="0"/>
              <a:t>上的</a:t>
            </a:r>
            <a:r>
              <a:rPr lang="zh-CN" altLang="en-US" dirty="0" smtClean="0">
                <a:solidFill>
                  <a:srgbClr val="FF0000"/>
                </a:solidFill>
              </a:rPr>
              <a:t>向量空间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向量空间（续）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9644" y="1428736"/>
          <a:ext cx="8015694" cy="3997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4" imgW="3778447" imgH="1881316" progId="Word.Document.12">
                  <p:embed/>
                </p:oleObj>
              </mc:Choice>
              <mc:Fallback>
                <p:oleObj name="文档" r:id="rId4" imgW="3778447" imgH="188131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44" y="1428736"/>
                        <a:ext cx="8015694" cy="39973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扩张次数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61448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定义</a:t>
            </a:r>
            <a:r>
              <a:rPr lang="en-US" dirty="0" smtClean="0">
                <a:solidFill>
                  <a:srgbClr val="0070C0"/>
                </a:solidFill>
              </a:rPr>
              <a:t>7.1.7 </a:t>
            </a:r>
            <a:r>
              <a:rPr lang="zh-CN" altLang="en-US" dirty="0" smtClean="0"/>
              <a:t>若</a:t>
            </a:r>
            <a:r>
              <a:rPr lang="en-US" dirty="0" smtClean="0"/>
              <a:t>E</a:t>
            </a:r>
            <a:r>
              <a:rPr lang="zh-CN" altLang="en-US" dirty="0" smtClean="0"/>
              <a:t>是</a:t>
            </a:r>
            <a:r>
              <a:rPr lang="en-US" dirty="0" smtClean="0"/>
              <a:t>F</a:t>
            </a:r>
            <a:r>
              <a:rPr lang="zh-CN" altLang="en-US" dirty="0" smtClean="0"/>
              <a:t>的扩域，则</a:t>
            </a:r>
            <a:r>
              <a:rPr lang="en-US" dirty="0" smtClean="0"/>
              <a:t>E</a:t>
            </a:r>
            <a:r>
              <a:rPr lang="zh-CN" altLang="en-US" dirty="0" smtClean="0"/>
              <a:t>是</a:t>
            </a:r>
            <a:r>
              <a:rPr lang="en-US" dirty="0" smtClean="0"/>
              <a:t>F</a:t>
            </a:r>
            <a:r>
              <a:rPr lang="zh-CN" altLang="en-US" dirty="0" smtClean="0"/>
              <a:t>上的</a:t>
            </a:r>
            <a:r>
              <a:rPr lang="zh-CN" altLang="en-US" dirty="0" smtClean="0">
                <a:solidFill>
                  <a:srgbClr val="FF0000"/>
                </a:solidFill>
              </a:rPr>
              <a:t>向量空间</a:t>
            </a:r>
            <a:r>
              <a:rPr lang="zh-CN" altLang="en-US" dirty="0" smtClean="0"/>
              <a:t>。如果</a:t>
            </a:r>
            <a:r>
              <a:rPr lang="en-US" dirty="0" smtClean="0"/>
              <a:t>E</a:t>
            </a:r>
            <a:r>
              <a:rPr lang="zh-CN" altLang="en-US" dirty="0" smtClean="0"/>
              <a:t>作为</a:t>
            </a:r>
            <a:r>
              <a:rPr lang="en-US" dirty="0" smtClean="0"/>
              <a:t>F</a:t>
            </a:r>
            <a:r>
              <a:rPr lang="zh-CN" altLang="en-US" dirty="0" smtClean="0"/>
              <a:t>上的向量空间是</a:t>
            </a:r>
            <a:r>
              <a:rPr lang="zh-CN" altLang="en-US" dirty="0" smtClean="0">
                <a:solidFill>
                  <a:srgbClr val="FF0000"/>
                </a:solidFill>
              </a:rPr>
              <a:t>有限维</a:t>
            </a:r>
            <a:r>
              <a:rPr lang="zh-CN" altLang="en-US" dirty="0" smtClean="0"/>
              <a:t>的，则称</a:t>
            </a:r>
            <a:r>
              <a:rPr lang="en-US" dirty="0" smtClean="0"/>
              <a:t>E</a:t>
            </a:r>
            <a:r>
              <a:rPr lang="zh-CN" altLang="en-US" dirty="0" smtClean="0"/>
              <a:t>为域</a:t>
            </a:r>
            <a:r>
              <a:rPr lang="en-US" dirty="0" smtClean="0"/>
              <a:t>F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0000"/>
                </a:solidFill>
              </a:rPr>
              <a:t>有限扩域</a:t>
            </a:r>
            <a:r>
              <a:rPr lang="zh-CN" altLang="en-US" dirty="0" smtClean="0"/>
              <a:t>，</a:t>
            </a:r>
            <a:r>
              <a:rPr lang="en-US" dirty="0" smtClean="0"/>
              <a:t>E</a:t>
            </a:r>
            <a:r>
              <a:rPr lang="zh-CN" altLang="en-US" dirty="0" smtClean="0"/>
              <a:t>作为</a:t>
            </a:r>
            <a:r>
              <a:rPr lang="en-US" dirty="0" smtClean="0"/>
              <a:t>F</a:t>
            </a:r>
            <a:r>
              <a:rPr lang="zh-CN" altLang="en-US" dirty="0" smtClean="0"/>
              <a:t>上的向量空间的维数称为</a:t>
            </a:r>
            <a:r>
              <a:rPr lang="zh-CN" altLang="en-US" dirty="0" smtClean="0">
                <a:solidFill>
                  <a:srgbClr val="FF0000"/>
                </a:solidFill>
              </a:rPr>
              <a:t>扩张次数</a:t>
            </a:r>
            <a:r>
              <a:rPr lang="zh-CN" altLang="en-US" dirty="0" smtClean="0"/>
              <a:t>，记为</a:t>
            </a:r>
            <a:r>
              <a:rPr lang="en-US" altLang="zh-CN" dirty="0" smtClean="0"/>
              <a:t>[E:F]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4348" y="3429000"/>
            <a:ext cx="7890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定理</a:t>
            </a:r>
            <a:r>
              <a:rPr lang="en-US" sz="2800" b="1" dirty="0" smtClean="0">
                <a:solidFill>
                  <a:srgbClr val="0070C0"/>
                </a:solidFill>
              </a:rPr>
              <a:t>7.1.3  </a:t>
            </a:r>
            <a:r>
              <a:rPr lang="zh-CN" altLang="en-US" sz="2800" b="1" dirty="0" smtClean="0"/>
              <a:t>设</a:t>
            </a:r>
            <a:r>
              <a:rPr lang="en-US" sz="2800" b="1" dirty="0" smtClean="0"/>
              <a:t>E</a:t>
            </a:r>
            <a:r>
              <a:rPr lang="zh-CN" altLang="en-US" sz="2800" b="1" dirty="0" smtClean="0"/>
              <a:t>是</a:t>
            </a:r>
            <a:r>
              <a:rPr lang="en-US" sz="2800" b="1" dirty="0" smtClean="0"/>
              <a:t>F</a:t>
            </a:r>
            <a:r>
              <a:rPr lang="zh-CN" altLang="en-US" sz="2800" b="1" dirty="0" smtClean="0"/>
              <a:t>的有限扩域，</a:t>
            </a:r>
            <a:r>
              <a:rPr lang="en-US" sz="2800" b="1" dirty="0" smtClean="0"/>
              <a:t>K</a:t>
            </a:r>
            <a:r>
              <a:rPr lang="zh-CN" altLang="en-US" sz="2800" b="1" dirty="0" smtClean="0"/>
              <a:t>是</a:t>
            </a:r>
            <a:r>
              <a:rPr lang="en-US" sz="2800" b="1" dirty="0" smtClean="0"/>
              <a:t>E</a:t>
            </a:r>
            <a:r>
              <a:rPr lang="zh-CN" altLang="en-US" sz="2800" b="1" dirty="0" smtClean="0"/>
              <a:t>的有限扩域，则有             </a:t>
            </a:r>
            <a:r>
              <a:rPr lang="en-US" sz="2800" b="1" dirty="0" smtClean="0"/>
              <a:t>                        </a:t>
            </a:r>
            <a:endParaRPr lang="zh-CN" altLang="en-US" sz="2800" b="1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55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37942"/>
              </p:ext>
            </p:extLst>
          </p:nvPr>
        </p:nvGraphicFramePr>
        <p:xfrm>
          <a:off x="2699792" y="4133086"/>
          <a:ext cx="3595540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3" imgW="1435100" imgH="203200" progId="Equation.DSMT4">
                  <p:embed/>
                </p:oleObj>
              </mc:Choice>
              <mc:Fallback>
                <p:oleObj name="Equation" r:id="rId3" imgW="14351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133086"/>
                        <a:ext cx="3595540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7584" y="5075604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证明要点</a:t>
            </a:r>
            <a:r>
              <a:rPr lang="zh-CN" altLang="en-US" sz="2800" b="1" dirty="0" smtClean="0"/>
              <a:t>：利用基向量的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线性无关</a:t>
            </a:r>
            <a:r>
              <a:rPr lang="zh-CN" altLang="en-US" sz="2800" b="1" dirty="0" smtClean="0"/>
              <a:t>性。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7.1.3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3538" y="1495425"/>
          <a:ext cx="8213725" cy="471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文档" r:id="rId4" imgW="4591517" imgH="2772674" progId="Word.Document.12">
                  <p:embed/>
                </p:oleObj>
              </mc:Choice>
              <mc:Fallback>
                <p:oleObj name="文档" r:id="rId4" imgW="4591517" imgH="277267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1495425"/>
                        <a:ext cx="8213725" cy="4716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7.1.3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720" y="1428736"/>
          <a:ext cx="8338147" cy="414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文档" r:id="rId4" imgW="4383287" imgH="2178555" progId="Word.Document.12">
                  <p:embed/>
                </p:oleObj>
              </mc:Choice>
              <mc:Fallback>
                <p:oleObj name="文档" r:id="rId4" imgW="4383287" imgH="217855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8338147" cy="4143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7.1.3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0513" y="1684338"/>
          <a:ext cx="8201025" cy="407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文档" r:id="rId5" imgW="4393031" imgH="2178555" progId="Word.Document.12">
                  <p:embed/>
                </p:oleObj>
              </mc:Choice>
              <mc:Fallback>
                <p:oleObj name="文档" r:id="rId5" imgW="4393031" imgH="217855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1684338"/>
                        <a:ext cx="8201025" cy="407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代数扩张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4291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7.1.4 </a:t>
            </a:r>
            <a:r>
              <a:rPr lang="zh-CN" altLang="en-US" dirty="0" smtClean="0"/>
              <a:t>每个有限扩张都是代数扩张。</a:t>
            </a: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42910" y="2214554"/>
          <a:ext cx="7469259" cy="39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文档" r:id="rId4" imgW="3787469" imgH="1980276" progId="Word.Document.12">
                  <p:embed/>
                </p:oleObj>
              </mc:Choice>
              <mc:Fallback>
                <p:oleObj name="文档" r:id="rId4" imgW="3787469" imgH="198027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2214554"/>
                        <a:ext cx="7469259" cy="3903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代数扩张（续）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911288"/>
              </p:ext>
            </p:extLst>
          </p:nvPr>
        </p:nvGraphicFramePr>
        <p:xfrm>
          <a:off x="188913" y="1420813"/>
          <a:ext cx="8586787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文档" r:id="rId4" imgW="4871737" imgH="1186988" progId="Word.Document.12">
                  <p:embed/>
                </p:oleObj>
              </mc:Choice>
              <mc:Fallback>
                <p:oleObj name="文档" r:id="rId4" imgW="4871737" imgH="118698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3" y="1420813"/>
                        <a:ext cx="8586787" cy="2087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0513" y="3425825"/>
          <a:ext cx="7496197" cy="3216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文档" r:id="rId7" imgW="3202478" imgH="1782356" progId="Word.Document.12">
                  <p:embed/>
                </p:oleObj>
              </mc:Choice>
              <mc:Fallback>
                <p:oleObj name="文档" r:id="rId7" imgW="3202478" imgH="1782356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3425825"/>
                        <a:ext cx="7496197" cy="32161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7.1.5 </a:t>
            </a:r>
            <a:r>
              <a:rPr lang="zh-CN" altLang="en-US" dirty="0" smtClean="0"/>
              <a:t>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6773" y="1500174"/>
          <a:ext cx="7880003" cy="478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文档" r:id="rId4" imgW="3259858" imgH="1980276" progId="Word.Document.12">
                  <p:embed/>
                </p:oleObj>
              </mc:Choice>
              <mc:Fallback>
                <p:oleObj name="文档" r:id="rId4" imgW="3259858" imgH="198027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73" y="1500174"/>
                        <a:ext cx="7880003" cy="47863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7.1.5 </a:t>
            </a:r>
            <a:r>
              <a:rPr lang="zh-CN" altLang="en-US" dirty="0" smtClean="0"/>
              <a:t>证明（续）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14349" y="1428736"/>
          <a:ext cx="6929486" cy="416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文档" r:id="rId4" imgW="6926431" imgH="4158831" progId="Word.Document.12">
                  <p:embed/>
                </p:oleObj>
              </mc:Choice>
              <mc:Fallback>
                <p:oleObj name="文档" r:id="rId4" imgW="6926431" imgH="4158831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9" y="1428736"/>
                        <a:ext cx="6929486" cy="41611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71472" y="5786454"/>
            <a:ext cx="67866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域的单代数扩张实际上是添加了一个不可约多项式的根的扩张。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分裂域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203102"/>
              </p:ext>
            </p:extLst>
          </p:nvPr>
        </p:nvGraphicFramePr>
        <p:xfrm>
          <a:off x="357188" y="1500188"/>
          <a:ext cx="8031162" cy="399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文档" r:id="rId4" imgW="4557907" imgH="2266852" progId="Word.Document.12">
                  <p:embed/>
                </p:oleObj>
              </mc:Choice>
              <mc:Fallback>
                <p:oleObj name="文档" r:id="rId4" imgW="4557907" imgH="226685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500188"/>
                        <a:ext cx="8031162" cy="3995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5720" y="5286388"/>
            <a:ext cx="7358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例</a:t>
            </a:r>
            <a:r>
              <a:rPr lang="en-US" sz="2800" b="1" dirty="0" smtClean="0">
                <a:solidFill>
                  <a:srgbClr val="0070C0"/>
                </a:solidFill>
              </a:rPr>
              <a:t>7.1.3 </a:t>
            </a:r>
            <a:r>
              <a:rPr lang="en-US" sz="2800" b="1" dirty="0" smtClean="0"/>
              <a:t>x</a:t>
            </a:r>
            <a:r>
              <a:rPr lang="en-US" sz="2800" b="1" baseline="30000" dirty="0" smtClean="0"/>
              <a:t>2</a:t>
            </a:r>
            <a:r>
              <a:rPr lang="en-US" sz="2800" b="1" dirty="0" smtClean="0"/>
              <a:t>+1</a:t>
            </a:r>
            <a:r>
              <a:rPr lang="zh-CN" altLang="en-US" sz="2800" b="1" dirty="0" smtClean="0"/>
              <a:t>是实数域上的一个不可约多项式，则复数域就是</a:t>
            </a:r>
            <a:r>
              <a:rPr lang="en-US" sz="2800" b="1" dirty="0" smtClean="0"/>
              <a:t>x</a:t>
            </a:r>
            <a:r>
              <a:rPr lang="en-US" sz="2800" b="1" baseline="30000" dirty="0" smtClean="0"/>
              <a:t>2</a:t>
            </a:r>
            <a:r>
              <a:rPr lang="en-US" sz="2800" b="1" dirty="0" smtClean="0"/>
              <a:t>+1</a:t>
            </a:r>
            <a:r>
              <a:rPr lang="zh-CN" altLang="en-US" sz="2800" b="1" dirty="0" smtClean="0"/>
              <a:t>在实数域上的一个分裂域。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分裂域（续）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90010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7.1.6 </a:t>
            </a:r>
            <a:r>
              <a:rPr lang="zh-CN" altLang="en-US" dirty="0" smtClean="0"/>
              <a:t>域</a:t>
            </a:r>
            <a:r>
              <a:rPr lang="en-US" altLang="zh-CN" dirty="0" smtClean="0"/>
              <a:t>F</a:t>
            </a:r>
            <a:r>
              <a:rPr lang="zh-CN" altLang="en-US" dirty="0" smtClean="0"/>
              <a:t>上任意一个次数大于等于</a:t>
            </a:r>
            <a:r>
              <a:rPr lang="en-US" dirty="0" smtClean="0"/>
              <a:t>1</a:t>
            </a:r>
            <a:r>
              <a:rPr lang="zh-CN" altLang="en-US" dirty="0" smtClean="0"/>
              <a:t>的多项式</a:t>
            </a:r>
            <a:r>
              <a:rPr lang="en-US" dirty="0" smtClean="0"/>
              <a:t> </a:t>
            </a:r>
            <a:r>
              <a:rPr lang="zh-CN" altLang="en-US" dirty="0" smtClean="0"/>
              <a:t>在</a:t>
            </a:r>
            <a:r>
              <a:rPr lang="en-US" dirty="0" smtClean="0"/>
              <a:t>F</a:t>
            </a:r>
            <a:r>
              <a:rPr lang="zh-CN" altLang="en-US" dirty="0" smtClean="0"/>
              <a:t>上都有分裂域。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85786" y="2500306"/>
          <a:ext cx="6960396" cy="3973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文档" r:id="rId4" imgW="3695805" imgH="2109103" progId="Word.Document.12">
                  <p:embed/>
                </p:oleObj>
              </mc:Choice>
              <mc:Fallback>
                <p:oleObj name="文档" r:id="rId4" imgW="3695805" imgH="210910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2500306"/>
                        <a:ext cx="6960396" cy="39735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分裂域（续）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7159" y="1500174"/>
          <a:ext cx="7858180" cy="428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name="文档" r:id="rId4" imgW="5013389" imgH="2574394" progId="Word.Document.12">
                  <p:embed/>
                </p:oleObj>
              </mc:Choice>
              <mc:Fallback>
                <p:oleObj name="文档" r:id="rId4" imgW="5013389" imgH="257439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9" y="1500174"/>
                        <a:ext cx="7858180" cy="4286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748184"/>
              </p:ext>
            </p:extLst>
          </p:nvPr>
        </p:nvGraphicFramePr>
        <p:xfrm>
          <a:off x="0" y="5854700"/>
          <a:ext cx="91043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9" name="文档" r:id="rId7" imgW="6114789" imgH="396793" progId="Word.Document.12">
                  <p:embed/>
                </p:oleObj>
              </mc:Choice>
              <mc:Fallback>
                <p:oleObj name="文档" r:id="rId7" imgW="6114789" imgH="39679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54700"/>
                        <a:ext cx="9104313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 </a:t>
            </a:r>
            <a:r>
              <a:rPr lang="zh-CN" altLang="en-US" dirty="0" smtClean="0"/>
              <a:t>有限域的结构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有限域的三条结构定理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endParaRPr lang="en-US" altLang="zh-CN" dirty="0" smtClean="0">
              <a:solidFill>
                <a:srgbClr val="0070C0"/>
              </a:solidFill>
            </a:endParaRPr>
          </a:p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7.2.1 </a:t>
            </a:r>
            <a:r>
              <a:rPr lang="zh-CN" altLang="en-US" dirty="0" smtClean="0"/>
              <a:t>设</a:t>
            </a:r>
            <a:r>
              <a:rPr lang="en-US" altLang="zh-CN" dirty="0" smtClean="0"/>
              <a:t>F</a:t>
            </a:r>
            <a:r>
              <a:rPr lang="zh-CN" altLang="en-US" dirty="0" smtClean="0"/>
              <a:t>是一个特征为素数</a:t>
            </a:r>
            <a:r>
              <a:rPr lang="en-US" dirty="0" smtClean="0"/>
              <a:t>p</a:t>
            </a:r>
            <a:r>
              <a:rPr lang="zh-CN" altLang="en-US" dirty="0" smtClean="0"/>
              <a:t>的有限域，则</a:t>
            </a:r>
            <a:r>
              <a:rPr lang="en-US" dirty="0" smtClean="0"/>
              <a:t>F</a:t>
            </a:r>
            <a:r>
              <a:rPr lang="zh-CN" altLang="en-US" dirty="0" smtClean="0"/>
              <a:t>中的元素个数为</a:t>
            </a:r>
            <a:r>
              <a:rPr lang="en-US" dirty="0" err="1" smtClean="0"/>
              <a:t>p</a:t>
            </a:r>
            <a:r>
              <a:rPr lang="en-US" baseline="30000" dirty="0" err="1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是一个正整数。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7.2.2 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存在性</a:t>
            </a:r>
            <a:r>
              <a:rPr lang="zh-CN" altLang="en-US" dirty="0" smtClean="0"/>
              <a:t>）对于任何素数</a:t>
            </a:r>
            <a:r>
              <a:rPr lang="en-US" altLang="zh-CN" dirty="0" smtClean="0"/>
              <a:t>p</a:t>
            </a:r>
            <a:r>
              <a:rPr lang="zh-CN" altLang="en-US" dirty="0" smtClean="0"/>
              <a:t>和任意正整数</a:t>
            </a:r>
            <a:r>
              <a:rPr lang="en-US" dirty="0" smtClean="0"/>
              <a:t>n</a:t>
            </a:r>
            <a:r>
              <a:rPr lang="zh-CN" altLang="en-US" dirty="0" smtClean="0"/>
              <a:t>，总存在一个有限域恰好含有</a:t>
            </a:r>
            <a:r>
              <a:rPr lang="en-US" dirty="0" err="1" smtClean="0"/>
              <a:t>p</a:t>
            </a:r>
            <a:r>
              <a:rPr lang="en-US" baseline="30000" dirty="0" err="1" smtClean="0"/>
              <a:t>n</a:t>
            </a:r>
            <a:r>
              <a:rPr lang="zh-CN" altLang="en-US" dirty="0" smtClean="0"/>
              <a:t>个元素。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rgbClr val="00B0F0"/>
                </a:solidFill>
              </a:rPr>
              <a:t>定理</a:t>
            </a:r>
            <a:r>
              <a:rPr lang="en-US" dirty="0" smtClean="0">
                <a:solidFill>
                  <a:srgbClr val="00B0F0"/>
                </a:solidFill>
              </a:rPr>
              <a:t>7.2.3 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惟一性</a:t>
            </a:r>
            <a:r>
              <a:rPr lang="zh-CN" altLang="en-US" dirty="0" smtClean="0"/>
              <a:t>）任意两个</a:t>
            </a:r>
            <a:r>
              <a:rPr lang="en-US" altLang="zh-CN" dirty="0" smtClean="0"/>
              <a:t>q=</a:t>
            </a:r>
            <a:r>
              <a:rPr lang="en-US" altLang="zh-CN" dirty="0" err="1" smtClean="0"/>
              <a:t>p</a:t>
            </a:r>
            <a:r>
              <a:rPr lang="en-US" altLang="zh-CN" baseline="30000" dirty="0" err="1" smtClean="0"/>
              <a:t>n</a:t>
            </a:r>
            <a:r>
              <a:rPr lang="zh-CN" altLang="en-US" dirty="0" smtClean="0"/>
              <a:t>元域都同构，即</a:t>
            </a:r>
            <a:r>
              <a:rPr lang="en-US" dirty="0" err="1" smtClean="0"/>
              <a:t>p</a:t>
            </a:r>
            <a:r>
              <a:rPr lang="en-US" baseline="30000" dirty="0" err="1" smtClean="0"/>
              <a:t>n</a:t>
            </a:r>
            <a:r>
              <a:rPr lang="zh-CN" altLang="en-US" dirty="0" smtClean="0"/>
              <a:t>元域在同构意义下是惟一的。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有限域中元素的个数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90010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7.2.1 </a:t>
            </a:r>
            <a:r>
              <a:rPr lang="zh-CN" altLang="en-US" dirty="0" smtClean="0"/>
              <a:t>设</a:t>
            </a:r>
            <a:r>
              <a:rPr lang="en-US" altLang="zh-CN" dirty="0" smtClean="0"/>
              <a:t>F</a:t>
            </a:r>
            <a:r>
              <a:rPr lang="zh-CN" altLang="en-US" dirty="0" smtClean="0"/>
              <a:t>是一个特征为素数</a:t>
            </a:r>
            <a:r>
              <a:rPr lang="en-US" dirty="0" smtClean="0"/>
              <a:t>p</a:t>
            </a:r>
            <a:r>
              <a:rPr lang="zh-CN" altLang="en-US" dirty="0" smtClean="0"/>
              <a:t>的有限域，则</a:t>
            </a:r>
            <a:r>
              <a:rPr lang="en-US" dirty="0" smtClean="0"/>
              <a:t>F</a:t>
            </a:r>
            <a:r>
              <a:rPr lang="zh-CN" altLang="en-US" dirty="0" smtClean="0"/>
              <a:t>中的元素个数为</a:t>
            </a:r>
            <a:r>
              <a:rPr lang="en-US" dirty="0" err="1" smtClean="0"/>
              <a:t>p</a:t>
            </a:r>
            <a:r>
              <a:rPr lang="en-US" baseline="30000" dirty="0" err="1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是一个正整数。</a:t>
            </a:r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57224" y="2571744"/>
          <a:ext cx="7039881" cy="335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name="文档" r:id="rId4" imgW="6699075" imgH="3168513" progId="Word.Document.12">
                  <p:embed/>
                </p:oleObj>
              </mc:Choice>
              <mc:Fallback>
                <p:oleObj name="文档" r:id="rId4" imgW="6699075" imgH="316851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2571744"/>
                        <a:ext cx="7039881" cy="3357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有限域的存在性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90010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定理</a:t>
            </a:r>
            <a:r>
              <a:rPr lang="en-US" dirty="0" smtClean="0">
                <a:solidFill>
                  <a:srgbClr val="0070C0"/>
                </a:solidFill>
              </a:rPr>
              <a:t>7.2.2 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存在性</a:t>
            </a:r>
            <a:r>
              <a:rPr lang="zh-CN" altLang="en-US" dirty="0" smtClean="0"/>
              <a:t>）对于任何素数</a:t>
            </a:r>
            <a:r>
              <a:rPr lang="en-US" altLang="zh-CN" dirty="0" smtClean="0"/>
              <a:t>p</a:t>
            </a:r>
            <a:r>
              <a:rPr lang="zh-CN" altLang="en-US" dirty="0" smtClean="0"/>
              <a:t>和任意正整数</a:t>
            </a:r>
            <a:r>
              <a:rPr lang="en-US" dirty="0" smtClean="0"/>
              <a:t>n</a:t>
            </a:r>
            <a:r>
              <a:rPr lang="zh-CN" altLang="en-US" dirty="0" smtClean="0"/>
              <a:t>，总存在一个有限域恰好含有</a:t>
            </a:r>
            <a:r>
              <a:rPr lang="en-US" dirty="0" err="1" smtClean="0"/>
              <a:t>p</a:t>
            </a:r>
            <a:r>
              <a:rPr lang="en-US" baseline="30000" dirty="0" err="1" smtClean="0"/>
              <a:t>n</a:t>
            </a:r>
            <a:r>
              <a:rPr lang="zh-CN" altLang="en-US" dirty="0" smtClean="0"/>
              <a:t>个元素。</a:t>
            </a:r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4348" y="2428868"/>
          <a:ext cx="7108364" cy="4262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文档" r:id="rId4" imgW="4398084" imgH="2636289" progId="Word.Document.12">
                  <p:embed/>
                </p:oleObj>
              </mc:Choice>
              <mc:Fallback>
                <p:oleObj name="文档" r:id="rId4" imgW="4398084" imgH="263628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2428868"/>
                        <a:ext cx="7108364" cy="42624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有限域的唯一性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90010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B0F0"/>
                </a:solidFill>
              </a:rPr>
              <a:t>定理</a:t>
            </a:r>
            <a:r>
              <a:rPr lang="en-US" dirty="0" smtClean="0">
                <a:solidFill>
                  <a:srgbClr val="00B0F0"/>
                </a:solidFill>
              </a:rPr>
              <a:t>7.2.3 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惟一性</a:t>
            </a:r>
            <a:r>
              <a:rPr lang="zh-CN" altLang="en-US" dirty="0" smtClean="0"/>
              <a:t>）任意两个</a:t>
            </a:r>
            <a:r>
              <a:rPr lang="en-US" altLang="zh-CN" dirty="0" smtClean="0"/>
              <a:t>q=</a:t>
            </a:r>
            <a:r>
              <a:rPr lang="en-US" altLang="zh-CN" dirty="0" err="1" smtClean="0"/>
              <a:t>p</a:t>
            </a:r>
            <a:r>
              <a:rPr lang="en-US" altLang="zh-CN" baseline="30000" dirty="0" err="1" smtClean="0"/>
              <a:t>n</a:t>
            </a:r>
            <a:r>
              <a:rPr lang="zh-CN" altLang="en-US" dirty="0" smtClean="0"/>
              <a:t>元域都同构，即</a:t>
            </a:r>
            <a:r>
              <a:rPr lang="en-US" dirty="0" err="1" smtClean="0"/>
              <a:t>p</a:t>
            </a:r>
            <a:r>
              <a:rPr lang="en-US" baseline="30000" dirty="0" err="1" smtClean="0"/>
              <a:t>n</a:t>
            </a:r>
            <a:r>
              <a:rPr lang="zh-CN" altLang="en-US" dirty="0" smtClean="0"/>
              <a:t>元域在同构意义下是惟一的。</a:t>
            </a: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42910" y="2649547"/>
          <a:ext cx="7473173" cy="3279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9" name="文档" r:id="rId4" imgW="3610636" imgH="1584436" progId="Word.Document.12">
                  <p:embed/>
                </p:oleObj>
              </mc:Choice>
              <mc:Fallback>
                <p:oleObj name="文档" r:id="rId4" imgW="3610636" imgH="158443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2649547"/>
                        <a:ext cx="7473173" cy="3279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有限域的乘法群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379443"/>
              </p:ext>
            </p:extLst>
          </p:nvPr>
        </p:nvGraphicFramePr>
        <p:xfrm>
          <a:off x="496888" y="1362075"/>
          <a:ext cx="68389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4" name="文档" r:id="rId4" imgW="3423373" imgH="396142" progId="Word.Document.12">
                  <p:embed/>
                </p:oleObj>
              </mc:Choice>
              <mc:Fallback>
                <p:oleObj name="文档" r:id="rId4" imgW="3423373" imgH="39614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1362075"/>
                        <a:ext cx="683895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5720" y="2000240"/>
          <a:ext cx="8286808" cy="478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5" name="文档" r:id="rId7" imgW="4543159" imgH="2574394" progId="Word.Document.12">
                  <p:embed/>
                </p:oleObj>
              </mc:Choice>
              <mc:Fallback>
                <p:oleObj name="文档" r:id="rId7" imgW="4543159" imgH="2574394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2000240"/>
                        <a:ext cx="8286808" cy="47863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74431" y="928670"/>
          <a:ext cx="8855287" cy="507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文档" r:id="rId4" imgW="4841609" imgH="2772674" progId="Word.Document.12">
                  <p:embed/>
                </p:oleObj>
              </mc:Choice>
              <mc:Fallback>
                <p:oleObj name="文档" r:id="rId4" imgW="4841609" imgH="2772674" progId="Word.Document.12">
                  <p:embed/>
                  <p:pic>
                    <p:nvPicPr>
                      <p:cNvPr id="0" name="内容占位符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31" y="928670"/>
                        <a:ext cx="8855287" cy="50720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本原元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4291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定义</a:t>
            </a:r>
            <a:r>
              <a:rPr lang="en-US" dirty="0" smtClean="0">
                <a:solidFill>
                  <a:srgbClr val="0070C0"/>
                </a:solidFill>
              </a:rPr>
              <a:t>7.2.1        </a:t>
            </a:r>
            <a:r>
              <a:rPr lang="zh-CN" altLang="en-US" dirty="0" smtClean="0"/>
              <a:t>中的生成元</a:t>
            </a:r>
            <a:r>
              <a:rPr lang="zh-CN" altLang="en-US" dirty="0"/>
              <a:t>称</a:t>
            </a:r>
            <a:r>
              <a:rPr lang="zh-CN" altLang="en-US" dirty="0" smtClean="0"/>
              <a:t>为</a:t>
            </a:r>
            <a:r>
              <a:rPr lang="en-US" dirty="0" smtClean="0"/>
              <a:t>      </a:t>
            </a:r>
            <a:r>
              <a:rPr lang="zh-CN" altLang="en-US" dirty="0" smtClean="0"/>
              <a:t>的本原元。</a:t>
            </a:r>
          </a:p>
          <a:p>
            <a:endParaRPr lang="zh-CN" altLang="en-US" dirty="0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667836"/>
              </p:ext>
            </p:extLst>
          </p:nvPr>
        </p:nvGraphicFramePr>
        <p:xfrm>
          <a:off x="2305416" y="1468951"/>
          <a:ext cx="571504" cy="734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7" name="Equation" r:id="rId3" imgW="203024" imgH="253780" progId="Equation.DSMT4">
                  <p:embed/>
                </p:oleObj>
              </mc:Choice>
              <mc:Fallback>
                <p:oleObj name="Equation" r:id="rId3" imgW="203024" imgH="25378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416" y="1468951"/>
                        <a:ext cx="571504" cy="7347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890747"/>
              </p:ext>
            </p:extLst>
          </p:nvPr>
        </p:nvGraphicFramePr>
        <p:xfrm>
          <a:off x="4998309" y="1548934"/>
          <a:ext cx="428596" cy="5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8" name="Equation" r:id="rId5" imgW="177646" imgH="241091" progId="Equation.DSMT4">
                  <p:embed/>
                </p:oleObj>
              </mc:Choice>
              <mc:Fallback>
                <p:oleObj name="Equation" r:id="rId5" imgW="177646" imgH="24109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8309" y="1548934"/>
                        <a:ext cx="428596" cy="58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28662" y="2214554"/>
            <a:ext cx="6643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根据定理</a:t>
            </a:r>
            <a:r>
              <a:rPr lang="en-US" altLang="zh-CN" sz="2400" b="1" dirty="0"/>
              <a:t>4</a:t>
            </a:r>
            <a:r>
              <a:rPr lang="en-US" sz="2400" b="1" dirty="0" smtClean="0"/>
              <a:t>.5.1</a:t>
            </a:r>
            <a:r>
              <a:rPr lang="zh-CN" altLang="en-US" sz="2400" b="1" dirty="0" smtClean="0"/>
              <a:t>，     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中的本原元有     </a:t>
            </a:r>
            <a:r>
              <a:rPr lang="en-US" sz="2400" b="1" dirty="0" smtClean="0"/>
              <a:t>          </a:t>
            </a:r>
            <a:r>
              <a:rPr lang="zh-CN" altLang="en-US" sz="2400" b="1" dirty="0" smtClean="0"/>
              <a:t>个。</a:t>
            </a:r>
            <a:endParaRPr lang="zh-CN" altLang="en-US" sz="2400" b="1" dirty="0"/>
          </a:p>
        </p:txBody>
      </p:sp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3214678" y="2143116"/>
          <a:ext cx="4286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9" name="Equation" r:id="rId7" imgW="177646" imgH="241091" progId="Equation.DSMT4">
                  <p:embed/>
                </p:oleObj>
              </mc:Choice>
              <mc:Fallback>
                <p:oleObj name="Equation" r:id="rId7" imgW="177646" imgH="241091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2143116"/>
                        <a:ext cx="428625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770618"/>
              </p:ext>
            </p:extLst>
          </p:nvPr>
        </p:nvGraphicFramePr>
        <p:xfrm>
          <a:off x="5724128" y="2214554"/>
          <a:ext cx="1285822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0" name="Equation" r:id="rId8" imgW="507780" imgH="203112" progId="Equation.DSMT4">
                  <p:embed/>
                </p:oleObj>
              </mc:Choice>
              <mc:Fallback>
                <p:oleObj name="Equation" r:id="rId8" imgW="507780" imgH="203112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2214554"/>
                        <a:ext cx="1285822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989933"/>
              </p:ext>
            </p:extLst>
          </p:nvPr>
        </p:nvGraphicFramePr>
        <p:xfrm>
          <a:off x="139700" y="3429000"/>
          <a:ext cx="8516938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1" name="文档" r:id="rId11" imgW="4760296" imgH="1198491" progId="Word.Document.12">
                  <p:embed/>
                </p:oleObj>
              </mc:Choice>
              <mc:Fallback>
                <p:oleObj name="文档" r:id="rId11" imgW="4760296" imgH="1198491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3429000"/>
                        <a:ext cx="8516938" cy="213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有限域的子域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874830"/>
              </p:ext>
            </p:extLst>
          </p:nvPr>
        </p:nvGraphicFramePr>
        <p:xfrm>
          <a:off x="576263" y="1431925"/>
          <a:ext cx="7473950" cy="258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文档" r:id="rId4" imgW="3670698" imgH="1271465" progId="Word.Document.12">
                  <p:embed/>
                </p:oleObj>
              </mc:Choice>
              <mc:Fallback>
                <p:oleObj name="文档" r:id="rId4" imgW="3670698" imgH="127146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431925"/>
                        <a:ext cx="7473950" cy="258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922908"/>
              </p:ext>
            </p:extLst>
          </p:nvPr>
        </p:nvGraphicFramePr>
        <p:xfrm>
          <a:off x="646113" y="3925888"/>
          <a:ext cx="7077075" cy="271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1" name="文档" r:id="rId7" imgW="3433438" imgH="1315680" progId="Word.Document.12">
                  <p:embed/>
                </p:oleObj>
              </mc:Choice>
              <mc:Fallback>
                <p:oleObj name="文档" r:id="rId7" imgW="3433438" imgH="131568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3925888"/>
                        <a:ext cx="7077075" cy="2713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有限域的子域（续）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71478"/>
          </a:xfrm>
        </p:spPr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7.2.5</a:t>
            </a:r>
            <a:r>
              <a:rPr lang="zh-CN" altLang="en-US" dirty="0" smtClean="0"/>
              <a:t>的证明：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7157" y="2000240"/>
          <a:ext cx="8169698" cy="4572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3" name="文档" r:id="rId4" imgW="4412519" imgH="2376475" progId="Word.Document.12">
                  <p:embed/>
                </p:oleObj>
              </mc:Choice>
              <mc:Fallback>
                <p:oleObj name="文档" r:id="rId4" imgW="4412519" imgH="237647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7" y="2000240"/>
                        <a:ext cx="8169698" cy="4572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7.3 </a:t>
            </a:r>
            <a:r>
              <a:rPr lang="zh-CN" altLang="en-US" dirty="0" smtClean="0"/>
              <a:t>不可约多项式的根，迹和范数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262194"/>
              </p:ext>
            </p:extLst>
          </p:nvPr>
        </p:nvGraphicFramePr>
        <p:xfrm>
          <a:off x="357188" y="1362075"/>
          <a:ext cx="7862887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8" name="文档" r:id="rId4" imgW="4042406" imgH="989276" progId="Word.Document.12">
                  <p:embed/>
                </p:oleObj>
              </mc:Choice>
              <mc:Fallback>
                <p:oleObj name="文档" r:id="rId4" imgW="4042406" imgH="98927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362075"/>
                        <a:ext cx="7862887" cy="191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8595" y="3286124"/>
          <a:ext cx="7811505" cy="300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9" name="文档" r:id="rId7" imgW="3313990" imgH="1273883" progId="Word.Document.12">
                  <p:embed/>
                </p:oleObj>
              </mc:Choice>
              <mc:Fallback>
                <p:oleObj name="文档" r:id="rId7" imgW="3313990" imgH="127388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5" y="3286124"/>
                        <a:ext cx="7811505" cy="30003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029339"/>
              </p:ext>
            </p:extLst>
          </p:nvPr>
        </p:nvGraphicFramePr>
        <p:xfrm>
          <a:off x="715963" y="427038"/>
          <a:ext cx="712628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2" name="文档" r:id="rId4" imgW="3690470" imgH="593494" progId="Word.Document.12">
                  <p:embed/>
                </p:oleObj>
              </mc:Choice>
              <mc:Fallback>
                <p:oleObj name="文档" r:id="rId4" imgW="3690470" imgH="59349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427038"/>
                        <a:ext cx="7126287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15466"/>
              </p:ext>
            </p:extLst>
          </p:nvPr>
        </p:nvGraphicFramePr>
        <p:xfrm>
          <a:off x="141288" y="1571625"/>
          <a:ext cx="8758237" cy="421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3" name="文档" r:id="rId7" imgW="4534606" imgH="2179558" progId="Word.Document.12">
                  <p:embed/>
                </p:oleObj>
              </mc:Choice>
              <mc:Fallback>
                <p:oleObj name="文档" r:id="rId7" imgW="4534606" imgH="2179558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1571625"/>
                        <a:ext cx="8758237" cy="421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不可约多项式的根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826904"/>
              </p:ext>
            </p:extLst>
          </p:nvPr>
        </p:nvGraphicFramePr>
        <p:xfrm>
          <a:off x="427038" y="1500188"/>
          <a:ext cx="7991475" cy="27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6" name="文档" r:id="rId4" imgW="3438112" imgH="1186988" progId="Word.Document.12">
                  <p:embed/>
                </p:oleObj>
              </mc:Choice>
              <mc:Fallback>
                <p:oleObj name="文档" r:id="rId4" imgW="3438112" imgH="118698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1500188"/>
                        <a:ext cx="7991475" cy="275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8595" y="4429132"/>
          <a:ext cx="7287132" cy="1500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7" name="文档" r:id="rId7" imgW="3624711" imgH="746697" progId="Word.Document.12">
                  <p:embed/>
                </p:oleObj>
              </mc:Choice>
              <mc:Fallback>
                <p:oleObj name="文档" r:id="rId7" imgW="3624711" imgH="746697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5" y="4429132"/>
                        <a:ext cx="7287132" cy="15001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7.3.3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720" y="1571612"/>
          <a:ext cx="8078014" cy="385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文档" r:id="rId4" imgW="4561564" imgH="2178555" progId="Word.Document.12">
                  <p:embed/>
                </p:oleObj>
              </mc:Choice>
              <mc:Fallback>
                <p:oleObj name="文档" r:id="rId4" imgW="4561564" imgH="217855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571612"/>
                        <a:ext cx="8078014" cy="38576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7.3.3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216903"/>
              </p:ext>
            </p:extLst>
          </p:nvPr>
        </p:nvGraphicFramePr>
        <p:xfrm>
          <a:off x="219075" y="1570038"/>
          <a:ext cx="8397875" cy="407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4" name="文档" r:id="rId4" imgW="4069726" imgH="1978193" progId="Word.Document.12">
                  <p:embed/>
                </p:oleObj>
              </mc:Choice>
              <mc:Fallback>
                <p:oleObj name="文档" r:id="rId4" imgW="4069726" imgH="197819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1570038"/>
                        <a:ext cx="8397875" cy="407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共轭元与特征多项式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061443"/>
              </p:ext>
            </p:extLst>
          </p:nvPr>
        </p:nvGraphicFramePr>
        <p:xfrm>
          <a:off x="646113" y="1362075"/>
          <a:ext cx="75438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8" name="文档" r:id="rId4" imgW="7603073" imgH="1238627" progId="Word.Document.12">
                  <p:embed/>
                </p:oleObj>
              </mc:Choice>
              <mc:Fallback>
                <p:oleObj name="文档" r:id="rId4" imgW="7603073" imgH="123862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1362075"/>
                        <a:ext cx="7543800" cy="1222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040024"/>
              </p:ext>
            </p:extLst>
          </p:nvPr>
        </p:nvGraphicFramePr>
        <p:xfrm>
          <a:off x="571471" y="3000372"/>
          <a:ext cx="7500991" cy="300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9" name="文档" r:id="rId7" imgW="3159152" imgH="1384699" progId="Word.Document.12">
                  <p:embed/>
                </p:oleObj>
              </mc:Choice>
              <mc:Fallback>
                <p:oleObj name="文档" r:id="rId7" imgW="3159152" imgH="1384699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1" y="3000372"/>
                        <a:ext cx="7500991" cy="30003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特征多项式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7158" y="1643050"/>
          <a:ext cx="8223524" cy="414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1" name="文档" r:id="rId4" imgW="4331681" imgH="2182154" progId="Word.Document.12">
                  <p:embed/>
                </p:oleObj>
              </mc:Choice>
              <mc:Fallback>
                <p:oleObj name="文档" r:id="rId4" imgW="4331681" imgH="218215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1643050"/>
                        <a:ext cx="8223524" cy="4143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迹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455565"/>
              </p:ext>
            </p:extLst>
          </p:nvPr>
        </p:nvGraphicFramePr>
        <p:xfrm>
          <a:off x="427038" y="1362075"/>
          <a:ext cx="7713662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6" name="文档" r:id="rId4" imgW="3435595" imgH="989276" progId="Word.Document.12">
                  <p:embed/>
                </p:oleObj>
              </mc:Choice>
              <mc:Fallback>
                <p:oleObj name="文档" r:id="rId4" imgW="3435595" imgH="98927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1362075"/>
                        <a:ext cx="7713662" cy="221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08845"/>
              </p:ext>
            </p:extLst>
          </p:nvPr>
        </p:nvGraphicFramePr>
        <p:xfrm>
          <a:off x="449977" y="3717032"/>
          <a:ext cx="8578880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7" name="文档" r:id="rId7" imgW="4337902" imgH="1186988" progId="Word.Document.12">
                  <p:embed/>
                </p:oleObj>
              </mc:Choice>
              <mc:Fallback>
                <p:oleObj name="文档" r:id="rId7" imgW="4337902" imgH="1186988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77" y="3717032"/>
                        <a:ext cx="8578880" cy="20882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迹的应用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78394"/>
              </p:ext>
            </p:extLst>
          </p:nvPr>
        </p:nvGraphicFramePr>
        <p:xfrm>
          <a:off x="357188" y="1282700"/>
          <a:ext cx="7693025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文档" r:id="rId4" imgW="3100556" imgH="593494" progId="Word.Document.12">
                  <p:embed/>
                </p:oleObj>
              </mc:Choice>
              <mc:Fallback>
                <p:oleObj name="文档" r:id="rId4" imgW="3100556" imgH="59349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282700"/>
                        <a:ext cx="7693025" cy="147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7158" y="2714620"/>
          <a:ext cx="7786742" cy="3291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1" name="文档" r:id="rId7" imgW="3747411" imgH="1584436" progId="Word.Document.12">
                  <p:embed/>
                </p:oleObj>
              </mc:Choice>
              <mc:Fallback>
                <p:oleObj name="文档" r:id="rId7" imgW="3747411" imgH="1584436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2714620"/>
                        <a:ext cx="7786742" cy="32914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迹的应用（续）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719" y="857232"/>
          <a:ext cx="7814091" cy="5500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3" name="文档" r:id="rId4" imgW="4801551" imgH="3366793" progId="Word.Document.12">
                  <p:embed/>
                </p:oleObj>
              </mc:Choice>
              <mc:Fallback>
                <p:oleObj name="文档" r:id="rId4" imgW="4801551" imgH="336679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19" y="857232"/>
                        <a:ext cx="7814091" cy="55007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迹的应用（续）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42844" y="857232"/>
          <a:ext cx="8543570" cy="521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文档" r:id="rId4" imgW="5191305" imgH="3168513" progId="Word.Document.12">
                  <p:embed/>
                </p:oleObj>
              </mc:Choice>
              <mc:Fallback>
                <p:oleObj name="文档" r:id="rId4" imgW="5191305" imgH="316851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857232"/>
                        <a:ext cx="8543570" cy="5214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范数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30389"/>
              </p:ext>
            </p:extLst>
          </p:nvPr>
        </p:nvGraphicFramePr>
        <p:xfrm>
          <a:off x="219075" y="923925"/>
          <a:ext cx="7781925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2" name="文档" r:id="rId4" imgW="3256212" imgH="989276" progId="Word.Document.12">
                  <p:embed/>
                </p:oleObj>
              </mc:Choice>
              <mc:Fallback>
                <p:oleObj name="文档" r:id="rId4" imgW="3256212" imgH="98927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923925"/>
                        <a:ext cx="7781925" cy="235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72147"/>
              </p:ext>
            </p:extLst>
          </p:nvPr>
        </p:nvGraphicFramePr>
        <p:xfrm>
          <a:off x="368300" y="3429000"/>
          <a:ext cx="8358188" cy="327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文档" r:id="rId7" imgW="4053190" imgH="1591398" progId="Word.Document.12">
                  <p:embed/>
                </p:oleObj>
              </mc:Choice>
              <mc:Fallback>
                <p:oleObj name="文档" r:id="rId7" imgW="4053190" imgH="1591398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3429000"/>
                        <a:ext cx="8358188" cy="327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zh-CN" altLang="en-US" dirty="0" smtClean="0"/>
              <a:t>有限域上元素的表示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 smtClean="0"/>
              <a:t>有限域上元素的三种表示方法：</a:t>
            </a:r>
            <a:endParaRPr lang="en-US" altLang="zh-CN" sz="3200" dirty="0" smtClean="0"/>
          </a:p>
          <a:p>
            <a:endParaRPr lang="en-US" altLang="zh-CN" dirty="0" smtClean="0"/>
          </a:p>
          <a:p>
            <a:pPr lvl="1"/>
            <a:r>
              <a:rPr lang="zh-CN" altLang="en-US" sz="2800" dirty="0" smtClean="0"/>
              <a:t>多项式表示法</a:t>
            </a:r>
            <a:endParaRPr lang="en-US" altLang="zh-CN" sz="28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zh-CN" altLang="en-US" sz="2800" dirty="0" smtClean="0"/>
              <a:t>本原元表示法</a:t>
            </a:r>
            <a:endParaRPr lang="en-US" altLang="zh-CN" sz="28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zh-CN" altLang="en-US" sz="2800" dirty="0" smtClean="0"/>
              <a:t>伴随矩阵表示法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多项式表示法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76461"/>
              </p:ext>
            </p:extLst>
          </p:nvPr>
        </p:nvGraphicFramePr>
        <p:xfrm>
          <a:off x="211138" y="1711325"/>
          <a:ext cx="8288337" cy="370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5" name="文档" r:id="rId4" imgW="4431594" imgH="1980962" progId="Word.Document.12">
                  <p:embed/>
                </p:oleObj>
              </mc:Choice>
              <mc:Fallback>
                <p:oleObj name="文档" r:id="rId4" imgW="4431594" imgH="198096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1711325"/>
                        <a:ext cx="8288337" cy="370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多项式表示法（续）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58138" cy="471478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例</a:t>
            </a:r>
            <a:r>
              <a:rPr lang="en-US" dirty="0" smtClean="0">
                <a:solidFill>
                  <a:srgbClr val="0070C0"/>
                </a:solidFill>
              </a:rPr>
              <a:t>7.4.1 </a:t>
            </a:r>
            <a:r>
              <a:rPr lang="zh-CN" altLang="en-US" dirty="0" smtClean="0"/>
              <a:t>给出有限域</a:t>
            </a:r>
            <a:r>
              <a:rPr lang="en-US" dirty="0" smtClean="0"/>
              <a:t>F</a:t>
            </a:r>
            <a:r>
              <a:rPr lang="en-US" baseline="-25000" dirty="0" smtClean="0"/>
              <a:t>9</a:t>
            </a:r>
            <a:r>
              <a:rPr lang="zh-CN" altLang="en-US" dirty="0" smtClean="0"/>
              <a:t>的元素表示，并给出</a:t>
            </a:r>
            <a:r>
              <a:rPr lang="en-US" dirty="0" smtClean="0"/>
              <a:t>F</a:t>
            </a:r>
            <a:r>
              <a:rPr lang="en-US" baseline="-25000" dirty="0" smtClean="0"/>
              <a:t>9</a:t>
            </a:r>
            <a:r>
              <a:rPr lang="zh-CN" altLang="en-US" dirty="0" smtClean="0"/>
              <a:t>的乘法表。</a:t>
            </a: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4282" y="2285992"/>
          <a:ext cx="8572561" cy="364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9" name="文档" r:id="rId4" imgW="4704834" imgH="1980276" progId="Word.Document.12">
                  <p:embed/>
                </p:oleObj>
              </mc:Choice>
              <mc:Fallback>
                <p:oleObj name="文档" r:id="rId4" imgW="4704834" imgH="198027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2285992"/>
                        <a:ext cx="8572561" cy="364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多项式表示法（续）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4282" y="1357298"/>
          <a:ext cx="8881998" cy="414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4" name="文档" r:id="rId4" imgW="5739126" imgH="2446286" progId="Word.Document.12">
                  <p:embed/>
                </p:oleObj>
              </mc:Choice>
              <mc:Fallback>
                <p:oleObj name="文档" r:id="rId4" imgW="5739126" imgH="2446286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357298"/>
                        <a:ext cx="8881998" cy="4143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本原元表示法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720" y="1428736"/>
          <a:ext cx="8358246" cy="146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8" name="文档" r:id="rId4" imgW="5591524" imgH="792038" progId="Word.Document.12">
                  <p:embed/>
                </p:oleObj>
              </mc:Choice>
              <mc:Fallback>
                <p:oleObj name="文档" r:id="rId4" imgW="5591524" imgH="79203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8358246" cy="14628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467"/>
              </p:ext>
            </p:extLst>
          </p:nvPr>
        </p:nvGraphicFramePr>
        <p:xfrm>
          <a:off x="288925" y="2713038"/>
          <a:ext cx="7821613" cy="371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9" name="文档" r:id="rId7" imgW="4159598" imgH="1978193" progId="Word.Document.12">
                  <p:embed/>
                </p:oleObj>
              </mc:Choice>
              <mc:Fallback>
                <p:oleObj name="文档" r:id="rId7" imgW="4159598" imgH="197819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2713038"/>
                        <a:ext cx="7821613" cy="371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伴随矩阵表示法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4281" y="1500174"/>
          <a:ext cx="8312749" cy="4214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1" name="文档" r:id="rId4" imgW="5077988" imgH="2574394" progId="Word.Document.12">
                  <p:embed/>
                </p:oleObj>
              </mc:Choice>
              <mc:Fallback>
                <p:oleObj name="文档" r:id="rId4" imgW="5077988" imgH="257439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1" y="1500174"/>
                        <a:ext cx="8312749" cy="42148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57158" y="5812713"/>
            <a:ext cx="73581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利用上述结果可给出有限域中元素的伴随矩阵表示，其加法和乘法均为矩阵的加法和乘法。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伴随矩阵表示法（续）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786151"/>
              </p:ext>
            </p:extLst>
          </p:nvPr>
        </p:nvGraphicFramePr>
        <p:xfrm>
          <a:off x="357188" y="1362075"/>
          <a:ext cx="7802562" cy="476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文档" r:id="rId4" imgW="4860952" imgH="2967470" progId="Word.Document.12">
                  <p:embed/>
                </p:oleObj>
              </mc:Choice>
              <mc:Fallback>
                <p:oleObj name="文档" r:id="rId4" imgW="4860952" imgH="296747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362075"/>
                        <a:ext cx="7802562" cy="476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 smtClean="0"/>
              <a:t>有限域中的算法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2185990"/>
          </a:xfrm>
        </p:spPr>
        <p:txBody>
          <a:bodyPr/>
          <a:lstStyle/>
          <a:p>
            <a:r>
              <a:rPr lang="zh-CN" altLang="en-US" dirty="0" smtClean="0"/>
              <a:t>素域</a:t>
            </a:r>
            <a:r>
              <a:rPr lang="en-US" altLang="zh-CN" dirty="0" err="1" smtClean="0"/>
              <a:t>F</a:t>
            </a:r>
            <a:r>
              <a:rPr lang="en-US" altLang="zh-CN" baseline="-25000" dirty="0" err="1" smtClean="0"/>
              <a:t>p</a:t>
            </a:r>
            <a:r>
              <a:rPr lang="zh-CN" altLang="en-US" dirty="0" smtClean="0"/>
              <a:t>中的加法和乘法可由第二章介绍的模整数的加法和乘法来实现。求逆运算也可由算法</a:t>
            </a:r>
            <a:r>
              <a:rPr lang="en-US" dirty="0" smtClean="0"/>
              <a:t>2.5.1</a:t>
            </a:r>
            <a:r>
              <a:rPr lang="zh-CN" altLang="en-US" dirty="0" smtClean="0"/>
              <a:t>来实现。</a:t>
            </a:r>
            <a:endParaRPr lang="en-US" altLang="zh-CN" dirty="0" smtClean="0"/>
          </a:p>
          <a:p>
            <a:r>
              <a:rPr lang="zh-CN" altLang="en-US" dirty="0" smtClean="0"/>
              <a:t>根据    </a:t>
            </a:r>
            <a:r>
              <a:rPr lang="en-US" dirty="0" smtClean="0"/>
              <a:t> </a:t>
            </a:r>
            <a:r>
              <a:rPr lang="zh-CN" altLang="en-US" dirty="0" smtClean="0"/>
              <a:t>中元素的多项式表示，</a:t>
            </a:r>
            <a:r>
              <a:rPr lang="en-US" dirty="0" smtClean="0"/>
              <a:t>      </a:t>
            </a:r>
            <a:r>
              <a:rPr lang="zh-CN" altLang="en-US" dirty="0" smtClean="0"/>
              <a:t>中元素的乘法和求逆运算都可以通过模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dirty="0" smtClean="0"/>
              <a:t>上的不可约多项式来实现。</a:t>
            </a:r>
            <a:endParaRPr lang="zh-CN" altLang="en-US" dirty="0"/>
          </a:p>
        </p:txBody>
      </p:sp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55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727922"/>
              </p:ext>
            </p:extLst>
          </p:nvPr>
        </p:nvGraphicFramePr>
        <p:xfrm>
          <a:off x="1475656" y="2780928"/>
          <a:ext cx="500034" cy="538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1" name="Equation" r:id="rId3" imgW="241091" imgH="266469" progId="Equation.DSMT4">
                  <p:embed/>
                </p:oleObj>
              </mc:Choice>
              <mc:Fallback>
                <p:oleObj name="Equation" r:id="rId3" imgW="241091" imgH="266469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780928"/>
                        <a:ext cx="500034" cy="5384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876500"/>
              </p:ext>
            </p:extLst>
          </p:nvPr>
        </p:nvGraphicFramePr>
        <p:xfrm>
          <a:off x="5004048" y="2780928"/>
          <a:ext cx="5000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2" name="Equation" r:id="rId5" imgW="241091" imgH="266469" progId="Equation.DSMT4">
                  <p:embed/>
                </p:oleObj>
              </mc:Choice>
              <mc:Fallback>
                <p:oleObj name="Equation" r:id="rId5" imgW="241091" imgH="266469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780928"/>
                        <a:ext cx="500063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71472" y="3857628"/>
          <a:ext cx="7324102" cy="228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3" name="文档" r:id="rId7" imgW="3941566" imgH="1229980" progId="Word.Document.12">
                  <p:embed/>
                </p:oleObj>
              </mc:Choice>
              <mc:Fallback>
                <p:oleObj name="文档" r:id="rId7" imgW="3941566" imgH="122998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3857628"/>
                        <a:ext cx="7324102" cy="2286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逆元的实现</a:t>
            </a:r>
            <a:endParaRPr lang="zh-CN" altLang="en-US" dirty="0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869610"/>
              </p:ext>
            </p:extLst>
          </p:nvPr>
        </p:nvGraphicFramePr>
        <p:xfrm>
          <a:off x="436563" y="788988"/>
          <a:ext cx="8045450" cy="606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8" name="Picture" r:id="rId3" imgW="4328640" imgH="3260160" progId="Word.Picture.8">
                  <p:embed/>
                </p:oleObj>
              </mc:Choice>
              <mc:Fallback>
                <p:oleObj name="Picture" r:id="rId3" imgW="4328640" imgH="3260160" progId="Word.Picture.8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788988"/>
                        <a:ext cx="8045450" cy="606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幂运算的实现（重复平方乘）</a:t>
            </a:r>
            <a:endParaRPr lang="zh-CN" altLang="en-US" dirty="0"/>
          </a:p>
        </p:txBody>
      </p: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860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003736"/>
              </p:ext>
            </p:extLst>
          </p:nvPr>
        </p:nvGraphicFramePr>
        <p:xfrm>
          <a:off x="214282" y="1285860"/>
          <a:ext cx="8468451" cy="4071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0" name="Picture" r:id="rId3" imgW="4328640" imgH="1999440" progId="Word.Picture.8">
                  <p:embed/>
                </p:oleObj>
              </mc:Choice>
              <mc:Fallback>
                <p:oleObj name="Picture" r:id="rId3" imgW="4328640" imgH="1999440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285860"/>
                        <a:ext cx="8468451" cy="40719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幂运算的实现（重复平方乘）</a:t>
            </a:r>
            <a:endParaRPr lang="zh-CN" altLang="en-US" dirty="0"/>
          </a:p>
        </p:txBody>
      </p: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038282"/>
              </p:ext>
            </p:extLst>
          </p:nvPr>
        </p:nvGraphicFramePr>
        <p:xfrm>
          <a:off x="457200" y="1556792"/>
          <a:ext cx="7691313" cy="499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6" name="Picture" r:id="rId3" imgW="4328640" imgH="2809800" progId="Word.Picture.8">
                  <p:embed/>
                </p:oleObj>
              </mc:Choice>
              <mc:Fallback>
                <p:oleObj name="Picture" r:id="rId3" imgW="4328640" imgH="2809800" progId="Word.Picture.8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56792"/>
                        <a:ext cx="7691313" cy="49927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有限域运算实现举例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78832"/>
              </p:ext>
            </p:extLst>
          </p:nvPr>
        </p:nvGraphicFramePr>
        <p:xfrm>
          <a:off x="427038" y="1431925"/>
          <a:ext cx="8051800" cy="470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9" name="文档" r:id="rId4" imgW="4406923" imgH="2571687" progId="Word.Document.12">
                  <p:embed/>
                </p:oleObj>
              </mc:Choice>
              <mc:Fallback>
                <p:oleObj name="文档" r:id="rId4" imgW="4406923" imgH="257168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1431925"/>
                        <a:ext cx="8051800" cy="470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7467600" cy="631844"/>
          </a:xfrm>
        </p:spPr>
        <p:txBody>
          <a:bodyPr/>
          <a:lstStyle/>
          <a:p>
            <a:r>
              <a:rPr lang="zh-CN" altLang="en-US" dirty="0" smtClean="0"/>
              <a:t>有限域运算实现举例（续）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28596" y="857232"/>
            <a:ext cx="8072494" cy="564360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域  </a:t>
            </a:r>
            <a:r>
              <a:rPr lang="en-US" dirty="0" smtClean="0"/>
              <a:t>    </a:t>
            </a:r>
            <a:r>
              <a:rPr lang="zh-CN" altLang="en-US" dirty="0" smtClean="0"/>
              <a:t>中算术的一些例子：</a:t>
            </a:r>
          </a:p>
          <a:p>
            <a:r>
              <a:rPr lang="zh-CN" altLang="en-US" dirty="0" smtClean="0"/>
              <a:t>（</a:t>
            </a:r>
            <a:r>
              <a:rPr lang="en-US" dirty="0" smtClean="0"/>
              <a:t>1</a:t>
            </a:r>
            <a:r>
              <a:rPr lang="zh-CN" altLang="en-US" dirty="0" smtClean="0"/>
              <a:t>）域中元素相加，即为对应分量的简单相加，例如</a:t>
            </a:r>
            <a:r>
              <a:rPr lang="en-US" dirty="0" smtClean="0"/>
              <a:t>(1011)+(1001)=(0010)</a:t>
            </a:r>
            <a:r>
              <a:rPr lang="zh-CN" altLang="en-US" dirty="0" smtClean="0"/>
              <a:t>；</a:t>
            </a:r>
          </a:p>
          <a:p>
            <a:r>
              <a:rPr lang="zh-CN" altLang="en-US" dirty="0" smtClean="0"/>
              <a:t>（</a:t>
            </a:r>
            <a:r>
              <a:rPr lang="en-US" dirty="0" smtClean="0"/>
              <a:t>2</a:t>
            </a:r>
            <a:r>
              <a:rPr lang="zh-CN" altLang="en-US" dirty="0" smtClean="0"/>
              <a:t>）要将域中元素</a:t>
            </a:r>
            <a:r>
              <a:rPr lang="en-US" dirty="0" smtClean="0"/>
              <a:t>(1101)</a:t>
            </a:r>
            <a:r>
              <a:rPr lang="zh-CN" altLang="en-US" dirty="0" smtClean="0"/>
              <a:t>与</a:t>
            </a:r>
            <a:r>
              <a:rPr lang="en-US" dirty="0" smtClean="0"/>
              <a:t>(1001)</a:t>
            </a:r>
            <a:r>
              <a:rPr lang="zh-CN" altLang="en-US" dirty="0" smtClean="0"/>
              <a:t>相乘，将它们做多项式乘法，再模去        得到的乘积，取其余式：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zh-CN" altLang="en-US" dirty="0" smtClean="0"/>
          </a:p>
          <a:p>
            <a:r>
              <a:rPr lang="zh-CN" altLang="en-US" dirty="0" smtClean="0"/>
              <a:t>因此</a:t>
            </a:r>
            <a:r>
              <a:rPr lang="en-US" altLang="zh-CN" dirty="0" smtClean="0"/>
              <a:t>(</a:t>
            </a:r>
            <a:r>
              <a:rPr lang="en-US" dirty="0" smtClean="0"/>
              <a:t>1101</a:t>
            </a:r>
            <a:r>
              <a:rPr lang="en-US" altLang="zh-CN" dirty="0" smtClean="0"/>
              <a:t>) ×(</a:t>
            </a:r>
            <a:r>
              <a:rPr lang="en-US" dirty="0" smtClean="0"/>
              <a:t>1001</a:t>
            </a:r>
            <a:r>
              <a:rPr lang="zh-CN" altLang="en-US" dirty="0" smtClean="0"/>
              <a:t>）</a:t>
            </a:r>
            <a:r>
              <a:rPr lang="en-US" dirty="0" smtClean="0"/>
              <a:t>=(1111)</a:t>
            </a:r>
            <a:r>
              <a:rPr lang="zh-CN" altLang="en-US" dirty="0" smtClean="0"/>
              <a:t>；</a:t>
            </a:r>
          </a:p>
          <a:p>
            <a:r>
              <a:rPr lang="zh-CN" altLang="en-US" dirty="0" smtClean="0"/>
              <a:t>（</a:t>
            </a:r>
            <a:r>
              <a:rPr lang="en-US" dirty="0" smtClean="0"/>
              <a:t>3</a:t>
            </a:r>
            <a:r>
              <a:rPr lang="zh-CN" altLang="en-US" dirty="0" smtClean="0"/>
              <a:t>）</a:t>
            </a:r>
            <a:r>
              <a:rPr lang="en-US" dirty="0" smtClean="0"/>
              <a:t>      </a:t>
            </a:r>
            <a:r>
              <a:rPr lang="zh-CN" altLang="en-US" dirty="0" smtClean="0"/>
              <a:t>的乘法单位元是（</a:t>
            </a:r>
            <a:r>
              <a:rPr lang="en-US" dirty="0" smtClean="0"/>
              <a:t>0001</a:t>
            </a:r>
            <a:r>
              <a:rPr lang="zh-CN" altLang="en-US" dirty="0" smtClean="0"/>
              <a:t>）；</a:t>
            </a:r>
          </a:p>
          <a:p>
            <a:r>
              <a:rPr lang="zh-CN" altLang="en-US" dirty="0" smtClean="0"/>
              <a:t>（</a:t>
            </a:r>
            <a:r>
              <a:rPr lang="en-US" dirty="0" smtClean="0"/>
              <a:t>4</a:t>
            </a:r>
            <a:r>
              <a:rPr lang="zh-CN" altLang="en-US" dirty="0" smtClean="0"/>
              <a:t>）（</a:t>
            </a:r>
            <a:r>
              <a:rPr lang="en-US" dirty="0" smtClean="0"/>
              <a:t>1011</a:t>
            </a:r>
            <a:r>
              <a:rPr lang="zh-CN" altLang="en-US" dirty="0" smtClean="0"/>
              <a:t>）的逆元是（</a:t>
            </a:r>
            <a:r>
              <a:rPr lang="en-US" dirty="0" smtClean="0"/>
              <a:t>0101</a:t>
            </a:r>
            <a:r>
              <a:rPr lang="zh-CN" altLang="en-US" dirty="0" smtClean="0"/>
              <a:t>），因为：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dirty="0" smtClean="0"/>
              <a:t>           </a:t>
            </a:r>
            <a:r>
              <a:rPr lang="zh-CN" altLang="en-US" dirty="0" smtClean="0"/>
              <a:t>即</a:t>
            </a:r>
            <a:r>
              <a:rPr lang="en-US" altLang="zh-CN" dirty="0" smtClean="0"/>
              <a:t>(</a:t>
            </a:r>
            <a:r>
              <a:rPr lang="en-US" dirty="0" smtClean="0"/>
              <a:t>1011) × (0101)=(0001)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1681" name="Object 1"/>
          <p:cNvGraphicFramePr>
            <a:graphicFrameLocks noChangeAspect="1"/>
          </p:cNvGraphicFramePr>
          <p:nvPr/>
        </p:nvGraphicFramePr>
        <p:xfrm>
          <a:off x="1285852" y="2928934"/>
          <a:ext cx="5702034" cy="928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0" name="Equation" r:id="rId3" imgW="2921000" imgH="482600" progId="Equation.DSMT4">
                  <p:embed/>
                </p:oleObj>
              </mc:Choice>
              <mc:Fallback>
                <p:oleObj name="Equation" r:id="rId3" imgW="2921000" imgH="482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2928934"/>
                        <a:ext cx="5702034" cy="9286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2928926" y="2500306"/>
          <a:ext cx="785786" cy="423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1" name="Equation" r:id="rId5" imgW="368140" imgH="203112" progId="Equation.DSMT4">
                  <p:embed/>
                </p:oleObj>
              </mc:Choice>
              <mc:Fallback>
                <p:oleObj name="Equation" r:id="rId5" imgW="368140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2500306"/>
                        <a:ext cx="785786" cy="423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1142976" y="785794"/>
          <a:ext cx="500034" cy="541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2" name="Equation" r:id="rId7" imgW="228600" imgH="241300" progId="Equation.DSMT4">
                  <p:embed/>
                </p:oleObj>
              </mc:Choice>
              <mc:Fallback>
                <p:oleObj name="Equation" r:id="rId7" imgW="228600" imgH="2413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785794"/>
                        <a:ext cx="500034" cy="5417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1687" name="Object 7"/>
          <p:cNvGraphicFramePr>
            <a:graphicFrameLocks noChangeAspect="1"/>
          </p:cNvGraphicFramePr>
          <p:nvPr/>
        </p:nvGraphicFramePr>
        <p:xfrm>
          <a:off x="1571604" y="4143380"/>
          <a:ext cx="500034" cy="541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3" name="Equation" r:id="rId9" imgW="228600" imgH="241300" progId="Equation.DSMT4">
                  <p:embed/>
                </p:oleObj>
              </mc:Choice>
              <mc:Fallback>
                <p:oleObj name="Equation" r:id="rId9" imgW="228600" imgH="2413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4143380"/>
                        <a:ext cx="500034" cy="5417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1689" name="Object 9"/>
          <p:cNvGraphicFramePr>
            <a:graphicFrameLocks noChangeAspect="1"/>
          </p:cNvGraphicFramePr>
          <p:nvPr/>
        </p:nvGraphicFramePr>
        <p:xfrm>
          <a:off x="1785918" y="5072074"/>
          <a:ext cx="4507919" cy="928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4" name="Equation" r:id="rId10" imgW="2235200" imgH="457200" progId="Equation.DSMT4">
                  <p:embed/>
                </p:oleObj>
              </mc:Choice>
              <mc:Fallback>
                <p:oleObj name="Equation" r:id="rId10" imgW="2235200" imgH="457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18" y="5072074"/>
                        <a:ext cx="4507919" cy="9286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GF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256</a:t>
            </a:r>
            <a:r>
              <a:rPr lang="zh-CN" altLang="en-US" dirty="0" smtClean="0"/>
              <a:t>）中运算的快速实现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7158" y="1428736"/>
          <a:ext cx="7794140" cy="414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7" name="文档" r:id="rId4" imgW="4469899" imgH="2376475" progId="Word.Document.12">
                  <p:embed/>
                </p:oleObj>
              </mc:Choice>
              <mc:Fallback>
                <p:oleObj name="文档" r:id="rId4" imgW="4469899" imgH="237647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1428736"/>
                        <a:ext cx="7794140" cy="4143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GF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256</a:t>
            </a:r>
            <a:r>
              <a:rPr lang="zh-CN" altLang="en-US" dirty="0" smtClean="0"/>
              <a:t>）中运算的快速实现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还可以将每个字节表示为一个</a:t>
            </a:r>
            <a:r>
              <a:rPr lang="en-US" dirty="0" smtClean="0"/>
              <a:t>16</a:t>
            </a:r>
            <a:r>
              <a:rPr lang="zh-CN" altLang="en-US" dirty="0" smtClean="0"/>
              <a:t>进制数，即每</a:t>
            </a:r>
            <a:r>
              <a:rPr lang="en-US" dirty="0" smtClean="0"/>
              <a:t>4</a:t>
            </a:r>
            <a:r>
              <a:rPr lang="zh-CN" altLang="en-US" dirty="0" smtClean="0"/>
              <a:t>比特表示一个</a:t>
            </a:r>
            <a:r>
              <a:rPr lang="en-US" dirty="0" smtClean="0"/>
              <a:t>16</a:t>
            </a:r>
            <a:r>
              <a:rPr lang="zh-CN" altLang="en-US" dirty="0" smtClean="0"/>
              <a:t>进制数，代表较高位的</a:t>
            </a:r>
            <a:r>
              <a:rPr lang="en-US" dirty="0" smtClean="0"/>
              <a:t>4</a:t>
            </a:r>
            <a:r>
              <a:rPr lang="zh-CN" altLang="en-US" dirty="0" smtClean="0"/>
              <a:t>比特的符号仍在左边。例如，</a:t>
            </a:r>
            <a:r>
              <a:rPr lang="en-US" dirty="0" smtClean="0"/>
              <a:t>01101011</a:t>
            </a:r>
            <a:r>
              <a:rPr lang="zh-CN" altLang="en-US" dirty="0" smtClean="0"/>
              <a:t>可表示为</a:t>
            </a:r>
            <a:r>
              <a:rPr lang="en-US" dirty="0" smtClean="0"/>
              <a:t>6B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也可以用</a:t>
            </a:r>
            <a:r>
              <a:rPr lang="en-US" dirty="0" smtClean="0"/>
              <a:t>0-255</a:t>
            </a:r>
            <a:r>
              <a:rPr lang="zh-CN" altLang="en-US" dirty="0" smtClean="0"/>
              <a:t>这</a:t>
            </a:r>
            <a:r>
              <a:rPr lang="en-US" dirty="0" smtClean="0"/>
              <a:t>256</a:t>
            </a:r>
            <a:r>
              <a:rPr lang="zh-CN" altLang="en-US" dirty="0" smtClean="0"/>
              <a:t>个十进制整数来表示域</a:t>
            </a:r>
            <a:r>
              <a:rPr lang="en-US" dirty="0" smtClean="0"/>
              <a:t> </a:t>
            </a:r>
            <a:r>
              <a:rPr lang="zh-CN" altLang="en-US" dirty="0" smtClean="0"/>
              <a:t>中的元素。</a:t>
            </a:r>
            <a:endParaRPr lang="en-US" altLang="zh-CN" dirty="0" smtClean="0"/>
          </a:p>
          <a:p>
            <a:r>
              <a:rPr lang="zh-CN" altLang="en-US" dirty="0" smtClean="0"/>
              <a:t>加法定义为二进制多项式的加法，且其系数模</a:t>
            </a:r>
            <a:r>
              <a:rPr lang="en-US" dirty="0" smtClean="0"/>
              <a:t>2</a:t>
            </a:r>
            <a:endParaRPr lang="en-US" altLang="zh-CN" dirty="0" smtClean="0"/>
          </a:p>
          <a:p>
            <a:r>
              <a:rPr lang="zh-CN" altLang="en-US" dirty="0" smtClean="0"/>
              <a:t>乘法定义为多项式的乘积模一个次数为</a:t>
            </a:r>
            <a:r>
              <a:rPr lang="en-US" dirty="0" smtClean="0"/>
              <a:t>8</a:t>
            </a:r>
            <a:r>
              <a:rPr lang="zh-CN" altLang="en-US" dirty="0" smtClean="0"/>
              <a:t>的不可约多项式</a:t>
            </a:r>
            <a:r>
              <a:rPr lang="en-US" dirty="0" smtClean="0"/>
              <a:t>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元素“</a:t>
            </a:r>
            <a:r>
              <a:rPr lang="en-US" dirty="0" smtClean="0"/>
              <a:t>02</a:t>
            </a:r>
            <a:r>
              <a:rPr lang="zh-CN" altLang="en-US" dirty="0" smtClean="0"/>
              <a:t>”是域</a:t>
            </a:r>
            <a:r>
              <a:rPr lang="en-US" dirty="0" smtClean="0"/>
              <a:t> </a:t>
            </a:r>
            <a:r>
              <a:rPr lang="zh-CN" altLang="en-US" dirty="0" smtClean="0"/>
              <a:t>中的一个本原元。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乘法的两种方法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直接模多项式</a:t>
            </a:r>
            <a:r>
              <a:rPr lang="en-US" altLang="zh-CN" dirty="0" smtClean="0"/>
              <a:t>m(x)</a:t>
            </a:r>
          </a:p>
          <a:p>
            <a:pPr lvl="1" eaLnBrk="1" hangingPunct="1"/>
            <a:r>
              <a:rPr lang="zh-CN" altLang="en-US" dirty="0" smtClean="0"/>
              <a:t>需要</a:t>
            </a:r>
            <a:r>
              <a:rPr lang="en-US" altLang="zh-CN" dirty="0" smtClean="0"/>
              <a:t>64</a:t>
            </a:r>
            <a:r>
              <a:rPr lang="zh-CN" altLang="en-US" dirty="0" smtClean="0"/>
              <a:t>次</a:t>
            </a:r>
            <a:r>
              <a:rPr lang="en-US" altLang="zh-CN" dirty="0" smtClean="0"/>
              <a:t>GF(2)</a:t>
            </a:r>
            <a:r>
              <a:rPr lang="zh-CN" altLang="en-US" dirty="0" smtClean="0"/>
              <a:t>上乘法以及模多项式运算</a:t>
            </a:r>
            <a:endParaRPr lang="en-US" altLang="zh-CN" dirty="0" smtClean="0"/>
          </a:p>
          <a:p>
            <a:pPr lvl="1" eaLnBrk="1" hangingPunct="1"/>
            <a:endParaRPr lang="zh-CN" altLang="en-US" dirty="0" smtClean="0"/>
          </a:p>
          <a:p>
            <a:pPr eaLnBrk="1" hangingPunct="1"/>
            <a:r>
              <a:rPr lang="zh-CN" altLang="en-US" dirty="0" smtClean="0"/>
              <a:t>建立乘法表</a:t>
            </a:r>
          </a:p>
          <a:p>
            <a:pPr lvl="1" eaLnBrk="1" hangingPunct="1"/>
            <a:r>
              <a:rPr lang="zh-CN" altLang="en-US" dirty="0" smtClean="0"/>
              <a:t>需要</a:t>
            </a:r>
            <a:r>
              <a:rPr lang="en-US" altLang="zh-CN" dirty="0" smtClean="0"/>
              <a:t>256×256</a:t>
            </a:r>
            <a:r>
              <a:rPr lang="zh-CN" altLang="en-US" dirty="0" smtClean="0"/>
              <a:t>字节（</a:t>
            </a:r>
            <a:r>
              <a:rPr lang="en-US" altLang="zh-CN" dirty="0" smtClean="0"/>
              <a:t>64K</a:t>
            </a:r>
            <a:r>
              <a:rPr lang="zh-CN" altLang="en-US" dirty="0" smtClean="0"/>
              <a:t>）的存储空间</a:t>
            </a:r>
            <a:endParaRPr lang="en-US" altLang="zh-CN" dirty="0" smtClean="0"/>
          </a:p>
          <a:p>
            <a:pPr lvl="1" eaLnBrk="1" hangingPunct="1"/>
            <a:endParaRPr lang="zh-CN" altLang="en-US" dirty="0" smtClean="0"/>
          </a:p>
          <a:p>
            <a:pPr eaLnBrk="1" hangingPunct="1"/>
            <a:r>
              <a:rPr lang="zh-CN" altLang="en-US" dirty="0" smtClean="0"/>
              <a:t>建立指数对数表</a:t>
            </a:r>
          </a:p>
          <a:p>
            <a:pPr lvl="1" eaLnBrk="1" hangingPunct="1"/>
            <a:r>
              <a:rPr lang="en-US" altLang="zh-CN" dirty="0" smtClean="0"/>
              <a:t>512</a:t>
            </a:r>
            <a:r>
              <a:rPr lang="zh-CN" altLang="en-US" dirty="0" smtClean="0"/>
              <a:t>个字节的存储，每次乘法仅需要查表</a:t>
            </a:r>
            <a:r>
              <a:rPr lang="en-US" altLang="zh-CN" dirty="0" smtClean="0"/>
              <a:t>3</a:t>
            </a:r>
            <a:r>
              <a:rPr lang="zh-CN" altLang="en-US" dirty="0" smtClean="0"/>
              <a:t>次和</a:t>
            </a:r>
            <a:r>
              <a:rPr lang="en-US" altLang="zh-CN" dirty="0" smtClean="0"/>
              <a:t>1</a:t>
            </a:r>
            <a:r>
              <a:rPr lang="zh-CN" altLang="en-US" dirty="0" smtClean="0"/>
              <a:t>次加法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指数对数表的建立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828668"/>
          </a:xfrm>
        </p:spPr>
        <p:txBody>
          <a:bodyPr/>
          <a:lstStyle/>
          <a:p>
            <a:r>
              <a:rPr lang="zh-CN" altLang="en-US" dirty="0" smtClean="0"/>
              <a:t>域</a:t>
            </a:r>
            <a:r>
              <a:rPr lang="en-US" altLang="zh-CN" dirty="0" smtClean="0"/>
              <a:t>GF(256)</a:t>
            </a:r>
            <a:r>
              <a:rPr lang="zh-CN" altLang="en-US" dirty="0" smtClean="0"/>
              <a:t>中的元素用</a:t>
            </a:r>
            <a:r>
              <a:rPr lang="en-US" dirty="0" smtClean="0"/>
              <a:t>0-255</a:t>
            </a:r>
            <a:r>
              <a:rPr lang="zh-CN" altLang="en-US" dirty="0" smtClean="0"/>
              <a:t>这</a:t>
            </a:r>
            <a:r>
              <a:rPr lang="en-US" dirty="0" smtClean="0"/>
              <a:t>256</a:t>
            </a:r>
            <a:r>
              <a:rPr lang="zh-CN" altLang="en-US" dirty="0" smtClean="0"/>
              <a:t>个十进制整数来表示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4282" y="2571744"/>
          <a:ext cx="8358247" cy="3786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" name="文档" r:id="rId4" imgW="5129955" imgH="2197627" progId="Word.Document.12">
                  <p:embed/>
                </p:oleObj>
              </mc:Choice>
              <mc:Fallback>
                <p:oleObj name="文档" r:id="rId4" imgW="5129955" imgH="219762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2571744"/>
                        <a:ext cx="8358247" cy="37862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指数对数表的建立（续）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49255" y="1712913"/>
          <a:ext cx="8709025" cy="410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5" name="文档" r:id="rId4" imgW="5128872" imgH="2343368" progId="Word.Document.12">
                  <p:embed/>
                </p:oleObj>
              </mc:Choice>
              <mc:Fallback>
                <p:oleObj name="文档" r:id="rId4" imgW="5128872" imgH="234336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55" y="1712913"/>
                        <a:ext cx="8709025" cy="410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指数对数表的使用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311295"/>
              </p:ext>
            </p:extLst>
          </p:nvPr>
        </p:nvGraphicFramePr>
        <p:xfrm>
          <a:off x="500034" y="1285860"/>
          <a:ext cx="6856305" cy="214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0" name="文档" r:id="rId4" imgW="3732889" imgH="1169733" progId="Word.Document.12">
                  <p:embed/>
                </p:oleObj>
              </mc:Choice>
              <mc:Fallback>
                <p:oleObj name="文档" r:id="rId4" imgW="3732889" imgH="116973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285860"/>
                        <a:ext cx="6856305" cy="21431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5720" y="3286124"/>
          <a:ext cx="8358246" cy="321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1" name="文档" r:id="rId7" imgW="4716383" imgH="1771920" progId="Word.Document.12">
                  <p:embed/>
                </p:oleObj>
              </mc:Choice>
              <mc:Fallback>
                <p:oleObj name="文档" r:id="rId7" imgW="4716383" imgH="177192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3286124"/>
                        <a:ext cx="8358246" cy="32147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7158" y="1571612"/>
          <a:ext cx="7895954" cy="2786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3" name="文档" r:id="rId4" imgW="4067515" imgH="1434737" progId="Word.Document.12">
                  <p:embed/>
                </p:oleObj>
              </mc:Choice>
              <mc:Fallback>
                <p:oleObj name="文档" r:id="rId4" imgW="4067515" imgH="143473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1571612"/>
                        <a:ext cx="7895954" cy="27860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1920" y="2708920"/>
            <a:ext cx="1882552" cy="1143000"/>
          </a:xfrm>
        </p:spPr>
        <p:txBody>
          <a:bodyPr/>
          <a:lstStyle/>
          <a:p>
            <a:r>
              <a:rPr lang="zh-CN" altLang="en-US" dirty="0" smtClean="0"/>
              <a:t>谢谢！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703</TotalTime>
  <Words>1435</Words>
  <Application>Microsoft Office PowerPoint</Application>
  <PresentationFormat>全屏显示(4:3)</PresentationFormat>
  <Paragraphs>137</Paragraphs>
  <Slides>64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64</vt:i4>
      </vt:variant>
    </vt:vector>
  </HeadingPairs>
  <TitlesOfParts>
    <vt:vector size="78" baseType="lpstr">
      <vt:lpstr>华文楷体</vt:lpstr>
      <vt:lpstr>宋体</vt:lpstr>
      <vt:lpstr>Calibri</vt:lpstr>
      <vt:lpstr>Century Schoolbook</vt:lpstr>
      <vt:lpstr>Symbol</vt:lpstr>
      <vt:lpstr>Times New Roman</vt:lpstr>
      <vt:lpstr>Wingdings</vt:lpstr>
      <vt:lpstr>Wingdings 2</vt:lpstr>
      <vt:lpstr>凸显</vt:lpstr>
      <vt:lpstr>文档</vt:lpstr>
      <vt:lpstr>Equation</vt:lpstr>
      <vt:lpstr>启用了宏的模板</vt:lpstr>
      <vt:lpstr>Document</vt:lpstr>
      <vt:lpstr>Picture</vt:lpstr>
      <vt:lpstr>第七章 有限域</vt:lpstr>
      <vt:lpstr>内容安排</vt:lpstr>
      <vt:lpstr>7.1 域和扩域</vt:lpstr>
      <vt:lpstr>素域的结构</vt:lpstr>
      <vt:lpstr>PowerPoint 演示文稿</vt:lpstr>
      <vt:lpstr>扩域、单扩域</vt:lpstr>
      <vt:lpstr>代数元</vt:lpstr>
      <vt:lpstr>极小多项式的性质</vt:lpstr>
      <vt:lpstr>定理7.1.2 证明（续）</vt:lpstr>
      <vt:lpstr>向量空间（线性空间）</vt:lpstr>
      <vt:lpstr>向量空间（续）</vt:lpstr>
      <vt:lpstr>扩张次数</vt:lpstr>
      <vt:lpstr>定理7.1.3的证明</vt:lpstr>
      <vt:lpstr>定理7.1.3的证明（续）</vt:lpstr>
      <vt:lpstr>定理7.1.3的证明（续）</vt:lpstr>
      <vt:lpstr>代数扩张</vt:lpstr>
      <vt:lpstr>代数扩张（续）</vt:lpstr>
      <vt:lpstr>定理7.1.5 证明（续）</vt:lpstr>
      <vt:lpstr>定理7.1.5 证明（续）</vt:lpstr>
      <vt:lpstr>分裂域</vt:lpstr>
      <vt:lpstr>分裂域（续）</vt:lpstr>
      <vt:lpstr>分裂域（续）</vt:lpstr>
      <vt:lpstr>7.2 有限域的结构</vt:lpstr>
      <vt:lpstr>有限域中元素的个数</vt:lpstr>
      <vt:lpstr>有限域的存在性</vt:lpstr>
      <vt:lpstr>有限域的唯一性</vt:lpstr>
      <vt:lpstr>有限域的乘法群</vt:lpstr>
      <vt:lpstr>PowerPoint 演示文稿</vt:lpstr>
      <vt:lpstr>本原元</vt:lpstr>
      <vt:lpstr>有限域的子域</vt:lpstr>
      <vt:lpstr>有限域的子域（续）</vt:lpstr>
      <vt:lpstr>7.3 不可约多项式的根，迹和范数</vt:lpstr>
      <vt:lpstr>PowerPoint 演示文稿</vt:lpstr>
      <vt:lpstr>不可约多项式的根</vt:lpstr>
      <vt:lpstr>定理7.3.3的证明</vt:lpstr>
      <vt:lpstr>定理7.3.3的证明（续）</vt:lpstr>
      <vt:lpstr>共轭元与特征多项式</vt:lpstr>
      <vt:lpstr>特征多项式</vt:lpstr>
      <vt:lpstr>迹</vt:lpstr>
      <vt:lpstr>迹的应用</vt:lpstr>
      <vt:lpstr>迹的应用（续）</vt:lpstr>
      <vt:lpstr>迹的应用（续）</vt:lpstr>
      <vt:lpstr>范数</vt:lpstr>
      <vt:lpstr>7.4 有限域上元素的表示 </vt:lpstr>
      <vt:lpstr>多项式表示法</vt:lpstr>
      <vt:lpstr>多项式表示法（续）</vt:lpstr>
      <vt:lpstr>多项式表示法（续）</vt:lpstr>
      <vt:lpstr>本原元表示法</vt:lpstr>
      <vt:lpstr>伴随矩阵表示法</vt:lpstr>
      <vt:lpstr>伴随矩阵表示法（续）</vt:lpstr>
      <vt:lpstr>7.5 有限域中的算法</vt:lpstr>
      <vt:lpstr>逆元的实现</vt:lpstr>
      <vt:lpstr>幂运算的实现（重复平方乘）</vt:lpstr>
      <vt:lpstr>幂运算的实现（重复平方乘）</vt:lpstr>
      <vt:lpstr>有限域运算实现举例</vt:lpstr>
      <vt:lpstr>有限域运算实现举例（续）</vt:lpstr>
      <vt:lpstr>GF（256）中运算的快速实现</vt:lpstr>
      <vt:lpstr>GF（256）中运算的快速实现</vt:lpstr>
      <vt:lpstr>乘法的两种方法</vt:lpstr>
      <vt:lpstr>指数对数表的建立</vt:lpstr>
      <vt:lpstr>指数对数表的建立（续）</vt:lpstr>
      <vt:lpstr>指数对数表的使用</vt:lpstr>
      <vt:lpstr>PowerPoint 演示文稿</vt:lpstr>
      <vt:lpstr>谢谢！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有限域</dc:title>
  <dc:creator>nxy7509</dc:creator>
  <cp:lastModifiedBy>聂 不再流浪</cp:lastModifiedBy>
  <cp:revision>68</cp:revision>
  <dcterms:created xsi:type="dcterms:W3CDTF">2013-10-02T11:24:59Z</dcterms:created>
  <dcterms:modified xsi:type="dcterms:W3CDTF">2020-04-28T08:32:48Z</dcterms:modified>
</cp:coreProperties>
</file>