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2"/>
  </p:notesMasterIdLst>
  <p:sldIdLst>
    <p:sldId id="256" r:id="rId2"/>
    <p:sldId id="257" r:id="rId3"/>
    <p:sldId id="258" r:id="rId4"/>
    <p:sldId id="259" r:id="rId5"/>
    <p:sldId id="260" r:id="rId6"/>
    <p:sldId id="261" r:id="rId7"/>
    <p:sldId id="357" r:id="rId8"/>
    <p:sldId id="358" r:id="rId9"/>
    <p:sldId id="359" r:id="rId10"/>
    <p:sldId id="262" r:id="rId11"/>
    <p:sldId id="263" r:id="rId12"/>
    <p:sldId id="264" r:id="rId13"/>
    <p:sldId id="353" r:id="rId14"/>
    <p:sldId id="354" r:id="rId15"/>
    <p:sldId id="355" r:id="rId16"/>
    <p:sldId id="356" r:id="rId17"/>
    <p:sldId id="360" r:id="rId18"/>
    <p:sldId id="265" r:id="rId19"/>
    <p:sldId id="266" r:id="rId20"/>
    <p:sldId id="267" r:id="rId21"/>
    <p:sldId id="268" r:id="rId22"/>
    <p:sldId id="274" r:id="rId23"/>
    <p:sldId id="269" r:id="rId24"/>
    <p:sldId id="270" r:id="rId25"/>
    <p:sldId id="271" r:id="rId26"/>
    <p:sldId id="272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343" r:id="rId48"/>
    <p:sldId id="295" r:id="rId49"/>
    <p:sldId id="349" r:id="rId50"/>
    <p:sldId id="296" r:id="rId51"/>
    <p:sldId id="297" r:id="rId52"/>
    <p:sldId id="298" r:id="rId53"/>
    <p:sldId id="299" r:id="rId54"/>
    <p:sldId id="300" r:id="rId55"/>
    <p:sldId id="301" r:id="rId56"/>
    <p:sldId id="302" r:id="rId57"/>
    <p:sldId id="303" r:id="rId58"/>
    <p:sldId id="304" r:id="rId59"/>
    <p:sldId id="305" r:id="rId60"/>
    <p:sldId id="306" r:id="rId61"/>
    <p:sldId id="307" r:id="rId62"/>
    <p:sldId id="308" r:id="rId63"/>
    <p:sldId id="310" r:id="rId64"/>
    <p:sldId id="309" r:id="rId65"/>
    <p:sldId id="311" r:id="rId66"/>
    <p:sldId id="312" r:id="rId67"/>
    <p:sldId id="313" r:id="rId68"/>
    <p:sldId id="314" r:id="rId69"/>
    <p:sldId id="316" r:id="rId70"/>
    <p:sldId id="315" r:id="rId71"/>
    <p:sldId id="350" r:id="rId72"/>
    <p:sldId id="317" r:id="rId73"/>
    <p:sldId id="318" r:id="rId74"/>
    <p:sldId id="344" r:id="rId75"/>
    <p:sldId id="345" r:id="rId76"/>
    <p:sldId id="361" r:id="rId77"/>
    <p:sldId id="319" r:id="rId78"/>
    <p:sldId id="320" r:id="rId79"/>
    <p:sldId id="321" r:id="rId80"/>
    <p:sldId id="322" r:id="rId81"/>
    <p:sldId id="323" r:id="rId82"/>
    <p:sldId id="346" r:id="rId83"/>
    <p:sldId id="347" r:id="rId84"/>
    <p:sldId id="348" r:id="rId85"/>
    <p:sldId id="351" r:id="rId86"/>
    <p:sldId id="352" r:id="rId87"/>
    <p:sldId id="324" r:id="rId88"/>
    <p:sldId id="325" r:id="rId89"/>
    <p:sldId id="326" r:id="rId90"/>
    <p:sldId id="327" r:id="rId91"/>
    <p:sldId id="328" r:id="rId92"/>
    <p:sldId id="329" r:id="rId93"/>
    <p:sldId id="330" r:id="rId94"/>
    <p:sldId id="331" r:id="rId95"/>
    <p:sldId id="332" r:id="rId96"/>
    <p:sldId id="333" r:id="rId97"/>
    <p:sldId id="334" r:id="rId98"/>
    <p:sldId id="335" r:id="rId99"/>
    <p:sldId id="336" r:id="rId100"/>
    <p:sldId id="342" r:id="rId10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833" autoAdjust="0"/>
  </p:normalViewPr>
  <p:slideViewPr>
    <p:cSldViewPr>
      <p:cViewPr varScale="1">
        <p:scale>
          <a:sx n="79" d="100"/>
          <a:sy n="79" d="100"/>
        </p:scale>
        <p:origin x="68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image" Target="../media/image14.wmf"/><Relationship Id="rId7" Type="http://schemas.openxmlformats.org/officeDocument/2006/relationships/image" Target="../media/image18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17.wmf"/><Relationship Id="rId11" Type="http://schemas.openxmlformats.org/officeDocument/2006/relationships/image" Target="../media/image22.wmf"/><Relationship Id="rId5" Type="http://schemas.openxmlformats.org/officeDocument/2006/relationships/image" Target="../media/image16.wmf"/><Relationship Id="rId10" Type="http://schemas.openxmlformats.org/officeDocument/2006/relationships/image" Target="../media/image21.wmf"/><Relationship Id="rId4" Type="http://schemas.openxmlformats.org/officeDocument/2006/relationships/image" Target="../media/image15.wmf"/><Relationship Id="rId9" Type="http://schemas.openxmlformats.org/officeDocument/2006/relationships/image" Target="../media/image2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image" Target="../media/image34.wmf"/><Relationship Id="rId7" Type="http://schemas.openxmlformats.org/officeDocument/2006/relationships/image" Target="../media/image38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10" Type="http://schemas.openxmlformats.org/officeDocument/2006/relationships/image" Target="../media/image41.wmf"/><Relationship Id="rId4" Type="http://schemas.openxmlformats.org/officeDocument/2006/relationships/image" Target="../media/image35.wmf"/><Relationship Id="rId9" Type="http://schemas.openxmlformats.org/officeDocument/2006/relationships/image" Target="../media/image40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image" Target="../media/image44.wmf"/><Relationship Id="rId7" Type="http://schemas.openxmlformats.org/officeDocument/2006/relationships/image" Target="../media/image47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6" Type="http://schemas.openxmlformats.org/officeDocument/2006/relationships/image" Target="../media/image46.wmf"/><Relationship Id="rId5" Type="http://schemas.openxmlformats.org/officeDocument/2006/relationships/image" Target="../media/image45.wmf"/><Relationship Id="rId4" Type="http://schemas.openxmlformats.org/officeDocument/2006/relationships/image" Target="../media/image39.wmf"/><Relationship Id="rId9" Type="http://schemas.openxmlformats.org/officeDocument/2006/relationships/image" Target="../media/image49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50.wmf"/><Relationship Id="rId1" Type="http://schemas.openxmlformats.org/officeDocument/2006/relationships/image" Target="../media/image39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4" Type="http://schemas.openxmlformats.org/officeDocument/2006/relationships/image" Target="../media/image54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4" Type="http://schemas.openxmlformats.org/officeDocument/2006/relationships/image" Target="../media/image58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Relationship Id="rId4" Type="http://schemas.openxmlformats.org/officeDocument/2006/relationships/image" Target="../media/image62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Relationship Id="rId5" Type="http://schemas.openxmlformats.org/officeDocument/2006/relationships/image" Target="../media/image71.wmf"/><Relationship Id="rId4" Type="http://schemas.openxmlformats.org/officeDocument/2006/relationships/image" Target="../media/image70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3.wmf"/><Relationship Id="rId1" Type="http://schemas.openxmlformats.org/officeDocument/2006/relationships/image" Target="../media/image72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Relationship Id="rId4" Type="http://schemas.openxmlformats.org/officeDocument/2006/relationships/image" Target="../media/image77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2" Type="http://schemas.openxmlformats.org/officeDocument/2006/relationships/image" Target="../media/image79.wmf"/><Relationship Id="rId1" Type="http://schemas.openxmlformats.org/officeDocument/2006/relationships/image" Target="../media/image78.wmf"/><Relationship Id="rId6" Type="http://schemas.openxmlformats.org/officeDocument/2006/relationships/image" Target="../media/image83.wmf"/><Relationship Id="rId5" Type="http://schemas.openxmlformats.org/officeDocument/2006/relationships/image" Target="../media/image82.wmf"/><Relationship Id="rId4" Type="http://schemas.openxmlformats.org/officeDocument/2006/relationships/image" Target="../media/image81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Relationship Id="rId6" Type="http://schemas.openxmlformats.org/officeDocument/2006/relationships/image" Target="../media/image89.wmf"/><Relationship Id="rId5" Type="http://schemas.openxmlformats.org/officeDocument/2006/relationships/image" Target="../media/image88.wmf"/><Relationship Id="rId4" Type="http://schemas.openxmlformats.org/officeDocument/2006/relationships/image" Target="../media/image87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91.wmf"/><Relationship Id="rId1" Type="http://schemas.openxmlformats.org/officeDocument/2006/relationships/image" Target="../media/image90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Relationship Id="rId5" Type="http://schemas.openxmlformats.org/officeDocument/2006/relationships/image" Target="../media/image96.wmf"/><Relationship Id="rId4" Type="http://schemas.openxmlformats.org/officeDocument/2006/relationships/image" Target="../media/image95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3" Type="http://schemas.openxmlformats.org/officeDocument/2006/relationships/image" Target="../media/image99.wmf"/><Relationship Id="rId7" Type="http://schemas.openxmlformats.org/officeDocument/2006/relationships/image" Target="../media/image103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Relationship Id="rId6" Type="http://schemas.openxmlformats.org/officeDocument/2006/relationships/image" Target="../media/image102.wmf"/><Relationship Id="rId5" Type="http://schemas.openxmlformats.org/officeDocument/2006/relationships/image" Target="../media/image101.wmf"/><Relationship Id="rId4" Type="http://schemas.openxmlformats.org/officeDocument/2006/relationships/image" Target="../media/image100.wmf"/><Relationship Id="rId9" Type="http://schemas.openxmlformats.org/officeDocument/2006/relationships/image" Target="../media/image105.w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wmf"/><Relationship Id="rId1" Type="http://schemas.openxmlformats.org/officeDocument/2006/relationships/image" Target="../media/image106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Relationship Id="rId6" Type="http://schemas.openxmlformats.org/officeDocument/2006/relationships/image" Target="../media/image113.wmf"/><Relationship Id="rId5" Type="http://schemas.openxmlformats.org/officeDocument/2006/relationships/image" Target="../media/image112.wmf"/><Relationship Id="rId4" Type="http://schemas.openxmlformats.org/officeDocument/2006/relationships/image" Target="../media/image111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wmf"/><Relationship Id="rId2" Type="http://schemas.openxmlformats.org/officeDocument/2006/relationships/image" Target="../media/image115.wmf"/><Relationship Id="rId1" Type="http://schemas.openxmlformats.org/officeDocument/2006/relationships/image" Target="../media/image114.w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wmf"/><Relationship Id="rId1" Type="http://schemas.openxmlformats.org/officeDocument/2006/relationships/image" Target="../media/image113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7" Type="http://schemas.openxmlformats.org/officeDocument/2006/relationships/image" Target="../media/image123.wmf"/><Relationship Id="rId2" Type="http://schemas.openxmlformats.org/officeDocument/2006/relationships/image" Target="../media/image118.wmf"/><Relationship Id="rId1" Type="http://schemas.openxmlformats.org/officeDocument/2006/relationships/image" Target="../media/image114.wmf"/><Relationship Id="rId6" Type="http://schemas.openxmlformats.org/officeDocument/2006/relationships/image" Target="../media/image122.wmf"/><Relationship Id="rId5" Type="http://schemas.openxmlformats.org/officeDocument/2006/relationships/image" Target="../media/image121.wmf"/><Relationship Id="rId4" Type="http://schemas.openxmlformats.org/officeDocument/2006/relationships/image" Target="../media/image120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Relationship Id="rId5" Type="http://schemas.openxmlformats.org/officeDocument/2006/relationships/image" Target="../media/image128.wmf"/><Relationship Id="rId4" Type="http://schemas.openxmlformats.org/officeDocument/2006/relationships/image" Target="../media/image127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wmf"/><Relationship Id="rId2" Type="http://schemas.openxmlformats.org/officeDocument/2006/relationships/image" Target="../media/image130.wmf"/><Relationship Id="rId1" Type="http://schemas.openxmlformats.org/officeDocument/2006/relationships/image" Target="../media/image129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2" Type="http://schemas.openxmlformats.org/officeDocument/2006/relationships/image" Target="../media/image133.wmf"/><Relationship Id="rId1" Type="http://schemas.openxmlformats.org/officeDocument/2006/relationships/image" Target="../media/image132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wmf"/><Relationship Id="rId2" Type="http://schemas.openxmlformats.org/officeDocument/2006/relationships/image" Target="../media/image135.wmf"/><Relationship Id="rId1" Type="http://schemas.openxmlformats.org/officeDocument/2006/relationships/image" Target="../media/image133.wmf"/><Relationship Id="rId4" Type="http://schemas.openxmlformats.org/officeDocument/2006/relationships/image" Target="../media/image137.wmf"/></Relationships>
</file>

<file path=ppt/drawings/_rels/vmlDrawing3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wmf"/><Relationship Id="rId1" Type="http://schemas.openxmlformats.org/officeDocument/2006/relationships/image" Target="../media/image138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wmf"/><Relationship Id="rId7" Type="http://schemas.openxmlformats.org/officeDocument/2006/relationships/image" Target="../media/image147.wmf"/><Relationship Id="rId2" Type="http://schemas.openxmlformats.org/officeDocument/2006/relationships/image" Target="../media/image142.wmf"/><Relationship Id="rId1" Type="http://schemas.openxmlformats.org/officeDocument/2006/relationships/image" Target="../media/image141.wmf"/><Relationship Id="rId6" Type="http://schemas.openxmlformats.org/officeDocument/2006/relationships/image" Target="../media/image146.wmf"/><Relationship Id="rId5" Type="http://schemas.openxmlformats.org/officeDocument/2006/relationships/image" Target="../media/image145.wmf"/><Relationship Id="rId4" Type="http://schemas.openxmlformats.org/officeDocument/2006/relationships/image" Target="../media/image144.wmf"/></Relationships>
</file>

<file path=ppt/drawings/_rels/vmlDrawing4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wmf"/><Relationship Id="rId1" Type="http://schemas.openxmlformats.org/officeDocument/2006/relationships/image" Target="../media/image148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wmf"/><Relationship Id="rId2" Type="http://schemas.openxmlformats.org/officeDocument/2006/relationships/image" Target="../media/image151.wmf"/><Relationship Id="rId1" Type="http://schemas.openxmlformats.org/officeDocument/2006/relationships/image" Target="../media/image150.wmf"/><Relationship Id="rId6" Type="http://schemas.openxmlformats.org/officeDocument/2006/relationships/image" Target="../media/image155.wmf"/><Relationship Id="rId5" Type="http://schemas.openxmlformats.org/officeDocument/2006/relationships/image" Target="../media/image154.wmf"/><Relationship Id="rId4" Type="http://schemas.openxmlformats.org/officeDocument/2006/relationships/image" Target="../media/image153.wmf"/></Relationships>
</file>

<file path=ppt/drawings/_rels/vmlDrawing4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wmf"/><Relationship Id="rId13" Type="http://schemas.openxmlformats.org/officeDocument/2006/relationships/image" Target="../media/image166.wmf"/><Relationship Id="rId18" Type="http://schemas.openxmlformats.org/officeDocument/2006/relationships/image" Target="../media/image170.wmf"/><Relationship Id="rId3" Type="http://schemas.openxmlformats.org/officeDocument/2006/relationships/image" Target="../media/image157.wmf"/><Relationship Id="rId7" Type="http://schemas.openxmlformats.org/officeDocument/2006/relationships/image" Target="../media/image161.wmf"/><Relationship Id="rId12" Type="http://schemas.openxmlformats.org/officeDocument/2006/relationships/image" Target="../media/image165.wmf"/><Relationship Id="rId17" Type="http://schemas.openxmlformats.org/officeDocument/2006/relationships/image" Target="../media/image155.wmf"/><Relationship Id="rId2" Type="http://schemas.openxmlformats.org/officeDocument/2006/relationships/image" Target="../media/image151.wmf"/><Relationship Id="rId16" Type="http://schemas.openxmlformats.org/officeDocument/2006/relationships/image" Target="../media/image169.wmf"/><Relationship Id="rId1" Type="http://schemas.openxmlformats.org/officeDocument/2006/relationships/image" Target="../media/image156.wmf"/><Relationship Id="rId6" Type="http://schemas.openxmlformats.org/officeDocument/2006/relationships/image" Target="../media/image160.wmf"/><Relationship Id="rId11" Type="http://schemas.openxmlformats.org/officeDocument/2006/relationships/image" Target="../media/image164.wmf"/><Relationship Id="rId5" Type="http://schemas.openxmlformats.org/officeDocument/2006/relationships/image" Target="../media/image159.wmf"/><Relationship Id="rId15" Type="http://schemas.openxmlformats.org/officeDocument/2006/relationships/image" Target="../media/image168.wmf"/><Relationship Id="rId10" Type="http://schemas.openxmlformats.org/officeDocument/2006/relationships/image" Target="../media/image163.wmf"/><Relationship Id="rId4" Type="http://schemas.openxmlformats.org/officeDocument/2006/relationships/image" Target="../media/image158.wmf"/><Relationship Id="rId9" Type="http://schemas.openxmlformats.org/officeDocument/2006/relationships/image" Target="../media/image162.wmf"/><Relationship Id="rId14" Type="http://schemas.openxmlformats.org/officeDocument/2006/relationships/image" Target="../media/image167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wmf"/><Relationship Id="rId2" Type="http://schemas.openxmlformats.org/officeDocument/2006/relationships/image" Target="../media/image172.wmf"/><Relationship Id="rId1" Type="http://schemas.openxmlformats.org/officeDocument/2006/relationships/image" Target="../media/image171.wmf"/><Relationship Id="rId5" Type="http://schemas.openxmlformats.org/officeDocument/2006/relationships/image" Target="../media/image175.wmf"/><Relationship Id="rId4" Type="http://schemas.openxmlformats.org/officeDocument/2006/relationships/image" Target="../media/image174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wmf"/><Relationship Id="rId2" Type="http://schemas.openxmlformats.org/officeDocument/2006/relationships/image" Target="../media/image177.wmf"/><Relationship Id="rId1" Type="http://schemas.openxmlformats.org/officeDocument/2006/relationships/image" Target="../media/image176.wmf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9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wmf"/><Relationship Id="rId2" Type="http://schemas.openxmlformats.org/officeDocument/2006/relationships/image" Target="../media/image181.wmf"/><Relationship Id="rId1" Type="http://schemas.openxmlformats.org/officeDocument/2006/relationships/image" Target="../media/image180.wmf"/><Relationship Id="rId4" Type="http://schemas.openxmlformats.org/officeDocument/2006/relationships/image" Target="../media/image183.w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wmf"/><Relationship Id="rId2" Type="http://schemas.openxmlformats.org/officeDocument/2006/relationships/image" Target="../media/image185.wmf"/><Relationship Id="rId1" Type="http://schemas.openxmlformats.org/officeDocument/2006/relationships/image" Target="../media/image184.w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wmf"/><Relationship Id="rId2" Type="http://schemas.openxmlformats.org/officeDocument/2006/relationships/image" Target="../media/image188.wmf"/><Relationship Id="rId1" Type="http://schemas.openxmlformats.org/officeDocument/2006/relationships/image" Target="../media/image187.wmf"/><Relationship Id="rId6" Type="http://schemas.openxmlformats.org/officeDocument/2006/relationships/image" Target="../media/image192.wmf"/><Relationship Id="rId5" Type="http://schemas.openxmlformats.org/officeDocument/2006/relationships/image" Target="../media/image191.wmf"/><Relationship Id="rId4" Type="http://schemas.openxmlformats.org/officeDocument/2006/relationships/image" Target="../media/image190.w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3.wmf"/></Relationships>
</file>

<file path=ppt/drawings/_rels/vmlDrawing5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4.emf"/></Relationships>
</file>

<file path=ppt/drawings/_rels/vmlDrawing5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5.e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wmf"/><Relationship Id="rId2" Type="http://schemas.openxmlformats.org/officeDocument/2006/relationships/image" Target="../media/image197.wmf"/><Relationship Id="rId1" Type="http://schemas.openxmlformats.org/officeDocument/2006/relationships/image" Target="../media/image196.w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wmf"/><Relationship Id="rId2" Type="http://schemas.openxmlformats.org/officeDocument/2006/relationships/image" Target="../media/image199.wmf"/><Relationship Id="rId1" Type="http://schemas.openxmlformats.org/officeDocument/2006/relationships/image" Target="../media/image196.wmf"/><Relationship Id="rId4" Type="http://schemas.openxmlformats.org/officeDocument/2006/relationships/image" Target="../media/image201.e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wmf"/><Relationship Id="rId2" Type="http://schemas.openxmlformats.org/officeDocument/2006/relationships/image" Target="../media/image202.wmf"/><Relationship Id="rId1" Type="http://schemas.openxmlformats.org/officeDocument/2006/relationships/image" Target="../media/image196.wmf"/></Relationships>
</file>

<file path=ppt/drawings/_rels/vmlDrawing5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emf"/><Relationship Id="rId1" Type="http://schemas.openxmlformats.org/officeDocument/2006/relationships/image" Target="../media/image204.wmf"/></Relationships>
</file>

<file path=ppt/drawings/_rels/vmlDrawing5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6.emf"/></Relationships>
</file>

<file path=ppt/drawings/_rels/vmlDrawing5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7.emf"/></Relationships>
</file>

<file path=ppt/drawings/_rels/vmlDrawing5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wmf"/><Relationship Id="rId2" Type="http://schemas.openxmlformats.org/officeDocument/2006/relationships/image" Target="../media/image209.wmf"/><Relationship Id="rId1" Type="http://schemas.openxmlformats.org/officeDocument/2006/relationships/image" Target="../media/image208.emf"/></Relationships>
</file>

<file path=ppt/drawings/_rels/vmlDrawing5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wmf"/><Relationship Id="rId3" Type="http://schemas.openxmlformats.org/officeDocument/2006/relationships/image" Target="../media/image213.wmf"/><Relationship Id="rId7" Type="http://schemas.openxmlformats.org/officeDocument/2006/relationships/image" Target="../media/image217.wmf"/><Relationship Id="rId2" Type="http://schemas.openxmlformats.org/officeDocument/2006/relationships/image" Target="../media/image212.wmf"/><Relationship Id="rId1" Type="http://schemas.openxmlformats.org/officeDocument/2006/relationships/image" Target="../media/image211.wmf"/><Relationship Id="rId6" Type="http://schemas.openxmlformats.org/officeDocument/2006/relationships/image" Target="../media/image216.wmf"/><Relationship Id="rId5" Type="http://schemas.openxmlformats.org/officeDocument/2006/relationships/image" Target="../media/image215.wmf"/><Relationship Id="rId4" Type="http://schemas.openxmlformats.org/officeDocument/2006/relationships/image" Target="../media/image214.wmf"/><Relationship Id="rId9" Type="http://schemas.openxmlformats.org/officeDocument/2006/relationships/image" Target="../media/image218.wmf"/></Relationships>
</file>

<file path=ppt/drawings/_rels/vmlDrawing6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9.emf"/></Relationships>
</file>

<file path=ppt/drawings/_rels/vmlDrawing6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0.emf"/></Relationships>
</file>

<file path=ppt/drawings/_rels/vmlDrawing6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1.wmf"/></Relationships>
</file>

<file path=ppt/drawings/_rels/vmlDrawing6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2.wmf"/></Relationships>
</file>

<file path=ppt/drawings/_rels/vmlDrawing6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4.emf"/><Relationship Id="rId1" Type="http://schemas.openxmlformats.org/officeDocument/2006/relationships/image" Target="../media/image223.emf"/></Relationships>
</file>

<file path=ppt/drawings/_rels/vmlDrawing6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5.emf"/></Relationships>
</file>

<file path=ppt/drawings/_rels/vmlDrawing6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7.wmf"/><Relationship Id="rId1" Type="http://schemas.openxmlformats.org/officeDocument/2006/relationships/image" Target="../media/image226.wmf"/></Relationships>
</file>

<file path=ppt/drawings/_rels/vmlDrawing6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8.wmf"/></Relationships>
</file>

<file path=ppt/drawings/_rels/vmlDrawing6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9.wmf"/></Relationships>
</file>

<file path=ppt/drawings/_rels/vmlDrawing6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0.wmf"/></Relationships>
</file>

<file path=ppt/drawings/_rels/vmlDrawing7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1.emf"/></Relationships>
</file>

<file path=ppt/drawings/_rels/vmlDrawing7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2.emf"/></Relationships>
</file>

<file path=ppt/drawings/_rels/vmlDrawing7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3.emf"/></Relationships>
</file>

<file path=ppt/drawings/_rels/vmlDrawing7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4.emf"/></Relationships>
</file>

<file path=ppt/drawings/_rels/vmlDrawing7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5.wmf"/></Relationships>
</file>

<file path=ppt/drawings/_rels/vmlDrawing7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wmf"/><Relationship Id="rId3" Type="http://schemas.openxmlformats.org/officeDocument/2006/relationships/image" Target="../media/image238.wmf"/><Relationship Id="rId7" Type="http://schemas.openxmlformats.org/officeDocument/2006/relationships/image" Target="../media/image242.wmf"/><Relationship Id="rId2" Type="http://schemas.openxmlformats.org/officeDocument/2006/relationships/image" Target="../media/image237.wmf"/><Relationship Id="rId1" Type="http://schemas.openxmlformats.org/officeDocument/2006/relationships/image" Target="../media/image236.wmf"/><Relationship Id="rId6" Type="http://schemas.openxmlformats.org/officeDocument/2006/relationships/image" Target="../media/image241.wmf"/><Relationship Id="rId5" Type="http://schemas.openxmlformats.org/officeDocument/2006/relationships/image" Target="../media/image240.wmf"/><Relationship Id="rId4" Type="http://schemas.openxmlformats.org/officeDocument/2006/relationships/image" Target="../media/image239.wmf"/><Relationship Id="rId9" Type="http://schemas.openxmlformats.org/officeDocument/2006/relationships/image" Target="../media/image244.wmf"/></Relationships>
</file>

<file path=ppt/drawings/_rels/vmlDrawing7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7.wmf"/><Relationship Id="rId2" Type="http://schemas.openxmlformats.org/officeDocument/2006/relationships/image" Target="../media/image246.wmf"/><Relationship Id="rId1" Type="http://schemas.openxmlformats.org/officeDocument/2006/relationships/image" Target="../media/image245.wmf"/></Relationships>
</file>

<file path=ppt/drawings/_rels/vmlDrawing7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8.emf"/></Relationships>
</file>

<file path=ppt/drawings/_rels/vmlDrawing7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wmf"/><Relationship Id="rId2" Type="http://schemas.openxmlformats.org/officeDocument/2006/relationships/image" Target="../media/image250.wmf"/><Relationship Id="rId1" Type="http://schemas.openxmlformats.org/officeDocument/2006/relationships/image" Target="../media/image249.wmf"/></Relationships>
</file>

<file path=ppt/drawings/_rels/vmlDrawing7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2.emf"/><Relationship Id="rId1" Type="http://schemas.openxmlformats.org/officeDocument/2006/relationships/image" Target="../media/image250.wmf"/></Relationships>
</file>

<file path=ppt/drawings/_rels/vmlDrawing8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wmf"/><Relationship Id="rId1" Type="http://schemas.openxmlformats.org/officeDocument/2006/relationships/image" Target="../media/image253.emf"/></Relationships>
</file>

<file path=ppt/drawings/_rels/vmlDrawing8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4.emf"/></Relationships>
</file>

<file path=ppt/drawings/_rels/vmlDrawing8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5.wmf"/></Relationships>
</file>

<file path=ppt/drawings/_rels/vmlDrawing8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6.wmf"/></Relationships>
</file>

<file path=ppt/drawings/_rels/vmlDrawing8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8.emf"/><Relationship Id="rId1" Type="http://schemas.openxmlformats.org/officeDocument/2006/relationships/image" Target="../media/image25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EC2B57-B7C4-44A6-A960-157ACFA971B8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51C548-0A9A-4A74-B521-6B537B5780B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219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51C548-0A9A-4A74-B521-6B537B5780B6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539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775F40-A0E3-4889-B24B-394614AF2631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08903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25CD57-97CB-4F4E-94B7-3C7A54C60FFB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67698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3C8818-69E9-4AF5-BE6D-55D3FEDC5FDA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587288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636215-3BFA-43B0-B079-A17A42528660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017801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51C548-0A9A-4A74-B521-6B537B5780B6}" type="slidenum">
              <a:rPr lang="zh-CN" altLang="en-US" smtClean="0"/>
              <a:pPr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739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单圆角矩形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直角三角形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10" name="任意多边形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任意多边形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305800" cy="563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914400"/>
            <a:ext cx="4076700" cy="5334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86300" y="914400"/>
            <a:ext cx="4076700" cy="2590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86300" y="3657600"/>
            <a:ext cx="4076700" cy="2590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228600" y="6554788"/>
            <a:ext cx="2667000" cy="227012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6096000" y="6559550"/>
            <a:ext cx="2895600" cy="2984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</a:t>
            </a:r>
            <a:r>
              <a:rPr lang="en-US" altLang="zh-CN">
                <a:latin typeface="Arial" panose="020B0604020202020204" pitchFamily="34" charset="0"/>
              </a:rPr>
              <a:t> Logo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3505200" y="6489700"/>
            <a:ext cx="2133600" cy="292100"/>
          </a:xfrm>
        </p:spPr>
        <p:txBody>
          <a:bodyPr/>
          <a:lstStyle>
            <a:lvl1pPr>
              <a:defRPr/>
            </a:lvl1pPr>
          </a:lstStyle>
          <a:p>
            <a:fld id="{F36B97AC-3B40-4314-A658-849DEFA6602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2006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任意多边形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2020/4/28</a:t>
            </a:fld>
            <a:endParaRPr lang="zh-CN" altLang="en-US"/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任意多边形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任意多边形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7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0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16.bin"/><Relationship Id="rId18" Type="http://schemas.openxmlformats.org/officeDocument/2006/relationships/image" Target="../media/image19.wmf"/><Relationship Id="rId26" Type="http://schemas.openxmlformats.org/officeDocument/2006/relationships/oleObject" Target="../embeddings/oleObject24.bin"/><Relationship Id="rId3" Type="http://schemas.openxmlformats.org/officeDocument/2006/relationships/oleObject" Target="../embeddings/oleObject11.bin"/><Relationship Id="rId21" Type="http://schemas.openxmlformats.org/officeDocument/2006/relationships/oleObject" Target="../embeddings/oleObject20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6.wmf"/><Relationship Id="rId17" Type="http://schemas.openxmlformats.org/officeDocument/2006/relationships/oleObject" Target="../embeddings/oleObject18.bin"/><Relationship Id="rId25" Type="http://schemas.openxmlformats.org/officeDocument/2006/relationships/image" Target="../media/image21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8.wmf"/><Relationship Id="rId20" Type="http://schemas.openxmlformats.org/officeDocument/2006/relationships/image" Target="../media/image20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5.bin"/><Relationship Id="rId24" Type="http://schemas.openxmlformats.org/officeDocument/2006/relationships/oleObject" Target="../embeddings/oleObject23.bin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23" Type="http://schemas.openxmlformats.org/officeDocument/2006/relationships/oleObject" Target="../embeddings/oleObject22.bin"/><Relationship Id="rId10" Type="http://schemas.openxmlformats.org/officeDocument/2006/relationships/image" Target="../media/image15.wmf"/><Relationship Id="rId19" Type="http://schemas.openxmlformats.org/officeDocument/2006/relationships/oleObject" Target="../embeddings/oleObject19.bin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17.wmf"/><Relationship Id="rId22" Type="http://schemas.openxmlformats.org/officeDocument/2006/relationships/oleObject" Target="../embeddings/oleObject21.bin"/><Relationship Id="rId27" Type="http://schemas.openxmlformats.org/officeDocument/2006/relationships/image" Target="../media/image22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2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28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7" Type="http://schemas.openxmlformats.org/officeDocument/2006/relationships/image" Target="../media/image2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32.bin"/><Relationship Id="rId5" Type="http://schemas.openxmlformats.org/officeDocument/2006/relationships/oleObject" Target="../embeddings/oleObject31.bin"/><Relationship Id="rId4" Type="http://schemas.openxmlformats.org/officeDocument/2006/relationships/image" Target="../media/image28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7" Type="http://schemas.openxmlformats.org/officeDocument/2006/relationships/image" Target="../media/image31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30.emf"/><Relationship Id="rId4" Type="http://schemas.openxmlformats.org/officeDocument/2006/relationships/oleObject" Target="../embeddings/Microsoft_Word_97_-_2003___1.doc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13" Type="http://schemas.openxmlformats.org/officeDocument/2006/relationships/image" Target="../media/image36.wmf"/><Relationship Id="rId18" Type="http://schemas.openxmlformats.org/officeDocument/2006/relationships/oleObject" Target="../embeddings/oleObject42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40.wmf"/><Relationship Id="rId7" Type="http://schemas.openxmlformats.org/officeDocument/2006/relationships/image" Target="../media/image33.wmf"/><Relationship Id="rId12" Type="http://schemas.openxmlformats.org/officeDocument/2006/relationships/oleObject" Target="../embeddings/oleObject39.bin"/><Relationship Id="rId17" Type="http://schemas.openxmlformats.org/officeDocument/2006/relationships/image" Target="../media/image38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41.bin"/><Relationship Id="rId20" Type="http://schemas.openxmlformats.org/officeDocument/2006/relationships/oleObject" Target="../embeddings/oleObject43.bin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35.wmf"/><Relationship Id="rId5" Type="http://schemas.openxmlformats.org/officeDocument/2006/relationships/image" Target="../media/image32.wmf"/><Relationship Id="rId15" Type="http://schemas.openxmlformats.org/officeDocument/2006/relationships/image" Target="../media/image37.wmf"/><Relationship Id="rId23" Type="http://schemas.openxmlformats.org/officeDocument/2006/relationships/image" Target="../media/image41.wmf"/><Relationship Id="rId10" Type="http://schemas.openxmlformats.org/officeDocument/2006/relationships/oleObject" Target="../embeddings/oleObject38.bin"/><Relationship Id="rId19" Type="http://schemas.openxmlformats.org/officeDocument/2006/relationships/image" Target="../media/image39.wmf"/><Relationship Id="rId4" Type="http://schemas.openxmlformats.org/officeDocument/2006/relationships/oleObject" Target="../embeddings/oleObject35.bin"/><Relationship Id="rId9" Type="http://schemas.openxmlformats.org/officeDocument/2006/relationships/image" Target="../media/image34.wmf"/><Relationship Id="rId14" Type="http://schemas.openxmlformats.org/officeDocument/2006/relationships/oleObject" Target="../embeddings/oleObject40.bin"/><Relationship Id="rId22" Type="http://schemas.openxmlformats.org/officeDocument/2006/relationships/oleObject" Target="../embeddings/oleObject44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13" Type="http://schemas.openxmlformats.org/officeDocument/2006/relationships/image" Target="../media/image45.wmf"/><Relationship Id="rId18" Type="http://schemas.openxmlformats.org/officeDocument/2006/relationships/oleObject" Target="../embeddings/oleObject52.bin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49.wmf"/><Relationship Id="rId7" Type="http://schemas.openxmlformats.org/officeDocument/2006/relationships/image" Target="../media/image43.wmf"/><Relationship Id="rId12" Type="http://schemas.openxmlformats.org/officeDocument/2006/relationships/oleObject" Target="../embeddings/oleObject49.bin"/><Relationship Id="rId17" Type="http://schemas.openxmlformats.org/officeDocument/2006/relationships/image" Target="../media/image47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51.bin"/><Relationship Id="rId20" Type="http://schemas.openxmlformats.org/officeDocument/2006/relationships/oleObject" Target="../embeddings/oleObject53.bin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39.wmf"/><Relationship Id="rId5" Type="http://schemas.openxmlformats.org/officeDocument/2006/relationships/image" Target="../media/image42.wmf"/><Relationship Id="rId15" Type="http://schemas.openxmlformats.org/officeDocument/2006/relationships/image" Target="../media/image46.wmf"/><Relationship Id="rId10" Type="http://schemas.openxmlformats.org/officeDocument/2006/relationships/oleObject" Target="../embeddings/oleObject48.bin"/><Relationship Id="rId19" Type="http://schemas.openxmlformats.org/officeDocument/2006/relationships/image" Target="../media/image48.wmf"/><Relationship Id="rId4" Type="http://schemas.openxmlformats.org/officeDocument/2006/relationships/oleObject" Target="../embeddings/oleObject45.bin"/><Relationship Id="rId9" Type="http://schemas.openxmlformats.org/officeDocument/2006/relationships/image" Target="../media/image44.wmf"/><Relationship Id="rId14" Type="http://schemas.openxmlformats.org/officeDocument/2006/relationships/oleObject" Target="../embeddings/oleObject50.bin"/><Relationship Id="rId22" Type="http://schemas.openxmlformats.org/officeDocument/2006/relationships/oleObject" Target="../embeddings/oleObject54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5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56.bin"/><Relationship Id="rId5" Type="http://schemas.openxmlformats.org/officeDocument/2006/relationships/image" Target="../media/image39.wmf"/><Relationship Id="rId10" Type="http://schemas.openxmlformats.org/officeDocument/2006/relationships/oleObject" Target="../embeddings/oleObject58.bin"/><Relationship Id="rId4" Type="http://schemas.openxmlformats.org/officeDocument/2006/relationships/oleObject" Target="../embeddings/oleObject55.bin"/><Relationship Id="rId9" Type="http://schemas.openxmlformats.org/officeDocument/2006/relationships/image" Target="../media/image33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60.bin"/><Relationship Id="rId10" Type="http://schemas.openxmlformats.org/officeDocument/2006/relationships/image" Target="../media/image54.wmf"/><Relationship Id="rId4" Type="http://schemas.openxmlformats.org/officeDocument/2006/relationships/image" Target="../media/image51.wmf"/><Relationship Id="rId9" Type="http://schemas.openxmlformats.org/officeDocument/2006/relationships/oleObject" Target="../embeddings/oleObject62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64.bin"/><Relationship Id="rId10" Type="http://schemas.openxmlformats.org/officeDocument/2006/relationships/image" Target="../media/image58.wmf"/><Relationship Id="rId4" Type="http://schemas.openxmlformats.org/officeDocument/2006/relationships/image" Target="../media/image55.wmf"/><Relationship Id="rId9" Type="http://schemas.openxmlformats.org/officeDocument/2006/relationships/oleObject" Target="../embeddings/oleObject66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7" Type="http://schemas.openxmlformats.org/officeDocument/2006/relationships/oleObject" Target="../embeddings/oleObject6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59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62.wmf"/><Relationship Id="rId5" Type="http://schemas.openxmlformats.org/officeDocument/2006/relationships/oleObject" Target="../embeddings/oleObject71.bin"/><Relationship Id="rId4" Type="http://schemas.openxmlformats.org/officeDocument/2006/relationships/image" Target="../media/image61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63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oleObject" Target="../embeddings/oleObject74.bin"/><Relationship Id="rId7" Type="http://schemas.openxmlformats.org/officeDocument/2006/relationships/oleObject" Target="../embeddings/oleObject7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66.wmf"/><Relationship Id="rId5" Type="http://schemas.openxmlformats.org/officeDocument/2006/relationships/oleObject" Target="../embeddings/oleObject75.bin"/><Relationship Id="rId10" Type="http://schemas.openxmlformats.org/officeDocument/2006/relationships/image" Target="../media/image62.wmf"/><Relationship Id="rId4" Type="http://schemas.openxmlformats.org/officeDocument/2006/relationships/image" Target="../media/image65.wmf"/><Relationship Id="rId9" Type="http://schemas.openxmlformats.org/officeDocument/2006/relationships/oleObject" Target="../embeddings/oleObject77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oleObject" Target="../embeddings/oleObject78.bin"/><Relationship Id="rId7" Type="http://schemas.openxmlformats.org/officeDocument/2006/relationships/oleObject" Target="../embeddings/oleObject80.bin"/><Relationship Id="rId12" Type="http://schemas.openxmlformats.org/officeDocument/2006/relationships/image" Target="../media/image7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68.wmf"/><Relationship Id="rId11" Type="http://schemas.openxmlformats.org/officeDocument/2006/relationships/oleObject" Target="../embeddings/oleObject82.bin"/><Relationship Id="rId5" Type="http://schemas.openxmlformats.org/officeDocument/2006/relationships/oleObject" Target="../embeddings/oleObject79.bin"/><Relationship Id="rId10" Type="http://schemas.openxmlformats.org/officeDocument/2006/relationships/image" Target="../media/image70.wmf"/><Relationship Id="rId4" Type="http://schemas.openxmlformats.org/officeDocument/2006/relationships/image" Target="../media/image67.wmf"/><Relationship Id="rId9" Type="http://schemas.openxmlformats.org/officeDocument/2006/relationships/oleObject" Target="../embeddings/oleObject81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73.wmf"/><Relationship Id="rId5" Type="http://schemas.openxmlformats.org/officeDocument/2006/relationships/oleObject" Target="../embeddings/oleObject84.bin"/><Relationship Id="rId4" Type="http://schemas.openxmlformats.org/officeDocument/2006/relationships/image" Target="../media/image72.w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75.wmf"/><Relationship Id="rId5" Type="http://schemas.openxmlformats.org/officeDocument/2006/relationships/oleObject" Target="../embeddings/oleObject86.bin"/><Relationship Id="rId10" Type="http://schemas.openxmlformats.org/officeDocument/2006/relationships/image" Target="../media/image77.wmf"/><Relationship Id="rId4" Type="http://schemas.openxmlformats.org/officeDocument/2006/relationships/image" Target="../media/image74.wmf"/><Relationship Id="rId9" Type="http://schemas.openxmlformats.org/officeDocument/2006/relationships/oleObject" Target="../embeddings/oleObject88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13" Type="http://schemas.openxmlformats.org/officeDocument/2006/relationships/oleObject" Target="../embeddings/oleObject94.bin"/><Relationship Id="rId3" Type="http://schemas.openxmlformats.org/officeDocument/2006/relationships/oleObject" Target="../embeddings/oleObject89.bin"/><Relationship Id="rId7" Type="http://schemas.openxmlformats.org/officeDocument/2006/relationships/oleObject" Target="../embeddings/oleObject91.bin"/><Relationship Id="rId12" Type="http://schemas.openxmlformats.org/officeDocument/2006/relationships/image" Target="../media/image8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79.wmf"/><Relationship Id="rId11" Type="http://schemas.openxmlformats.org/officeDocument/2006/relationships/oleObject" Target="../embeddings/oleObject93.bin"/><Relationship Id="rId5" Type="http://schemas.openxmlformats.org/officeDocument/2006/relationships/oleObject" Target="../embeddings/oleObject90.bin"/><Relationship Id="rId10" Type="http://schemas.openxmlformats.org/officeDocument/2006/relationships/image" Target="../media/image81.wmf"/><Relationship Id="rId4" Type="http://schemas.openxmlformats.org/officeDocument/2006/relationships/image" Target="../media/image78.wmf"/><Relationship Id="rId9" Type="http://schemas.openxmlformats.org/officeDocument/2006/relationships/oleObject" Target="../embeddings/oleObject92.bin"/><Relationship Id="rId14" Type="http://schemas.openxmlformats.org/officeDocument/2006/relationships/image" Target="../media/image83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8.bin"/><Relationship Id="rId13" Type="http://schemas.openxmlformats.org/officeDocument/2006/relationships/image" Target="../media/image88.wmf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12" Type="http://schemas.openxmlformats.org/officeDocument/2006/relationships/oleObject" Target="../embeddings/oleObject100.bin"/><Relationship Id="rId17" Type="http://schemas.openxmlformats.org/officeDocument/2006/relationships/oleObject" Target="../embeddings/oleObject103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02.bin"/><Relationship Id="rId1" Type="http://schemas.openxmlformats.org/officeDocument/2006/relationships/vmlDrawing" Target="../drawings/vmlDrawing25.vml"/><Relationship Id="rId6" Type="http://schemas.openxmlformats.org/officeDocument/2006/relationships/image" Target="../media/image85.wmf"/><Relationship Id="rId11" Type="http://schemas.openxmlformats.org/officeDocument/2006/relationships/image" Target="../media/image87.wmf"/><Relationship Id="rId5" Type="http://schemas.openxmlformats.org/officeDocument/2006/relationships/oleObject" Target="../embeddings/oleObject96.bin"/><Relationship Id="rId15" Type="http://schemas.openxmlformats.org/officeDocument/2006/relationships/image" Target="../media/image89.wmf"/><Relationship Id="rId10" Type="http://schemas.openxmlformats.org/officeDocument/2006/relationships/oleObject" Target="../embeddings/oleObject99.bin"/><Relationship Id="rId4" Type="http://schemas.openxmlformats.org/officeDocument/2006/relationships/image" Target="../media/image84.wmf"/><Relationship Id="rId9" Type="http://schemas.openxmlformats.org/officeDocument/2006/relationships/image" Target="../media/image86.wmf"/><Relationship Id="rId14" Type="http://schemas.openxmlformats.org/officeDocument/2006/relationships/oleObject" Target="../embeddings/oleObject101.bin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91.wmf"/><Relationship Id="rId5" Type="http://schemas.openxmlformats.org/officeDocument/2006/relationships/oleObject" Target="../embeddings/oleObject105.bin"/><Relationship Id="rId4" Type="http://schemas.openxmlformats.org/officeDocument/2006/relationships/image" Target="../media/image90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3" Type="http://schemas.openxmlformats.org/officeDocument/2006/relationships/oleObject" Target="../embeddings/oleObject106.bin"/><Relationship Id="rId7" Type="http://schemas.openxmlformats.org/officeDocument/2006/relationships/oleObject" Target="../embeddings/oleObject108.bin"/><Relationship Id="rId12" Type="http://schemas.openxmlformats.org/officeDocument/2006/relationships/image" Target="../media/image9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93.wmf"/><Relationship Id="rId11" Type="http://schemas.openxmlformats.org/officeDocument/2006/relationships/oleObject" Target="../embeddings/oleObject110.bin"/><Relationship Id="rId5" Type="http://schemas.openxmlformats.org/officeDocument/2006/relationships/oleObject" Target="../embeddings/oleObject107.bin"/><Relationship Id="rId10" Type="http://schemas.openxmlformats.org/officeDocument/2006/relationships/image" Target="../media/image95.wmf"/><Relationship Id="rId4" Type="http://schemas.openxmlformats.org/officeDocument/2006/relationships/image" Target="../media/image92.wmf"/><Relationship Id="rId9" Type="http://schemas.openxmlformats.org/officeDocument/2006/relationships/oleObject" Target="../embeddings/oleObject109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13" Type="http://schemas.openxmlformats.org/officeDocument/2006/relationships/image" Target="../media/image101.wmf"/><Relationship Id="rId18" Type="http://schemas.openxmlformats.org/officeDocument/2006/relationships/oleObject" Target="../embeddings/oleObject119.bin"/><Relationship Id="rId3" Type="http://schemas.openxmlformats.org/officeDocument/2006/relationships/oleObject" Target="../embeddings/oleObject111.bin"/><Relationship Id="rId21" Type="http://schemas.openxmlformats.org/officeDocument/2006/relationships/image" Target="../media/image105.wmf"/><Relationship Id="rId7" Type="http://schemas.openxmlformats.org/officeDocument/2006/relationships/oleObject" Target="../embeddings/oleObject113.bin"/><Relationship Id="rId12" Type="http://schemas.openxmlformats.org/officeDocument/2006/relationships/oleObject" Target="../embeddings/oleObject116.bin"/><Relationship Id="rId17" Type="http://schemas.openxmlformats.org/officeDocument/2006/relationships/image" Target="../media/image103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18.bin"/><Relationship Id="rId20" Type="http://schemas.openxmlformats.org/officeDocument/2006/relationships/oleObject" Target="../embeddings/oleObject120.bin"/><Relationship Id="rId1" Type="http://schemas.openxmlformats.org/officeDocument/2006/relationships/vmlDrawing" Target="../drawings/vmlDrawing28.vml"/><Relationship Id="rId6" Type="http://schemas.openxmlformats.org/officeDocument/2006/relationships/image" Target="../media/image98.wmf"/><Relationship Id="rId11" Type="http://schemas.openxmlformats.org/officeDocument/2006/relationships/image" Target="../media/image100.wmf"/><Relationship Id="rId5" Type="http://schemas.openxmlformats.org/officeDocument/2006/relationships/oleObject" Target="../embeddings/oleObject112.bin"/><Relationship Id="rId15" Type="http://schemas.openxmlformats.org/officeDocument/2006/relationships/image" Target="../media/image102.wmf"/><Relationship Id="rId10" Type="http://schemas.openxmlformats.org/officeDocument/2006/relationships/oleObject" Target="../embeddings/oleObject115.bin"/><Relationship Id="rId19" Type="http://schemas.openxmlformats.org/officeDocument/2006/relationships/image" Target="../media/image104.wmf"/><Relationship Id="rId4" Type="http://schemas.openxmlformats.org/officeDocument/2006/relationships/image" Target="../media/image97.wmf"/><Relationship Id="rId9" Type="http://schemas.openxmlformats.org/officeDocument/2006/relationships/oleObject" Target="../embeddings/oleObject114.bin"/><Relationship Id="rId14" Type="http://schemas.openxmlformats.org/officeDocument/2006/relationships/oleObject" Target="../embeddings/oleObject117.bin"/><Relationship Id="rId22" Type="http://schemas.openxmlformats.org/officeDocument/2006/relationships/oleObject" Target="../embeddings/oleObject121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07.wmf"/><Relationship Id="rId5" Type="http://schemas.openxmlformats.org/officeDocument/2006/relationships/oleObject" Target="../embeddings/oleObject123.bin"/><Relationship Id="rId4" Type="http://schemas.openxmlformats.org/officeDocument/2006/relationships/image" Target="../media/image106.w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7.bin"/><Relationship Id="rId13" Type="http://schemas.openxmlformats.org/officeDocument/2006/relationships/image" Target="../media/image112.wmf"/><Relationship Id="rId3" Type="http://schemas.openxmlformats.org/officeDocument/2006/relationships/oleObject" Target="../embeddings/oleObject124.bin"/><Relationship Id="rId7" Type="http://schemas.openxmlformats.org/officeDocument/2006/relationships/oleObject" Target="../embeddings/oleObject126.bin"/><Relationship Id="rId12" Type="http://schemas.openxmlformats.org/officeDocument/2006/relationships/oleObject" Target="../embeddings/oleObject1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09.wmf"/><Relationship Id="rId11" Type="http://schemas.openxmlformats.org/officeDocument/2006/relationships/image" Target="../media/image111.wmf"/><Relationship Id="rId5" Type="http://schemas.openxmlformats.org/officeDocument/2006/relationships/oleObject" Target="../embeddings/oleObject125.bin"/><Relationship Id="rId15" Type="http://schemas.openxmlformats.org/officeDocument/2006/relationships/image" Target="../media/image113.wmf"/><Relationship Id="rId10" Type="http://schemas.openxmlformats.org/officeDocument/2006/relationships/oleObject" Target="../embeddings/oleObject128.bin"/><Relationship Id="rId4" Type="http://schemas.openxmlformats.org/officeDocument/2006/relationships/image" Target="../media/image108.wmf"/><Relationship Id="rId9" Type="http://schemas.openxmlformats.org/officeDocument/2006/relationships/image" Target="../media/image110.wmf"/><Relationship Id="rId14" Type="http://schemas.openxmlformats.org/officeDocument/2006/relationships/oleObject" Target="../embeddings/oleObject130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3" Type="http://schemas.openxmlformats.org/officeDocument/2006/relationships/oleObject" Target="../embeddings/oleObject131.bin"/><Relationship Id="rId7" Type="http://schemas.openxmlformats.org/officeDocument/2006/relationships/oleObject" Target="../embeddings/oleObject13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15.wmf"/><Relationship Id="rId5" Type="http://schemas.openxmlformats.org/officeDocument/2006/relationships/oleObject" Target="../embeddings/oleObject132.bin"/><Relationship Id="rId4" Type="http://schemas.openxmlformats.org/officeDocument/2006/relationships/image" Target="../media/image114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17.wmf"/><Relationship Id="rId5" Type="http://schemas.openxmlformats.org/officeDocument/2006/relationships/oleObject" Target="../embeddings/oleObject135.bin"/><Relationship Id="rId4" Type="http://schemas.openxmlformats.org/officeDocument/2006/relationships/image" Target="../media/image113.w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wmf"/><Relationship Id="rId13" Type="http://schemas.openxmlformats.org/officeDocument/2006/relationships/oleObject" Target="../embeddings/oleObject141.bin"/><Relationship Id="rId3" Type="http://schemas.openxmlformats.org/officeDocument/2006/relationships/oleObject" Target="../embeddings/oleObject136.bin"/><Relationship Id="rId7" Type="http://schemas.openxmlformats.org/officeDocument/2006/relationships/oleObject" Target="../embeddings/oleObject138.bin"/><Relationship Id="rId12" Type="http://schemas.openxmlformats.org/officeDocument/2006/relationships/image" Target="../media/image121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3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18.wmf"/><Relationship Id="rId11" Type="http://schemas.openxmlformats.org/officeDocument/2006/relationships/oleObject" Target="../embeddings/oleObject140.bin"/><Relationship Id="rId5" Type="http://schemas.openxmlformats.org/officeDocument/2006/relationships/oleObject" Target="../embeddings/oleObject137.bin"/><Relationship Id="rId15" Type="http://schemas.openxmlformats.org/officeDocument/2006/relationships/oleObject" Target="../embeddings/oleObject142.bin"/><Relationship Id="rId10" Type="http://schemas.openxmlformats.org/officeDocument/2006/relationships/image" Target="../media/image120.wmf"/><Relationship Id="rId4" Type="http://schemas.openxmlformats.org/officeDocument/2006/relationships/image" Target="../media/image114.wmf"/><Relationship Id="rId9" Type="http://schemas.openxmlformats.org/officeDocument/2006/relationships/oleObject" Target="../embeddings/oleObject139.bin"/><Relationship Id="rId14" Type="http://schemas.openxmlformats.org/officeDocument/2006/relationships/image" Target="../media/image122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3" Type="http://schemas.openxmlformats.org/officeDocument/2006/relationships/oleObject" Target="../embeddings/oleObject143.bin"/><Relationship Id="rId7" Type="http://schemas.openxmlformats.org/officeDocument/2006/relationships/oleObject" Target="../embeddings/oleObject145.bin"/><Relationship Id="rId12" Type="http://schemas.openxmlformats.org/officeDocument/2006/relationships/image" Target="../media/image12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25.wmf"/><Relationship Id="rId11" Type="http://schemas.openxmlformats.org/officeDocument/2006/relationships/oleObject" Target="../embeddings/oleObject147.bin"/><Relationship Id="rId5" Type="http://schemas.openxmlformats.org/officeDocument/2006/relationships/oleObject" Target="../embeddings/oleObject144.bin"/><Relationship Id="rId10" Type="http://schemas.openxmlformats.org/officeDocument/2006/relationships/image" Target="../media/image127.wmf"/><Relationship Id="rId4" Type="http://schemas.openxmlformats.org/officeDocument/2006/relationships/image" Target="../media/image124.wmf"/><Relationship Id="rId9" Type="http://schemas.openxmlformats.org/officeDocument/2006/relationships/oleObject" Target="../embeddings/oleObject146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3" Type="http://schemas.openxmlformats.org/officeDocument/2006/relationships/oleObject" Target="../embeddings/oleObject148.bin"/><Relationship Id="rId7" Type="http://schemas.openxmlformats.org/officeDocument/2006/relationships/oleObject" Target="../embeddings/oleObject15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30.wmf"/><Relationship Id="rId5" Type="http://schemas.openxmlformats.org/officeDocument/2006/relationships/oleObject" Target="../embeddings/oleObject149.bin"/><Relationship Id="rId4" Type="http://schemas.openxmlformats.org/officeDocument/2006/relationships/image" Target="../media/image129.wmf"/><Relationship Id="rId9" Type="http://schemas.openxmlformats.org/officeDocument/2006/relationships/oleObject" Target="../embeddings/oleObject151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3" Type="http://schemas.openxmlformats.org/officeDocument/2006/relationships/oleObject" Target="../embeddings/oleObject152.bin"/><Relationship Id="rId7" Type="http://schemas.openxmlformats.org/officeDocument/2006/relationships/oleObject" Target="../embeddings/oleObject15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33.wmf"/><Relationship Id="rId5" Type="http://schemas.openxmlformats.org/officeDocument/2006/relationships/oleObject" Target="../embeddings/oleObject153.bin"/><Relationship Id="rId4" Type="http://schemas.openxmlformats.org/officeDocument/2006/relationships/image" Target="../media/image132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wmf"/><Relationship Id="rId3" Type="http://schemas.openxmlformats.org/officeDocument/2006/relationships/oleObject" Target="../embeddings/oleObject155.bin"/><Relationship Id="rId7" Type="http://schemas.openxmlformats.org/officeDocument/2006/relationships/oleObject" Target="../embeddings/oleObject15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35.wmf"/><Relationship Id="rId5" Type="http://schemas.openxmlformats.org/officeDocument/2006/relationships/oleObject" Target="../embeddings/oleObject156.bin"/><Relationship Id="rId10" Type="http://schemas.openxmlformats.org/officeDocument/2006/relationships/image" Target="../media/image137.wmf"/><Relationship Id="rId4" Type="http://schemas.openxmlformats.org/officeDocument/2006/relationships/image" Target="../media/image133.wmf"/><Relationship Id="rId9" Type="http://schemas.openxmlformats.org/officeDocument/2006/relationships/oleObject" Target="../embeddings/oleObject158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9.bin"/><Relationship Id="rId7" Type="http://schemas.openxmlformats.org/officeDocument/2006/relationships/image" Target="../media/image14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39.wmf"/><Relationship Id="rId5" Type="http://schemas.openxmlformats.org/officeDocument/2006/relationships/oleObject" Target="../embeddings/oleObject160.bin"/><Relationship Id="rId4" Type="http://schemas.openxmlformats.org/officeDocument/2006/relationships/image" Target="../media/image138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wmf"/><Relationship Id="rId13" Type="http://schemas.openxmlformats.org/officeDocument/2006/relationships/oleObject" Target="../embeddings/oleObject166.bin"/><Relationship Id="rId3" Type="http://schemas.openxmlformats.org/officeDocument/2006/relationships/oleObject" Target="../embeddings/oleObject161.bin"/><Relationship Id="rId7" Type="http://schemas.openxmlformats.org/officeDocument/2006/relationships/oleObject" Target="../embeddings/oleObject163.bin"/><Relationship Id="rId12" Type="http://schemas.openxmlformats.org/officeDocument/2006/relationships/image" Target="../media/image145.wmf"/><Relationship Id="rId17" Type="http://schemas.openxmlformats.org/officeDocument/2006/relationships/oleObject" Target="../embeddings/oleObject16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7.wmf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42.wmf"/><Relationship Id="rId11" Type="http://schemas.openxmlformats.org/officeDocument/2006/relationships/oleObject" Target="../embeddings/oleObject165.bin"/><Relationship Id="rId5" Type="http://schemas.openxmlformats.org/officeDocument/2006/relationships/oleObject" Target="../embeddings/oleObject162.bin"/><Relationship Id="rId15" Type="http://schemas.openxmlformats.org/officeDocument/2006/relationships/oleObject" Target="../embeddings/oleObject167.bin"/><Relationship Id="rId10" Type="http://schemas.openxmlformats.org/officeDocument/2006/relationships/image" Target="../media/image144.wmf"/><Relationship Id="rId4" Type="http://schemas.openxmlformats.org/officeDocument/2006/relationships/image" Target="../media/image141.wmf"/><Relationship Id="rId9" Type="http://schemas.openxmlformats.org/officeDocument/2006/relationships/oleObject" Target="../embeddings/oleObject164.bin"/><Relationship Id="rId14" Type="http://schemas.openxmlformats.org/officeDocument/2006/relationships/image" Target="../media/image146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149.wmf"/><Relationship Id="rId5" Type="http://schemas.openxmlformats.org/officeDocument/2006/relationships/oleObject" Target="../embeddings/oleObject170.bin"/><Relationship Id="rId4" Type="http://schemas.openxmlformats.org/officeDocument/2006/relationships/image" Target="../media/image148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wmf"/><Relationship Id="rId13" Type="http://schemas.openxmlformats.org/officeDocument/2006/relationships/oleObject" Target="../embeddings/oleObject176.bin"/><Relationship Id="rId3" Type="http://schemas.openxmlformats.org/officeDocument/2006/relationships/oleObject" Target="../embeddings/oleObject171.bin"/><Relationship Id="rId7" Type="http://schemas.openxmlformats.org/officeDocument/2006/relationships/oleObject" Target="../embeddings/oleObject173.bin"/><Relationship Id="rId12" Type="http://schemas.openxmlformats.org/officeDocument/2006/relationships/image" Target="../media/image154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78.bin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51.wmf"/><Relationship Id="rId11" Type="http://schemas.openxmlformats.org/officeDocument/2006/relationships/oleObject" Target="../embeddings/oleObject175.bin"/><Relationship Id="rId5" Type="http://schemas.openxmlformats.org/officeDocument/2006/relationships/oleObject" Target="../embeddings/oleObject172.bin"/><Relationship Id="rId15" Type="http://schemas.openxmlformats.org/officeDocument/2006/relationships/oleObject" Target="../embeddings/oleObject177.bin"/><Relationship Id="rId10" Type="http://schemas.openxmlformats.org/officeDocument/2006/relationships/image" Target="../media/image153.wmf"/><Relationship Id="rId4" Type="http://schemas.openxmlformats.org/officeDocument/2006/relationships/image" Target="../media/image150.wmf"/><Relationship Id="rId9" Type="http://schemas.openxmlformats.org/officeDocument/2006/relationships/oleObject" Target="../embeddings/oleObject174.bin"/><Relationship Id="rId14" Type="http://schemas.openxmlformats.org/officeDocument/2006/relationships/image" Target="../media/image155.wmf"/></Relationships>
</file>

<file path=ppt/slides/_rels/slide5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84.bin"/><Relationship Id="rId18" Type="http://schemas.openxmlformats.org/officeDocument/2006/relationships/oleObject" Target="../embeddings/oleObject187.bin"/><Relationship Id="rId26" Type="http://schemas.openxmlformats.org/officeDocument/2006/relationships/oleObject" Target="../embeddings/oleObject191.bin"/><Relationship Id="rId39" Type="http://schemas.openxmlformats.org/officeDocument/2006/relationships/image" Target="../media/image170.wmf"/><Relationship Id="rId21" Type="http://schemas.openxmlformats.org/officeDocument/2006/relationships/image" Target="../media/image162.wmf"/><Relationship Id="rId34" Type="http://schemas.openxmlformats.org/officeDocument/2006/relationships/oleObject" Target="../embeddings/oleObject195.bin"/><Relationship Id="rId7" Type="http://schemas.openxmlformats.org/officeDocument/2006/relationships/oleObject" Target="../embeddings/oleObject181.bin"/><Relationship Id="rId12" Type="http://schemas.openxmlformats.org/officeDocument/2006/relationships/image" Target="../media/image159.wmf"/><Relationship Id="rId17" Type="http://schemas.openxmlformats.org/officeDocument/2006/relationships/oleObject" Target="../embeddings/oleObject186.bin"/><Relationship Id="rId25" Type="http://schemas.openxmlformats.org/officeDocument/2006/relationships/image" Target="../media/image164.wmf"/><Relationship Id="rId33" Type="http://schemas.openxmlformats.org/officeDocument/2006/relationships/image" Target="../media/image168.wmf"/><Relationship Id="rId38" Type="http://schemas.openxmlformats.org/officeDocument/2006/relationships/oleObject" Target="../embeddings/oleObject19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1.wmf"/><Relationship Id="rId20" Type="http://schemas.openxmlformats.org/officeDocument/2006/relationships/oleObject" Target="../embeddings/oleObject188.bin"/><Relationship Id="rId29" Type="http://schemas.openxmlformats.org/officeDocument/2006/relationships/image" Target="../media/image166.wmf"/><Relationship Id="rId1" Type="http://schemas.openxmlformats.org/officeDocument/2006/relationships/vmlDrawing" Target="../drawings/vmlDrawing42.vml"/><Relationship Id="rId6" Type="http://schemas.openxmlformats.org/officeDocument/2006/relationships/image" Target="../media/image151.wmf"/><Relationship Id="rId11" Type="http://schemas.openxmlformats.org/officeDocument/2006/relationships/oleObject" Target="../embeddings/oleObject183.bin"/><Relationship Id="rId24" Type="http://schemas.openxmlformats.org/officeDocument/2006/relationships/oleObject" Target="../embeddings/oleObject190.bin"/><Relationship Id="rId32" Type="http://schemas.openxmlformats.org/officeDocument/2006/relationships/oleObject" Target="../embeddings/oleObject194.bin"/><Relationship Id="rId37" Type="http://schemas.openxmlformats.org/officeDocument/2006/relationships/image" Target="../media/image155.wmf"/><Relationship Id="rId5" Type="http://schemas.openxmlformats.org/officeDocument/2006/relationships/oleObject" Target="../embeddings/oleObject180.bin"/><Relationship Id="rId15" Type="http://schemas.openxmlformats.org/officeDocument/2006/relationships/oleObject" Target="../embeddings/oleObject185.bin"/><Relationship Id="rId23" Type="http://schemas.openxmlformats.org/officeDocument/2006/relationships/image" Target="../media/image163.wmf"/><Relationship Id="rId28" Type="http://schemas.openxmlformats.org/officeDocument/2006/relationships/oleObject" Target="../embeddings/oleObject192.bin"/><Relationship Id="rId36" Type="http://schemas.openxmlformats.org/officeDocument/2006/relationships/oleObject" Target="../embeddings/oleObject196.bin"/><Relationship Id="rId10" Type="http://schemas.openxmlformats.org/officeDocument/2006/relationships/image" Target="../media/image158.wmf"/><Relationship Id="rId19" Type="http://schemas.openxmlformats.org/officeDocument/2006/relationships/image" Target="../media/image154.wmf"/><Relationship Id="rId31" Type="http://schemas.openxmlformats.org/officeDocument/2006/relationships/image" Target="../media/image167.wmf"/><Relationship Id="rId4" Type="http://schemas.openxmlformats.org/officeDocument/2006/relationships/image" Target="../media/image156.wmf"/><Relationship Id="rId9" Type="http://schemas.openxmlformats.org/officeDocument/2006/relationships/oleObject" Target="../embeddings/oleObject182.bin"/><Relationship Id="rId14" Type="http://schemas.openxmlformats.org/officeDocument/2006/relationships/image" Target="../media/image160.wmf"/><Relationship Id="rId22" Type="http://schemas.openxmlformats.org/officeDocument/2006/relationships/oleObject" Target="../embeddings/oleObject189.bin"/><Relationship Id="rId27" Type="http://schemas.openxmlformats.org/officeDocument/2006/relationships/image" Target="../media/image165.wmf"/><Relationship Id="rId30" Type="http://schemas.openxmlformats.org/officeDocument/2006/relationships/oleObject" Target="../embeddings/oleObject193.bin"/><Relationship Id="rId35" Type="http://schemas.openxmlformats.org/officeDocument/2006/relationships/image" Target="../media/image169.wmf"/><Relationship Id="rId8" Type="http://schemas.openxmlformats.org/officeDocument/2006/relationships/image" Target="../media/image157.wmf"/><Relationship Id="rId3" Type="http://schemas.openxmlformats.org/officeDocument/2006/relationships/oleObject" Target="../embeddings/oleObject179.bin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wmf"/><Relationship Id="rId3" Type="http://schemas.openxmlformats.org/officeDocument/2006/relationships/oleObject" Target="../embeddings/oleObject198.bin"/><Relationship Id="rId7" Type="http://schemas.openxmlformats.org/officeDocument/2006/relationships/oleObject" Target="../embeddings/oleObject200.bin"/><Relationship Id="rId12" Type="http://schemas.openxmlformats.org/officeDocument/2006/relationships/image" Target="../media/image17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172.wmf"/><Relationship Id="rId11" Type="http://schemas.openxmlformats.org/officeDocument/2006/relationships/oleObject" Target="../embeddings/oleObject202.bin"/><Relationship Id="rId5" Type="http://schemas.openxmlformats.org/officeDocument/2006/relationships/oleObject" Target="../embeddings/oleObject199.bin"/><Relationship Id="rId10" Type="http://schemas.openxmlformats.org/officeDocument/2006/relationships/image" Target="../media/image174.wmf"/><Relationship Id="rId4" Type="http://schemas.openxmlformats.org/officeDocument/2006/relationships/image" Target="../media/image171.wmf"/><Relationship Id="rId9" Type="http://schemas.openxmlformats.org/officeDocument/2006/relationships/oleObject" Target="../embeddings/oleObject201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3" Type="http://schemas.openxmlformats.org/officeDocument/2006/relationships/oleObject" Target="../embeddings/oleObject203.bin"/><Relationship Id="rId7" Type="http://schemas.openxmlformats.org/officeDocument/2006/relationships/oleObject" Target="../embeddings/oleObject20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177.wmf"/><Relationship Id="rId5" Type="http://schemas.openxmlformats.org/officeDocument/2006/relationships/oleObject" Target="../embeddings/oleObject204.bin"/><Relationship Id="rId4" Type="http://schemas.openxmlformats.org/officeDocument/2006/relationships/image" Target="../media/image176.w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5.vml"/><Relationship Id="rId4" Type="http://schemas.openxmlformats.org/officeDocument/2006/relationships/image" Target="../media/image179.w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wmf"/><Relationship Id="rId3" Type="http://schemas.openxmlformats.org/officeDocument/2006/relationships/oleObject" Target="../embeddings/oleObject207.bin"/><Relationship Id="rId7" Type="http://schemas.openxmlformats.org/officeDocument/2006/relationships/oleObject" Target="../embeddings/oleObject20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181.wmf"/><Relationship Id="rId5" Type="http://schemas.openxmlformats.org/officeDocument/2006/relationships/oleObject" Target="../embeddings/oleObject208.bin"/><Relationship Id="rId10" Type="http://schemas.openxmlformats.org/officeDocument/2006/relationships/image" Target="../media/image183.wmf"/><Relationship Id="rId4" Type="http://schemas.openxmlformats.org/officeDocument/2006/relationships/image" Target="../media/image180.wmf"/><Relationship Id="rId9" Type="http://schemas.openxmlformats.org/officeDocument/2006/relationships/oleObject" Target="../embeddings/oleObject210.bin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wmf"/><Relationship Id="rId3" Type="http://schemas.openxmlformats.org/officeDocument/2006/relationships/oleObject" Target="../embeddings/oleObject211.bin"/><Relationship Id="rId7" Type="http://schemas.openxmlformats.org/officeDocument/2006/relationships/oleObject" Target="../embeddings/oleObject2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185.wmf"/><Relationship Id="rId5" Type="http://schemas.openxmlformats.org/officeDocument/2006/relationships/oleObject" Target="../embeddings/oleObject212.bin"/><Relationship Id="rId4" Type="http://schemas.openxmlformats.org/officeDocument/2006/relationships/image" Target="../media/image184.w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wmf"/><Relationship Id="rId13" Type="http://schemas.openxmlformats.org/officeDocument/2006/relationships/oleObject" Target="../embeddings/oleObject219.bin"/><Relationship Id="rId3" Type="http://schemas.openxmlformats.org/officeDocument/2006/relationships/oleObject" Target="../embeddings/oleObject214.bin"/><Relationship Id="rId7" Type="http://schemas.openxmlformats.org/officeDocument/2006/relationships/oleObject" Target="../embeddings/oleObject216.bin"/><Relationship Id="rId12" Type="http://schemas.openxmlformats.org/officeDocument/2006/relationships/image" Target="../media/image19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188.wmf"/><Relationship Id="rId11" Type="http://schemas.openxmlformats.org/officeDocument/2006/relationships/oleObject" Target="../embeddings/oleObject218.bin"/><Relationship Id="rId5" Type="http://schemas.openxmlformats.org/officeDocument/2006/relationships/oleObject" Target="../embeddings/oleObject215.bin"/><Relationship Id="rId10" Type="http://schemas.openxmlformats.org/officeDocument/2006/relationships/image" Target="../media/image190.wmf"/><Relationship Id="rId4" Type="http://schemas.openxmlformats.org/officeDocument/2006/relationships/image" Target="../media/image187.wmf"/><Relationship Id="rId9" Type="http://schemas.openxmlformats.org/officeDocument/2006/relationships/oleObject" Target="../embeddings/oleObject217.bin"/><Relationship Id="rId14" Type="http://schemas.openxmlformats.org/officeDocument/2006/relationships/image" Target="../media/image192.w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9.vml"/><Relationship Id="rId4" Type="http://schemas.openxmlformats.org/officeDocument/2006/relationships/image" Target="../media/image193.w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0.vml"/><Relationship Id="rId5" Type="http://schemas.openxmlformats.org/officeDocument/2006/relationships/image" Target="../media/image194.emf"/><Relationship Id="rId4" Type="http://schemas.openxmlformats.org/officeDocument/2006/relationships/package" Target="../embeddings/Microsoft_Word___1.docx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1.vml"/><Relationship Id="rId5" Type="http://schemas.openxmlformats.org/officeDocument/2006/relationships/image" Target="../media/image195.emf"/><Relationship Id="rId4" Type="http://schemas.openxmlformats.org/officeDocument/2006/relationships/package" Target="../embeddings/Microsoft_Word___2.docx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wmf"/><Relationship Id="rId3" Type="http://schemas.openxmlformats.org/officeDocument/2006/relationships/oleObject" Target="../embeddings/oleObject223.bin"/><Relationship Id="rId7" Type="http://schemas.openxmlformats.org/officeDocument/2006/relationships/oleObject" Target="../embeddings/oleObject2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197.wmf"/><Relationship Id="rId5" Type="http://schemas.openxmlformats.org/officeDocument/2006/relationships/oleObject" Target="../embeddings/oleObject224.bin"/><Relationship Id="rId4" Type="http://schemas.openxmlformats.org/officeDocument/2006/relationships/image" Target="../media/image196.wmf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wmf"/><Relationship Id="rId3" Type="http://schemas.openxmlformats.org/officeDocument/2006/relationships/oleObject" Target="../embeddings/oleObject226.bin"/><Relationship Id="rId7" Type="http://schemas.openxmlformats.org/officeDocument/2006/relationships/oleObject" Target="../embeddings/oleObject2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199.wmf"/><Relationship Id="rId11" Type="http://schemas.openxmlformats.org/officeDocument/2006/relationships/image" Target="../media/image201.emf"/><Relationship Id="rId5" Type="http://schemas.openxmlformats.org/officeDocument/2006/relationships/oleObject" Target="../embeddings/oleObject227.bin"/><Relationship Id="rId10" Type="http://schemas.openxmlformats.org/officeDocument/2006/relationships/package" Target="../embeddings/Microsoft_Word___3.docx"/><Relationship Id="rId4" Type="http://schemas.openxmlformats.org/officeDocument/2006/relationships/image" Target="../media/image196.wmf"/><Relationship Id="rId9" Type="http://schemas.openxmlformats.org/officeDocument/2006/relationships/oleObject" Target="../embeddings/oleObject229.bin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wmf"/><Relationship Id="rId3" Type="http://schemas.openxmlformats.org/officeDocument/2006/relationships/oleObject" Target="../embeddings/oleObject230.bin"/><Relationship Id="rId7" Type="http://schemas.openxmlformats.org/officeDocument/2006/relationships/oleObject" Target="../embeddings/oleObject2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202.wmf"/><Relationship Id="rId11" Type="http://schemas.openxmlformats.org/officeDocument/2006/relationships/oleObject" Target="../embeddings/oleObject235.bin"/><Relationship Id="rId5" Type="http://schemas.openxmlformats.org/officeDocument/2006/relationships/oleObject" Target="../embeddings/oleObject231.bin"/><Relationship Id="rId10" Type="http://schemas.openxmlformats.org/officeDocument/2006/relationships/oleObject" Target="../embeddings/oleObject234.bin"/><Relationship Id="rId4" Type="http://schemas.openxmlformats.org/officeDocument/2006/relationships/image" Target="../media/image196.wmf"/><Relationship Id="rId9" Type="http://schemas.openxmlformats.org/officeDocument/2006/relationships/oleObject" Target="../embeddings/oleObject233.bin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emf"/><Relationship Id="rId3" Type="http://schemas.openxmlformats.org/officeDocument/2006/relationships/oleObject" Target="../embeddings/oleObject236.bin"/><Relationship Id="rId7" Type="http://schemas.openxmlformats.org/officeDocument/2006/relationships/package" Target="../embeddings/Microsoft_Word___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5.vml"/><Relationship Id="rId6" Type="http://schemas.openxmlformats.org/officeDocument/2006/relationships/oleObject" Target="../embeddings/oleObject237.bin"/><Relationship Id="rId5" Type="http://schemas.openxmlformats.org/officeDocument/2006/relationships/image" Target="../media/image204.wmf"/><Relationship Id="rId4" Type="http://schemas.openxmlformats.org/officeDocument/2006/relationships/package" Target="../embeddings/Microsoft_Word___4.docx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6.vml"/><Relationship Id="rId5" Type="http://schemas.openxmlformats.org/officeDocument/2006/relationships/image" Target="../media/image206.emf"/><Relationship Id="rId4" Type="http://schemas.openxmlformats.org/officeDocument/2006/relationships/package" Target="../embeddings/Microsoft_Word___6.docx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7.vml"/><Relationship Id="rId5" Type="http://schemas.openxmlformats.org/officeDocument/2006/relationships/image" Target="../media/image207.emf"/><Relationship Id="rId4" Type="http://schemas.openxmlformats.org/officeDocument/2006/relationships/package" Target="../embeddings/Microsoft_Word___7.docx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2.bin"/><Relationship Id="rId3" Type="http://schemas.openxmlformats.org/officeDocument/2006/relationships/oleObject" Target="../embeddings/oleObject240.bin"/><Relationship Id="rId7" Type="http://schemas.openxmlformats.org/officeDocument/2006/relationships/image" Target="../media/image20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8.vml"/><Relationship Id="rId6" Type="http://schemas.openxmlformats.org/officeDocument/2006/relationships/oleObject" Target="../embeddings/oleObject241.bin"/><Relationship Id="rId5" Type="http://schemas.openxmlformats.org/officeDocument/2006/relationships/image" Target="../media/image208.emf"/><Relationship Id="rId4" Type="http://schemas.openxmlformats.org/officeDocument/2006/relationships/package" Target="../embeddings/Microsoft_Word___8.docx"/><Relationship Id="rId9" Type="http://schemas.openxmlformats.org/officeDocument/2006/relationships/image" Target="../media/image210.wmf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wmf"/><Relationship Id="rId13" Type="http://schemas.openxmlformats.org/officeDocument/2006/relationships/oleObject" Target="../embeddings/oleObject249.bin"/><Relationship Id="rId18" Type="http://schemas.openxmlformats.org/officeDocument/2006/relationships/image" Target="../media/image217.wmf"/><Relationship Id="rId3" Type="http://schemas.openxmlformats.org/officeDocument/2006/relationships/oleObject" Target="../embeddings/oleObject243.bin"/><Relationship Id="rId21" Type="http://schemas.openxmlformats.org/officeDocument/2006/relationships/oleObject" Target="../embeddings/oleObject253.bin"/><Relationship Id="rId7" Type="http://schemas.openxmlformats.org/officeDocument/2006/relationships/oleObject" Target="../embeddings/oleObject245.bin"/><Relationship Id="rId12" Type="http://schemas.openxmlformats.org/officeDocument/2006/relationships/oleObject" Target="../embeddings/oleObject248.bin"/><Relationship Id="rId17" Type="http://schemas.openxmlformats.org/officeDocument/2006/relationships/oleObject" Target="../embeddings/oleObject25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16.wmf"/><Relationship Id="rId20" Type="http://schemas.openxmlformats.org/officeDocument/2006/relationships/image" Target="../media/image138.wmf"/><Relationship Id="rId1" Type="http://schemas.openxmlformats.org/officeDocument/2006/relationships/vmlDrawing" Target="../drawings/vmlDrawing59.vml"/><Relationship Id="rId6" Type="http://schemas.openxmlformats.org/officeDocument/2006/relationships/image" Target="../media/image212.wmf"/><Relationship Id="rId11" Type="http://schemas.openxmlformats.org/officeDocument/2006/relationships/image" Target="../media/image214.wmf"/><Relationship Id="rId5" Type="http://schemas.openxmlformats.org/officeDocument/2006/relationships/oleObject" Target="../embeddings/oleObject244.bin"/><Relationship Id="rId15" Type="http://schemas.openxmlformats.org/officeDocument/2006/relationships/oleObject" Target="../embeddings/oleObject250.bin"/><Relationship Id="rId10" Type="http://schemas.openxmlformats.org/officeDocument/2006/relationships/oleObject" Target="../embeddings/oleObject247.bin"/><Relationship Id="rId19" Type="http://schemas.openxmlformats.org/officeDocument/2006/relationships/oleObject" Target="../embeddings/oleObject252.bin"/><Relationship Id="rId4" Type="http://schemas.openxmlformats.org/officeDocument/2006/relationships/image" Target="../media/image211.wmf"/><Relationship Id="rId9" Type="http://schemas.openxmlformats.org/officeDocument/2006/relationships/oleObject" Target="../embeddings/oleObject246.bin"/><Relationship Id="rId14" Type="http://schemas.openxmlformats.org/officeDocument/2006/relationships/image" Target="../media/image215.wmf"/><Relationship Id="rId22" Type="http://schemas.openxmlformats.org/officeDocument/2006/relationships/image" Target="../media/image218.wm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0.vml"/><Relationship Id="rId5" Type="http://schemas.openxmlformats.org/officeDocument/2006/relationships/image" Target="../media/image219.emf"/><Relationship Id="rId4" Type="http://schemas.openxmlformats.org/officeDocument/2006/relationships/package" Target="../embeddings/Microsoft_Word___9.docx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1.vml"/><Relationship Id="rId5" Type="http://schemas.openxmlformats.org/officeDocument/2006/relationships/image" Target="../media/image220.emf"/><Relationship Id="rId4" Type="http://schemas.openxmlformats.org/officeDocument/2006/relationships/package" Target="../embeddings/Microsoft_Word___10.docx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2.vml"/><Relationship Id="rId4" Type="http://schemas.openxmlformats.org/officeDocument/2006/relationships/image" Target="../media/image221.wm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3.vml"/><Relationship Id="rId4" Type="http://schemas.openxmlformats.org/officeDocument/2006/relationships/image" Target="../media/image222.wmf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3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4.emf"/><Relationship Id="rId3" Type="http://schemas.openxmlformats.org/officeDocument/2006/relationships/oleObject" Target="../embeddings/oleObject258.bin"/><Relationship Id="rId7" Type="http://schemas.openxmlformats.org/officeDocument/2006/relationships/package" Target="../embeddings/Microsoft_Word___1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4.vml"/><Relationship Id="rId6" Type="http://schemas.openxmlformats.org/officeDocument/2006/relationships/oleObject" Target="../embeddings/oleObject259.bin"/><Relationship Id="rId5" Type="http://schemas.openxmlformats.org/officeDocument/2006/relationships/image" Target="../media/image223.emf"/><Relationship Id="rId4" Type="http://schemas.openxmlformats.org/officeDocument/2006/relationships/package" Target="../embeddings/Microsoft_Word___11.docx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5.vml"/><Relationship Id="rId5" Type="http://schemas.openxmlformats.org/officeDocument/2006/relationships/image" Target="../media/image225.emf"/><Relationship Id="rId4" Type="http://schemas.openxmlformats.org/officeDocument/2006/relationships/package" Target="../embeddings/Microsoft_Word___13.docx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6.vml"/><Relationship Id="rId6" Type="http://schemas.openxmlformats.org/officeDocument/2006/relationships/image" Target="../media/image227.wmf"/><Relationship Id="rId5" Type="http://schemas.openxmlformats.org/officeDocument/2006/relationships/oleObject" Target="../embeddings/oleObject262.bin"/><Relationship Id="rId4" Type="http://schemas.openxmlformats.org/officeDocument/2006/relationships/image" Target="../media/image226.wmf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7.vml"/><Relationship Id="rId4" Type="http://schemas.openxmlformats.org/officeDocument/2006/relationships/image" Target="../media/image228.wmf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8.vml"/><Relationship Id="rId4" Type="http://schemas.openxmlformats.org/officeDocument/2006/relationships/image" Target="../media/image229.wmf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9.vml"/><Relationship Id="rId5" Type="http://schemas.openxmlformats.org/officeDocument/2006/relationships/image" Target="../media/image230.wmf"/><Relationship Id="rId4" Type="http://schemas.openxmlformats.org/officeDocument/2006/relationships/oleObject" Target="../embeddings/oleObject265.bin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0.vml"/><Relationship Id="rId4" Type="http://schemas.openxmlformats.org/officeDocument/2006/relationships/image" Target="../media/image231.emf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1.vml"/><Relationship Id="rId4" Type="http://schemas.openxmlformats.org/officeDocument/2006/relationships/image" Target="../media/image232.emf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2.vml"/><Relationship Id="rId5" Type="http://schemas.openxmlformats.org/officeDocument/2006/relationships/image" Target="../media/image233.emf"/><Relationship Id="rId4" Type="http://schemas.openxmlformats.org/officeDocument/2006/relationships/package" Target="../embeddings/Microsoft_Word___14.docx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3.vml"/><Relationship Id="rId5" Type="http://schemas.openxmlformats.org/officeDocument/2006/relationships/image" Target="../media/image234.emf"/><Relationship Id="rId4" Type="http://schemas.openxmlformats.org/officeDocument/2006/relationships/package" Target="../embeddings/Microsoft_Word___15.docx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4.vml"/><Relationship Id="rId4" Type="http://schemas.openxmlformats.org/officeDocument/2006/relationships/image" Target="../media/image235.wmf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wmf"/><Relationship Id="rId13" Type="http://schemas.openxmlformats.org/officeDocument/2006/relationships/oleObject" Target="../embeddings/oleObject277.bin"/><Relationship Id="rId18" Type="http://schemas.openxmlformats.org/officeDocument/2006/relationships/image" Target="../media/image242.wmf"/><Relationship Id="rId3" Type="http://schemas.openxmlformats.org/officeDocument/2006/relationships/oleObject" Target="../embeddings/oleObject271.bin"/><Relationship Id="rId21" Type="http://schemas.openxmlformats.org/officeDocument/2006/relationships/oleObject" Target="../embeddings/oleObject281.bin"/><Relationship Id="rId7" Type="http://schemas.openxmlformats.org/officeDocument/2006/relationships/oleObject" Target="../embeddings/oleObject273.bin"/><Relationship Id="rId12" Type="http://schemas.openxmlformats.org/officeDocument/2006/relationships/oleObject" Target="../embeddings/oleObject276.bin"/><Relationship Id="rId17" Type="http://schemas.openxmlformats.org/officeDocument/2006/relationships/oleObject" Target="../embeddings/oleObject27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41.wmf"/><Relationship Id="rId20" Type="http://schemas.openxmlformats.org/officeDocument/2006/relationships/image" Target="../media/image243.wmf"/><Relationship Id="rId1" Type="http://schemas.openxmlformats.org/officeDocument/2006/relationships/vmlDrawing" Target="../drawings/vmlDrawing75.vml"/><Relationship Id="rId6" Type="http://schemas.openxmlformats.org/officeDocument/2006/relationships/image" Target="../media/image237.wmf"/><Relationship Id="rId11" Type="http://schemas.openxmlformats.org/officeDocument/2006/relationships/oleObject" Target="../embeddings/oleObject275.bin"/><Relationship Id="rId5" Type="http://schemas.openxmlformats.org/officeDocument/2006/relationships/oleObject" Target="../embeddings/oleObject272.bin"/><Relationship Id="rId15" Type="http://schemas.openxmlformats.org/officeDocument/2006/relationships/oleObject" Target="../embeddings/oleObject278.bin"/><Relationship Id="rId10" Type="http://schemas.openxmlformats.org/officeDocument/2006/relationships/image" Target="../media/image239.wmf"/><Relationship Id="rId19" Type="http://schemas.openxmlformats.org/officeDocument/2006/relationships/oleObject" Target="../embeddings/oleObject280.bin"/><Relationship Id="rId4" Type="http://schemas.openxmlformats.org/officeDocument/2006/relationships/image" Target="../media/image236.wmf"/><Relationship Id="rId9" Type="http://schemas.openxmlformats.org/officeDocument/2006/relationships/oleObject" Target="../embeddings/oleObject274.bin"/><Relationship Id="rId14" Type="http://schemas.openxmlformats.org/officeDocument/2006/relationships/image" Target="../media/image240.wmf"/><Relationship Id="rId22" Type="http://schemas.openxmlformats.org/officeDocument/2006/relationships/image" Target="../media/image244.wmf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wmf"/><Relationship Id="rId3" Type="http://schemas.openxmlformats.org/officeDocument/2006/relationships/oleObject" Target="../embeddings/oleObject282.bin"/><Relationship Id="rId7" Type="http://schemas.openxmlformats.org/officeDocument/2006/relationships/oleObject" Target="../embeddings/oleObject28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6.vml"/><Relationship Id="rId6" Type="http://schemas.openxmlformats.org/officeDocument/2006/relationships/image" Target="../media/image246.wmf"/><Relationship Id="rId5" Type="http://schemas.openxmlformats.org/officeDocument/2006/relationships/oleObject" Target="../embeddings/oleObject283.bin"/><Relationship Id="rId4" Type="http://schemas.openxmlformats.org/officeDocument/2006/relationships/image" Target="../media/image245.wmf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7.vml"/><Relationship Id="rId5" Type="http://schemas.openxmlformats.org/officeDocument/2006/relationships/image" Target="../media/image248.emf"/><Relationship Id="rId4" Type="http://schemas.openxmlformats.org/officeDocument/2006/relationships/package" Target="../embeddings/Microsoft_Word___16.docx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9.bin"/><Relationship Id="rId3" Type="http://schemas.openxmlformats.org/officeDocument/2006/relationships/oleObject" Target="../embeddings/oleObject286.bin"/><Relationship Id="rId7" Type="http://schemas.openxmlformats.org/officeDocument/2006/relationships/oleObject" Target="../embeddings/oleObject28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8.vml"/><Relationship Id="rId6" Type="http://schemas.openxmlformats.org/officeDocument/2006/relationships/image" Target="../media/image250.wmf"/><Relationship Id="rId5" Type="http://schemas.openxmlformats.org/officeDocument/2006/relationships/oleObject" Target="../embeddings/oleObject287.bin"/><Relationship Id="rId10" Type="http://schemas.openxmlformats.org/officeDocument/2006/relationships/oleObject" Target="../embeddings/oleObject290.bin"/><Relationship Id="rId4" Type="http://schemas.openxmlformats.org/officeDocument/2006/relationships/image" Target="../media/image249.wmf"/><Relationship Id="rId9" Type="http://schemas.openxmlformats.org/officeDocument/2006/relationships/image" Target="../media/image251.wmf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1.bin"/><Relationship Id="rId7" Type="http://schemas.openxmlformats.org/officeDocument/2006/relationships/image" Target="../media/image25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9.vml"/><Relationship Id="rId6" Type="http://schemas.openxmlformats.org/officeDocument/2006/relationships/package" Target="../embeddings/Microsoft_Word___17.docx"/><Relationship Id="rId5" Type="http://schemas.openxmlformats.org/officeDocument/2006/relationships/oleObject" Target="../embeddings/oleObject292.bin"/><Relationship Id="rId4" Type="http://schemas.openxmlformats.org/officeDocument/2006/relationships/image" Target="../media/image250.wmf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5.bin"/><Relationship Id="rId3" Type="http://schemas.openxmlformats.org/officeDocument/2006/relationships/oleObject" Target="../embeddings/oleObject293.bin"/><Relationship Id="rId7" Type="http://schemas.openxmlformats.org/officeDocument/2006/relationships/image" Target="../media/image25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0.vml"/><Relationship Id="rId6" Type="http://schemas.openxmlformats.org/officeDocument/2006/relationships/oleObject" Target="../embeddings/oleObject294.bin"/><Relationship Id="rId5" Type="http://schemas.openxmlformats.org/officeDocument/2006/relationships/image" Target="../media/image253.emf"/><Relationship Id="rId4" Type="http://schemas.openxmlformats.org/officeDocument/2006/relationships/package" Target="../embeddings/Microsoft_Word___18.docx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1.vml"/><Relationship Id="rId5" Type="http://schemas.openxmlformats.org/officeDocument/2006/relationships/image" Target="../media/image254.emf"/><Relationship Id="rId4" Type="http://schemas.openxmlformats.org/officeDocument/2006/relationships/package" Target="../embeddings/Microsoft_Word___19.docx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2.vml"/><Relationship Id="rId4" Type="http://schemas.openxmlformats.org/officeDocument/2006/relationships/image" Target="../media/image255.wmf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3.vml"/><Relationship Id="rId4" Type="http://schemas.openxmlformats.org/officeDocument/2006/relationships/image" Target="../media/image256.wmf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9.bin"/><Relationship Id="rId7" Type="http://schemas.openxmlformats.org/officeDocument/2006/relationships/image" Target="../media/image258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4.vml"/><Relationship Id="rId6" Type="http://schemas.openxmlformats.org/officeDocument/2006/relationships/package" Target="../embeddings/Microsoft_Word___20.docx"/><Relationship Id="rId5" Type="http://schemas.openxmlformats.org/officeDocument/2006/relationships/oleObject" Target="../embeddings/oleObject300.bin"/><Relationship Id="rId4" Type="http://schemas.openxmlformats.org/officeDocument/2006/relationships/image" Target="../media/image257.wmf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zh-CN" altLang="en-US" dirty="0"/>
              <a:t>四</a:t>
            </a:r>
            <a:r>
              <a:rPr lang="zh-CN" altLang="en-US" dirty="0" smtClean="0"/>
              <a:t>章 群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信息与软件工程学院</a:t>
            </a:r>
            <a:endParaRPr lang="en-US" altLang="zh-CN" dirty="0" smtClean="0"/>
          </a:p>
          <a:p>
            <a:r>
              <a:rPr lang="zh-CN" altLang="en-US" dirty="0" smtClean="0"/>
              <a:t>电子科技大学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内容安排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smtClean="0"/>
              <a:t>4.1  </a:t>
            </a:r>
            <a:r>
              <a:rPr lang="zh-CN" altLang="en-US" b="1" dirty="0" smtClean="0"/>
              <a:t>二元运算</a:t>
            </a:r>
            <a:endParaRPr lang="en-US" altLang="zh-CN" b="1" dirty="0" smtClean="0"/>
          </a:p>
          <a:p>
            <a:r>
              <a:rPr lang="en-US" altLang="zh-CN" b="1" dirty="0" smtClean="0"/>
              <a:t>4.2 </a:t>
            </a:r>
            <a:r>
              <a:rPr lang="zh-CN" altLang="en-US" b="1" dirty="0" smtClean="0"/>
              <a:t>群的定义和简单性质</a:t>
            </a:r>
            <a:endParaRPr lang="en-US" altLang="zh-CN" b="1" dirty="0" smtClean="0"/>
          </a:p>
          <a:p>
            <a:r>
              <a:rPr lang="en-US" altLang="zh-CN" b="1" dirty="0" smtClean="0"/>
              <a:t>4.3 </a:t>
            </a:r>
            <a:r>
              <a:rPr lang="zh-CN" altLang="en-US" b="1" dirty="0" smtClean="0"/>
              <a:t>子群、陪集</a:t>
            </a:r>
            <a:endParaRPr lang="en-US" altLang="zh-CN" b="1" dirty="0" smtClean="0"/>
          </a:p>
          <a:p>
            <a:r>
              <a:rPr lang="en-US" altLang="zh-CN" b="1" dirty="0" smtClean="0"/>
              <a:t>4.4 </a:t>
            </a:r>
            <a:r>
              <a:rPr lang="zh-CN" altLang="en-US" b="1" dirty="0" smtClean="0"/>
              <a:t>正规子群、商群和同态</a:t>
            </a:r>
            <a:endParaRPr lang="en-US" altLang="zh-CN" b="1" dirty="0" smtClean="0"/>
          </a:p>
          <a:p>
            <a:r>
              <a:rPr lang="en-US" altLang="zh-CN" b="1" dirty="0" smtClean="0"/>
              <a:t>4.5 </a:t>
            </a:r>
            <a:r>
              <a:rPr lang="zh-CN" altLang="en-US" b="1" dirty="0" smtClean="0"/>
              <a:t>循环群</a:t>
            </a:r>
            <a:endParaRPr lang="en-US" altLang="zh-CN" b="1" dirty="0" smtClean="0"/>
          </a:p>
          <a:p>
            <a:r>
              <a:rPr lang="en-US" altLang="zh-CN" b="1" dirty="0" smtClean="0"/>
              <a:t>4.6 </a:t>
            </a:r>
            <a:r>
              <a:rPr lang="zh-CN" altLang="en-US" b="1" dirty="0" smtClean="0"/>
              <a:t>置换群</a:t>
            </a:r>
            <a:endParaRPr lang="en-US" altLang="zh-CN" b="1" dirty="0" smtClean="0"/>
          </a:p>
          <a:p>
            <a:r>
              <a:rPr lang="en-US" altLang="zh-CN" b="1" dirty="0" smtClean="0"/>
              <a:t>4.7 </a:t>
            </a:r>
            <a:r>
              <a:rPr lang="zh-CN" altLang="en-US" b="1" dirty="0" smtClean="0"/>
              <a:t>群中的一些常用算法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4.1 </a:t>
            </a:r>
            <a:r>
              <a:rPr lang="zh-CN" altLang="en-US" dirty="0" smtClean="0"/>
              <a:t>二元运算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922520"/>
          </a:xfrm>
        </p:spPr>
        <p:txBody>
          <a:bodyPr>
            <a:normAutofit/>
          </a:bodyPr>
          <a:lstStyle/>
          <a:p>
            <a:r>
              <a:rPr lang="zh-CN" altLang="en-US" b="1" dirty="0" smtClean="0"/>
              <a:t>定义</a:t>
            </a:r>
            <a:r>
              <a:rPr lang="en-US" b="1" dirty="0" smtClean="0"/>
              <a:t>4.1.1 </a:t>
            </a:r>
            <a:r>
              <a:rPr lang="zh-CN" altLang="en-US" b="1" dirty="0" smtClean="0"/>
              <a:t>设</a:t>
            </a:r>
            <a:r>
              <a:rPr lang="en-US" b="1" dirty="0" smtClean="0"/>
              <a:t>A</a:t>
            </a:r>
            <a:r>
              <a:rPr lang="zh-CN" altLang="en-US" b="1" dirty="0" smtClean="0"/>
              <a:t>为集合，一个映射        </a:t>
            </a:r>
            <a:r>
              <a:rPr lang="en-US" altLang="zh-CN" b="1" i="1" dirty="0" smtClean="0"/>
              <a:t>                 </a:t>
            </a:r>
            <a:r>
              <a:rPr lang="zh-CN" altLang="en-US" b="1" dirty="0" smtClean="0"/>
              <a:t>称为集合</a:t>
            </a:r>
            <a:r>
              <a:rPr lang="en-US" b="1" dirty="0" smtClean="0"/>
              <a:t>A</a:t>
            </a:r>
            <a:r>
              <a:rPr lang="zh-CN" altLang="en-US" b="1" dirty="0" smtClean="0"/>
              <a:t>上的</a:t>
            </a:r>
            <a:r>
              <a:rPr lang="zh-CN" altLang="en-US" b="1" dirty="0" smtClean="0">
                <a:solidFill>
                  <a:srgbClr val="FF0000"/>
                </a:solidFill>
              </a:rPr>
              <a:t>代数运算或二元运算</a:t>
            </a:r>
            <a:r>
              <a:rPr lang="zh-CN" altLang="en-US" b="1" dirty="0" smtClean="0"/>
              <a:t>。</a:t>
            </a:r>
          </a:p>
          <a:p>
            <a:r>
              <a:rPr lang="zh-CN" altLang="en-US" b="1" dirty="0" smtClean="0"/>
              <a:t>一个集合</a:t>
            </a:r>
            <a:r>
              <a:rPr lang="en-US" b="1" dirty="0" smtClean="0"/>
              <a:t>A</a:t>
            </a:r>
            <a:r>
              <a:rPr lang="zh-CN" altLang="en-US" b="1" dirty="0" smtClean="0"/>
              <a:t>上的二元运算必须满足以下条件：</a:t>
            </a:r>
          </a:p>
          <a:p>
            <a:pPr lvl="1"/>
            <a:r>
              <a:rPr lang="zh-CN" altLang="en-US" b="1" dirty="0" smtClean="0">
                <a:solidFill>
                  <a:srgbClr val="FF0000"/>
                </a:solidFill>
              </a:rPr>
              <a:t>可运算性</a:t>
            </a:r>
            <a:r>
              <a:rPr lang="zh-CN" altLang="en-US" b="1" dirty="0" smtClean="0"/>
              <a:t>，即</a:t>
            </a:r>
            <a:r>
              <a:rPr lang="en-US" b="1" dirty="0" smtClean="0"/>
              <a:t>A</a:t>
            </a:r>
            <a:r>
              <a:rPr lang="zh-CN" altLang="en-US" b="1" dirty="0" smtClean="0"/>
              <a:t>中的任何两个元素都可以进行这种运算；</a:t>
            </a:r>
          </a:p>
          <a:p>
            <a:pPr lvl="1"/>
            <a:r>
              <a:rPr lang="zh-CN" altLang="en-US" b="1" dirty="0" smtClean="0">
                <a:solidFill>
                  <a:srgbClr val="FF0000"/>
                </a:solidFill>
              </a:rPr>
              <a:t>单值性</a:t>
            </a:r>
            <a:r>
              <a:rPr lang="zh-CN" altLang="en-US" b="1" dirty="0" smtClean="0"/>
              <a:t>，即</a:t>
            </a:r>
            <a:r>
              <a:rPr lang="en-US" b="1" dirty="0" smtClean="0"/>
              <a:t>A</a:t>
            </a:r>
            <a:r>
              <a:rPr lang="zh-CN" altLang="en-US" b="1" dirty="0" smtClean="0"/>
              <a:t>中的任何两个元素的运算结果是惟一的；</a:t>
            </a:r>
          </a:p>
          <a:p>
            <a:pPr lvl="1"/>
            <a:r>
              <a:rPr lang="zh-CN" altLang="en-US" b="1" dirty="0" smtClean="0">
                <a:solidFill>
                  <a:srgbClr val="FF0000"/>
                </a:solidFill>
              </a:rPr>
              <a:t>封闭性</a:t>
            </a:r>
            <a:r>
              <a:rPr lang="zh-CN" altLang="en-US" b="1" dirty="0" smtClean="0"/>
              <a:t>，即</a:t>
            </a:r>
            <a:r>
              <a:rPr lang="en-US" b="1" dirty="0" smtClean="0"/>
              <a:t>A</a:t>
            </a:r>
            <a:r>
              <a:rPr lang="zh-CN" altLang="en-US" b="1" dirty="0" smtClean="0"/>
              <a:t>中的任何两个元素运算的结果都属于</a:t>
            </a:r>
            <a:r>
              <a:rPr lang="en-US" b="1" dirty="0" smtClean="0"/>
              <a:t>A</a:t>
            </a:r>
            <a:r>
              <a:rPr lang="zh-CN" altLang="en-US" b="1" dirty="0" smtClean="0"/>
              <a:t>。</a:t>
            </a:r>
            <a:endParaRPr lang="en-US" altLang="zh-CN" b="1" dirty="0" smtClean="0"/>
          </a:p>
          <a:p>
            <a:r>
              <a:rPr lang="zh-CN" altLang="en-US" b="1" dirty="0" smtClean="0"/>
              <a:t>注：一个代数运算一般可用“。”、“</a:t>
            </a:r>
            <a:r>
              <a:rPr lang="en-US" b="1" dirty="0" smtClean="0"/>
              <a:t>·</a:t>
            </a:r>
            <a:r>
              <a:rPr lang="zh-CN" altLang="en-US" b="1" dirty="0" smtClean="0"/>
              <a:t>”、“</a:t>
            </a:r>
            <a:r>
              <a:rPr lang="en-US" b="1" dirty="0" smtClean="0"/>
              <a:t>+</a:t>
            </a:r>
            <a:r>
              <a:rPr lang="zh-CN" altLang="en-US" b="1" dirty="0" smtClean="0"/>
              <a:t>”、“</a:t>
            </a:r>
            <a:r>
              <a:rPr lang="en-US" b="1" dirty="0" smtClean="0"/>
              <a:t>×</a:t>
            </a:r>
            <a:r>
              <a:rPr lang="zh-CN" altLang="en-US" b="1" dirty="0" smtClean="0"/>
              <a:t>”符号来表示。</a:t>
            </a:r>
            <a:endParaRPr lang="en-US" altLang="zh-CN" b="1" dirty="0" smtClean="0"/>
          </a:p>
          <a:p>
            <a:pPr lvl="1"/>
            <a:r>
              <a:rPr lang="zh-CN" altLang="en-US" b="1" dirty="0" smtClean="0"/>
              <a:t>假设</a:t>
            </a:r>
            <a:r>
              <a:rPr lang="en-US" b="1" dirty="0" smtClean="0"/>
              <a:t> </a:t>
            </a:r>
            <a:r>
              <a:rPr lang="zh-CN" altLang="en-US" b="1" dirty="0" smtClean="0"/>
              <a:t>是集合</a:t>
            </a:r>
            <a:r>
              <a:rPr lang="en-US" b="1" dirty="0" smtClean="0"/>
              <a:t>A</a:t>
            </a:r>
            <a:r>
              <a:rPr lang="zh-CN" altLang="en-US" b="1" dirty="0" smtClean="0"/>
              <a:t>上的一个代数运算                  ，则可写成</a:t>
            </a:r>
            <a:endParaRPr lang="en-US" altLang="zh-CN" b="1" dirty="0" smtClean="0"/>
          </a:p>
          <a:p>
            <a:pPr marL="393192" lvl="1" indent="0">
              <a:buNone/>
            </a:pPr>
            <a:r>
              <a:rPr lang="en-US" altLang="zh-CN" b="1" dirty="0" smtClean="0"/>
              <a:t>                                                       </a:t>
            </a:r>
            <a:r>
              <a:rPr lang="zh-CN" altLang="en-US" b="1" dirty="0" smtClean="0"/>
              <a:t>或简记为</a:t>
            </a:r>
            <a:r>
              <a:rPr lang="en-US" altLang="zh-CN" b="1" dirty="0" smtClean="0"/>
              <a:t>z=</a:t>
            </a:r>
            <a:r>
              <a:rPr lang="en-US" altLang="zh-CN" b="1" dirty="0" err="1" smtClean="0"/>
              <a:t>xy</a:t>
            </a:r>
            <a:r>
              <a:rPr lang="en-US" altLang="zh-CN" b="1" dirty="0" smtClean="0"/>
              <a:t>      </a:t>
            </a:r>
            <a:endParaRPr lang="zh-CN" altLang="en-US" b="1" dirty="0"/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049" name="Object 1"/>
          <p:cNvGraphicFramePr>
            <a:graphicFrameLocks noChangeAspect="1"/>
          </p:cNvGraphicFramePr>
          <p:nvPr/>
        </p:nvGraphicFramePr>
        <p:xfrm>
          <a:off x="5357818" y="2000240"/>
          <a:ext cx="1877800" cy="428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8" name="Equation" r:id="rId3" imgW="888840" imgH="203040" progId="Equation.DSMT4">
                  <p:embed/>
                </p:oleObj>
              </mc:Choice>
              <mc:Fallback>
                <p:oleObj name="Equation" r:id="rId3" imgW="888840" imgH="20304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7818" y="2000240"/>
                        <a:ext cx="1877800" cy="4286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5500694" y="5500702"/>
          <a:ext cx="1275593" cy="3571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9" name="Equation" r:id="rId5" imgW="710891" imgH="203112" progId="Equation.DSMT4">
                  <p:embed/>
                </p:oleObj>
              </mc:Choice>
              <mc:Fallback>
                <p:oleObj name="Equation" r:id="rId5" imgW="710891" imgH="203112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0694" y="5500702"/>
                        <a:ext cx="1275593" cy="3571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053" name="Object 5"/>
          <p:cNvGraphicFramePr>
            <a:graphicFrameLocks noChangeAspect="1"/>
          </p:cNvGraphicFramePr>
          <p:nvPr/>
        </p:nvGraphicFramePr>
        <p:xfrm>
          <a:off x="3714744" y="6000768"/>
          <a:ext cx="1197557" cy="3571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" name="Equation" r:id="rId7" imgW="545626" imgH="164957" progId="Equation.DSMT4">
                  <p:embed/>
                </p:oleObj>
              </mc:Choice>
              <mc:Fallback>
                <p:oleObj name="Equation" r:id="rId7" imgW="545626" imgH="164957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44" y="6000768"/>
                        <a:ext cx="1197557" cy="3571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4.1 </a:t>
            </a:r>
            <a:r>
              <a:rPr lang="zh-CN" altLang="en-US" dirty="0" smtClean="0"/>
              <a:t>二元运算（续）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1922148"/>
          </a:xfrm>
        </p:spPr>
        <p:txBody>
          <a:bodyPr/>
          <a:lstStyle/>
          <a:p>
            <a:r>
              <a:rPr lang="zh-CN" altLang="en-US" b="1" dirty="0" smtClean="0"/>
              <a:t>例</a:t>
            </a:r>
            <a:r>
              <a:rPr lang="en-US" b="1" dirty="0" smtClean="0"/>
              <a:t>4.1.1 </a:t>
            </a:r>
            <a:r>
              <a:rPr lang="zh-CN" altLang="en-US" b="1" dirty="0" smtClean="0"/>
              <a:t>（</a:t>
            </a:r>
            <a:r>
              <a:rPr lang="en-US" b="1" dirty="0" smtClean="0"/>
              <a:t>1</a:t>
            </a:r>
            <a:r>
              <a:rPr lang="zh-CN" altLang="en-US" b="1" dirty="0" smtClean="0"/>
              <a:t>）整数集合</a:t>
            </a:r>
            <a:r>
              <a:rPr lang="en-US" b="1" dirty="0" smtClean="0"/>
              <a:t>Z</a:t>
            </a:r>
            <a:r>
              <a:rPr lang="zh-CN" altLang="en-US" b="1" dirty="0" smtClean="0"/>
              <a:t>上的加法运算是代数运算，满足代数运算的</a:t>
            </a:r>
            <a:r>
              <a:rPr lang="en-US" b="1" dirty="0" smtClean="0"/>
              <a:t>3</a:t>
            </a:r>
            <a:r>
              <a:rPr lang="zh-CN" altLang="en-US" b="1" dirty="0" smtClean="0"/>
              <a:t>个性质。</a:t>
            </a:r>
          </a:p>
          <a:p>
            <a:r>
              <a:rPr lang="zh-CN" altLang="en-US" b="1" dirty="0" smtClean="0"/>
              <a:t>（</a:t>
            </a:r>
            <a:r>
              <a:rPr lang="en-US" b="1" dirty="0" smtClean="0"/>
              <a:t>2</a:t>
            </a:r>
            <a:r>
              <a:rPr lang="zh-CN" altLang="en-US" b="1" dirty="0" smtClean="0"/>
              <a:t>）自然数集合</a:t>
            </a:r>
            <a:r>
              <a:rPr lang="en-US" b="1" dirty="0" smtClean="0"/>
              <a:t>N</a:t>
            </a:r>
            <a:r>
              <a:rPr lang="zh-CN" altLang="en-US" b="1" dirty="0" smtClean="0"/>
              <a:t>上的减法运算不是代数运算，因为它不满足封闭性。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4348" y="3857628"/>
            <a:ext cx="757242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定义</a:t>
            </a:r>
            <a:r>
              <a:rPr lang="en-US" sz="2800" b="1" dirty="0" smtClean="0"/>
              <a:t>4.1.2 </a:t>
            </a:r>
            <a:r>
              <a:rPr lang="zh-CN" altLang="en-US" sz="2800" b="1" dirty="0" smtClean="0"/>
              <a:t>设“</a:t>
            </a:r>
            <a:r>
              <a:rPr lang="en-US" sz="2800" b="1" dirty="0" smtClean="0"/>
              <a:t>。</a:t>
            </a:r>
            <a:r>
              <a:rPr lang="zh-CN" altLang="en-US" sz="2800" b="1" dirty="0" smtClean="0"/>
              <a:t>”是</a:t>
            </a:r>
            <a:r>
              <a:rPr lang="en-US" sz="2800" b="1" dirty="0" smtClean="0"/>
              <a:t>A</a:t>
            </a:r>
            <a:r>
              <a:rPr lang="zh-CN" altLang="en-US" sz="2800" b="1" dirty="0" smtClean="0"/>
              <a:t>上的代数运算，如果对于</a:t>
            </a:r>
            <a:r>
              <a:rPr lang="en-US" sz="2800" b="1" dirty="0" smtClean="0"/>
              <a:t>A</a:t>
            </a:r>
            <a:r>
              <a:rPr lang="zh-CN" altLang="en-US" sz="2800" b="1" dirty="0" smtClean="0"/>
              <a:t>中的任意三个元素</a:t>
            </a:r>
            <a:r>
              <a:rPr lang="en-US" sz="2800" b="1" i="1" dirty="0" smtClean="0"/>
              <a:t> 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sz="2800" b="1" i="1" dirty="0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zh-CN" altLang="en-US" sz="2800" b="1" i="1" dirty="0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zh-CN" altLang="en-US" sz="2800" b="1" dirty="0" smtClean="0"/>
              <a:t>都有</a:t>
            </a:r>
            <a:endParaRPr lang="en-US" altLang="zh-CN" sz="2800" b="1" dirty="0" smtClean="0"/>
          </a:p>
          <a:p>
            <a:endParaRPr lang="en-US" altLang="zh-CN" sz="2800" b="1" dirty="0" smtClean="0"/>
          </a:p>
          <a:p>
            <a:endParaRPr lang="zh-CN" altLang="en-US" sz="2800" b="1" dirty="0" smtClean="0"/>
          </a:p>
          <a:p>
            <a:r>
              <a:rPr lang="zh-CN" altLang="en-US" sz="2800" b="1" dirty="0" smtClean="0"/>
              <a:t>则称“</a:t>
            </a:r>
            <a:r>
              <a:rPr lang="en-US" sz="2800" b="1" dirty="0" smtClean="0"/>
              <a:t>。</a:t>
            </a:r>
            <a:r>
              <a:rPr lang="zh-CN" altLang="en-US" sz="2800" b="1" dirty="0" smtClean="0"/>
              <a:t>”在集合</a:t>
            </a:r>
            <a:r>
              <a:rPr lang="en-US" sz="2800" b="1" dirty="0" smtClean="0"/>
              <a:t>A</a:t>
            </a:r>
            <a:r>
              <a:rPr lang="zh-CN" altLang="en-US" sz="2800" b="1" dirty="0" smtClean="0"/>
              <a:t>上满足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结合律</a:t>
            </a:r>
            <a:r>
              <a:rPr lang="zh-CN" altLang="en-US" sz="2800" b="1" dirty="0" smtClean="0"/>
              <a:t>。</a:t>
            </a:r>
            <a:endParaRPr lang="zh-CN" altLang="en-US" sz="2800" b="1" dirty="0"/>
          </a:p>
        </p:txBody>
      </p:sp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7409" name="Object 1"/>
          <p:cNvGraphicFramePr>
            <a:graphicFrameLocks noChangeAspect="1"/>
          </p:cNvGraphicFramePr>
          <p:nvPr/>
        </p:nvGraphicFramePr>
        <p:xfrm>
          <a:off x="2428860" y="4929198"/>
          <a:ext cx="3619373" cy="57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9" name="Equation" r:id="rId3" imgW="1269449" imgH="203112" progId="Equation.DSMT4">
                  <p:embed/>
                </p:oleObj>
              </mc:Choice>
              <mc:Fallback>
                <p:oleObj name="Equation" r:id="rId3" imgW="1269449" imgH="203112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60" y="4929198"/>
                        <a:ext cx="3619373" cy="57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4.1 </a:t>
            </a:r>
            <a:r>
              <a:rPr lang="zh-CN" altLang="en-US" dirty="0" smtClean="0"/>
              <a:t>二元运算（续）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1922148"/>
          </a:xfrm>
        </p:spPr>
        <p:txBody>
          <a:bodyPr/>
          <a:lstStyle/>
          <a:p>
            <a:pPr>
              <a:buNone/>
            </a:pPr>
            <a:r>
              <a:rPr lang="zh-CN" altLang="en-US" b="1" dirty="0" smtClean="0"/>
              <a:t>定义</a:t>
            </a:r>
            <a:r>
              <a:rPr lang="en-US" b="1" dirty="0" smtClean="0"/>
              <a:t>4.1.3</a:t>
            </a:r>
            <a:r>
              <a:rPr lang="zh-CN" altLang="en-US" b="1" dirty="0" smtClean="0"/>
              <a:t>设“</a:t>
            </a:r>
            <a:r>
              <a:rPr lang="en-US" b="1" dirty="0" smtClean="0"/>
              <a:t> </a:t>
            </a:r>
            <a:r>
              <a:rPr lang="zh-CN" altLang="en-US" b="1" dirty="0" smtClean="0"/>
              <a:t>。”是</a:t>
            </a:r>
            <a:r>
              <a:rPr lang="en-US" b="1" dirty="0" smtClean="0"/>
              <a:t>A</a:t>
            </a:r>
            <a:r>
              <a:rPr lang="zh-CN" altLang="en-US" b="1" dirty="0" smtClean="0"/>
              <a:t>上的代数运算，如果对于</a:t>
            </a:r>
            <a:r>
              <a:rPr lang="en-US" b="1" dirty="0" smtClean="0"/>
              <a:t>A</a:t>
            </a:r>
            <a:r>
              <a:rPr lang="zh-CN" altLang="en-US" b="1" dirty="0" smtClean="0"/>
              <a:t>中的任意两个元素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sz="2400" b="1" i="1" dirty="0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zh-CN" altLang="en-US" sz="2400" b="1" i="1" dirty="0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zh-CN" altLang="en-US" b="1" dirty="0" smtClean="0"/>
              <a:t>都有</a:t>
            </a:r>
            <a:endParaRPr lang="en-US" altLang="zh-CN" b="1" dirty="0" smtClean="0"/>
          </a:p>
          <a:p>
            <a:pPr>
              <a:buNone/>
            </a:pPr>
            <a:endParaRPr lang="zh-CN" altLang="en-US" b="1" dirty="0" smtClean="0"/>
          </a:p>
          <a:p>
            <a:pPr>
              <a:buNone/>
            </a:pPr>
            <a:r>
              <a:rPr lang="zh-CN" altLang="en-US" b="1" dirty="0" smtClean="0"/>
              <a:t>则称“</a:t>
            </a:r>
            <a:r>
              <a:rPr lang="en-US" b="1" dirty="0" smtClean="0"/>
              <a:t> </a:t>
            </a:r>
            <a:r>
              <a:rPr lang="zh-CN" altLang="en-US" b="1" dirty="0" smtClean="0"/>
              <a:t>。”在集合</a:t>
            </a:r>
            <a:r>
              <a:rPr lang="en-US" b="1" dirty="0" smtClean="0"/>
              <a:t>A</a:t>
            </a:r>
            <a:r>
              <a:rPr lang="zh-CN" altLang="en-US" b="1" dirty="0" smtClean="0"/>
              <a:t>上满足</a:t>
            </a:r>
            <a:r>
              <a:rPr lang="zh-CN" altLang="en-US" b="1" dirty="0" smtClean="0">
                <a:solidFill>
                  <a:srgbClr val="FF0000"/>
                </a:solidFill>
              </a:rPr>
              <a:t>交换律</a:t>
            </a:r>
            <a:r>
              <a:rPr lang="zh-CN" altLang="en-US" b="1" dirty="0" smtClean="0"/>
              <a:t>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472" y="4572008"/>
            <a:ext cx="75724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例</a:t>
            </a:r>
            <a:r>
              <a:rPr lang="en-US" sz="2800" b="1" dirty="0" smtClean="0"/>
              <a:t>4.1.2 </a:t>
            </a:r>
            <a:r>
              <a:rPr lang="zh-CN" altLang="en-US" sz="2800" b="1" dirty="0" smtClean="0"/>
              <a:t>整数集合</a:t>
            </a:r>
            <a:r>
              <a:rPr lang="en-US" sz="2800" b="1" dirty="0" smtClean="0"/>
              <a:t>Z</a:t>
            </a:r>
            <a:r>
              <a:rPr lang="zh-CN" altLang="en-US" sz="2800" b="1" dirty="0" smtClean="0"/>
              <a:t>上的加法运算满足结合律和交换律，同样，整数集合</a:t>
            </a:r>
            <a:r>
              <a:rPr lang="en-US" sz="2800" b="1" dirty="0" smtClean="0"/>
              <a:t>Z</a:t>
            </a:r>
            <a:r>
              <a:rPr lang="zh-CN" altLang="en-US" sz="2800" b="1" dirty="0" smtClean="0"/>
              <a:t>上的乘法运算也满足结合律和交换律。</a:t>
            </a:r>
            <a:endParaRPr lang="zh-CN" altLang="en-US" sz="2800" b="1" dirty="0"/>
          </a:p>
        </p:txBody>
      </p:sp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2643174" y="2714620"/>
          <a:ext cx="2255842" cy="57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6" name="Equation" r:id="rId3" imgW="710891" imgH="177723" progId="Equation.DSMT4">
                  <p:embed/>
                </p:oleObj>
              </mc:Choice>
              <mc:Fallback>
                <p:oleObj name="Equation" r:id="rId3" imgW="710891" imgH="177723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74" y="2714620"/>
                        <a:ext cx="2255842" cy="57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4.1 </a:t>
            </a:r>
            <a:r>
              <a:rPr lang="zh-CN" altLang="en-US" dirty="0" smtClean="0"/>
              <a:t>二元运算（续）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35480"/>
            <a:ext cx="8329642" cy="2850842"/>
          </a:xfrm>
        </p:spPr>
        <p:txBody>
          <a:bodyPr>
            <a:noAutofit/>
          </a:bodyPr>
          <a:lstStyle/>
          <a:p>
            <a:r>
              <a:rPr lang="zh-CN" altLang="en-US" sz="2800" b="1" dirty="0" smtClean="0"/>
              <a:t>定义</a:t>
            </a:r>
            <a:r>
              <a:rPr lang="en-US" sz="2800" b="1" dirty="0" smtClean="0"/>
              <a:t>4.1.4</a:t>
            </a:r>
            <a:r>
              <a:rPr lang="zh-CN" altLang="en-US" sz="2800" b="1" dirty="0" smtClean="0"/>
              <a:t>设“</a:t>
            </a:r>
            <a:r>
              <a:rPr lang="en-US" sz="2800" b="1" dirty="0" smtClean="0"/>
              <a:t> </a:t>
            </a:r>
            <a:r>
              <a:rPr lang="zh-CN" altLang="en-US" sz="2800" b="1" dirty="0" smtClean="0"/>
              <a:t>。”和“</a:t>
            </a:r>
            <a:r>
              <a:rPr lang="en-US" sz="2800" b="1" dirty="0" smtClean="0"/>
              <a:t>+</a:t>
            </a:r>
            <a:r>
              <a:rPr lang="zh-CN" altLang="en-US" sz="2800" b="1" dirty="0" smtClean="0"/>
              <a:t>”是</a:t>
            </a:r>
            <a:r>
              <a:rPr lang="en-US" sz="2800" b="1" dirty="0" smtClean="0"/>
              <a:t>A</a:t>
            </a:r>
            <a:r>
              <a:rPr lang="zh-CN" altLang="en-US" sz="2800" b="1" dirty="0" smtClean="0"/>
              <a:t>上的两个代数运算，如果对于</a:t>
            </a:r>
            <a:r>
              <a:rPr lang="en-US" sz="2800" b="1" dirty="0" smtClean="0"/>
              <a:t>A</a:t>
            </a:r>
            <a:r>
              <a:rPr lang="zh-CN" altLang="en-US" sz="2800" b="1" dirty="0" smtClean="0"/>
              <a:t>中的任意三个元素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sz="2800" b="1" i="1" dirty="0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zh-CN" altLang="en-US" sz="2800" b="1" i="1" dirty="0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zh-CN" altLang="en-US" sz="2800" b="1" dirty="0" smtClean="0"/>
              <a:t>都有</a:t>
            </a:r>
            <a:endParaRPr lang="en-US" altLang="zh-CN" sz="2800" b="1" dirty="0" smtClean="0"/>
          </a:p>
          <a:p>
            <a:endParaRPr lang="en-US" altLang="zh-CN" sz="2800" b="1" dirty="0" smtClean="0"/>
          </a:p>
          <a:p>
            <a:endParaRPr lang="en-US" altLang="zh-CN" sz="2800" b="1" dirty="0" smtClean="0"/>
          </a:p>
          <a:p>
            <a:endParaRPr lang="zh-CN" altLang="en-US" sz="2800" b="1" dirty="0" smtClean="0"/>
          </a:p>
          <a:p>
            <a:r>
              <a:rPr lang="zh-CN" altLang="en-US" sz="2800" b="1" dirty="0" smtClean="0"/>
              <a:t>则称“。</a:t>
            </a:r>
            <a:r>
              <a:rPr lang="en-US" sz="2800" b="1" dirty="0" smtClean="0"/>
              <a:t> </a:t>
            </a:r>
            <a:r>
              <a:rPr lang="zh-CN" altLang="en-US" sz="2800" b="1" dirty="0" smtClean="0"/>
              <a:t>”对“</a:t>
            </a:r>
            <a:r>
              <a:rPr lang="en-US" sz="2800" b="1" dirty="0" smtClean="0"/>
              <a:t>+</a:t>
            </a:r>
            <a:r>
              <a:rPr lang="zh-CN" altLang="en-US" sz="2800" b="1" dirty="0" smtClean="0"/>
              <a:t>”在集合</a:t>
            </a:r>
            <a:r>
              <a:rPr lang="en-US" sz="2800" b="1" dirty="0" smtClean="0"/>
              <a:t>A</a:t>
            </a:r>
            <a:r>
              <a:rPr lang="zh-CN" altLang="en-US" sz="2800" b="1" dirty="0" smtClean="0"/>
              <a:t>上满足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分配律</a:t>
            </a:r>
            <a:r>
              <a:rPr lang="zh-CN" altLang="en-US" sz="2800" b="1" dirty="0" smtClean="0"/>
              <a:t>。</a:t>
            </a:r>
            <a:endParaRPr lang="zh-CN" altLang="en-US" sz="2800" b="1" dirty="0"/>
          </a:p>
        </p:txBody>
      </p:sp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2428860" y="2928958"/>
          <a:ext cx="3524106" cy="500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0" name="Equation" r:id="rId3" imgW="1409088" imgH="203112" progId="Equation.DSMT4">
                  <p:embed/>
                </p:oleObj>
              </mc:Choice>
              <mc:Fallback>
                <p:oleObj name="Equation" r:id="rId3" imgW="1409088" imgH="203112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60" y="2928958"/>
                        <a:ext cx="3524106" cy="5000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9461" name="Object 5"/>
          <p:cNvGraphicFramePr>
            <a:graphicFrameLocks noChangeAspect="1"/>
          </p:cNvGraphicFramePr>
          <p:nvPr/>
        </p:nvGraphicFramePr>
        <p:xfrm>
          <a:off x="2428860" y="3643314"/>
          <a:ext cx="3524106" cy="500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1" name="Equation" r:id="rId5" imgW="1409088" imgH="203112" progId="Equation.DSMT4">
                  <p:embed/>
                </p:oleObj>
              </mc:Choice>
              <mc:Fallback>
                <p:oleObj name="Equation" r:id="rId5" imgW="1409088" imgH="203112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60" y="3643314"/>
                        <a:ext cx="3524106" cy="5000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428596" y="5357826"/>
            <a:ext cx="842968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/>
              <a:t>例</a:t>
            </a:r>
            <a:r>
              <a:rPr lang="en-US" sz="2800" b="1" dirty="0" smtClean="0"/>
              <a:t>4.1.3 </a:t>
            </a:r>
            <a:r>
              <a:rPr lang="zh-CN" altLang="en-US" sz="2800" b="1" dirty="0" smtClean="0"/>
              <a:t>整数集合</a:t>
            </a:r>
            <a:r>
              <a:rPr lang="en-US" sz="2800" b="1" dirty="0" smtClean="0"/>
              <a:t>Z</a:t>
            </a:r>
            <a:r>
              <a:rPr lang="zh-CN" altLang="en-US" sz="2800" b="1" dirty="0" smtClean="0"/>
              <a:t>上的乘法对加法满足分配律，而加法对乘法不满足分配律。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400">
                <a:ea typeface="宋体" panose="02010600030101010101" pitchFamily="2" charset="-122"/>
              </a:rPr>
              <a:t>       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78180" name="Object 4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414375637"/>
              </p:ext>
            </p:extLst>
          </p:nvPr>
        </p:nvGraphicFramePr>
        <p:xfrm>
          <a:off x="293687" y="1214810"/>
          <a:ext cx="8480425" cy="5176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772" name="文档" r:id="rId3" imgW="2931316" imgH="1788822" progId="Word.Document.8">
                  <p:embed/>
                </p:oleObj>
              </mc:Choice>
              <mc:Fallback>
                <p:oleObj name="文档" r:id="rId3" imgW="2931316" imgH="178882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687" y="1214810"/>
                        <a:ext cx="8480425" cy="5176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300824" y="188640"/>
            <a:ext cx="8229600" cy="1143000"/>
          </a:xfrm>
        </p:spPr>
        <p:txBody>
          <a:bodyPr/>
          <a:lstStyle/>
          <a:p>
            <a:r>
              <a:rPr lang="en-US" altLang="zh-CN" dirty="0" smtClean="0"/>
              <a:t>4.1 </a:t>
            </a:r>
            <a:r>
              <a:rPr lang="zh-CN" altLang="en-US" dirty="0" smtClean="0"/>
              <a:t>二元运算（续）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93954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8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400">
                <a:ea typeface="宋体" panose="02010600030101010101" pitchFamily="2" charset="-122"/>
              </a:rPr>
              <a:t>       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80228" name="Object 4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76225" y="995363"/>
          <a:ext cx="8562975" cy="487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796" name="文档" r:id="rId3" imgW="3113064" imgH="1773330" progId="Word.Document.8">
                  <p:embed/>
                </p:oleObj>
              </mc:Choice>
              <mc:Fallback>
                <p:oleObj name="文档" r:id="rId3" imgW="3113064" imgH="177333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225" y="995363"/>
                        <a:ext cx="8562975" cy="487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标题 1"/>
          <p:cNvSpPr txBox="1">
            <a:spLocks/>
          </p:cNvSpPr>
          <p:nvPr/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mtClean="0"/>
              <a:t>4.1 </a:t>
            </a:r>
            <a:r>
              <a:rPr lang="zh-CN" altLang="en-US" smtClean="0"/>
              <a:t>二元运算（续）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52130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400">
                <a:ea typeface="宋体" panose="02010600030101010101" pitchFamily="2" charset="-122"/>
              </a:rPr>
              <a:t>       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84324" name="Object 4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15913" y="1065213"/>
          <a:ext cx="8459787" cy="529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20" name="文档" r:id="rId3" imgW="3010337" imgH="1884659" progId="Word.Document.8">
                  <p:embed/>
                </p:oleObj>
              </mc:Choice>
              <mc:Fallback>
                <p:oleObj name="文档" r:id="rId3" imgW="3010337" imgH="188465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913" y="1065213"/>
                        <a:ext cx="8459787" cy="529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-323"/>
            <a:ext cx="8229600" cy="1143000"/>
          </a:xfrm>
        </p:spPr>
        <p:txBody>
          <a:bodyPr/>
          <a:lstStyle/>
          <a:p>
            <a:r>
              <a:rPr lang="en-US" altLang="zh-CN" dirty="0" smtClean="0"/>
              <a:t>4.1 </a:t>
            </a:r>
            <a:r>
              <a:rPr lang="zh-CN" altLang="en-US" dirty="0" smtClean="0"/>
              <a:t>二元运算（续）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70719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57166"/>
            <a:ext cx="8229600" cy="1143000"/>
          </a:xfrm>
        </p:spPr>
        <p:txBody>
          <a:bodyPr/>
          <a:lstStyle/>
          <a:p>
            <a:r>
              <a:rPr lang="en-US" altLang="zh-CN" dirty="0" smtClean="0"/>
              <a:t>4.2 </a:t>
            </a:r>
            <a:r>
              <a:rPr lang="zh-CN" altLang="en-US" dirty="0" smtClean="0"/>
              <a:t>群的定义和简单性质</a:t>
            </a:r>
            <a:endParaRPr lang="zh-CN" altLang="en-US" dirty="0"/>
          </a:p>
        </p:txBody>
      </p:sp>
      <p:graphicFrame>
        <p:nvGraphicFramePr>
          <p:cNvPr id="4" name="Object 15"/>
          <p:cNvGraphicFramePr>
            <a:graphicFrameLocks noChangeAspect="1"/>
          </p:cNvGraphicFramePr>
          <p:nvPr/>
        </p:nvGraphicFramePr>
        <p:xfrm>
          <a:off x="3419475" y="2968648"/>
          <a:ext cx="2160588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2" name="Equation" r:id="rId3" imgW="660113" imgH="165028" progId="Equation.DSMT4">
                  <p:embed/>
                </p:oleObj>
              </mc:Choice>
              <mc:Fallback>
                <p:oleObj name="Equation" r:id="rId3" imgW="660113" imgH="165028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2968648"/>
                        <a:ext cx="2160588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4"/>
          <p:cNvGraphicFramePr>
            <a:graphicFrameLocks noChangeAspect="1"/>
          </p:cNvGraphicFramePr>
          <p:nvPr/>
        </p:nvGraphicFramePr>
        <p:xfrm>
          <a:off x="3419475" y="3489348"/>
          <a:ext cx="4176713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3" name="Equation" r:id="rId5" imgW="1129810" imgH="177723" progId="Equation.DSMT4">
                  <p:embed/>
                </p:oleObj>
              </mc:Choice>
              <mc:Fallback>
                <p:oleObj name="Equation" r:id="rId5" imgW="1129810" imgH="177723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3489348"/>
                        <a:ext cx="4176713" cy="646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1"/>
          <p:cNvGraphicFramePr>
            <a:graphicFrameLocks noChangeAspect="1"/>
          </p:cNvGraphicFramePr>
          <p:nvPr/>
        </p:nvGraphicFramePr>
        <p:xfrm>
          <a:off x="4786314" y="4143380"/>
          <a:ext cx="13684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4" name="Equation" r:id="rId7" imgW="457002" imgH="165028" progId="Equation.DSMT4">
                  <p:embed/>
                </p:oleObj>
              </mc:Choice>
              <mc:Fallback>
                <p:oleObj name="Equation" r:id="rId7" imgW="457002" imgH="165028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6314" y="4143380"/>
                        <a:ext cx="1368425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"/>
          <p:cNvGraphicFramePr>
            <a:graphicFrameLocks noChangeAspect="1"/>
          </p:cNvGraphicFramePr>
          <p:nvPr/>
        </p:nvGraphicFramePr>
        <p:xfrm>
          <a:off x="6078538" y="4143380"/>
          <a:ext cx="306546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5" name="Equation" r:id="rId9" imgW="927000" imgH="139680" progId="Equation.DSMT4">
                  <p:embed/>
                </p:oleObj>
              </mc:Choice>
              <mc:Fallback>
                <p:oleObj name="Equation" r:id="rId9" imgW="927000" imgH="13968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8538" y="4143380"/>
                        <a:ext cx="3065462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323850" y="5345135"/>
          <a:ext cx="1512888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6" name="Equation" r:id="rId11" imgW="444307" imgH="190417" progId="Equation.DSMT4">
                  <p:embed/>
                </p:oleObj>
              </mc:Choice>
              <mc:Fallback>
                <p:oleObj name="Equation" r:id="rId11" imgW="444307" imgH="190417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5345135"/>
                        <a:ext cx="1512888" cy="652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/>
        </p:nvGraphicFramePr>
        <p:xfrm>
          <a:off x="3357554" y="5214950"/>
          <a:ext cx="4559300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7" name="Equation" r:id="rId13" imgW="1155600" imgH="203040" progId="Equation.DSMT4">
                  <p:embed/>
                </p:oleObj>
              </mc:Choice>
              <mc:Fallback>
                <p:oleObj name="Equation" r:id="rId13" imgW="1155600" imgH="2030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7554" y="5214950"/>
                        <a:ext cx="4559300" cy="798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1"/>
          <p:cNvSpPr>
            <a:spLocks noChangeArrowheads="1"/>
          </p:cNvSpPr>
          <p:nvPr/>
        </p:nvSpPr>
        <p:spPr bwMode="auto">
          <a:xfrm>
            <a:off x="5580063" y="2895623"/>
            <a:ext cx="58737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3200" b="1">
                <a:latin typeface="宋体" pitchFamily="2" charset="-122"/>
                <a:cs typeface="Times New Roman" pitchFamily="18" charset="0"/>
              </a:rPr>
              <a:t>有</a:t>
            </a:r>
            <a:endParaRPr lang="zh-CN" altLang="en-US" sz="3200" b="1">
              <a:latin typeface="宋体" pitchFamily="2" charset="-122"/>
            </a:endParaRPr>
          </a:p>
        </p:txBody>
      </p:sp>
      <p:sp>
        <p:nvSpPr>
          <p:cNvPr id="11" name="Rectangle 28"/>
          <p:cNvSpPr>
            <a:spLocks noChangeArrowheads="1"/>
          </p:cNvSpPr>
          <p:nvPr/>
        </p:nvSpPr>
        <p:spPr bwMode="auto">
          <a:xfrm>
            <a:off x="6011863" y="4695848"/>
            <a:ext cx="1831248" cy="586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r>
              <a:rPr lang="en-US" altLang="zh-CN" sz="3200" b="1" dirty="0">
                <a:latin typeface="宋体" pitchFamily="2" charset="-122"/>
                <a:cs typeface="Times New Roman" pitchFamily="18" charset="0"/>
              </a:rPr>
              <a:t>, </a:t>
            </a:r>
            <a:r>
              <a:rPr lang="zh-CN" altLang="en-US" sz="3200" b="1" dirty="0" smtClean="0">
                <a:latin typeface="宋体" pitchFamily="2" charset="-122"/>
                <a:cs typeface="Times New Roman" pitchFamily="18" charset="0"/>
              </a:rPr>
              <a:t>有</a:t>
            </a:r>
            <a:r>
              <a:rPr lang="zh-CN" altLang="en-US" sz="3200" b="1" dirty="0" smtClean="0">
                <a:solidFill>
                  <a:srgbClr val="FF0000"/>
                </a:solidFill>
                <a:latin typeface="宋体" pitchFamily="2" charset="-122"/>
                <a:cs typeface="Times New Roman" pitchFamily="18" charset="0"/>
              </a:rPr>
              <a:t>逆元</a:t>
            </a:r>
            <a:endParaRPr lang="zh-CN" altLang="en-US" sz="3200" b="1" dirty="0">
              <a:solidFill>
                <a:srgbClr val="FF0000"/>
              </a:solidFill>
              <a:latin typeface="宋体" pitchFamily="2" charset="-122"/>
            </a:endParaRPr>
          </a:p>
        </p:txBody>
      </p:sp>
      <p:sp>
        <p:nvSpPr>
          <p:cNvPr id="12" name="Rectangle 29"/>
          <p:cNvSpPr>
            <a:spLocks noChangeArrowheads="1"/>
          </p:cNvSpPr>
          <p:nvPr/>
        </p:nvSpPr>
        <p:spPr bwMode="auto">
          <a:xfrm>
            <a:off x="1835150" y="5416573"/>
            <a:ext cx="167322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r>
              <a:rPr lang="en-US" altLang="zh-CN" sz="3200" b="1">
                <a:latin typeface="宋体" pitchFamily="2" charset="-122"/>
                <a:cs typeface="Times New Roman" pitchFamily="18" charset="0"/>
              </a:rPr>
              <a:t>, </a:t>
            </a:r>
            <a:r>
              <a:rPr lang="zh-CN" altLang="en-US" sz="3200" b="1">
                <a:latin typeface="宋体" pitchFamily="2" charset="-122"/>
                <a:cs typeface="Times New Roman" pitchFamily="18" charset="0"/>
              </a:rPr>
              <a:t>使得</a:t>
            </a:r>
            <a:endParaRPr lang="zh-CN" altLang="en-US" sz="3200" b="1">
              <a:latin typeface="宋体" pitchFamily="2" charset="-122"/>
            </a:endParaRPr>
          </a:p>
        </p:txBody>
      </p:sp>
      <p:grpSp>
        <p:nvGrpSpPr>
          <p:cNvPr id="13" name="Group 40"/>
          <p:cNvGrpSpPr>
            <a:grpSpLocks/>
          </p:cNvGrpSpPr>
          <p:nvPr/>
        </p:nvGrpSpPr>
        <p:grpSpPr bwMode="auto">
          <a:xfrm>
            <a:off x="500034" y="6072206"/>
            <a:ext cx="4824412" cy="579437"/>
            <a:chOff x="567" y="3203"/>
            <a:chExt cx="3039" cy="365"/>
          </a:xfrm>
        </p:grpSpPr>
        <p:graphicFrame>
          <p:nvGraphicFramePr>
            <p:cNvPr id="14" name="Object 4"/>
            <p:cNvGraphicFramePr>
              <a:graphicFrameLocks noChangeAspect="1"/>
            </p:cNvGraphicFramePr>
            <p:nvPr/>
          </p:nvGraphicFramePr>
          <p:xfrm>
            <a:off x="3379" y="3294"/>
            <a:ext cx="227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08" name="Equation" r:id="rId15" imgW="101512" imgH="101512" progId="Equation.DSMT4">
                    <p:embed/>
                  </p:oleObj>
                </mc:Choice>
                <mc:Fallback>
                  <p:oleObj name="Equation" r:id="rId15" imgW="101512" imgH="101512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9" y="3294"/>
                          <a:ext cx="227" cy="2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5" name="Group 39"/>
            <p:cNvGrpSpPr>
              <a:grpSpLocks/>
            </p:cNvGrpSpPr>
            <p:nvPr/>
          </p:nvGrpSpPr>
          <p:grpSpPr bwMode="auto">
            <a:xfrm>
              <a:off x="567" y="3203"/>
              <a:ext cx="2822" cy="365"/>
              <a:chOff x="567" y="3203"/>
              <a:chExt cx="2822" cy="365"/>
            </a:xfrm>
          </p:grpSpPr>
          <p:graphicFrame>
            <p:nvGraphicFramePr>
              <p:cNvPr id="16" name="Object 5"/>
              <p:cNvGraphicFramePr>
                <a:graphicFrameLocks noChangeAspect="1"/>
              </p:cNvGraphicFramePr>
              <p:nvPr/>
            </p:nvGraphicFramePr>
            <p:xfrm>
              <a:off x="1338" y="3249"/>
              <a:ext cx="285" cy="3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909" name="Equation" r:id="rId17" imgW="139639" imgH="152334" progId="Equation.DSMT4">
                      <p:embed/>
                    </p:oleObj>
                  </mc:Choice>
                  <mc:Fallback>
                    <p:oleObj name="Equation" r:id="rId17" imgW="139639" imgH="152334" progId="Equation.DSMT4">
                      <p:embed/>
                      <p:pic>
                        <p:nvPicPr>
                          <p:cNvPr id="0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38" y="3249"/>
                            <a:ext cx="285" cy="31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" name="Rectangle 30"/>
              <p:cNvSpPr>
                <a:spLocks noChangeArrowheads="1"/>
              </p:cNvSpPr>
              <p:nvPr/>
            </p:nvSpPr>
            <p:spPr bwMode="auto">
              <a:xfrm>
                <a:off x="567" y="3203"/>
                <a:ext cx="816" cy="3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90000" tIns="46800" rIns="90000" bIns="46800" anchor="ctr">
                <a:spAutoFit/>
              </a:bodyPr>
              <a:lstStyle/>
              <a:p>
                <a:pPr indent="266700"/>
                <a:r>
                  <a:rPr lang="zh-CN" altLang="en-US" sz="3200" b="1">
                    <a:latin typeface="宋体" pitchFamily="2" charset="-122"/>
                    <a:cs typeface="Times New Roman" pitchFamily="18" charset="0"/>
                  </a:rPr>
                  <a:t>则称</a:t>
                </a:r>
                <a:endParaRPr lang="zh-CN" altLang="en-US" sz="3200" b="1">
                  <a:latin typeface="宋体" pitchFamily="2" charset="-122"/>
                </a:endParaRPr>
              </a:p>
            </p:txBody>
          </p:sp>
          <p:sp>
            <p:nvSpPr>
              <p:cNvPr id="18" name="Rectangle 31"/>
              <p:cNvSpPr>
                <a:spLocks noChangeArrowheads="1"/>
              </p:cNvSpPr>
              <p:nvPr/>
            </p:nvSpPr>
            <p:spPr bwMode="auto">
              <a:xfrm>
                <a:off x="1565" y="3203"/>
                <a:ext cx="1824" cy="3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r>
                  <a:rPr lang="zh-CN" altLang="en-US" sz="3200" b="1" dirty="0">
                    <a:latin typeface="宋体" pitchFamily="2" charset="-122"/>
                    <a:cs typeface="Times New Roman" pitchFamily="18" charset="0"/>
                  </a:rPr>
                  <a:t>关于代数运算</a:t>
                </a:r>
                <a:endParaRPr lang="zh-CN" altLang="en-US" sz="3200" b="1" dirty="0">
                  <a:latin typeface="宋体" pitchFamily="2" charset="-122"/>
                </a:endParaRPr>
              </a:p>
            </p:txBody>
          </p:sp>
        </p:grpSp>
      </p:grpSp>
      <p:sp>
        <p:nvSpPr>
          <p:cNvPr id="19" name="Rectangle 32"/>
          <p:cNvSpPr>
            <a:spLocks noChangeArrowheads="1"/>
          </p:cNvSpPr>
          <p:nvPr/>
        </p:nvSpPr>
        <p:spPr bwMode="auto">
          <a:xfrm>
            <a:off x="5500694" y="6072206"/>
            <a:ext cx="2448404" cy="586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3200" b="1" dirty="0" smtClean="0">
                <a:latin typeface="宋体" pitchFamily="2" charset="-122"/>
                <a:cs typeface="Times New Roman" pitchFamily="18" charset="0"/>
              </a:rPr>
              <a:t>构成</a:t>
            </a:r>
            <a:r>
              <a:rPr lang="zh-CN" altLang="en-US" sz="3200" b="1" dirty="0">
                <a:latin typeface="宋体" pitchFamily="2" charset="-122"/>
                <a:cs typeface="Times New Roman" pitchFamily="18" charset="0"/>
              </a:rPr>
              <a:t>一个</a:t>
            </a:r>
            <a:r>
              <a:rPr lang="zh-CN" altLang="en-US" sz="3200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群</a:t>
            </a:r>
            <a:r>
              <a:rPr lang="en-US" altLang="zh-CN" sz="3200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.</a:t>
            </a:r>
            <a:endParaRPr lang="en-US" altLang="zh-CN" sz="3200" b="1" dirty="0">
              <a:latin typeface="宋体" pitchFamily="2" charset="-122"/>
            </a:endParaRPr>
          </a:p>
        </p:txBody>
      </p:sp>
      <p:sp>
        <p:nvSpPr>
          <p:cNvPr id="20" name="Rectangle 33"/>
          <p:cNvSpPr>
            <a:spLocks noChangeArrowheads="1"/>
          </p:cNvSpPr>
          <p:nvPr/>
        </p:nvSpPr>
        <p:spPr bwMode="auto">
          <a:xfrm>
            <a:off x="755650" y="2895623"/>
            <a:ext cx="22860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3200" b="1" dirty="0"/>
              <a:t> Ⅰ. </a:t>
            </a:r>
            <a:r>
              <a:rPr lang="zh-CN" altLang="en-US" sz="3200" b="1" dirty="0">
                <a:solidFill>
                  <a:srgbClr val="FF0000"/>
                </a:solidFill>
              </a:rPr>
              <a:t>结合律</a:t>
            </a:r>
            <a:r>
              <a:rPr lang="en-US" altLang="zh-CN" sz="3200" b="1" dirty="0"/>
              <a:t>:</a:t>
            </a:r>
          </a:p>
        </p:txBody>
      </p:sp>
      <p:sp>
        <p:nvSpPr>
          <p:cNvPr id="21" name="Rectangle 34"/>
          <p:cNvSpPr>
            <a:spLocks noChangeArrowheads="1"/>
          </p:cNvSpPr>
          <p:nvPr/>
        </p:nvSpPr>
        <p:spPr bwMode="auto">
          <a:xfrm>
            <a:off x="323850" y="2247923"/>
            <a:ext cx="201771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en-US" sz="3200" b="1">
                <a:latin typeface="宋体" pitchFamily="2" charset="-122"/>
                <a:cs typeface="Times New Roman" pitchFamily="18" charset="0"/>
              </a:rPr>
              <a:t>并且满足</a:t>
            </a:r>
            <a:r>
              <a:rPr lang="en-US" altLang="zh-CN" sz="3200" b="1">
                <a:latin typeface="宋体" pitchFamily="2" charset="-122"/>
                <a:cs typeface="Times New Roman" pitchFamily="18" charset="0"/>
              </a:rPr>
              <a:t>:</a:t>
            </a:r>
            <a:endParaRPr lang="en-US" altLang="zh-CN" sz="3200" b="1">
              <a:latin typeface="宋体" pitchFamily="2" charset="-122"/>
            </a:endParaRPr>
          </a:p>
        </p:txBody>
      </p:sp>
      <p:grpSp>
        <p:nvGrpSpPr>
          <p:cNvPr id="22" name="Group 44"/>
          <p:cNvGrpSpPr>
            <a:grpSpLocks/>
          </p:cNvGrpSpPr>
          <p:nvPr/>
        </p:nvGrpSpPr>
        <p:grpSpPr bwMode="auto">
          <a:xfrm>
            <a:off x="1012825" y="4695848"/>
            <a:ext cx="5187950" cy="649287"/>
            <a:chOff x="638" y="2341"/>
            <a:chExt cx="3268" cy="409"/>
          </a:xfrm>
        </p:grpSpPr>
        <p:graphicFrame>
          <p:nvGraphicFramePr>
            <p:cNvPr id="23" name="Object 8"/>
            <p:cNvGraphicFramePr>
              <a:graphicFrameLocks noChangeAspect="1"/>
            </p:cNvGraphicFramePr>
            <p:nvPr/>
          </p:nvGraphicFramePr>
          <p:xfrm>
            <a:off x="3560" y="2387"/>
            <a:ext cx="346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10" name="Equation" r:id="rId19" imgW="126835" imgH="139518" progId="Equation.DSMT4">
                    <p:embed/>
                  </p:oleObj>
                </mc:Choice>
                <mc:Fallback>
                  <p:oleObj name="Equation" r:id="rId19" imgW="126835" imgH="139518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0" y="2387"/>
                          <a:ext cx="346" cy="3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Rectangle 26"/>
            <p:cNvSpPr>
              <a:spLocks noChangeArrowheads="1"/>
            </p:cNvSpPr>
            <p:nvPr/>
          </p:nvSpPr>
          <p:spPr bwMode="auto">
            <a:xfrm>
              <a:off x="638" y="2341"/>
              <a:ext cx="886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en-US" altLang="zh-CN" sz="3200" b="1" dirty="0">
                  <a:latin typeface="宋体" pitchFamily="2" charset="-122"/>
                  <a:cs typeface="Times New Roman" pitchFamily="18" charset="0"/>
                </a:rPr>
                <a:t>Ⅲ. </a:t>
              </a:r>
              <a:r>
                <a:rPr lang="zh-CN" altLang="en-US" sz="3200" b="1" dirty="0">
                  <a:latin typeface="宋体" pitchFamily="2" charset="-122"/>
                  <a:cs typeface="Times New Roman" pitchFamily="18" charset="0"/>
                </a:rPr>
                <a:t>对</a:t>
              </a:r>
              <a:endParaRPr lang="zh-CN" altLang="en-US" sz="3200" b="1" dirty="0">
                <a:latin typeface="宋体" pitchFamily="2" charset="-122"/>
              </a:endParaRPr>
            </a:p>
          </p:txBody>
        </p:sp>
        <p:sp>
          <p:nvSpPr>
            <p:cNvPr id="25" name="Rectangle 27"/>
            <p:cNvSpPr>
              <a:spLocks noChangeArrowheads="1"/>
            </p:cNvSpPr>
            <p:nvPr/>
          </p:nvSpPr>
          <p:spPr bwMode="auto">
            <a:xfrm>
              <a:off x="1791" y="2341"/>
              <a:ext cx="1656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zh-CN" altLang="en-US" sz="3200" b="1" dirty="0">
                  <a:latin typeface="宋体" pitchFamily="2" charset="-122"/>
                  <a:cs typeface="Times New Roman" pitchFamily="18" charset="0"/>
                </a:rPr>
                <a:t>中每一个元素</a:t>
              </a:r>
              <a:endParaRPr lang="zh-CN" altLang="en-US" sz="3200" b="1" dirty="0">
                <a:latin typeface="宋体" pitchFamily="2" charset="-122"/>
              </a:endParaRPr>
            </a:p>
          </p:txBody>
        </p:sp>
        <p:graphicFrame>
          <p:nvGraphicFramePr>
            <p:cNvPr id="26" name="Object 35"/>
            <p:cNvGraphicFramePr>
              <a:graphicFrameLocks noChangeAspect="1"/>
            </p:cNvGraphicFramePr>
            <p:nvPr/>
          </p:nvGraphicFramePr>
          <p:xfrm>
            <a:off x="1519" y="2387"/>
            <a:ext cx="285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11" name="Equation" r:id="rId21" imgW="139639" imgH="152334" progId="Equation.DSMT4">
                    <p:embed/>
                  </p:oleObj>
                </mc:Choice>
                <mc:Fallback>
                  <p:oleObj name="Equation" r:id="rId21" imgW="139639" imgH="152334" progId="Equation.DSMT4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9" y="2387"/>
                          <a:ext cx="285" cy="3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" name="Rectangle 41"/>
          <p:cNvSpPr>
            <a:spLocks noChangeArrowheads="1"/>
          </p:cNvSpPr>
          <p:nvPr/>
        </p:nvSpPr>
        <p:spPr bwMode="auto">
          <a:xfrm>
            <a:off x="0" y="1714488"/>
            <a:ext cx="1916207" cy="586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定义</a:t>
            </a:r>
            <a:r>
              <a:rPr lang="en-US" altLang="zh-CN" sz="32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4.2.1</a:t>
            </a:r>
            <a:endParaRPr lang="en-US" altLang="zh-CN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grpSp>
        <p:nvGrpSpPr>
          <p:cNvPr id="29" name="Group 42"/>
          <p:cNvGrpSpPr>
            <a:grpSpLocks/>
          </p:cNvGrpSpPr>
          <p:nvPr/>
        </p:nvGrpSpPr>
        <p:grpSpPr bwMode="auto">
          <a:xfrm>
            <a:off x="1687546" y="1714488"/>
            <a:ext cx="7742238" cy="579438"/>
            <a:chOff x="858" y="436"/>
            <a:chExt cx="4877" cy="365"/>
          </a:xfrm>
        </p:grpSpPr>
        <p:graphicFrame>
          <p:nvGraphicFramePr>
            <p:cNvPr id="30" name="Object 16"/>
            <p:cNvGraphicFramePr>
              <a:graphicFrameLocks noChangeAspect="1"/>
            </p:cNvGraphicFramePr>
            <p:nvPr/>
          </p:nvGraphicFramePr>
          <p:xfrm>
            <a:off x="3852" y="527"/>
            <a:ext cx="181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12" name="Equation" r:id="rId22" imgW="101512" imgH="101512" progId="Equation.DSMT4">
                    <p:embed/>
                  </p:oleObj>
                </mc:Choice>
                <mc:Fallback>
                  <p:oleObj name="Equation" r:id="rId22" imgW="101512" imgH="101512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2" y="527"/>
                          <a:ext cx="181" cy="18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Rectangle 18"/>
            <p:cNvSpPr>
              <a:spLocks noChangeArrowheads="1"/>
            </p:cNvSpPr>
            <p:nvPr/>
          </p:nvSpPr>
          <p:spPr bwMode="auto">
            <a:xfrm>
              <a:off x="858" y="436"/>
              <a:ext cx="370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zh-CN" altLang="en-US" sz="3200" b="1" dirty="0">
                  <a:latin typeface="宋体" pitchFamily="2" charset="-122"/>
                  <a:cs typeface="Times New Roman" pitchFamily="18" charset="0"/>
                </a:rPr>
                <a:t>设</a:t>
              </a:r>
              <a:endParaRPr lang="zh-CN" altLang="en-US" sz="3200" b="1" dirty="0">
                <a:latin typeface="宋体" pitchFamily="2" charset="-122"/>
              </a:endParaRPr>
            </a:p>
          </p:txBody>
        </p:sp>
        <p:sp>
          <p:nvSpPr>
            <p:cNvPr id="32" name="Rectangle 19"/>
            <p:cNvSpPr>
              <a:spLocks noChangeArrowheads="1"/>
            </p:cNvSpPr>
            <p:nvPr/>
          </p:nvSpPr>
          <p:spPr bwMode="auto">
            <a:xfrm>
              <a:off x="1448" y="436"/>
              <a:ext cx="2427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zh-CN" altLang="en-US" sz="3200" b="1" dirty="0">
                  <a:latin typeface="宋体" pitchFamily="2" charset="-122"/>
                  <a:cs typeface="Times New Roman" pitchFamily="18" charset="0"/>
                </a:rPr>
                <a:t>是一个具有</a:t>
              </a:r>
              <a:r>
                <a:rPr lang="zh-CN" altLang="en-US" sz="3200" b="1" dirty="0">
                  <a:solidFill>
                    <a:srgbClr val="FF0000"/>
                  </a:solidFill>
                  <a:latin typeface="宋体" pitchFamily="2" charset="-122"/>
                  <a:cs typeface="Times New Roman" pitchFamily="18" charset="0"/>
                </a:rPr>
                <a:t>代数运算</a:t>
              </a:r>
              <a:endParaRPr lang="zh-CN" altLang="en-US" sz="3200" b="1" dirty="0">
                <a:solidFill>
                  <a:srgbClr val="FF0000"/>
                </a:solidFill>
                <a:latin typeface="宋体" pitchFamily="2" charset="-122"/>
              </a:endParaRPr>
            </a:p>
          </p:txBody>
        </p:sp>
        <p:sp>
          <p:nvSpPr>
            <p:cNvPr id="33" name="Rectangle 20"/>
            <p:cNvSpPr>
              <a:spLocks noChangeArrowheads="1"/>
            </p:cNvSpPr>
            <p:nvPr/>
          </p:nvSpPr>
          <p:spPr bwMode="auto">
            <a:xfrm>
              <a:off x="4079" y="436"/>
              <a:ext cx="1656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r>
                <a:rPr lang="zh-CN" altLang="en-US" sz="3200" b="1" dirty="0">
                  <a:latin typeface="宋体" pitchFamily="2" charset="-122"/>
                  <a:cs typeface="Times New Roman" pitchFamily="18" charset="0"/>
                </a:rPr>
                <a:t>的</a:t>
              </a:r>
              <a:r>
                <a:rPr lang="zh-CN" altLang="en-US" sz="3200" b="1" dirty="0">
                  <a:solidFill>
                    <a:srgbClr val="FF0000"/>
                  </a:solidFill>
                  <a:latin typeface="宋体" pitchFamily="2" charset="-122"/>
                  <a:cs typeface="Times New Roman" pitchFamily="18" charset="0"/>
                </a:rPr>
                <a:t>非空集合</a:t>
              </a:r>
              <a:r>
                <a:rPr lang="zh-CN" altLang="en-US" sz="3200" b="1" dirty="0">
                  <a:latin typeface="宋体" pitchFamily="2" charset="-122"/>
                  <a:cs typeface="Times New Roman" pitchFamily="18" charset="0"/>
                </a:rPr>
                <a:t>，</a:t>
              </a:r>
              <a:endParaRPr lang="zh-CN" altLang="en-US" sz="3200" b="1" dirty="0">
                <a:latin typeface="宋体" pitchFamily="2" charset="-122"/>
              </a:endParaRPr>
            </a:p>
          </p:txBody>
        </p:sp>
        <p:graphicFrame>
          <p:nvGraphicFramePr>
            <p:cNvPr id="34" name="Object 36"/>
            <p:cNvGraphicFramePr>
              <a:graphicFrameLocks noChangeAspect="1"/>
            </p:cNvGraphicFramePr>
            <p:nvPr/>
          </p:nvGraphicFramePr>
          <p:xfrm>
            <a:off x="1176" y="482"/>
            <a:ext cx="285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13" name="Equation" r:id="rId23" imgW="139639" imgH="152334" progId="Equation.DSMT4">
                    <p:embed/>
                  </p:oleObj>
                </mc:Choice>
                <mc:Fallback>
                  <p:oleObj name="Equation" r:id="rId23" imgW="139639" imgH="152334" progId="Equation.DSMT4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6" y="482"/>
                          <a:ext cx="285" cy="3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Group 45"/>
          <p:cNvGrpSpPr>
            <a:grpSpLocks/>
          </p:cNvGrpSpPr>
          <p:nvPr/>
        </p:nvGrpSpPr>
        <p:grpSpPr bwMode="auto">
          <a:xfrm>
            <a:off x="0" y="4000506"/>
            <a:ext cx="5230813" cy="722313"/>
            <a:chOff x="60" y="1933"/>
            <a:chExt cx="3295" cy="455"/>
          </a:xfrm>
        </p:grpSpPr>
        <p:grpSp>
          <p:nvGrpSpPr>
            <p:cNvPr id="36" name="Group 43"/>
            <p:cNvGrpSpPr>
              <a:grpSpLocks/>
            </p:cNvGrpSpPr>
            <p:nvPr/>
          </p:nvGrpSpPr>
          <p:grpSpPr bwMode="auto">
            <a:xfrm>
              <a:off x="60" y="1933"/>
              <a:ext cx="2959" cy="453"/>
              <a:chOff x="60" y="1933"/>
              <a:chExt cx="2959" cy="453"/>
            </a:xfrm>
          </p:grpSpPr>
          <p:graphicFrame>
            <p:nvGraphicFramePr>
              <p:cNvPr id="38" name="Object 12"/>
              <p:cNvGraphicFramePr>
                <a:graphicFrameLocks noChangeAspect="1"/>
              </p:cNvGraphicFramePr>
              <p:nvPr/>
            </p:nvGraphicFramePr>
            <p:xfrm>
              <a:off x="2715" y="2023"/>
              <a:ext cx="304" cy="3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914" name="Equation" r:id="rId24" imgW="114201" imgH="139579" progId="Equation.DSMT4">
                      <p:embed/>
                    </p:oleObj>
                  </mc:Choice>
                  <mc:Fallback>
                    <p:oleObj name="Equation" r:id="rId24" imgW="114201" imgH="139579" progId="Equation.DSMT4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15" y="2023"/>
                            <a:ext cx="304" cy="36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" name="Object 9"/>
              <p:cNvGraphicFramePr>
                <a:graphicFrameLocks noChangeAspect="1"/>
              </p:cNvGraphicFramePr>
              <p:nvPr/>
            </p:nvGraphicFramePr>
            <p:xfrm>
              <a:off x="1050" y="2023"/>
              <a:ext cx="284" cy="3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915" name="Equation" r:id="rId26" imgW="139639" imgH="152334" progId="Equation.DSMT4">
                      <p:embed/>
                    </p:oleObj>
                  </mc:Choice>
                  <mc:Fallback>
                    <p:oleObj name="Equation" r:id="rId26" imgW="139639" imgH="152334" progId="Equation.DSMT4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50" y="2023"/>
                            <a:ext cx="284" cy="31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0" name="Rectangle 22"/>
              <p:cNvSpPr>
                <a:spLocks noChangeArrowheads="1"/>
              </p:cNvSpPr>
              <p:nvPr/>
            </p:nvSpPr>
            <p:spPr bwMode="auto">
              <a:xfrm>
                <a:off x="60" y="1933"/>
                <a:ext cx="1145" cy="3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r>
                  <a:rPr lang="en-US" altLang="zh-CN" sz="3200" b="1" dirty="0">
                    <a:latin typeface="宋体" pitchFamily="2" charset="-122"/>
                    <a:cs typeface="Times New Roman" pitchFamily="18" charset="0"/>
                  </a:rPr>
                  <a:t>    Ⅱ. </a:t>
                </a:r>
                <a:endParaRPr lang="en-US" altLang="zh-CN" sz="3200" b="1" dirty="0">
                  <a:latin typeface="宋体" pitchFamily="2" charset="-122"/>
                </a:endParaRPr>
              </a:p>
            </p:txBody>
          </p:sp>
          <p:sp>
            <p:nvSpPr>
              <p:cNvPr id="41" name="Rectangle 23"/>
              <p:cNvSpPr>
                <a:spLocks noChangeArrowheads="1"/>
              </p:cNvSpPr>
              <p:nvPr/>
            </p:nvSpPr>
            <p:spPr bwMode="auto">
              <a:xfrm>
                <a:off x="1320" y="1978"/>
                <a:ext cx="1412" cy="3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r>
                  <a:rPr lang="zh-CN" altLang="en-US" sz="3200" b="1" dirty="0">
                    <a:latin typeface="宋体" pitchFamily="2" charset="-122"/>
                    <a:cs typeface="Times New Roman" pitchFamily="18" charset="0"/>
                  </a:rPr>
                  <a:t>中</a:t>
                </a:r>
                <a:r>
                  <a:rPr lang="zh-CN" altLang="en-US" sz="3200" b="1" dirty="0" smtClean="0">
                    <a:latin typeface="宋体" pitchFamily="2" charset="-122"/>
                    <a:cs typeface="Times New Roman" pitchFamily="18" charset="0"/>
                  </a:rPr>
                  <a:t>有</a:t>
                </a:r>
                <a:r>
                  <a:rPr lang="zh-CN" altLang="en-US" sz="3200" b="1" dirty="0" smtClean="0">
                    <a:solidFill>
                      <a:srgbClr val="FF0000"/>
                    </a:solidFill>
                    <a:latin typeface="宋体" pitchFamily="2" charset="-122"/>
                    <a:cs typeface="Times New Roman" pitchFamily="18" charset="0"/>
                  </a:rPr>
                  <a:t>单位元</a:t>
                </a:r>
                <a:endParaRPr lang="zh-CN" altLang="en-US" sz="3200" b="1" dirty="0">
                  <a:solidFill>
                    <a:srgbClr val="FF0000"/>
                  </a:solidFill>
                  <a:latin typeface="宋体" pitchFamily="2" charset="-122"/>
                </a:endParaRPr>
              </a:p>
            </p:txBody>
          </p:sp>
        </p:grpSp>
        <p:sp>
          <p:nvSpPr>
            <p:cNvPr id="37" name="Rectangle 24"/>
            <p:cNvSpPr>
              <a:spLocks noChangeArrowheads="1"/>
            </p:cNvSpPr>
            <p:nvPr/>
          </p:nvSpPr>
          <p:spPr bwMode="auto">
            <a:xfrm>
              <a:off x="2985" y="2023"/>
              <a:ext cx="370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r>
                <a:rPr lang="zh-CN" altLang="en-US" sz="3200" b="1" dirty="0">
                  <a:latin typeface="宋体" pitchFamily="2" charset="-122"/>
                  <a:cs typeface="Times New Roman" pitchFamily="18" charset="0"/>
                </a:rPr>
                <a:t>：</a:t>
              </a:r>
              <a:endParaRPr lang="zh-CN" altLang="en-US" sz="3200" b="1" dirty="0">
                <a:latin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9" grpId="0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57166"/>
            <a:ext cx="8229600" cy="1143000"/>
          </a:xfrm>
        </p:spPr>
        <p:txBody>
          <a:bodyPr/>
          <a:lstStyle/>
          <a:p>
            <a:r>
              <a:rPr lang="en-US" altLang="zh-CN" dirty="0" smtClean="0"/>
              <a:t>4.2 </a:t>
            </a:r>
            <a:r>
              <a:rPr lang="zh-CN" altLang="en-US" dirty="0" smtClean="0"/>
              <a:t>群的定义和简单性质（续）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1643050"/>
            <a:ext cx="8229600" cy="1714512"/>
          </a:xfrm>
        </p:spPr>
        <p:txBody>
          <a:bodyPr/>
          <a:lstStyle/>
          <a:p>
            <a:r>
              <a:rPr lang="zh-CN" altLang="en-US" b="1" dirty="0" smtClean="0">
                <a:cs typeface="Times New Roman" pitchFamily="18" charset="0"/>
              </a:rPr>
              <a:t>例</a:t>
            </a:r>
            <a:r>
              <a:rPr lang="en-US" b="1" dirty="0" smtClean="0">
                <a:cs typeface="Times New Roman" pitchFamily="18" charset="0"/>
              </a:rPr>
              <a:t>4.2.1 </a:t>
            </a:r>
            <a:r>
              <a:rPr lang="zh-CN" altLang="en-US" b="1" dirty="0" smtClean="0"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b="1" dirty="0" smtClean="0">
                <a:latin typeface="Times New Roman" pitchFamily="18" charset="0"/>
                <a:cs typeface="Times New Roman" pitchFamily="18" charset="0"/>
              </a:rPr>
              <a:t>）全体整数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zh-CN" altLang="en-US" b="1" dirty="0" smtClean="0">
                <a:latin typeface="Times New Roman" pitchFamily="18" charset="0"/>
                <a:cs typeface="Times New Roman" pitchFamily="18" charset="0"/>
              </a:rPr>
              <a:t>对于通常的加法成一个群，这个群称为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整数加群</a:t>
            </a:r>
            <a:r>
              <a:rPr lang="zh-CN" altLang="en-US" b="1" dirty="0" smtClean="0">
                <a:latin typeface="Times New Roman" pitchFamily="18" charset="0"/>
                <a:cs typeface="Times New Roman" pitchFamily="18" charset="0"/>
              </a:rPr>
              <a:t>，在整数加群中，单位元是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zh-CN" altLang="en-US" b="1" dirty="0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b="1" dirty="0" smtClean="0">
                <a:latin typeface="Times New Roman" pitchFamily="18" charset="0"/>
                <a:cs typeface="Times New Roman" pitchFamily="18" charset="0"/>
              </a:rPr>
              <a:t>的逆元是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b="1" dirty="0" smtClean="0">
                <a:latin typeface="Times New Roman" pitchFamily="18" charset="0"/>
                <a:cs typeface="Times New Roman" pitchFamily="18" charset="0"/>
              </a:rPr>
              <a:t>；同样全体有理数集合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zh-CN" altLang="en-US" b="1" dirty="0" smtClean="0">
                <a:latin typeface="Times New Roman" pitchFamily="18" charset="0"/>
                <a:cs typeface="Times New Roman" pitchFamily="18" charset="0"/>
              </a:rPr>
              <a:t>，全体实数集合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zh-CN" altLang="en-US" b="1" dirty="0" smtClean="0">
                <a:latin typeface="Times New Roman" pitchFamily="18" charset="0"/>
                <a:cs typeface="Times New Roman" pitchFamily="18" charset="0"/>
              </a:rPr>
              <a:t>，全体复数集合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zh-CN" altLang="en-US" b="1" dirty="0" smtClean="0">
                <a:latin typeface="Times New Roman" pitchFamily="18" charset="0"/>
                <a:cs typeface="Times New Roman" pitchFamily="18" charset="0"/>
              </a:rPr>
              <a:t>对加法也构成群。</a:t>
            </a:r>
            <a:endParaRPr lang="zh-CN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2910" y="3286124"/>
            <a:ext cx="750099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（</a:t>
            </a:r>
            <a:r>
              <a:rPr lang="en-US" sz="2800" b="1" dirty="0" smtClean="0"/>
              <a:t>2</a:t>
            </a:r>
            <a:r>
              <a:rPr lang="zh-CN" altLang="en-US" sz="2800" b="1" dirty="0" smtClean="0"/>
              <a:t>）全体非零实数  </a:t>
            </a:r>
            <a:r>
              <a:rPr lang="en-US" sz="2800" b="1" dirty="0" smtClean="0"/>
              <a:t>    </a:t>
            </a:r>
            <a:r>
              <a:rPr lang="zh-CN" altLang="en-US" sz="2800" b="1" dirty="0" smtClean="0"/>
              <a:t>对于通常的乘法构成一个群，全体正实数</a:t>
            </a:r>
            <a:r>
              <a:rPr lang="en-US" sz="2800" b="1" dirty="0" smtClean="0"/>
              <a:t>        </a:t>
            </a:r>
            <a:r>
              <a:rPr lang="zh-CN" altLang="en-US" sz="2800" b="1" dirty="0" smtClean="0"/>
              <a:t>对于通常的乘法也构成一个群。</a:t>
            </a:r>
            <a:endParaRPr lang="zh-CN" altLang="en-US" sz="2800" b="1" dirty="0"/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1510" name="Object 6"/>
          <p:cNvGraphicFramePr>
            <a:graphicFrameLocks noChangeAspect="1"/>
          </p:cNvGraphicFramePr>
          <p:nvPr/>
        </p:nvGraphicFramePr>
        <p:xfrm>
          <a:off x="3786182" y="3286156"/>
          <a:ext cx="500034" cy="5000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2" name="Equation" r:id="rId3" imgW="190417" imgH="190417" progId="Equation.DSMT4">
                  <p:embed/>
                </p:oleObj>
              </mc:Choice>
              <mc:Fallback>
                <p:oleObj name="Equation" r:id="rId3" imgW="190417" imgH="190417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2" y="3286156"/>
                        <a:ext cx="500034" cy="5000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1512" name="Object 8"/>
          <p:cNvGraphicFramePr>
            <a:graphicFrameLocks noChangeAspect="1"/>
          </p:cNvGraphicFramePr>
          <p:nvPr/>
        </p:nvGraphicFramePr>
        <p:xfrm>
          <a:off x="3643306" y="3714753"/>
          <a:ext cx="500066" cy="4762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3" name="Equation" r:id="rId5" imgW="203112" imgH="190417" progId="Equation.DSMT4">
                  <p:embed/>
                </p:oleObj>
              </mc:Choice>
              <mc:Fallback>
                <p:oleObj name="Equation" r:id="rId5" imgW="203112" imgH="190417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3306" y="3714753"/>
                        <a:ext cx="500066" cy="47625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607191" y="4671119"/>
            <a:ext cx="7572428" cy="1384995"/>
            <a:chOff x="1331640" y="4384583"/>
            <a:chExt cx="7572428" cy="1384995"/>
          </a:xfrm>
        </p:grpSpPr>
        <p:graphicFrame>
          <p:nvGraphicFramePr>
            <p:cNvPr id="21515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8850027"/>
                </p:ext>
              </p:extLst>
            </p:nvPr>
          </p:nvGraphicFramePr>
          <p:xfrm>
            <a:off x="4760696" y="5365398"/>
            <a:ext cx="357158" cy="357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64" name="Equation" r:id="rId7" imgW="126835" imgH="139518" progId="Equation.DSMT4">
                    <p:embed/>
                  </p:oleObj>
                </mc:Choice>
                <mc:Fallback>
                  <p:oleObj name="Equation" r:id="rId7" imgW="126835" imgH="139518" progId="Equation.DSMT4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0696" y="5365398"/>
                          <a:ext cx="357158" cy="35715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" name="组合 3"/>
            <p:cNvGrpSpPr/>
            <p:nvPr/>
          </p:nvGrpSpPr>
          <p:grpSpPr>
            <a:xfrm>
              <a:off x="1331640" y="4384583"/>
              <a:ext cx="7572428" cy="1384995"/>
              <a:chOff x="457200" y="4683741"/>
              <a:chExt cx="7572428" cy="1384995"/>
            </a:xfrm>
          </p:grpSpPr>
          <p:graphicFrame>
            <p:nvGraphicFramePr>
              <p:cNvPr id="21516" name="Object 1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61378337"/>
                  </p:ext>
                </p:extLst>
              </p:nvPr>
            </p:nvGraphicFramePr>
            <p:xfrm>
              <a:off x="6719888" y="4683741"/>
              <a:ext cx="500066" cy="6000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665" name="Equation" r:id="rId9" imgW="190500" imgH="228600" progId="Equation.DSMT4">
                      <p:embed/>
                    </p:oleObj>
                  </mc:Choice>
                  <mc:Fallback>
                    <p:oleObj name="Equation" r:id="rId9" imgW="190500" imgH="228600" progId="Equation.DSMT4">
                      <p:embed/>
                      <p:pic>
                        <p:nvPicPr>
                          <p:cNvPr id="0" name="Picture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719888" y="4683741"/>
                            <a:ext cx="500066" cy="60007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14" name="Object 1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57501273"/>
                  </p:ext>
                </p:extLst>
              </p:nvPr>
            </p:nvGraphicFramePr>
            <p:xfrm>
              <a:off x="5719756" y="5683873"/>
              <a:ext cx="944002" cy="3571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666" name="Equation" r:id="rId11" imgW="342751" imgH="139639" progId="Equation.DSMT4">
                      <p:embed/>
                    </p:oleObj>
                  </mc:Choice>
                  <mc:Fallback>
                    <p:oleObj name="Equation" r:id="rId11" imgW="342751" imgH="139639" progId="Equation.DSMT4">
                      <p:embed/>
                      <p:pic>
                        <p:nvPicPr>
                          <p:cNvPr id="0" name="Picture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719756" y="5683873"/>
                            <a:ext cx="944002" cy="35719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" name="TextBox 20"/>
              <p:cNvSpPr txBox="1"/>
              <p:nvPr/>
            </p:nvSpPr>
            <p:spPr>
              <a:xfrm>
                <a:off x="457200" y="4683741"/>
                <a:ext cx="7572428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 smtClean="0"/>
                  <a:t>（</a:t>
                </a:r>
                <a:r>
                  <a:rPr lang="en-US" sz="2800" b="1" dirty="0" smtClean="0"/>
                  <a:t>3</a:t>
                </a:r>
                <a:r>
                  <a:rPr lang="zh-CN" altLang="en-US" sz="2800" b="1" dirty="0" smtClean="0"/>
                  <a:t>）模正整数</a:t>
                </a:r>
                <a:r>
                  <a:rPr lang="en-US" sz="2800" b="1" dirty="0" smtClean="0"/>
                  <a:t>n</a:t>
                </a:r>
                <a:r>
                  <a:rPr lang="zh-CN" altLang="en-US" sz="2800" b="1" dirty="0" smtClean="0"/>
                  <a:t>的最小非负完全剩余系</a:t>
                </a:r>
                <a:r>
                  <a:rPr lang="en-US" sz="2800" b="1" dirty="0" smtClean="0"/>
                  <a:t>      </a:t>
                </a:r>
                <a:r>
                  <a:rPr lang="zh-CN" altLang="en-US" sz="2800" b="1" dirty="0" smtClean="0"/>
                  <a:t>，对于模</a:t>
                </a:r>
                <a:r>
                  <a:rPr lang="en-US" sz="2800" b="1" dirty="0" smtClean="0"/>
                  <a:t>n</a:t>
                </a:r>
                <a:r>
                  <a:rPr lang="zh-CN" altLang="en-US" sz="2800" b="1" dirty="0" smtClean="0"/>
                  <a:t>的加法构成一个群，这个群称为</a:t>
                </a:r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整数模</a:t>
                </a:r>
                <a:r>
                  <a:rPr lang="en-US" sz="2800" b="1" dirty="0" smtClean="0">
                    <a:solidFill>
                      <a:srgbClr val="FF0000"/>
                    </a:solidFill>
                  </a:rPr>
                  <a:t>n</a:t>
                </a:r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加群</a:t>
                </a:r>
                <a:r>
                  <a:rPr lang="zh-CN" altLang="en-US" sz="2800" b="1" dirty="0" smtClean="0"/>
                  <a:t>，其单位元为</a:t>
                </a:r>
                <a:r>
                  <a:rPr lang="en-US" sz="2800" b="1" dirty="0" smtClean="0">
                    <a:latin typeface="Times New Roman" pitchFamily="18" charset="0"/>
                    <a:cs typeface="Times New Roman" pitchFamily="18" charset="0"/>
                  </a:rPr>
                  <a:t>0</a:t>
                </a:r>
                <a:r>
                  <a:rPr lang="zh-CN" altLang="en-US" sz="2800" b="1" dirty="0" smtClean="0"/>
                  <a:t>，  </a:t>
                </a:r>
                <a:r>
                  <a:rPr lang="en-US" sz="2800" b="1" dirty="0" smtClean="0"/>
                  <a:t> </a:t>
                </a:r>
                <a:r>
                  <a:rPr lang="zh-CN" altLang="en-US" sz="2800" b="1" dirty="0" smtClean="0"/>
                  <a:t>的逆元是   </a:t>
                </a:r>
                <a:r>
                  <a:rPr lang="en-US" sz="2800" b="1" dirty="0" smtClean="0"/>
                  <a:t>        </a:t>
                </a:r>
                <a:r>
                  <a:rPr lang="zh-CN" altLang="en-US" sz="2800" b="1" dirty="0" smtClean="0"/>
                  <a:t>。</a:t>
                </a:r>
                <a:endParaRPr lang="zh-CN" altLang="en-US" sz="2800" b="1" dirty="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57166"/>
            <a:ext cx="8229600" cy="1143000"/>
          </a:xfrm>
        </p:spPr>
        <p:txBody>
          <a:bodyPr/>
          <a:lstStyle/>
          <a:p>
            <a:r>
              <a:rPr lang="en-US" altLang="zh-CN" dirty="0" smtClean="0"/>
              <a:t>4.2 </a:t>
            </a:r>
            <a:r>
              <a:rPr lang="zh-CN" altLang="en-US" dirty="0" smtClean="0"/>
              <a:t>群的定义和简单性质（续）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1643050"/>
            <a:ext cx="8229600" cy="4214842"/>
          </a:xfrm>
        </p:spPr>
        <p:txBody>
          <a:bodyPr>
            <a:normAutofit/>
          </a:bodyPr>
          <a:lstStyle/>
          <a:p>
            <a:r>
              <a:rPr lang="zh-CN" altLang="en-US" sz="2800" b="1" dirty="0" smtClean="0">
                <a:cs typeface="Times New Roman" pitchFamily="18" charset="0"/>
              </a:rPr>
              <a:t>例</a:t>
            </a:r>
            <a:r>
              <a:rPr lang="en-US" sz="2800" b="1" dirty="0" smtClean="0">
                <a:cs typeface="Times New Roman" pitchFamily="18" charset="0"/>
              </a:rPr>
              <a:t>4.2.1 </a:t>
            </a:r>
            <a:r>
              <a:rPr lang="zh-CN" altLang="en-US" sz="2800" b="1" dirty="0" smtClean="0">
                <a:cs typeface="Times New Roman" pitchFamily="18" charset="0"/>
              </a:rPr>
              <a:t>（续）</a:t>
            </a:r>
            <a:endParaRPr lang="en-US" altLang="zh-CN" sz="2800" b="1" dirty="0" smtClean="0">
              <a:cs typeface="Times New Roman" pitchFamily="18" charset="0"/>
            </a:endParaRPr>
          </a:p>
          <a:p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）</a:t>
            </a:r>
            <a:r>
              <a:rPr lang="zh-CN" altLang="en-US" sz="2800" b="1" dirty="0" smtClean="0"/>
              <a:t>元素在数域</a:t>
            </a:r>
            <a:r>
              <a:rPr lang="en-US" sz="2800" b="1" dirty="0" smtClean="0"/>
              <a:t>P</a:t>
            </a:r>
            <a:r>
              <a:rPr lang="zh-CN" altLang="en-US" sz="2800" b="1" dirty="0" smtClean="0"/>
              <a:t>中的全体</a:t>
            </a:r>
            <a:r>
              <a:rPr lang="en-US" sz="2800" b="1" dirty="0" smtClean="0"/>
              <a:t>n</a:t>
            </a:r>
            <a:r>
              <a:rPr lang="zh-CN" altLang="en-US" sz="2800" b="1" dirty="0" smtClean="0"/>
              <a:t>级可逆矩阵对于矩阵的乘法构成一个群，这个群记为</a:t>
            </a:r>
            <a:r>
              <a:rPr lang="en-US" sz="2800" b="1" dirty="0" smtClean="0"/>
              <a:t>            </a:t>
            </a:r>
            <a:r>
              <a:rPr lang="zh-CN" altLang="en-US" sz="2800" b="1" dirty="0" smtClean="0"/>
              <a:t>，称为</a:t>
            </a:r>
            <a:r>
              <a:rPr lang="en-US" sz="2800" b="1" dirty="0" smtClean="0">
                <a:solidFill>
                  <a:srgbClr val="FF0000"/>
                </a:solidFill>
              </a:rPr>
              <a:t>n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级一般线性群</a:t>
            </a:r>
            <a:r>
              <a:rPr lang="zh-CN" altLang="en-US" sz="2800" b="1" dirty="0" smtClean="0"/>
              <a:t>。这个群当中的单位元为</a:t>
            </a:r>
            <a:r>
              <a:rPr lang="en-US" sz="2800" b="1" dirty="0" smtClean="0"/>
              <a:t>n</a:t>
            </a:r>
            <a:r>
              <a:rPr lang="zh-CN" altLang="en-US" sz="2800" b="1" dirty="0" smtClean="0"/>
              <a:t>级单位矩阵，每个矩阵的逆元为它的逆矩阵。   </a:t>
            </a:r>
            <a:r>
              <a:rPr lang="en-US" sz="2800" b="1" dirty="0" smtClean="0"/>
              <a:t>       </a:t>
            </a:r>
            <a:r>
              <a:rPr lang="zh-CN" altLang="en-US" sz="2800" b="1" dirty="0" smtClean="0"/>
              <a:t>中全体行列式为</a:t>
            </a:r>
            <a:r>
              <a:rPr lang="en-US" sz="2800" b="1" dirty="0" smtClean="0"/>
              <a:t>1</a:t>
            </a:r>
            <a:r>
              <a:rPr lang="zh-CN" altLang="en-US" sz="2800" b="1" dirty="0" smtClean="0"/>
              <a:t>的矩阵对于矩阵乘法也构成一个群（读者自行验证），这个群记为</a:t>
            </a:r>
            <a:r>
              <a:rPr lang="en-US" sz="2800" b="1" dirty="0" smtClean="0"/>
              <a:t>            </a:t>
            </a:r>
            <a:r>
              <a:rPr lang="zh-CN" altLang="en-US" sz="2800" b="1" dirty="0" smtClean="0"/>
              <a:t>，称为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特殊线性群</a:t>
            </a:r>
            <a:r>
              <a:rPr lang="zh-CN" altLang="en-US" sz="2800" b="1" dirty="0" smtClean="0"/>
              <a:t>。</a:t>
            </a:r>
            <a:endParaRPr lang="zh-CN" alt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151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53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2535" name="Object 7"/>
          <p:cNvGraphicFramePr>
            <a:graphicFrameLocks noChangeAspect="1"/>
          </p:cNvGraphicFramePr>
          <p:nvPr/>
        </p:nvGraphicFramePr>
        <p:xfrm>
          <a:off x="6215074" y="2643182"/>
          <a:ext cx="964359" cy="428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3" name="Equation" r:id="rId3" imgW="508000" imgH="228600" progId="Equation.DSMT4">
                  <p:embed/>
                </p:oleObj>
              </mc:Choice>
              <mc:Fallback>
                <p:oleObj name="Equation" r:id="rId3" imgW="508000" imgH="2286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5074" y="2643182"/>
                        <a:ext cx="964359" cy="428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7" name="Object 9"/>
          <p:cNvGraphicFramePr>
            <a:graphicFrameLocks noChangeAspect="1"/>
          </p:cNvGraphicFramePr>
          <p:nvPr/>
        </p:nvGraphicFramePr>
        <p:xfrm>
          <a:off x="6429388" y="3500441"/>
          <a:ext cx="96361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4" name="Equation" r:id="rId5" imgW="508000" imgH="228600" progId="Equation.DSMT4">
                  <p:embed/>
                </p:oleObj>
              </mc:Choice>
              <mc:Fallback>
                <p:oleObj name="Equation" r:id="rId5" imgW="508000" imgH="22860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8" y="3500441"/>
                        <a:ext cx="963612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2538" name="Object 10"/>
          <p:cNvGraphicFramePr>
            <a:graphicFrameLocks noChangeAspect="1"/>
          </p:cNvGraphicFramePr>
          <p:nvPr/>
        </p:nvGraphicFramePr>
        <p:xfrm>
          <a:off x="5143504" y="4357694"/>
          <a:ext cx="910784" cy="428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5" name="Equation" r:id="rId6" imgW="482391" imgH="228501" progId="Equation.DSMT4">
                  <p:embed/>
                </p:oleObj>
              </mc:Choice>
              <mc:Fallback>
                <p:oleObj name="Equation" r:id="rId6" imgW="482391" imgH="228501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4" y="4357694"/>
                        <a:ext cx="910784" cy="428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400">
                <a:ea typeface="宋体" panose="02010600030101010101" pitchFamily="2" charset="-122"/>
              </a:rPr>
              <a:t>       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84324" name="Object 4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196644019"/>
              </p:ext>
            </p:extLst>
          </p:nvPr>
        </p:nvGraphicFramePr>
        <p:xfrm>
          <a:off x="225425" y="111125"/>
          <a:ext cx="8434388" cy="527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61" name="Document" r:id="rId4" imgW="3010150" imgH="1880991" progId="Word.Document.8">
                  <p:embed/>
                </p:oleObj>
              </mc:Choice>
              <mc:Fallback>
                <p:oleObj name="Document" r:id="rId4" imgW="3010150" imgH="188099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425" y="111125"/>
                        <a:ext cx="8434388" cy="5272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8"/>
          <p:cNvSpPr>
            <a:spLocks noChangeArrowheads="1"/>
          </p:cNvSpPr>
          <p:nvPr/>
        </p:nvSpPr>
        <p:spPr bwMode="auto">
          <a:xfrm>
            <a:off x="1015259" y="5486400"/>
            <a:ext cx="799930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just"/>
            <a:r>
              <a:rPr kumimoji="1" lang="zh-CN" altLang="en-US" sz="28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（</a:t>
            </a:r>
            <a:r>
              <a:rPr kumimoji="1" lang="en-US" altLang="zh-CN" sz="28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6</a:t>
            </a:r>
            <a:r>
              <a:rPr kumimoji="1" lang="zh-CN" altLang="en-US" sz="28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）</a:t>
            </a:r>
            <a:r>
              <a:rPr kumimoji="1"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　集合                     关于数的乘法构成交换群</a:t>
            </a:r>
          </a:p>
        </p:txBody>
      </p:sp>
      <p:graphicFrame>
        <p:nvGraphicFramePr>
          <p:cNvPr id="9" name="Object 50"/>
          <p:cNvGraphicFramePr>
            <a:graphicFrameLocks noChangeAspect="1"/>
          </p:cNvGraphicFramePr>
          <p:nvPr/>
        </p:nvGraphicFramePr>
        <p:xfrm>
          <a:off x="3019425" y="5486400"/>
          <a:ext cx="18669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62" r:id="rId6" imgW="1866900" imgH="431800" progId="Equation.DSMT4">
                  <p:embed/>
                </p:oleObj>
              </mc:Choice>
              <mc:Fallback>
                <p:oleObj r:id="rId6" imgW="18669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9425" y="5486400"/>
                        <a:ext cx="1866900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944186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085" name="Object 5"/>
          <p:cNvGraphicFramePr>
            <a:graphicFrameLocks noChangeAspect="1"/>
          </p:cNvGraphicFramePr>
          <p:nvPr/>
        </p:nvGraphicFramePr>
        <p:xfrm>
          <a:off x="1155700" y="1524000"/>
          <a:ext cx="3263900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34" name="Equation" r:id="rId4" imgW="3263760" imgH="1041120" progId="Equation.DSMT4">
                  <p:embed/>
                </p:oleObj>
              </mc:Choice>
              <mc:Fallback>
                <p:oleObj name="Equation" r:id="rId4" imgW="3263760" imgH="1041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5700" y="1524000"/>
                        <a:ext cx="3263900" cy="1039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114" name="Group 34"/>
          <p:cNvGrpSpPr>
            <a:grpSpLocks/>
          </p:cNvGrpSpPr>
          <p:nvPr/>
        </p:nvGrpSpPr>
        <p:grpSpPr bwMode="auto">
          <a:xfrm>
            <a:off x="457200" y="3581400"/>
            <a:ext cx="9144000" cy="519113"/>
            <a:chOff x="288" y="2256"/>
            <a:chExt cx="5760" cy="327"/>
          </a:xfrm>
        </p:grpSpPr>
        <p:sp>
          <p:nvSpPr>
            <p:cNvPr id="46088" name="Rectangle 8"/>
            <p:cNvSpPr>
              <a:spLocks noChangeArrowheads="1"/>
            </p:cNvSpPr>
            <p:nvPr/>
          </p:nvSpPr>
          <p:spPr bwMode="auto">
            <a:xfrm>
              <a:off x="288" y="2256"/>
              <a:ext cx="57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/>
              <a:r>
                <a:rPr kumimoji="1" lang="zh-CN" altLang="en-US" sz="2800">
                  <a:latin typeface="Times New Roman" panose="02020603050405020304" pitchFamily="18" charset="0"/>
                </a:rPr>
                <a:t>关于数的乘法构成一个  阶交换群．</a:t>
              </a: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6089" name="Object 9"/>
            <p:cNvGraphicFramePr>
              <a:graphicFrameLocks noChangeAspect="1"/>
            </p:cNvGraphicFramePr>
            <p:nvPr/>
          </p:nvGraphicFramePr>
          <p:xfrm>
            <a:off x="2544" y="2352"/>
            <a:ext cx="187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935" name="Equation" r:id="rId6" imgW="241200" imgH="253800" progId="Equation.DSMT4">
                    <p:embed/>
                  </p:oleObj>
                </mc:Choice>
                <mc:Fallback>
                  <p:oleObj name="Equation" r:id="rId6" imgW="24120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2352"/>
                          <a:ext cx="187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6116" name="Group 36"/>
          <p:cNvGrpSpPr>
            <a:grpSpLocks/>
          </p:cNvGrpSpPr>
          <p:nvPr/>
        </p:nvGrpSpPr>
        <p:grpSpPr bwMode="auto">
          <a:xfrm>
            <a:off x="1219200" y="4267200"/>
            <a:ext cx="9144000" cy="884238"/>
            <a:chOff x="768" y="2688"/>
            <a:chExt cx="5760" cy="557"/>
          </a:xfrm>
        </p:grpSpPr>
        <p:sp>
          <p:nvSpPr>
            <p:cNvPr id="46092" name="Rectangle 12"/>
            <p:cNvSpPr>
              <a:spLocks noChangeArrowheads="1"/>
            </p:cNvSpPr>
            <p:nvPr/>
          </p:nvSpPr>
          <p:spPr bwMode="auto">
            <a:xfrm>
              <a:off x="768" y="2688"/>
              <a:ext cx="5760" cy="5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/>
              <a:r>
                <a:rPr kumimoji="1" lang="zh-CN" altLang="en-US" sz="2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证　</a:t>
              </a:r>
              <a:r>
                <a:rPr kumimoji="1" lang="en-US" altLang="zh-CN" sz="2800" dirty="0" smtClean="0">
                  <a:latin typeface="宋体" panose="02010600030101010101" pitchFamily="2" charset="-122"/>
                </a:rPr>
                <a:t>1</a:t>
              </a:r>
              <a:r>
                <a:rPr kumimoji="1" lang="en-US" altLang="zh-CN" sz="2800" dirty="0">
                  <a:latin typeface="宋体" panose="02010600030101010101" pitchFamily="2" charset="-122"/>
                </a:rPr>
                <a:t>) </a:t>
              </a:r>
              <a:r>
                <a:rPr kumimoji="1" lang="zh-CN" altLang="en-US" sz="2800" dirty="0">
                  <a:latin typeface="Times New Roman" panose="02020603050405020304" pitchFamily="18" charset="0"/>
                </a:rPr>
                <a:t>对任意的                ，因为                       </a:t>
              </a:r>
              <a:r>
                <a:rPr kumimoji="1" lang="en-US" altLang="zh-CN" sz="2800" dirty="0">
                  <a:latin typeface="Times New Roman" panose="02020603050405020304" pitchFamily="18" charset="0"/>
                </a:rPr>
                <a:t>,</a:t>
              </a:r>
              <a:endParaRPr kumimoji="1" lang="en-US" altLang="zh-CN" sz="1000" dirty="0">
                <a:latin typeface="宋体" panose="02010600030101010101" pitchFamily="2" charset="-122"/>
              </a:endParaRPr>
            </a:p>
            <a:p>
              <a:pPr eaLnBrk="0" hangingPunct="0"/>
              <a:endParaRPr kumimoji="1" lang="en-US" altLang="zh-CN" sz="24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6093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4264911"/>
                </p:ext>
              </p:extLst>
            </p:nvPr>
          </p:nvGraphicFramePr>
          <p:xfrm>
            <a:off x="2517" y="2688"/>
            <a:ext cx="888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936" r:id="rId8" imgW="1409088" imgH="482391" progId="Equation.DSMT4">
                    <p:embed/>
                  </p:oleObj>
                </mc:Choice>
                <mc:Fallback>
                  <p:oleObj r:id="rId8" imgW="1409088" imgH="48239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7" y="2688"/>
                          <a:ext cx="888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95" name="Object 15"/>
            <p:cNvGraphicFramePr>
              <a:graphicFrameLocks noChangeAspect="1"/>
            </p:cNvGraphicFramePr>
            <p:nvPr/>
          </p:nvGraphicFramePr>
          <p:xfrm>
            <a:off x="4176" y="2688"/>
            <a:ext cx="1326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937" r:id="rId10" imgW="2108200" imgH="508000" progId="Equation.DSMT4">
                    <p:embed/>
                  </p:oleObj>
                </mc:Choice>
                <mc:Fallback>
                  <p:oleObj r:id="rId10" imgW="2108200" imgH="508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2688"/>
                          <a:ext cx="1326" cy="3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6117" name="Group 37"/>
          <p:cNvGrpSpPr>
            <a:grpSpLocks/>
          </p:cNvGrpSpPr>
          <p:nvPr/>
        </p:nvGrpSpPr>
        <p:grpSpPr bwMode="auto">
          <a:xfrm>
            <a:off x="457200" y="4876800"/>
            <a:ext cx="9144000" cy="519113"/>
            <a:chOff x="288" y="3072"/>
            <a:chExt cx="5760" cy="327"/>
          </a:xfrm>
        </p:grpSpPr>
        <p:sp>
          <p:nvSpPr>
            <p:cNvPr id="46097" name="Rectangle 17"/>
            <p:cNvSpPr>
              <a:spLocks noChangeArrowheads="1"/>
            </p:cNvSpPr>
            <p:nvPr/>
          </p:nvSpPr>
          <p:spPr bwMode="auto">
            <a:xfrm>
              <a:off x="288" y="3072"/>
              <a:ext cx="57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>
                  <a:latin typeface="宋体" panose="02010600030101010101" pitchFamily="2" charset="-122"/>
                </a:rPr>
                <a:t>所以</a:t>
              </a:r>
              <a:r>
                <a:rPr kumimoji="1" lang="zh-CN" altLang="en-US" sz="1400">
                  <a:latin typeface="宋体" panose="02010600030101010101" pitchFamily="2" charset="-122"/>
                </a:rPr>
                <a:t> </a:t>
              </a: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6098" name="Object 18"/>
            <p:cNvGraphicFramePr>
              <a:graphicFrameLocks noChangeAspect="1"/>
            </p:cNvGraphicFramePr>
            <p:nvPr/>
          </p:nvGraphicFramePr>
          <p:xfrm>
            <a:off x="1488" y="3072"/>
            <a:ext cx="2310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938" r:id="rId12" imgW="3670300" imgH="508000" progId="Equation.DSMT4">
                    <p:embed/>
                  </p:oleObj>
                </mc:Choice>
                <mc:Fallback>
                  <p:oleObj r:id="rId12" imgW="3670300" imgH="508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3072"/>
                          <a:ext cx="2310" cy="3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6113" name="Group 33"/>
          <p:cNvGrpSpPr>
            <a:grpSpLocks/>
          </p:cNvGrpSpPr>
          <p:nvPr/>
        </p:nvGrpSpPr>
        <p:grpSpPr bwMode="auto">
          <a:xfrm>
            <a:off x="1179512" y="762001"/>
            <a:ext cx="5665788" cy="523876"/>
            <a:chOff x="743" y="480"/>
            <a:chExt cx="3569" cy="330"/>
          </a:xfrm>
        </p:grpSpPr>
        <p:sp>
          <p:nvSpPr>
            <p:cNvPr id="46110" name="Rectangle 30"/>
            <p:cNvSpPr>
              <a:spLocks noChangeArrowheads="1"/>
            </p:cNvSpPr>
            <p:nvPr/>
          </p:nvSpPr>
          <p:spPr bwMode="auto">
            <a:xfrm>
              <a:off x="743" y="480"/>
              <a:ext cx="356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just"/>
              <a:r>
                <a:rPr kumimoji="1" lang="zh-CN" altLang="en-US" sz="2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（</a:t>
              </a:r>
              <a:r>
                <a:rPr kumimoji="1" lang="en-US" altLang="zh-CN" sz="2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7</a:t>
              </a:r>
              <a:r>
                <a:rPr kumimoji="1" lang="zh-CN" altLang="en-US" sz="2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）</a:t>
              </a:r>
              <a:r>
                <a:rPr kumimoji="1" lang="zh-CN" altLang="en-US" sz="28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　全体   次单位根组成的集合</a:t>
              </a:r>
            </a:p>
          </p:txBody>
        </p:sp>
        <p:graphicFrame>
          <p:nvGraphicFramePr>
            <p:cNvPr id="46111" name="Object 31"/>
            <p:cNvGraphicFramePr>
              <a:graphicFrameLocks noChangeAspect="1"/>
            </p:cNvGraphicFramePr>
            <p:nvPr/>
          </p:nvGraphicFramePr>
          <p:xfrm>
            <a:off x="2016" y="576"/>
            <a:ext cx="167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939" name="Equation" r:id="rId14" imgW="215640" imgH="228600" progId="Equation.DSMT4">
                    <p:embed/>
                  </p:oleObj>
                </mc:Choice>
                <mc:Fallback>
                  <p:oleObj name="Equation" r:id="rId14" imgW="2156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576"/>
                          <a:ext cx="167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6118" name="Group 38"/>
          <p:cNvGrpSpPr>
            <a:grpSpLocks/>
          </p:cNvGrpSpPr>
          <p:nvPr/>
        </p:nvGrpSpPr>
        <p:grpSpPr bwMode="auto">
          <a:xfrm>
            <a:off x="368300" y="5566651"/>
            <a:ext cx="9144000" cy="536575"/>
            <a:chOff x="288" y="3504"/>
            <a:chExt cx="5760" cy="338"/>
          </a:xfrm>
        </p:grpSpPr>
        <p:sp>
          <p:nvSpPr>
            <p:cNvPr id="46103" name="Rectangle 23"/>
            <p:cNvSpPr>
              <a:spLocks noChangeArrowheads="1"/>
            </p:cNvSpPr>
            <p:nvPr/>
          </p:nvSpPr>
          <p:spPr bwMode="auto">
            <a:xfrm>
              <a:off x="288" y="3504"/>
              <a:ext cx="57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>
                  <a:latin typeface="宋体" panose="02010600030101010101" pitchFamily="2" charset="-122"/>
                </a:rPr>
                <a:t>因此       ．于是</a:t>
              </a:r>
              <a:r>
                <a:rPr kumimoji="1" lang="zh-CN" altLang="en-US" sz="2800">
                  <a:latin typeface="Times New Roman" panose="02020603050405020304" pitchFamily="18" charset="0"/>
                </a:rPr>
                <a:t>“</a:t>
              </a:r>
              <a:r>
                <a:rPr kumimoji="1" lang="zh-CN" altLang="en-US" sz="2800">
                  <a:latin typeface="宋体" panose="02010600030101010101" pitchFamily="2" charset="-122"/>
                </a:rPr>
                <a:t> </a:t>
              </a:r>
              <a:r>
                <a:rPr kumimoji="1" lang="zh-CN" altLang="en-US" sz="2800">
                  <a:latin typeface="Times New Roman" panose="02020603050405020304" pitchFamily="18" charset="0"/>
                </a:rPr>
                <a:t>”</a:t>
              </a:r>
              <a:r>
                <a:rPr kumimoji="1" lang="zh-CN" altLang="en-US" sz="2800">
                  <a:latin typeface="宋体" panose="02010600030101010101" pitchFamily="2" charset="-122"/>
                </a:rPr>
                <a:t>是   的代数运算．</a:t>
              </a:r>
              <a:r>
                <a:rPr kumimoji="1" lang="zh-CN" altLang="en-US" sz="1400">
                  <a:latin typeface="宋体" panose="02010600030101010101" pitchFamily="2" charset="-122"/>
                </a:rPr>
                <a:t> </a:t>
              </a: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6104" name="Object 24"/>
            <p:cNvGraphicFramePr>
              <a:graphicFrameLocks noChangeAspect="1"/>
            </p:cNvGraphicFramePr>
            <p:nvPr/>
          </p:nvGraphicFramePr>
          <p:xfrm>
            <a:off x="816" y="3504"/>
            <a:ext cx="774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940" r:id="rId16" imgW="1231366" imgH="482391" progId="Equation.DSMT4">
                    <p:embed/>
                  </p:oleObj>
                </mc:Choice>
                <mc:Fallback>
                  <p:oleObj r:id="rId16" imgW="1231366" imgH="48239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3504"/>
                          <a:ext cx="774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108" name="Object 28"/>
            <p:cNvGraphicFramePr>
              <a:graphicFrameLocks noChangeAspect="1"/>
            </p:cNvGraphicFramePr>
            <p:nvPr/>
          </p:nvGraphicFramePr>
          <p:xfrm>
            <a:off x="3027" y="3536"/>
            <a:ext cx="282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941" r:id="rId18" imgW="444307" imgH="482391" progId="Equation.DSMT4">
                    <p:embed/>
                  </p:oleObj>
                </mc:Choice>
                <mc:Fallback>
                  <p:oleObj r:id="rId18" imgW="444307" imgH="48239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7" y="3536"/>
                          <a:ext cx="282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115" name="Object 35"/>
            <p:cNvGraphicFramePr>
              <a:graphicFrameLocks noChangeAspect="1"/>
            </p:cNvGraphicFramePr>
            <p:nvPr/>
          </p:nvGraphicFramePr>
          <p:xfrm>
            <a:off x="2482" y="3648"/>
            <a:ext cx="64" cy="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942" name="Equation" r:id="rId20" imgW="101520" imgH="164880" progId="Equation.DSMT4">
                    <p:embed/>
                  </p:oleObj>
                </mc:Choice>
                <mc:Fallback>
                  <p:oleObj name="Equation" r:id="rId20" imgW="10152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2" y="3648"/>
                          <a:ext cx="64" cy="1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6119" name="Object 39"/>
          <p:cNvGraphicFramePr>
            <a:graphicFrameLocks noChangeAspect="1"/>
          </p:cNvGraphicFramePr>
          <p:nvPr/>
        </p:nvGraphicFramePr>
        <p:xfrm>
          <a:off x="1371600" y="2286000"/>
          <a:ext cx="71374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43" name="Equation" r:id="rId22" imgW="7137360" imgH="1117440" progId="Equation.DSMT4">
                  <p:embed/>
                </p:oleObj>
              </mc:Choice>
              <mc:Fallback>
                <p:oleObj name="Equation" r:id="rId22" imgW="7137360" imgH="1117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286000"/>
                        <a:ext cx="713740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388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46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500"/>
                                        <p:tgtEl>
                                          <p:spTgt spid="46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7" dur="500"/>
                                        <p:tgtEl>
                                          <p:spTgt spid="46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71" name="Group 43"/>
          <p:cNvGrpSpPr>
            <a:grpSpLocks/>
          </p:cNvGrpSpPr>
          <p:nvPr/>
        </p:nvGrpSpPr>
        <p:grpSpPr bwMode="auto">
          <a:xfrm>
            <a:off x="1219200" y="2133600"/>
            <a:ext cx="9144000" cy="561975"/>
            <a:chOff x="768" y="1344"/>
            <a:chExt cx="5760" cy="354"/>
          </a:xfrm>
        </p:grpSpPr>
        <p:sp>
          <p:nvSpPr>
            <p:cNvPr id="48136" name="Rectangle 8"/>
            <p:cNvSpPr>
              <a:spLocks noChangeArrowheads="1"/>
            </p:cNvSpPr>
            <p:nvPr/>
          </p:nvSpPr>
          <p:spPr bwMode="auto">
            <a:xfrm>
              <a:off x="768" y="1344"/>
              <a:ext cx="57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800" dirty="0" smtClean="0">
                  <a:latin typeface="Times New Roman" panose="02020603050405020304" pitchFamily="18" charset="0"/>
                </a:rPr>
                <a:t>3</a:t>
              </a:r>
              <a:r>
                <a:rPr kumimoji="1" lang="en-US" altLang="zh-CN" sz="2800" dirty="0">
                  <a:latin typeface="Times New Roman" panose="02020603050405020304" pitchFamily="18" charset="0"/>
                </a:rPr>
                <a:t>) </a:t>
              </a:r>
              <a:r>
                <a:rPr kumimoji="1" lang="zh-CN" altLang="en-US" sz="2800" dirty="0">
                  <a:latin typeface="宋体" panose="02010600030101010101" pitchFamily="2" charset="-122"/>
                </a:rPr>
                <a:t>由于      ，且对任意的      ，</a:t>
              </a:r>
              <a:r>
                <a:rPr kumimoji="1" lang="zh-CN" altLang="en-US" sz="1400" dirty="0">
                  <a:latin typeface="宋体" panose="02010600030101010101" pitchFamily="2" charset="-122"/>
                </a:rPr>
                <a:t> </a:t>
              </a:r>
              <a:endParaRPr kumimoji="1" lang="zh-CN" altLang="en-US" sz="24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8137" name="Object 9"/>
            <p:cNvGraphicFramePr>
              <a:graphicFrameLocks noChangeAspect="1"/>
            </p:cNvGraphicFramePr>
            <p:nvPr/>
          </p:nvGraphicFramePr>
          <p:xfrm>
            <a:off x="1632" y="1392"/>
            <a:ext cx="630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958" r:id="rId4" imgW="1002865" imgH="482391" progId="Equation.DSMT4">
                    <p:embed/>
                  </p:oleObj>
                </mc:Choice>
                <mc:Fallback>
                  <p:oleObj r:id="rId4" imgW="1002865" imgH="48239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1392"/>
                          <a:ext cx="630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39" name="Object 11"/>
            <p:cNvGraphicFramePr>
              <a:graphicFrameLocks noChangeAspect="1"/>
            </p:cNvGraphicFramePr>
            <p:nvPr/>
          </p:nvGraphicFramePr>
          <p:xfrm>
            <a:off x="3684" y="1360"/>
            <a:ext cx="582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959" name="Equation" r:id="rId6" imgW="927000" imgH="431640" progId="Equation.DSMT4">
                    <p:embed/>
                  </p:oleObj>
                </mc:Choice>
                <mc:Fallback>
                  <p:oleObj name="Equation" r:id="rId6" imgW="92700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4" y="1360"/>
                          <a:ext cx="582" cy="27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8145" name="Object 17"/>
          <p:cNvGraphicFramePr>
            <a:graphicFrameLocks noChangeAspect="1"/>
          </p:cNvGraphicFramePr>
          <p:nvPr/>
        </p:nvGraphicFramePr>
        <p:xfrm>
          <a:off x="2711450" y="2908300"/>
          <a:ext cx="197802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60" name="Equation" r:id="rId8" imgW="1981080" imgH="317160" progId="Equation.DSMT4">
                  <p:embed/>
                </p:oleObj>
              </mc:Choice>
              <mc:Fallback>
                <p:oleObj name="Equation" r:id="rId8" imgW="1981080" imgH="317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2908300"/>
                        <a:ext cx="1978025" cy="31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172" name="Group 44"/>
          <p:cNvGrpSpPr>
            <a:grpSpLocks/>
          </p:cNvGrpSpPr>
          <p:nvPr/>
        </p:nvGrpSpPr>
        <p:grpSpPr bwMode="auto">
          <a:xfrm>
            <a:off x="381000" y="3505200"/>
            <a:ext cx="9144000" cy="561975"/>
            <a:chOff x="240" y="2208"/>
            <a:chExt cx="5760" cy="354"/>
          </a:xfrm>
        </p:grpSpPr>
        <p:sp>
          <p:nvSpPr>
            <p:cNvPr id="48144" name="Rectangle 16"/>
            <p:cNvSpPr>
              <a:spLocks noChangeArrowheads="1"/>
            </p:cNvSpPr>
            <p:nvPr/>
          </p:nvSpPr>
          <p:spPr bwMode="auto">
            <a:xfrm>
              <a:off x="240" y="2208"/>
              <a:ext cx="57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>
                  <a:latin typeface="宋体" panose="02010600030101010101" pitchFamily="2" charset="-122"/>
                </a:rPr>
                <a:t>所以</a:t>
              </a:r>
              <a:r>
                <a:rPr kumimoji="1" lang="en-US" altLang="zh-CN" sz="2800">
                  <a:latin typeface="宋体" panose="02010600030101010101" pitchFamily="2" charset="-122"/>
                </a:rPr>
                <a:t>1</a:t>
              </a:r>
              <a:r>
                <a:rPr kumimoji="1" lang="zh-CN" altLang="en-US" sz="2800">
                  <a:latin typeface="宋体" panose="02010600030101010101" pitchFamily="2" charset="-122"/>
                </a:rPr>
                <a:t>为  的单位元．</a:t>
              </a:r>
              <a:r>
                <a:rPr kumimoji="1" lang="zh-CN" altLang="en-US" sz="1400">
                  <a:latin typeface="宋体" panose="02010600030101010101" pitchFamily="2" charset="-122"/>
                </a:rPr>
                <a:t> </a:t>
              </a: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8147" name="Object 19"/>
            <p:cNvGraphicFramePr>
              <a:graphicFrameLocks noChangeAspect="1"/>
            </p:cNvGraphicFramePr>
            <p:nvPr/>
          </p:nvGraphicFramePr>
          <p:xfrm>
            <a:off x="1056" y="2256"/>
            <a:ext cx="282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961" r:id="rId10" imgW="444307" imgH="482391" progId="Equation.DSMT4">
                    <p:embed/>
                  </p:oleObj>
                </mc:Choice>
                <mc:Fallback>
                  <p:oleObj r:id="rId10" imgW="444307" imgH="48239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2256"/>
                          <a:ext cx="282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173" name="Group 45"/>
          <p:cNvGrpSpPr>
            <a:grpSpLocks/>
          </p:cNvGrpSpPr>
          <p:nvPr/>
        </p:nvGrpSpPr>
        <p:grpSpPr bwMode="auto">
          <a:xfrm>
            <a:off x="1219200" y="4191000"/>
            <a:ext cx="9144000" cy="536575"/>
            <a:chOff x="768" y="2640"/>
            <a:chExt cx="5760" cy="338"/>
          </a:xfrm>
        </p:grpSpPr>
        <p:sp>
          <p:nvSpPr>
            <p:cNvPr id="48150" name="Rectangle 22"/>
            <p:cNvSpPr>
              <a:spLocks noChangeArrowheads="1"/>
            </p:cNvSpPr>
            <p:nvPr/>
          </p:nvSpPr>
          <p:spPr bwMode="auto">
            <a:xfrm>
              <a:off x="768" y="2640"/>
              <a:ext cx="57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800" dirty="0" smtClean="0">
                  <a:latin typeface="Times New Roman" panose="02020603050405020304" pitchFamily="18" charset="0"/>
                </a:rPr>
                <a:t>4</a:t>
              </a:r>
              <a:r>
                <a:rPr kumimoji="1" lang="en-US" altLang="zh-CN" sz="2800" dirty="0">
                  <a:latin typeface="Times New Roman" panose="02020603050405020304" pitchFamily="18" charset="0"/>
                </a:rPr>
                <a:t>) </a:t>
              </a:r>
              <a:r>
                <a:rPr kumimoji="1" lang="zh-CN" altLang="en-US" sz="2800" dirty="0">
                  <a:latin typeface="宋体" panose="02010600030101010101" pitchFamily="2" charset="-122"/>
                </a:rPr>
                <a:t>对任意的       ，有         ，且</a:t>
              </a:r>
              <a:r>
                <a:rPr kumimoji="1" lang="zh-CN" altLang="en-US" sz="1400" dirty="0">
                  <a:latin typeface="宋体" panose="02010600030101010101" pitchFamily="2" charset="-122"/>
                </a:rPr>
                <a:t> </a:t>
              </a:r>
            </a:p>
          </p:txBody>
        </p:sp>
        <p:graphicFrame>
          <p:nvGraphicFramePr>
            <p:cNvPr id="48151" name="Object 23"/>
            <p:cNvGraphicFramePr>
              <a:graphicFrameLocks noChangeAspect="1"/>
            </p:cNvGraphicFramePr>
            <p:nvPr/>
          </p:nvGraphicFramePr>
          <p:xfrm>
            <a:off x="2148" y="2704"/>
            <a:ext cx="582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962" name="Equation" r:id="rId12" imgW="927000" imgH="431640" progId="Equation.DSMT4">
                    <p:embed/>
                  </p:oleObj>
                </mc:Choice>
                <mc:Fallback>
                  <p:oleObj name="Equation" r:id="rId12" imgW="92700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8" y="2704"/>
                          <a:ext cx="582" cy="27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52" name="Object 24"/>
            <p:cNvGraphicFramePr>
              <a:graphicFrameLocks noChangeAspect="1"/>
            </p:cNvGraphicFramePr>
            <p:nvPr/>
          </p:nvGraphicFramePr>
          <p:xfrm>
            <a:off x="3316" y="2660"/>
            <a:ext cx="814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963" name="Equation" r:id="rId14" imgW="1295280" imgH="469800" progId="Equation.DSMT4">
                    <p:embed/>
                  </p:oleObj>
                </mc:Choice>
                <mc:Fallback>
                  <p:oleObj name="Equation" r:id="rId14" imgW="1295280" imgH="469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6" y="2660"/>
                          <a:ext cx="814" cy="2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8154" name="Object 26"/>
          <p:cNvGraphicFramePr>
            <a:graphicFrameLocks noChangeAspect="1"/>
          </p:cNvGraphicFramePr>
          <p:nvPr/>
        </p:nvGraphicFramePr>
        <p:xfrm>
          <a:off x="2584450" y="4832350"/>
          <a:ext cx="35274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64" name="Equation" r:id="rId16" imgW="3530520" imgH="431640" progId="Equation.DSMT4">
                  <p:embed/>
                </p:oleObj>
              </mc:Choice>
              <mc:Fallback>
                <p:oleObj name="Equation" r:id="rId16" imgW="35305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4450" y="4832350"/>
                        <a:ext cx="3527425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174" name="Group 46"/>
          <p:cNvGrpSpPr>
            <a:grpSpLocks/>
          </p:cNvGrpSpPr>
          <p:nvPr/>
        </p:nvGrpSpPr>
        <p:grpSpPr bwMode="auto">
          <a:xfrm>
            <a:off x="457200" y="5486400"/>
            <a:ext cx="9144000" cy="519113"/>
            <a:chOff x="288" y="3456"/>
            <a:chExt cx="5760" cy="327"/>
          </a:xfrm>
        </p:grpSpPr>
        <p:sp>
          <p:nvSpPr>
            <p:cNvPr id="48158" name="Rectangle 30"/>
            <p:cNvSpPr>
              <a:spLocks noChangeArrowheads="1"/>
            </p:cNvSpPr>
            <p:nvPr/>
          </p:nvSpPr>
          <p:spPr bwMode="auto">
            <a:xfrm>
              <a:off x="288" y="3456"/>
              <a:ext cx="57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/>
              <a:r>
                <a:rPr kumimoji="1" lang="zh-CN" altLang="en-US" sz="2800">
                  <a:latin typeface="Times New Roman" panose="02020603050405020304" pitchFamily="18" charset="0"/>
                </a:rPr>
                <a:t>所以  有逆元         ．</a:t>
              </a:r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8159" name="Object 31"/>
            <p:cNvGraphicFramePr>
              <a:graphicFrameLocks noChangeAspect="1"/>
            </p:cNvGraphicFramePr>
            <p:nvPr/>
          </p:nvGraphicFramePr>
          <p:xfrm>
            <a:off x="776" y="3560"/>
            <a:ext cx="134" cy="1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965" name="Equation" r:id="rId18" imgW="215640" imgH="228600" progId="Equation.DSMT4">
                    <p:embed/>
                  </p:oleObj>
                </mc:Choice>
                <mc:Fallback>
                  <p:oleObj name="Equation" r:id="rId18" imgW="2156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6" y="3560"/>
                          <a:ext cx="134" cy="14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61" name="Object 33"/>
            <p:cNvGraphicFramePr>
              <a:graphicFrameLocks noChangeAspect="1"/>
            </p:cNvGraphicFramePr>
            <p:nvPr/>
          </p:nvGraphicFramePr>
          <p:xfrm>
            <a:off x="1656" y="3471"/>
            <a:ext cx="342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966" name="Equation" r:id="rId20" imgW="545760" imgH="380880" progId="Equation.DSMT4">
                    <p:embed/>
                  </p:oleObj>
                </mc:Choice>
                <mc:Fallback>
                  <p:oleObj name="Equation" r:id="rId20" imgW="54576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6" y="3471"/>
                          <a:ext cx="342" cy="2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133" name="Rectangle 5"/>
          <p:cNvSpPr>
            <a:spLocks noChangeArrowheads="1"/>
          </p:cNvSpPr>
          <p:nvPr/>
        </p:nvSpPr>
        <p:spPr bwMode="auto">
          <a:xfrm>
            <a:off x="457200" y="1447800"/>
            <a:ext cx="914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1" lang="zh-CN" altLang="en-US" sz="2800">
                <a:latin typeface="Times New Roman" panose="02020603050405020304" pitchFamily="18" charset="0"/>
              </a:rPr>
              <a:t>的乘法也满足交换律和结合律．</a:t>
            </a:r>
            <a:r>
              <a:rPr kumimoji="1" lang="zh-CN" altLang="en-US" sz="2800">
                <a:latin typeface="宋体" panose="02010600030101010101" pitchFamily="2" charset="-122"/>
              </a:rPr>
              <a:t> 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48175" name="Group 47"/>
          <p:cNvGrpSpPr>
            <a:grpSpLocks/>
          </p:cNvGrpSpPr>
          <p:nvPr/>
        </p:nvGrpSpPr>
        <p:grpSpPr bwMode="auto">
          <a:xfrm>
            <a:off x="1219200" y="762000"/>
            <a:ext cx="7458075" cy="561975"/>
            <a:chOff x="768" y="480"/>
            <a:chExt cx="4698" cy="354"/>
          </a:xfrm>
        </p:grpSpPr>
        <p:sp>
          <p:nvSpPr>
            <p:cNvPr id="48167" name="Rectangle 39"/>
            <p:cNvSpPr>
              <a:spLocks noChangeArrowheads="1"/>
            </p:cNvSpPr>
            <p:nvPr/>
          </p:nvSpPr>
          <p:spPr bwMode="auto">
            <a:xfrm>
              <a:off x="768" y="480"/>
              <a:ext cx="44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just"/>
              <a:r>
                <a:rPr kumimoji="1" lang="en-US" altLang="zh-CN" sz="2800" dirty="0" smtClean="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  <a:r>
                <a:rPr kumimoji="1"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) </a:t>
              </a:r>
              <a:r>
                <a:rPr kumimoji="1" lang="zh-CN" altLang="en-US" sz="2800" dirty="0">
                  <a:solidFill>
                    <a:schemeClr val="tx2"/>
                  </a:solidFill>
                  <a:latin typeface="宋体" panose="02010600030101010101" pitchFamily="2" charset="-122"/>
                </a:rPr>
                <a:t>因为数的乘法满足交换律和结合律，所以</a:t>
              </a:r>
            </a:p>
          </p:txBody>
        </p:sp>
        <p:graphicFrame>
          <p:nvGraphicFramePr>
            <p:cNvPr id="48169" name="Object 41"/>
            <p:cNvGraphicFramePr>
              <a:graphicFrameLocks noChangeAspect="1"/>
            </p:cNvGraphicFramePr>
            <p:nvPr/>
          </p:nvGraphicFramePr>
          <p:xfrm>
            <a:off x="5184" y="528"/>
            <a:ext cx="282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1967" r:id="rId22" imgW="444307" imgH="482391" progId="Equation.DSMT4">
                    <p:embed/>
                  </p:oleObj>
                </mc:Choice>
                <mc:Fallback>
                  <p:oleObj r:id="rId22" imgW="444307" imgH="48239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4" y="528"/>
                          <a:ext cx="282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64191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48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48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48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48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500"/>
                                        <p:tgtEl>
                                          <p:spTgt spid="48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7" dur="500"/>
                                        <p:tgtEl>
                                          <p:spTgt spid="48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2" dur="500"/>
                                        <p:tgtEl>
                                          <p:spTgt spid="48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3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904" name="Group 8"/>
          <p:cNvGrpSpPr>
            <a:grpSpLocks/>
          </p:cNvGrpSpPr>
          <p:nvPr/>
        </p:nvGrpSpPr>
        <p:grpSpPr bwMode="auto">
          <a:xfrm>
            <a:off x="533400" y="685800"/>
            <a:ext cx="9144000" cy="519113"/>
            <a:chOff x="336" y="432"/>
            <a:chExt cx="5760" cy="327"/>
          </a:xfrm>
        </p:grpSpPr>
        <p:sp>
          <p:nvSpPr>
            <p:cNvPr id="80898" name="Rectangle 2"/>
            <p:cNvSpPr>
              <a:spLocks noChangeArrowheads="1"/>
            </p:cNvSpPr>
            <p:nvPr/>
          </p:nvSpPr>
          <p:spPr bwMode="auto">
            <a:xfrm>
              <a:off x="336" y="432"/>
              <a:ext cx="57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>
                  <a:latin typeface="宋体" panose="02010600030101010101" pitchFamily="2" charset="-122"/>
                </a:rPr>
                <a:t>因此   关于数的乘法构成一个群．通常称这个</a:t>
              </a:r>
              <a:r>
                <a:rPr kumimoji="1" lang="zh-CN" altLang="en-US" sz="2800">
                  <a:latin typeface="Times New Roman" panose="02020603050405020304" pitchFamily="18" charset="0"/>
                </a:rPr>
                <a:t>群为 </a:t>
              </a:r>
            </a:p>
          </p:txBody>
        </p:sp>
        <p:graphicFrame>
          <p:nvGraphicFramePr>
            <p:cNvPr id="80899" name="Object 3"/>
            <p:cNvGraphicFramePr>
              <a:graphicFrameLocks noChangeAspect="1"/>
            </p:cNvGraphicFramePr>
            <p:nvPr/>
          </p:nvGraphicFramePr>
          <p:xfrm>
            <a:off x="912" y="453"/>
            <a:ext cx="282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22" r:id="rId4" imgW="444307" imgH="482391" progId="Equation.DSMT4">
                    <p:embed/>
                  </p:oleObj>
                </mc:Choice>
                <mc:Fallback>
                  <p:oleObj r:id="rId4" imgW="444307" imgH="48239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453"/>
                          <a:ext cx="282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0905" name="Group 9"/>
          <p:cNvGrpSpPr>
            <a:grpSpLocks/>
          </p:cNvGrpSpPr>
          <p:nvPr/>
        </p:nvGrpSpPr>
        <p:grpSpPr bwMode="auto">
          <a:xfrm>
            <a:off x="609600" y="1447800"/>
            <a:ext cx="9144000" cy="884238"/>
            <a:chOff x="384" y="912"/>
            <a:chExt cx="5760" cy="557"/>
          </a:xfrm>
        </p:grpSpPr>
        <p:sp>
          <p:nvSpPr>
            <p:cNvPr id="80900" name="Rectangle 4"/>
            <p:cNvSpPr>
              <a:spLocks noChangeArrowheads="1"/>
            </p:cNvSpPr>
            <p:nvPr/>
          </p:nvSpPr>
          <p:spPr bwMode="auto">
            <a:xfrm>
              <a:off x="384" y="912"/>
              <a:ext cx="5760" cy="5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/>
              <a:r>
                <a:rPr kumimoji="1" lang="en-US" altLang="zh-CN" sz="2800" b="1" dirty="0">
                  <a:latin typeface="Times New Roman" panose="02020603050405020304" pitchFamily="18" charset="0"/>
                </a:rPr>
                <a:t>  </a:t>
              </a:r>
              <a:r>
                <a:rPr kumimoji="1" lang="zh-CN" altLang="en-US" sz="2800" b="1" dirty="0">
                  <a:latin typeface="Times New Roman" panose="02020603050405020304" pitchFamily="18" charset="0"/>
                </a:rPr>
                <a:t>次单位根群</a:t>
              </a:r>
              <a:r>
                <a:rPr kumimoji="1" lang="zh-CN" altLang="en-US" sz="2800" dirty="0">
                  <a:latin typeface="Times New Roman" panose="02020603050405020304" pitchFamily="18" charset="0"/>
                </a:rPr>
                <a:t>，显然    是一个</a:t>
              </a:r>
              <a:r>
                <a:rPr kumimoji="1" lang="zh-CN" altLang="en-US" sz="2800" dirty="0" smtClean="0">
                  <a:latin typeface="Times New Roman" panose="02020603050405020304" pitchFamily="18" charset="0"/>
                </a:rPr>
                <a:t>具有   </a:t>
              </a:r>
              <a:r>
                <a:rPr kumimoji="1" lang="zh-CN" altLang="en-US" sz="2800" dirty="0">
                  <a:latin typeface="Times New Roman" panose="02020603050405020304" pitchFamily="18" charset="0"/>
                </a:rPr>
                <a:t>个元素的交换群．</a:t>
              </a:r>
              <a:endParaRPr kumimoji="1" lang="zh-CN" altLang="en-US" sz="1000" dirty="0">
                <a:latin typeface="宋体" panose="02010600030101010101" pitchFamily="2" charset="-122"/>
              </a:endParaRPr>
            </a:p>
            <a:p>
              <a:pPr eaLnBrk="0" hangingPunct="0"/>
              <a:endParaRPr kumimoji="1" lang="en-US" altLang="zh-CN" sz="24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80901" name="Object 5"/>
            <p:cNvGraphicFramePr>
              <a:graphicFrameLocks noChangeAspect="1"/>
            </p:cNvGraphicFramePr>
            <p:nvPr/>
          </p:nvGraphicFramePr>
          <p:xfrm>
            <a:off x="394" y="970"/>
            <a:ext cx="16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23" name="Equation" r:id="rId6" imgW="215640" imgH="228600" progId="Equation.DSMT4">
                    <p:embed/>
                  </p:oleObj>
                </mc:Choice>
                <mc:Fallback>
                  <p:oleObj name="Equation" r:id="rId6" imgW="2156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" y="970"/>
                          <a:ext cx="167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902" name="Object 6"/>
            <p:cNvGraphicFramePr>
              <a:graphicFrameLocks noChangeAspect="1"/>
            </p:cNvGraphicFramePr>
            <p:nvPr/>
          </p:nvGraphicFramePr>
          <p:xfrm>
            <a:off x="3696" y="1008"/>
            <a:ext cx="187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24" name="Equation" r:id="rId8" imgW="241200" imgH="253800" progId="Equation.DSMT4">
                    <p:embed/>
                  </p:oleObj>
                </mc:Choice>
                <mc:Fallback>
                  <p:oleObj name="Equation" r:id="rId8" imgW="24120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1008"/>
                          <a:ext cx="187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903" name="Object 7"/>
            <p:cNvGraphicFramePr>
              <a:graphicFrameLocks noChangeAspect="1"/>
            </p:cNvGraphicFramePr>
            <p:nvPr/>
          </p:nvGraphicFramePr>
          <p:xfrm>
            <a:off x="2352" y="960"/>
            <a:ext cx="282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25" r:id="rId10" imgW="444307" imgH="482391" progId="Equation.DSMT4">
                    <p:embed/>
                  </p:oleObj>
                </mc:Choice>
                <mc:Fallback>
                  <p:oleObj r:id="rId10" imgW="444307" imgH="48239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2" y="960"/>
                          <a:ext cx="282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24167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80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80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26" name="Rectangle 18"/>
          <p:cNvSpPr>
            <a:spLocks noChangeArrowheads="1"/>
          </p:cNvSpPr>
          <p:nvPr/>
        </p:nvSpPr>
        <p:spPr bwMode="auto">
          <a:xfrm>
            <a:off x="1371600" y="762000"/>
            <a:ext cx="914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dirty="0" smtClean="0">
                <a:latin typeface="宋体" panose="02010600030101010101" pitchFamily="2" charset="-122"/>
              </a:rPr>
              <a:t>习惯</a:t>
            </a:r>
            <a:r>
              <a:rPr kumimoji="1" lang="zh-CN" altLang="en-US" sz="2800" dirty="0">
                <a:latin typeface="宋体" panose="02010600030101010101" pitchFamily="2" charset="-122"/>
              </a:rPr>
              <a:t>上，只有当群为交换群时，才用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“</a:t>
            </a:r>
            <a:r>
              <a:rPr kumimoji="1" lang="zh-CN" altLang="en-US" sz="2800" dirty="0">
                <a:latin typeface="宋体" panose="02010600030101010101" pitchFamily="2" charset="-122"/>
              </a:rPr>
              <a:t>＋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”</a:t>
            </a:r>
            <a:endParaRPr kumimoji="1" lang="zh-CN" altLang="en-US" sz="1400" dirty="0">
              <a:latin typeface="宋体" panose="02010600030101010101" pitchFamily="2" charset="-122"/>
            </a:endParaRPr>
          </a:p>
        </p:txBody>
      </p:sp>
      <p:sp>
        <p:nvSpPr>
          <p:cNvPr id="43027" name="Rectangle 19"/>
          <p:cNvSpPr>
            <a:spLocks noChangeArrowheads="1"/>
          </p:cNvSpPr>
          <p:nvPr/>
        </p:nvSpPr>
        <p:spPr bwMode="auto">
          <a:xfrm>
            <a:off x="457200" y="1447800"/>
            <a:ext cx="914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>
                <a:latin typeface="宋体" panose="02010600030101010101" pitchFamily="2" charset="-122"/>
              </a:rPr>
              <a:t>来表</a:t>
            </a:r>
            <a:r>
              <a:rPr kumimoji="1" lang="zh-CN" altLang="en-US" sz="1400">
                <a:latin typeface="宋体" panose="02010600030101010101" pitchFamily="2" charset="-122"/>
              </a:rPr>
              <a:t> </a:t>
            </a:r>
            <a:r>
              <a:rPr kumimoji="1" lang="zh-CN" altLang="en-US" sz="2800">
                <a:latin typeface="宋体" panose="02010600030101010101" pitchFamily="2" charset="-122"/>
              </a:rPr>
              <a:t>示群的运算，并称这个运算为</a:t>
            </a:r>
            <a:r>
              <a:rPr kumimoji="1" lang="zh-CN" altLang="en-US" sz="2800" b="1">
                <a:latin typeface="宋体" panose="02010600030101010101" pitchFamily="2" charset="-122"/>
              </a:rPr>
              <a:t>加法</a:t>
            </a:r>
            <a:r>
              <a:rPr kumimoji="1" lang="zh-CN" altLang="en-US" sz="2800">
                <a:latin typeface="宋体" panose="02010600030101010101" pitchFamily="2" charset="-122"/>
              </a:rPr>
              <a:t>，把运算的</a:t>
            </a:r>
            <a:endParaRPr kumimoji="1" lang="zh-CN" altLang="en-US" sz="1400">
              <a:latin typeface="宋体" panose="02010600030101010101" pitchFamily="2" charset="-122"/>
            </a:endParaRPr>
          </a:p>
        </p:txBody>
      </p:sp>
      <p:sp>
        <p:nvSpPr>
          <p:cNvPr id="43028" name="Rectangle 20"/>
          <p:cNvSpPr>
            <a:spLocks noChangeArrowheads="1"/>
          </p:cNvSpPr>
          <p:nvPr/>
        </p:nvSpPr>
        <p:spPr bwMode="auto">
          <a:xfrm>
            <a:off x="457200" y="2133600"/>
            <a:ext cx="914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>
                <a:latin typeface="宋体" panose="02010600030101010101" pitchFamily="2" charset="-122"/>
              </a:rPr>
              <a:t>结果叫做</a:t>
            </a:r>
            <a:r>
              <a:rPr kumimoji="1" lang="zh-CN" altLang="en-US" sz="2800" b="1">
                <a:latin typeface="宋体" panose="02010600030101010101" pitchFamily="2" charset="-122"/>
              </a:rPr>
              <a:t>和</a:t>
            </a:r>
            <a:r>
              <a:rPr kumimoji="1" lang="zh-CN" altLang="en-US" sz="2800">
                <a:latin typeface="宋体" panose="02010600030101010101" pitchFamily="2" charset="-122"/>
              </a:rPr>
              <a:t>，同时称这样的群为</a:t>
            </a:r>
            <a:r>
              <a:rPr kumimoji="1" lang="zh-CN" altLang="en-US" sz="2800" b="1">
                <a:latin typeface="宋体" panose="02010600030101010101" pitchFamily="2" charset="-122"/>
              </a:rPr>
              <a:t>加群</a:t>
            </a:r>
            <a:r>
              <a:rPr kumimoji="1" lang="zh-CN" altLang="en-US" sz="2800">
                <a:latin typeface="宋体" panose="02010600030101010101" pitchFamily="2" charset="-122"/>
              </a:rPr>
              <a:t>．相应地</a:t>
            </a:r>
            <a:r>
              <a:rPr kumimoji="1" lang="en-US" altLang="zh-CN" sz="2800">
                <a:latin typeface="宋体" panose="02010600030101010101" pitchFamily="2" charset="-122"/>
              </a:rPr>
              <a:t>, </a:t>
            </a:r>
            <a:r>
              <a:rPr kumimoji="1" lang="zh-CN" altLang="en-US" sz="2800">
                <a:latin typeface="宋体" panose="02010600030101010101" pitchFamily="2" charset="-122"/>
              </a:rPr>
              <a:t>将</a:t>
            </a:r>
          </a:p>
        </p:txBody>
      </p:sp>
      <p:sp>
        <p:nvSpPr>
          <p:cNvPr id="43029" name="Rectangle 21"/>
          <p:cNvSpPr>
            <a:spLocks noChangeArrowheads="1"/>
          </p:cNvSpPr>
          <p:nvPr/>
        </p:nvSpPr>
        <p:spPr bwMode="auto">
          <a:xfrm>
            <a:off x="457200" y="2819400"/>
            <a:ext cx="914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>
                <a:latin typeface="宋体" panose="02010600030101010101" pitchFamily="2" charset="-122"/>
              </a:rPr>
              <a:t>不是加群的群称为</a:t>
            </a:r>
            <a:r>
              <a:rPr kumimoji="1" lang="zh-CN" altLang="en-US" sz="2800" b="1">
                <a:latin typeface="宋体" panose="02010600030101010101" pitchFamily="2" charset="-122"/>
              </a:rPr>
              <a:t>乘群</a:t>
            </a:r>
            <a:r>
              <a:rPr kumimoji="1" lang="zh-CN" altLang="en-US" sz="2800">
                <a:latin typeface="宋体" panose="02010600030101010101" pitchFamily="2" charset="-122"/>
              </a:rPr>
              <a:t>，并把乘群的运算叫做</a:t>
            </a:r>
            <a:r>
              <a:rPr kumimoji="1" lang="zh-CN" altLang="en-US" sz="2800" b="1">
                <a:latin typeface="宋体" panose="02010600030101010101" pitchFamily="2" charset="-122"/>
              </a:rPr>
              <a:t>乘法</a:t>
            </a:r>
            <a:r>
              <a:rPr kumimoji="1" lang="zh-CN" altLang="en-US" sz="2800">
                <a:latin typeface="宋体" panose="02010600030101010101" pitchFamily="2" charset="-122"/>
              </a:rPr>
              <a:t>，</a:t>
            </a:r>
            <a:r>
              <a:rPr kumimoji="1" lang="zh-CN" altLang="en-US" sz="1400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43030" name="Rectangle 22"/>
          <p:cNvSpPr>
            <a:spLocks noChangeArrowheads="1"/>
          </p:cNvSpPr>
          <p:nvPr/>
        </p:nvSpPr>
        <p:spPr bwMode="auto">
          <a:xfrm>
            <a:off x="457200" y="3505200"/>
            <a:ext cx="914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>
                <a:latin typeface="宋体" panose="02010600030101010101" pitchFamily="2" charset="-122"/>
              </a:rPr>
              <a:t>运算的结果叫做</a:t>
            </a:r>
            <a:r>
              <a:rPr kumimoji="1" lang="zh-CN" altLang="en-US" sz="2800" b="1">
                <a:latin typeface="宋体" panose="02010600030101010101" pitchFamily="2" charset="-122"/>
              </a:rPr>
              <a:t>积</a:t>
            </a:r>
            <a:r>
              <a:rPr kumimoji="1" lang="zh-CN" altLang="en-US" sz="2800">
                <a:latin typeface="宋体" panose="02010600030101010101" pitchFamily="2" charset="-122"/>
              </a:rPr>
              <a:t>．在运算过程中，乘群的运算符号</a:t>
            </a:r>
          </a:p>
        </p:txBody>
      </p:sp>
      <p:sp>
        <p:nvSpPr>
          <p:cNvPr id="43031" name="Rectangle 23"/>
          <p:cNvSpPr>
            <a:spLocks noChangeArrowheads="1"/>
          </p:cNvSpPr>
          <p:nvPr/>
        </p:nvSpPr>
        <p:spPr bwMode="auto">
          <a:xfrm>
            <a:off x="457200" y="4191000"/>
            <a:ext cx="914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dirty="0">
                <a:latin typeface="宋体" panose="02010600030101010101" pitchFamily="2" charset="-122"/>
              </a:rPr>
              <a:t>通常省略不写．今后，如不作特别声明，我们总假定</a:t>
            </a:r>
          </a:p>
        </p:txBody>
      </p:sp>
      <p:sp>
        <p:nvSpPr>
          <p:cNvPr id="43032" name="Rectangle 24"/>
          <p:cNvSpPr>
            <a:spLocks noChangeArrowheads="1"/>
          </p:cNvSpPr>
          <p:nvPr/>
        </p:nvSpPr>
        <p:spPr bwMode="auto">
          <a:xfrm>
            <a:off x="457200" y="4953000"/>
            <a:ext cx="914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>
                <a:latin typeface="宋体" panose="02010600030101010101" pitchFamily="2" charset="-122"/>
              </a:rPr>
              <a:t>群的运算是乘法．当然</a:t>
            </a:r>
            <a:r>
              <a:rPr kumimoji="1" lang="en-US" altLang="zh-CN" sz="2800">
                <a:latin typeface="宋体" panose="02010600030101010101" pitchFamily="2" charset="-122"/>
              </a:rPr>
              <a:t>, </a:t>
            </a:r>
            <a:r>
              <a:rPr kumimoji="1" lang="zh-CN" altLang="en-US" sz="2800">
                <a:latin typeface="宋体" panose="02010600030101010101" pitchFamily="2" charset="-122"/>
              </a:rPr>
              <a:t>所有关于乘</a:t>
            </a:r>
            <a:r>
              <a:rPr kumimoji="1" lang="zh-CN" altLang="en-US" sz="2800">
                <a:solidFill>
                  <a:schemeClr val="tx2"/>
                </a:solidFill>
                <a:latin typeface="宋体" panose="02010600030101010101" pitchFamily="2" charset="-122"/>
              </a:rPr>
              <a:t>群的结论对加群</a:t>
            </a:r>
          </a:p>
        </p:txBody>
      </p:sp>
      <p:sp>
        <p:nvSpPr>
          <p:cNvPr id="43034" name="Rectangle 26"/>
          <p:cNvSpPr>
            <a:spLocks noChangeArrowheads="1"/>
          </p:cNvSpPr>
          <p:nvPr/>
        </p:nvSpPr>
        <p:spPr bwMode="auto">
          <a:xfrm>
            <a:off x="533400" y="5562600"/>
            <a:ext cx="8540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just"/>
            <a:r>
              <a:rPr kumimoji="1" lang="zh-CN" altLang="en-US" sz="2800">
                <a:solidFill>
                  <a:schemeClr val="tx2"/>
                </a:solidFill>
                <a:latin typeface="宋体" panose="02010600030101010101" pitchFamily="2" charset="-122"/>
              </a:rPr>
              <a:t>也成立（必要时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sz="2800">
                <a:solidFill>
                  <a:schemeClr val="tx2"/>
                </a:solidFill>
                <a:latin typeface="宋体" panose="02010600030101010101" pitchFamily="2" charset="-122"/>
              </a:rPr>
              <a:t>作一些相关的</a:t>
            </a:r>
            <a:r>
              <a:rPr kumimoji="1" lang="zh-CN" altLang="en-US" sz="2800">
                <a:latin typeface="Times New Roman" panose="02020603050405020304" pitchFamily="18" charset="0"/>
              </a:rPr>
              <a:t>记号和术语上改变）．</a:t>
            </a:r>
          </a:p>
        </p:txBody>
      </p:sp>
    </p:spTree>
    <p:extLst>
      <p:ext uri="{BB962C8B-B14F-4D97-AF65-F5344CB8AC3E}">
        <p14:creationId xmlns:p14="http://schemas.microsoft.com/office/powerpoint/2010/main" val="2696099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3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26" grpId="0" autoUpdateAnimBg="0"/>
      <p:bldP spid="43027" grpId="0" autoUpdateAnimBg="0"/>
      <p:bldP spid="43028" grpId="0" autoUpdateAnimBg="0"/>
      <p:bldP spid="43029" grpId="0" autoUpdateAnimBg="0"/>
      <p:bldP spid="43030" grpId="0" autoUpdateAnimBg="0"/>
      <p:bldP spid="43031" grpId="0" autoUpdateAnimBg="0"/>
      <p:bldP spid="43032" grpId="0" autoUpdateAnimBg="0"/>
      <p:bldP spid="4303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57166"/>
            <a:ext cx="8229600" cy="1143000"/>
          </a:xfrm>
        </p:spPr>
        <p:txBody>
          <a:bodyPr/>
          <a:lstStyle/>
          <a:p>
            <a:r>
              <a:rPr lang="en-US" altLang="zh-CN" dirty="0" smtClean="0"/>
              <a:t>4.2 </a:t>
            </a:r>
            <a:r>
              <a:rPr lang="zh-CN" altLang="en-US" dirty="0" smtClean="0"/>
              <a:t>群的定义和简单性质（续）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1643050"/>
            <a:ext cx="8229600" cy="571504"/>
          </a:xfrm>
        </p:spPr>
        <p:txBody>
          <a:bodyPr>
            <a:normAutofit/>
          </a:bodyPr>
          <a:lstStyle/>
          <a:p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群的一些基本性质</a:t>
            </a:r>
            <a:endParaRPr lang="en-US" altLang="zh-CN" sz="28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zh-CN" alt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151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53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53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71472" y="2214554"/>
            <a:ext cx="81439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1</a:t>
            </a:r>
            <a:r>
              <a:rPr lang="zh-CN" altLang="en-US" sz="2800" b="1" dirty="0" smtClean="0"/>
              <a:t>、（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单位元唯一</a:t>
            </a:r>
            <a:r>
              <a:rPr lang="zh-CN" altLang="en-US" sz="2800" b="1" dirty="0" smtClean="0"/>
              <a:t>）群中存在惟一元素</a:t>
            </a:r>
            <a:r>
              <a:rPr lang="en-US" altLang="zh-CN" sz="2800" b="1" dirty="0" smtClean="0"/>
              <a:t>e</a:t>
            </a:r>
            <a:r>
              <a:rPr lang="zh-CN" altLang="en-US" sz="2800" b="1" dirty="0" smtClean="0"/>
              <a:t>，使得对于所有的</a:t>
            </a:r>
            <a:r>
              <a:rPr lang="en-US" altLang="zh-CN" sz="2800" b="1" i="1" dirty="0" err="1" smtClean="0">
                <a:latin typeface="Times New Roman" pitchFamily="18" charset="0"/>
                <a:cs typeface="Times New Roman" pitchFamily="18" charset="0"/>
              </a:rPr>
              <a:t>a∈G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，有</a:t>
            </a:r>
            <a:endParaRPr lang="en-US" altLang="zh-CN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altLang="zh-CN" sz="2800" b="1" i="1" dirty="0" smtClean="0">
                <a:latin typeface="Times New Roman" pitchFamily="18" charset="0"/>
                <a:cs typeface="Times New Roman" pitchFamily="18" charset="0"/>
              </a:rPr>
              <a:t>ea=</a:t>
            </a:r>
            <a:r>
              <a:rPr lang="en-US" altLang="zh-CN" sz="2800" b="1" i="1" dirty="0" err="1" smtClean="0">
                <a:latin typeface="Times New Roman" pitchFamily="18" charset="0"/>
                <a:cs typeface="Times New Roman" pitchFamily="18" charset="0"/>
              </a:rPr>
              <a:t>ae</a:t>
            </a:r>
            <a:r>
              <a:rPr lang="en-US" altLang="zh-CN" sz="2800" b="1" i="1" dirty="0" smtClean="0">
                <a:latin typeface="Times New Roman" pitchFamily="18" charset="0"/>
                <a:cs typeface="Times New Roman" pitchFamily="18" charset="0"/>
              </a:rPr>
              <a:t>=a</a:t>
            </a:r>
            <a:endParaRPr lang="zh-CN" altLang="en-US" sz="28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0034" y="3857628"/>
            <a:ext cx="828680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证明：由群的定义可知，单位元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zh-CN" altLang="en-US" sz="2800" b="1" dirty="0" smtClean="0"/>
              <a:t>满足上述性质。假定还有另一个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e’</a:t>
            </a:r>
            <a:r>
              <a:rPr lang="zh-CN" altLang="en-US" sz="2800" b="1" dirty="0" smtClean="0"/>
              <a:t>也满足上述性质，即</a:t>
            </a:r>
            <a:endParaRPr lang="en-US" altLang="zh-CN" sz="2800" b="1" dirty="0" smtClean="0"/>
          </a:p>
          <a:p>
            <a:pPr algn="ctr"/>
            <a:r>
              <a:rPr lang="en-US" altLang="zh-CN" sz="2800" b="1" i="1" dirty="0" err="1" smtClean="0">
                <a:latin typeface="Times New Roman" pitchFamily="18" charset="0"/>
                <a:cs typeface="Times New Roman" pitchFamily="18" charset="0"/>
              </a:rPr>
              <a:t>e’a</a:t>
            </a:r>
            <a:r>
              <a:rPr lang="en-US" altLang="zh-CN" sz="2800" b="1" i="1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sz="2800" b="1" i="1" dirty="0" err="1" smtClean="0">
                <a:latin typeface="Times New Roman" pitchFamily="18" charset="0"/>
                <a:cs typeface="Times New Roman" pitchFamily="18" charset="0"/>
              </a:rPr>
              <a:t>ae</a:t>
            </a:r>
            <a:r>
              <a:rPr lang="en-US" altLang="zh-CN" sz="2800" b="1" i="1" dirty="0" smtClean="0">
                <a:latin typeface="Times New Roman" pitchFamily="18" charset="0"/>
                <a:cs typeface="Times New Roman" pitchFamily="18" charset="0"/>
              </a:rPr>
              <a:t>’=a</a:t>
            </a:r>
            <a:endParaRPr lang="en-US" altLang="zh-CN" sz="2800" b="1" dirty="0" smtClean="0"/>
          </a:p>
          <a:p>
            <a:r>
              <a:rPr lang="zh-CN" altLang="en-US" sz="2800" b="1" dirty="0" smtClean="0"/>
              <a:t>则有</a:t>
            </a:r>
            <a:r>
              <a:rPr lang="en-US" altLang="zh-CN" sz="2800" b="1" i="1" dirty="0" err="1" smtClean="0">
                <a:latin typeface="Times New Roman" pitchFamily="18" charset="0"/>
                <a:cs typeface="Times New Roman" pitchFamily="18" charset="0"/>
              </a:rPr>
              <a:t>e’e</a:t>
            </a:r>
            <a:r>
              <a:rPr lang="en-US" altLang="zh-CN" sz="2800" b="1" i="1" dirty="0" smtClean="0">
                <a:latin typeface="Times New Roman" pitchFamily="18" charset="0"/>
                <a:cs typeface="Times New Roman" pitchFamily="18" charset="0"/>
              </a:rPr>
              <a:t>=e’=e</a:t>
            </a:r>
            <a:r>
              <a:rPr lang="zh-CN" altLang="en-US" sz="2800" b="1" dirty="0" smtClean="0"/>
              <a:t>。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57166"/>
            <a:ext cx="8229600" cy="1143000"/>
          </a:xfrm>
        </p:spPr>
        <p:txBody>
          <a:bodyPr/>
          <a:lstStyle/>
          <a:p>
            <a:r>
              <a:rPr lang="en-US" altLang="zh-CN" dirty="0" smtClean="0"/>
              <a:t>4.2 </a:t>
            </a:r>
            <a:r>
              <a:rPr lang="zh-CN" altLang="en-US" dirty="0" smtClean="0"/>
              <a:t>群的定义和简单性质（续）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1643050"/>
            <a:ext cx="8229600" cy="571504"/>
          </a:xfrm>
        </p:spPr>
        <p:txBody>
          <a:bodyPr>
            <a:normAutofit/>
          </a:bodyPr>
          <a:lstStyle/>
          <a:p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群的一些基本性质</a:t>
            </a:r>
            <a:endParaRPr lang="en-US" altLang="zh-CN" sz="28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zh-CN" alt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151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53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53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71472" y="2214554"/>
            <a:ext cx="81439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2</a:t>
            </a:r>
            <a:r>
              <a:rPr lang="zh-CN" altLang="en-US" sz="2800" b="1" dirty="0" smtClean="0"/>
              <a:t>、（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逆元唯一</a:t>
            </a:r>
            <a:r>
              <a:rPr lang="zh-CN" altLang="en-US" sz="2800" b="1" dirty="0" smtClean="0"/>
              <a:t>）对于群</a:t>
            </a:r>
            <a:r>
              <a:rPr lang="en-US" altLang="zh-CN" sz="2800" b="1" dirty="0" smtClean="0"/>
              <a:t>G</a:t>
            </a:r>
            <a:r>
              <a:rPr lang="zh-CN" altLang="en-US" sz="2800" b="1" dirty="0" smtClean="0"/>
              <a:t>中的任意一元素</a:t>
            </a:r>
            <a:r>
              <a:rPr lang="en-US" altLang="zh-CN" sz="2800" b="1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sz="2800" b="1" dirty="0" smtClean="0"/>
              <a:t>，存在惟一元素</a:t>
            </a:r>
            <a:r>
              <a:rPr lang="en-US" altLang="zh-CN" sz="2800" b="1" i="1" dirty="0" err="1" smtClean="0">
                <a:latin typeface="Times New Roman" pitchFamily="18" charset="0"/>
                <a:cs typeface="Times New Roman" pitchFamily="18" charset="0"/>
              </a:rPr>
              <a:t>b∈G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，使得</a:t>
            </a:r>
            <a:endParaRPr lang="en-US" altLang="zh-CN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altLang="zh-CN" sz="2800" b="1" i="1" dirty="0" err="1" smtClean="0"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altLang="zh-CN" sz="2800" b="1" i="1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sz="2800" b="1" i="1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altLang="zh-CN" sz="2800" b="1" i="1" dirty="0" smtClean="0">
                <a:latin typeface="Times New Roman" pitchFamily="18" charset="0"/>
                <a:cs typeface="Times New Roman" pitchFamily="18" charset="0"/>
              </a:rPr>
              <a:t>=e</a:t>
            </a:r>
            <a:endParaRPr lang="zh-CN" altLang="en-US" sz="28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0034" y="3857628"/>
            <a:ext cx="828680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证明：由群的定义可知，对于任意一元素</a:t>
            </a:r>
            <a:r>
              <a:rPr lang="en-US" sz="2800" b="1" dirty="0" smtClean="0"/>
              <a:t> </a:t>
            </a:r>
            <a:r>
              <a:rPr lang="en-US" altLang="zh-CN" sz="2800" b="1" i="1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zh-CN" altLang="en-US" sz="2800" b="1" dirty="0" smtClean="0"/>
              <a:t>，存在</a:t>
            </a:r>
            <a:r>
              <a:rPr lang="en-US" sz="2800" b="1" dirty="0" smtClean="0"/>
              <a:t>G</a:t>
            </a:r>
            <a:r>
              <a:rPr lang="zh-CN" altLang="en-US" sz="2800" b="1" dirty="0" smtClean="0"/>
              <a:t>中的一个元素是</a:t>
            </a:r>
            <a:r>
              <a:rPr lang="en-US" altLang="zh-CN" sz="2800" b="1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sz="2800" b="1" dirty="0" smtClean="0"/>
              <a:t>的逆元，不妨设为</a:t>
            </a:r>
            <a:r>
              <a:rPr lang="en-US" altLang="zh-CN" sz="2800" b="1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zh-CN" altLang="en-US" sz="2800" b="1" dirty="0" smtClean="0"/>
              <a:t>。假定再有一个元素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zh-CN" altLang="en-US" sz="2800" b="1" dirty="0" smtClean="0"/>
              <a:t>也具有性质</a:t>
            </a:r>
            <a:endParaRPr lang="en-US" altLang="zh-CN" sz="2800" b="1" dirty="0" smtClean="0"/>
          </a:p>
          <a:p>
            <a:pPr algn="ctr"/>
            <a:r>
              <a:rPr lang="en-US" altLang="zh-CN" sz="2800" b="1" i="1" dirty="0" smtClean="0">
                <a:latin typeface="Times New Roman" pitchFamily="18" charset="0"/>
                <a:cs typeface="Times New Roman" pitchFamily="18" charset="0"/>
              </a:rPr>
              <a:t>ca=ac=e</a:t>
            </a:r>
            <a:endParaRPr lang="en-US" altLang="zh-CN" sz="2800" b="1" dirty="0" smtClean="0"/>
          </a:p>
          <a:p>
            <a:r>
              <a:rPr lang="zh-CN" altLang="en-US" sz="2800" b="1" dirty="0" smtClean="0"/>
              <a:t>则有</a:t>
            </a:r>
            <a:endParaRPr lang="en-US" altLang="zh-CN" sz="2800" b="1" dirty="0" smtClean="0"/>
          </a:p>
          <a:p>
            <a:pPr algn="ctr"/>
            <a:r>
              <a:rPr lang="en-US" altLang="zh-CN" sz="2800" b="1" i="1" dirty="0" smtClean="0">
                <a:latin typeface="Times New Roman" pitchFamily="18" charset="0"/>
                <a:cs typeface="Times New Roman" pitchFamily="18" charset="0"/>
              </a:rPr>
              <a:t>c=</a:t>
            </a:r>
            <a:r>
              <a:rPr lang="en-US" altLang="zh-CN" sz="2800" b="1" i="1" dirty="0" err="1" smtClean="0">
                <a:latin typeface="Times New Roman" pitchFamily="18" charset="0"/>
                <a:cs typeface="Times New Roman" pitchFamily="18" charset="0"/>
              </a:rPr>
              <a:t>ce</a:t>
            </a:r>
            <a:r>
              <a:rPr lang="en-US" altLang="zh-CN" sz="2800" b="1" i="1" dirty="0" smtClean="0">
                <a:latin typeface="Times New Roman" pitchFamily="18" charset="0"/>
                <a:cs typeface="Times New Roman" pitchFamily="18" charset="0"/>
              </a:rPr>
              <a:t>=c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800" b="1" i="1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zh-CN" sz="2800" b="1" i="1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800" b="1" i="1" dirty="0" smtClean="0">
                <a:latin typeface="Times New Roman" pitchFamily="18" charset="0"/>
                <a:cs typeface="Times New Roman" pitchFamily="18" charset="0"/>
              </a:rPr>
              <a:t>ca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zh-CN" sz="2800" b="1" i="1" dirty="0" smtClean="0">
                <a:latin typeface="Times New Roman" pitchFamily="18" charset="0"/>
                <a:cs typeface="Times New Roman" pitchFamily="18" charset="0"/>
              </a:rPr>
              <a:t>b=</a:t>
            </a:r>
            <a:r>
              <a:rPr lang="en-US" altLang="zh-CN" sz="2800" b="1" i="1" dirty="0" err="1" smtClean="0">
                <a:latin typeface="Times New Roman" pitchFamily="18" charset="0"/>
                <a:cs typeface="Times New Roman" pitchFamily="18" charset="0"/>
              </a:rPr>
              <a:t>eb</a:t>
            </a:r>
            <a:r>
              <a:rPr lang="en-US" altLang="zh-CN" sz="2800" b="1" i="1" dirty="0" smtClean="0">
                <a:latin typeface="Times New Roman" pitchFamily="18" charset="0"/>
                <a:cs typeface="Times New Roman" pitchFamily="18" charset="0"/>
              </a:rPr>
              <a:t>=b</a:t>
            </a:r>
            <a:r>
              <a:rPr lang="zh-CN" altLang="en-US" sz="2800" b="1" dirty="0" smtClean="0"/>
              <a:t>。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57166"/>
            <a:ext cx="8229600" cy="1143000"/>
          </a:xfrm>
        </p:spPr>
        <p:txBody>
          <a:bodyPr/>
          <a:lstStyle/>
          <a:p>
            <a:r>
              <a:rPr lang="en-US" altLang="zh-CN" dirty="0" smtClean="0"/>
              <a:t>4.2 </a:t>
            </a:r>
            <a:r>
              <a:rPr lang="zh-CN" altLang="en-US" dirty="0" smtClean="0"/>
              <a:t>群的定义和简单性质（续）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1643050"/>
            <a:ext cx="8229600" cy="571504"/>
          </a:xfrm>
        </p:spPr>
        <p:txBody>
          <a:bodyPr>
            <a:normAutofit/>
          </a:bodyPr>
          <a:lstStyle/>
          <a:p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群的一些基本性质</a:t>
            </a:r>
            <a:endParaRPr lang="en-US" altLang="zh-CN" sz="28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zh-CN" alt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151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53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53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71472" y="2214554"/>
            <a:ext cx="81439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3</a:t>
            </a:r>
            <a:r>
              <a:rPr lang="zh-CN" altLang="en-US" sz="2800" b="1" dirty="0" smtClean="0"/>
              <a:t>、消去律。设</a:t>
            </a:r>
            <a:r>
              <a:rPr lang="en-US" altLang="zh-CN" sz="2800" b="1" i="1" dirty="0" err="1" smtClean="0">
                <a:latin typeface="Times New Roman" pitchFamily="18" charset="0"/>
                <a:cs typeface="Times New Roman" pitchFamily="18" charset="0"/>
              </a:rPr>
              <a:t>a,b,c</a:t>
            </a:r>
            <a:r>
              <a:rPr lang="zh-CN" altLang="en-US" sz="2800" b="1" dirty="0" smtClean="0"/>
              <a:t>是群</a:t>
            </a:r>
            <a:r>
              <a:rPr lang="en-US" altLang="zh-CN" sz="2800" b="1" dirty="0" smtClean="0"/>
              <a:t>G</a:t>
            </a:r>
            <a:r>
              <a:rPr lang="zh-CN" altLang="en-US" sz="2800" b="1" dirty="0" smtClean="0"/>
              <a:t>中的任意三个元素，则</a:t>
            </a:r>
            <a:endParaRPr lang="en-US" altLang="zh-CN" sz="2800" b="1" dirty="0" smtClean="0"/>
          </a:p>
          <a:p>
            <a:r>
              <a:rPr lang="zh-CN" altLang="en-US" sz="2800" b="1" dirty="0" smtClean="0"/>
              <a:t>（</a:t>
            </a:r>
            <a:r>
              <a:rPr lang="en-US" altLang="zh-CN" sz="2800" b="1" dirty="0" smtClean="0"/>
              <a:t>1</a:t>
            </a:r>
            <a:r>
              <a:rPr lang="zh-CN" altLang="en-US" sz="2800" b="1" dirty="0" smtClean="0"/>
              <a:t>） 若</a:t>
            </a:r>
            <a:r>
              <a:rPr lang="en-US" altLang="zh-CN" sz="2800" b="1" i="1" dirty="0" err="1" smtClean="0"/>
              <a:t>ab</a:t>
            </a:r>
            <a:r>
              <a:rPr lang="en-US" altLang="zh-CN" sz="2800" b="1" i="1" dirty="0" smtClean="0"/>
              <a:t>=ac</a:t>
            </a:r>
            <a:r>
              <a:rPr lang="zh-CN" altLang="en-US" sz="2800" b="1" dirty="0" smtClean="0"/>
              <a:t>，则</a:t>
            </a:r>
            <a:r>
              <a:rPr lang="en-US" altLang="zh-CN" sz="2800" b="1" i="1" dirty="0" smtClean="0"/>
              <a:t>b=c</a:t>
            </a:r>
            <a:r>
              <a:rPr lang="en-US" altLang="zh-CN" sz="2800" b="1" dirty="0" smtClean="0"/>
              <a:t>;</a:t>
            </a:r>
          </a:p>
          <a:p>
            <a:r>
              <a:rPr lang="zh-CN" altLang="en-US" sz="2800" b="1" dirty="0" smtClean="0"/>
              <a:t>（</a:t>
            </a:r>
            <a:r>
              <a:rPr lang="en-US" altLang="zh-CN" sz="2800" b="1" dirty="0" smtClean="0"/>
              <a:t>2</a:t>
            </a:r>
            <a:r>
              <a:rPr lang="zh-CN" altLang="en-US" sz="2800" b="1" dirty="0" smtClean="0"/>
              <a:t>） 若</a:t>
            </a:r>
            <a:r>
              <a:rPr lang="en-US" altLang="zh-CN" sz="2800" b="1" i="1" dirty="0" err="1" smtClean="0"/>
              <a:t>ba</a:t>
            </a:r>
            <a:r>
              <a:rPr lang="en-US" altLang="zh-CN" sz="2800" b="1" i="1" dirty="0" smtClean="0"/>
              <a:t>=ca</a:t>
            </a:r>
            <a:r>
              <a:rPr lang="zh-CN" altLang="en-US" sz="2800" b="1" dirty="0" smtClean="0"/>
              <a:t>，则</a:t>
            </a:r>
            <a:r>
              <a:rPr lang="en-US" altLang="zh-CN" sz="2800" b="1" i="1" dirty="0" smtClean="0"/>
              <a:t>b=c</a:t>
            </a:r>
            <a:r>
              <a:rPr lang="zh-CN" altLang="en-US" sz="2800" b="1" dirty="0" smtClean="0"/>
              <a:t>。</a:t>
            </a:r>
            <a:endParaRPr lang="zh-CN" altLang="en-US" sz="28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458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357158" y="3571876"/>
            <a:ext cx="8429684" cy="3166426"/>
            <a:chOff x="357158" y="3571876"/>
            <a:chExt cx="8429684" cy="3166426"/>
          </a:xfrm>
        </p:grpSpPr>
        <p:sp>
          <p:nvSpPr>
            <p:cNvPr id="10" name="TextBox 9"/>
            <p:cNvSpPr txBox="1"/>
            <p:nvPr/>
          </p:nvSpPr>
          <p:spPr>
            <a:xfrm>
              <a:off x="357158" y="3571876"/>
              <a:ext cx="84296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/>
                <a:t>证明：假定</a:t>
              </a:r>
              <a:r>
                <a:rPr lang="en-US" altLang="zh-CN" sz="2800" b="1" dirty="0" err="1" smtClean="0"/>
                <a:t>ab</a:t>
              </a:r>
              <a:r>
                <a:rPr lang="en-US" altLang="zh-CN" sz="2800" b="1" dirty="0" smtClean="0"/>
                <a:t>=ac</a:t>
              </a:r>
              <a:r>
                <a:rPr lang="zh-CN" altLang="en-US" sz="2800" b="1" dirty="0" smtClean="0"/>
                <a:t>，那么</a:t>
              </a:r>
              <a:endParaRPr lang="zh-CN" altLang="en-US" sz="2800" b="1" dirty="0"/>
            </a:p>
          </p:txBody>
        </p:sp>
        <p:graphicFrame>
          <p:nvGraphicFramePr>
            <p:cNvPr id="24577" name="Object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1718385"/>
                </p:ext>
              </p:extLst>
            </p:nvPr>
          </p:nvGraphicFramePr>
          <p:xfrm>
            <a:off x="2357422" y="4071942"/>
            <a:ext cx="2738342" cy="571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00" name="Equation" r:id="rId3" imgW="1091726" imgH="228501" progId="Equation.DSMT4">
                    <p:embed/>
                  </p:oleObj>
                </mc:Choice>
                <mc:Fallback>
                  <p:oleObj name="Equation" r:id="rId3" imgW="1091726" imgH="228501" progId="Equation.DSMT4">
                    <p:embed/>
                    <p:pic>
                      <p:nvPicPr>
                        <p:cNvPr id="0" name="Picture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7422" y="4071942"/>
                          <a:ext cx="2738342" cy="5714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79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313501"/>
                </p:ext>
              </p:extLst>
            </p:nvPr>
          </p:nvGraphicFramePr>
          <p:xfrm>
            <a:off x="2428860" y="4643446"/>
            <a:ext cx="2428860" cy="5158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01" name="Equation" r:id="rId5" imgW="1079500" imgH="228600" progId="Equation.DSMT4">
                    <p:embed/>
                  </p:oleObj>
                </mc:Choice>
                <mc:Fallback>
                  <p:oleObj name="Equation" r:id="rId5" imgW="1079500" imgH="228600" progId="Equation.DSMT4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8860" y="4643446"/>
                          <a:ext cx="2428860" cy="5158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1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6934506"/>
                </p:ext>
              </p:extLst>
            </p:nvPr>
          </p:nvGraphicFramePr>
          <p:xfrm>
            <a:off x="2928926" y="5143512"/>
            <a:ext cx="1214446" cy="4524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02" name="Equation" r:id="rId7" imgW="482181" imgH="177646" progId="Equation.DSMT4">
                    <p:embed/>
                  </p:oleObj>
                </mc:Choice>
                <mc:Fallback>
                  <p:oleObj name="Equation" r:id="rId7" imgW="482181" imgH="177646" progId="Equation.DSMT4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8926" y="5143512"/>
                          <a:ext cx="1214446" cy="45244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3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104846"/>
                </p:ext>
              </p:extLst>
            </p:nvPr>
          </p:nvGraphicFramePr>
          <p:xfrm>
            <a:off x="3071802" y="5643578"/>
            <a:ext cx="834650" cy="4286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03" name="Equation" r:id="rId9" imgW="342603" imgH="177646" progId="Equation.DSMT4">
                    <p:embed/>
                  </p:oleObj>
                </mc:Choice>
                <mc:Fallback>
                  <p:oleObj name="Equation" r:id="rId9" imgW="342603" imgH="177646" progId="Equation.DSMT4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1802" y="5643578"/>
                          <a:ext cx="834650" cy="4286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TextBox 17"/>
            <p:cNvSpPr txBox="1"/>
            <p:nvPr/>
          </p:nvSpPr>
          <p:spPr>
            <a:xfrm>
              <a:off x="642910" y="6215082"/>
              <a:ext cx="471490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/>
                <a:t>同理，由</a:t>
              </a:r>
              <a:r>
                <a:rPr lang="en-US" altLang="zh-CN" sz="2800" b="1" i="1" dirty="0" err="1" smtClean="0">
                  <a:latin typeface="Times New Roman" pitchFamily="18" charset="0"/>
                  <a:cs typeface="Times New Roman" pitchFamily="18" charset="0"/>
                </a:rPr>
                <a:t>ba</a:t>
              </a:r>
              <a:r>
                <a:rPr lang="en-US" altLang="zh-CN" sz="2800" b="1" i="1" dirty="0" smtClean="0">
                  <a:latin typeface="Times New Roman" pitchFamily="18" charset="0"/>
                  <a:cs typeface="Times New Roman" pitchFamily="18" charset="0"/>
                </a:rPr>
                <a:t>=ca</a:t>
              </a:r>
              <a:r>
                <a:rPr lang="zh-CN" altLang="en-US" sz="2800" b="1" dirty="0" smtClean="0"/>
                <a:t>可得</a:t>
              </a:r>
              <a:r>
                <a:rPr lang="en-US" altLang="zh-CN" sz="2800" b="1" i="1" dirty="0" smtClean="0">
                  <a:latin typeface="Times New Roman" pitchFamily="18" charset="0"/>
                  <a:cs typeface="Times New Roman" pitchFamily="18" charset="0"/>
                </a:rPr>
                <a:t>b=c</a:t>
              </a:r>
              <a:r>
                <a:rPr lang="zh-CN" altLang="en-US" sz="2800" b="1" dirty="0" smtClean="0"/>
                <a:t>。</a:t>
              </a:r>
              <a:endParaRPr lang="zh-CN" altLang="en-US" sz="2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57166"/>
            <a:ext cx="8229600" cy="1143000"/>
          </a:xfrm>
        </p:spPr>
        <p:txBody>
          <a:bodyPr/>
          <a:lstStyle/>
          <a:p>
            <a:r>
              <a:rPr lang="en-US" altLang="zh-CN" dirty="0" smtClean="0"/>
              <a:t>4.2 </a:t>
            </a:r>
            <a:r>
              <a:rPr lang="zh-CN" altLang="en-US" dirty="0" smtClean="0"/>
              <a:t>群的定义和简单性质（续）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1643050"/>
            <a:ext cx="8229600" cy="571504"/>
          </a:xfrm>
        </p:spPr>
        <p:txBody>
          <a:bodyPr>
            <a:normAutofit/>
          </a:bodyPr>
          <a:lstStyle/>
          <a:p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群的一些基本性质</a:t>
            </a:r>
            <a:endParaRPr lang="en-US" altLang="zh-CN" sz="28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zh-CN" alt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151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53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53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71472" y="2214554"/>
            <a:ext cx="81439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4</a:t>
            </a:r>
            <a:r>
              <a:rPr lang="zh-CN" altLang="en-US" sz="2800" b="1" dirty="0" smtClean="0"/>
              <a:t>、对于群</a:t>
            </a:r>
            <a:r>
              <a:rPr lang="en-US" altLang="zh-CN" sz="2800" b="1" dirty="0" smtClean="0"/>
              <a:t>G</a:t>
            </a:r>
            <a:r>
              <a:rPr lang="zh-CN" altLang="en-US" sz="2800" b="1" dirty="0" smtClean="0"/>
              <a:t>中的任意元素</a:t>
            </a:r>
            <a:r>
              <a:rPr lang="en-US" altLang="zh-CN" sz="2800" b="1" dirty="0" err="1" smtClean="0"/>
              <a:t>a,b</a:t>
            </a:r>
            <a:r>
              <a:rPr lang="zh-CN" altLang="en-US" sz="2800" b="1" dirty="0" smtClean="0"/>
              <a:t>，方程</a:t>
            </a:r>
            <a:endParaRPr lang="en-US" altLang="zh-CN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altLang="zh-CN" sz="2800" b="1" i="1" dirty="0" smtClean="0">
                <a:latin typeface="Times New Roman" pitchFamily="18" charset="0"/>
                <a:cs typeface="Times New Roman" pitchFamily="18" charset="0"/>
              </a:rPr>
              <a:t>ax=b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altLang="zh-CN" sz="2800" b="1" i="1" dirty="0" err="1" smtClean="0">
                <a:latin typeface="Times New Roman" pitchFamily="18" charset="0"/>
                <a:cs typeface="Times New Roman" pitchFamily="18" charset="0"/>
              </a:rPr>
              <a:t>xa</a:t>
            </a:r>
            <a:r>
              <a:rPr lang="en-US" altLang="zh-CN" sz="2800" b="1" i="1" dirty="0" smtClean="0">
                <a:latin typeface="Times New Roman" pitchFamily="18" charset="0"/>
                <a:cs typeface="Times New Roman" pitchFamily="18" charset="0"/>
              </a:rPr>
              <a:t>=b</a:t>
            </a:r>
          </a:p>
          <a:p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在群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中有唯一解。</a:t>
            </a:r>
            <a:endParaRPr lang="en-US" altLang="zh-CN" sz="28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3555" name="Object 3"/>
          <p:cNvGraphicFramePr>
            <a:graphicFrameLocks noChangeAspect="1"/>
          </p:cNvGraphicFramePr>
          <p:nvPr/>
        </p:nvGraphicFramePr>
        <p:xfrm>
          <a:off x="1071538" y="4357694"/>
          <a:ext cx="770898" cy="500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6" name="Equation" r:id="rId3" imgW="342751" imgH="228501" progId="Equation.DSMT4">
                  <p:embed/>
                </p:oleObj>
              </mc:Choice>
              <mc:Fallback>
                <p:oleObj name="Equation" r:id="rId3" imgW="342751" imgH="228501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38" y="4357694"/>
                        <a:ext cx="770898" cy="5000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642910" y="3929066"/>
            <a:ext cx="7858180" cy="2246769"/>
            <a:chOff x="642910" y="3929066"/>
            <a:chExt cx="7858180" cy="2246769"/>
          </a:xfrm>
        </p:grpSpPr>
        <p:sp>
          <p:nvSpPr>
            <p:cNvPr id="11" name="TextBox 10"/>
            <p:cNvSpPr txBox="1"/>
            <p:nvPr/>
          </p:nvSpPr>
          <p:spPr>
            <a:xfrm>
              <a:off x="642910" y="3929066"/>
              <a:ext cx="7858180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/>
                <a:t>证明：显然，       </a:t>
              </a:r>
              <a:r>
                <a:rPr lang="en-US" sz="2800" b="1" dirty="0" smtClean="0"/>
                <a:t>      </a:t>
              </a:r>
              <a:r>
                <a:rPr lang="zh-CN" altLang="en-US" sz="2800" b="1" dirty="0" smtClean="0"/>
                <a:t>是方程</a:t>
              </a:r>
              <a:r>
                <a:rPr lang="en-US" sz="2800" b="1" dirty="0" smtClean="0"/>
                <a:t> </a:t>
              </a:r>
              <a:r>
                <a:rPr lang="zh-CN" altLang="en-US" sz="2800" b="1" dirty="0" smtClean="0"/>
                <a:t>的解，因而有解。假设       </a:t>
              </a:r>
              <a:r>
                <a:rPr lang="en-US" sz="2800" b="1" dirty="0" smtClean="0"/>
                <a:t> </a:t>
              </a:r>
              <a:r>
                <a:rPr lang="zh-CN" altLang="en-US" sz="2800" b="1" dirty="0" smtClean="0"/>
                <a:t>是方程的两个解，则有</a:t>
              </a:r>
              <a:endParaRPr lang="en-US" altLang="zh-CN" sz="2800" b="1" dirty="0" smtClean="0"/>
            </a:p>
            <a:p>
              <a:endParaRPr lang="zh-CN" altLang="en-US" sz="2800" b="1" dirty="0" smtClean="0"/>
            </a:p>
            <a:p>
              <a:r>
                <a:rPr lang="zh-CN" altLang="en-US" sz="2800" b="1" dirty="0" smtClean="0"/>
                <a:t>根据消去律即可得     </a:t>
              </a:r>
              <a:r>
                <a:rPr lang="en-US" sz="2800" b="1" dirty="0" smtClean="0"/>
                <a:t>       </a:t>
              </a:r>
              <a:r>
                <a:rPr lang="zh-CN" altLang="en-US" sz="2800" b="1" dirty="0" smtClean="0"/>
                <a:t>。这就证明了唯一性。同理可证，方程</a:t>
              </a:r>
              <a:r>
                <a:rPr lang="en-US" altLang="zh-CN" sz="2800" b="1" i="1" dirty="0" err="1" smtClean="0">
                  <a:latin typeface="Times New Roman" pitchFamily="18" charset="0"/>
                  <a:cs typeface="Times New Roman" pitchFamily="18" charset="0"/>
                </a:rPr>
                <a:t>xa</a:t>
              </a:r>
              <a:r>
                <a:rPr lang="en-US" altLang="zh-CN" sz="2800" b="1" i="1" dirty="0" smtClean="0">
                  <a:latin typeface="Times New Roman" pitchFamily="18" charset="0"/>
                  <a:cs typeface="Times New Roman" pitchFamily="18" charset="0"/>
                </a:rPr>
                <a:t>=b</a:t>
              </a:r>
              <a:r>
                <a:rPr lang="zh-CN" altLang="en-US" sz="2800" b="1" dirty="0" smtClean="0"/>
                <a:t>在</a:t>
              </a:r>
              <a:r>
                <a:rPr lang="en-US" sz="2800" b="1" dirty="0" smtClean="0"/>
                <a:t>G</a:t>
              </a:r>
              <a:r>
                <a:rPr lang="zh-CN" altLang="en-US" sz="2800" b="1" dirty="0" smtClean="0"/>
                <a:t>中有唯一解。</a:t>
              </a:r>
              <a:endParaRPr lang="zh-CN" altLang="en-US" sz="2800" b="1" dirty="0"/>
            </a:p>
          </p:txBody>
        </p:sp>
        <p:graphicFrame>
          <p:nvGraphicFramePr>
            <p:cNvPr id="23553" name="Object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9721817"/>
                </p:ext>
              </p:extLst>
            </p:nvPr>
          </p:nvGraphicFramePr>
          <p:xfrm>
            <a:off x="2714612" y="3929066"/>
            <a:ext cx="1333446" cy="5000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77" name="Equation" r:id="rId5" imgW="533169" imgH="203112" progId="Equation.DSMT4">
                    <p:embed/>
                  </p:oleObj>
                </mc:Choice>
                <mc:Fallback>
                  <p:oleObj name="Equation" r:id="rId5" imgW="533169" imgH="203112" progId="Equation.DSMT4">
                    <p:embed/>
                    <p:pic>
                      <p:nvPicPr>
                        <p:cNvPr id="0" name="Picture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4612" y="3929066"/>
                          <a:ext cx="1333446" cy="50004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57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4151471"/>
                </p:ext>
              </p:extLst>
            </p:nvPr>
          </p:nvGraphicFramePr>
          <p:xfrm>
            <a:off x="3428992" y="4714884"/>
            <a:ext cx="1404888" cy="571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78" name="Equation" r:id="rId7" imgW="571252" imgH="228501" progId="Equation.DSMT4">
                    <p:embed/>
                  </p:oleObj>
                </mc:Choice>
                <mc:Fallback>
                  <p:oleObj name="Equation" r:id="rId7" imgW="571252" imgH="228501" progId="Equation.DSMT4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8992" y="4714884"/>
                          <a:ext cx="1404888" cy="5714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59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7243149"/>
                </p:ext>
              </p:extLst>
            </p:nvPr>
          </p:nvGraphicFramePr>
          <p:xfrm>
            <a:off x="3714751" y="5214938"/>
            <a:ext cx="1000125" cy="500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79" name="Equation" r:id="rId9" imgW="444240" imgH="228600" progId="Equation.DSMT4">
                    <p:embed/>
                  </p:oleObj>
                </mc:Choice>
                <mc:Fallback>
                  <p:oleObj name="Equation" r:id="rId9" imgW="444240" imgH="228600" progId="Equation.DSMT4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4751" y="5214938"/>
                          <a:ext cx="1000125" cy="5000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57166"/>
            <a:ext cx="8229600" cy="1143000"/>
          </a:xfrm>
        </p:spPr>
        <p:txBody>
          <a:bodyPr/>
          <a:lstStyle/>
          <a:p>
            <a:r>
              <a:rPr lang="en-US" altLang="zh-CN" dirty="0" smtClean="0"/>
              <a:t>4.2 </a:t>
            </a:r>
            <a:r>
              <a:rPr lang="zh-CN" altLang="en-US" dirty="0" smtClean="0"/>
              <a:t>群的定义和简单性质（续）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1643050"/>
            <a:ext cx="8229600" cy="571504"/>
          </a:xfrm>
        </p:spPr>
        <p:txBody>
          <a:bodyPr>
            <a:normAutofit/>
          </a:bodyPr>
          <a:lstStyle/>
          <a:p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群的一些基本性质</a:t>
            </a:r>
            <a:endParaRPr lang="en-US" altLang="zh-CN" sz="28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zh-CN" alt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151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53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53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71472" y="2214554"/>
            <a:ext cx="81439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5</a:t>
            </a:r>
            <a:r>
              <a:rPr lang="zh-CN" altLang="en-US" sz="2800" b="1" dirty="0" smtClean="0"/>
              <a:t>、对于群</a:t>
            </a:r>
            <a:r>
              <a:rPr lang="en-US" altLang="zh-CN" sz="2800" b="1" dirty="0" smtClean="0"/>
              <a:t>G</a:t>
            </a:r>
            <a:r>
              <a:rPr lang="zh-CN" altLang="en-US" sz="2800" b="1" dirty="0" smtClean="0"/>
              <a:t>中的任意元素</a:t>
            </a:r>
            <a:r>
              <a:rPr lang="en-US" altLang="zh-CN" sz="2800" b="1" dirty="0" err="1" smtClean="0"/>
              <a:t>a,b</a:t>
            </a:r>
            <a:r>
              <a:rPr lang="zh-CN" altLang="en-US" sz="2800" b="1" dirty="0" smtClean="0"/>
              <a:t>，都有</a:t>
            </a:r>
            <a:endParaRPr lang="en-US" altLang="zh-CN" sz="28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277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2774" name="Object 6"/>
          <p:cNvGraphicFramePr>
            <a:graphicFrameLocks noChangeAspect="1"/>
          </p:cNvGraphicFramePr>
          <p:nvPr/>
        </p:nvGraphicFramePr>
        <p:xfrm>
          <a:off x="3143240" y="2786058"/>
          <a:ext cx="2285920" cy="57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6" name="Equation" r:id="rId3" imgW="914400" imgH="228600" progId="Equation.DSMT4">
                  <p:embed/>
                </p:oleObj>
              </mc:Choice>
              <mc:Fallback>
                <p:oleObj name="Equation" r:id="rId3" imgW="914400" imgH="2286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40" y="2786058"/>
                        <a:ext cx="2285920" cy="57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285720" y="3929066"/>
            <a:ext cx="8215370" cy="2357450"/>
            <a:chOff x="285720" y="3929066"/>
            <a:chExt cx="8215370" cy="2357450"/>
          </a:xfrm>
        </p:grpSpPr>
        <p:sp>
          <p:nvSpPr>
            <p:cNvPr id="11" name="TextBox 10"/>
            <p:cNvSpPr txBox="1"/>
            <p:nvPr/>
          </p:nvSpPr>
          <p:spPr>
            <a:xfrm>
              <a:off x="642910" y="3929066"/>
              <a:ext cx="78581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/>
                <a:t>证明：由于</a:t>
              </a:r>
              <a:endParaRPr lang="zh-CN" altLang="en-US" sz="2800" b="1" dirty="0"/>
            </a:p>
          </p:txBody>
        </p:sp>
        <p:graphicFrame>
          <p:nvGraphicFramePr>
            <p:cNvPr id="32776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990390"/>
                </p:ext>
              </p:extLst>
            </p:nvPr>
          </p:nvGraphicFramePr>
          <p:xfrm>
            <a:off x="1928794" y="4572008"/>
            <a:ext cx="4622887" cy="6429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67" name="Equation" r:id="rId5" imgW="1435100" imgH="203200" progId="Equation.DSMT4">
                    <p:embed/>
                  </p:oleObj>
                </mc:Choice>
                <mc:Fallback>
                  <p:oleObj name="Equation" r:id="rId5" imgW="1435100" imgH="203200" progId="Equation.DSMT4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8794" y="4572008"/>
                          <a:ext cx="4622887" cy="6429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TextBox 20"/>
            <p:cNvSpPr txBox="1"/>
            <p:nvPr/>
          </p:nvSpPr>
          <p:spPr>
            <a:xfrm>
              <a:off x="285720" y="5429264"/>
              <a:ext cx="271464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/>
                <a:t>所以</a:t>
              </a:r>
              <a:endParaRPr lang="zh-CN" altLang="en-US" sz="2800" b="1" dirty="0"/>
            </a:p>
          </p:txBody>
        </p:sp>
        <p:graphicFrame>
          <p:nvGraphicFramePr>
            <p:cNvPr id="32778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68129492"/>
                </p:ext>
              </p:extLst>
            </p:nvPr>
          </p:nvGraphicFramePr>
          <p:xfrm>
            <a:off x="2714612" y="5715016"/>
            <a:ext cx="2286000" cy="571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68" name="Equation" r:id="rId7" imgW="914400" imgH="228600" progId="Equation.DSMT4">
                    <p:embed/>
                  </p:oleObj>
                </mc:Choice>
                <mc:Fallback>
                  <p:oleObj name="Equation" r:id="rId7" imgW="914400" imgH="228600" progId="Equation.DSMT4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4612" y="5715016"/>
                          <a:ext cx="2286000" cy="571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57166"/>
            <a:ext cx="8229600" cy="1143000"/>
          </a:xfrm>
        </p:spPr>
        <p:txBody>
          <a:bodyPr/>
          <a:lstStyle/>
          <a:p>
            <a:r>
              <a:rPr lang="en-US" altLang="zh-CN" dirty="0" smtClean="0"/>
              <a:t>4.2 </a:t>
            </a:r>
            <a:r>
              <a:rPr lang="zh-CN" altLang="en-US" dirty="0" smtClean="0"/>
              <a:t>群的定义和简单性质（续）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1643050"/>
            <a:ext cx="8229600" cy="20002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2800" b="1" dirty="0" smtClean="0"/>
              <a:t>定理</a:t>
            </a:r>
            <a:r>
              <a:rPr lang="en-US" sz="2800" b="1" dirty="0" smtClean="0"/>
              <a:t>4.2.1 </a:t>
            </a:r>
            <a:r>
              <a:rPr lang="zh-CN" altLang="en-US" sz="2800" b="1" dirty="0" smtClean="0"/>
              <a:t>设</a:t>
            </a:r>
            <a:r>
              <a:rPr lang="en-US" sz="2800" b="1" dirty="0" smtClean="0"/>
              <a:t>G</a:t>
            </a:r>
            <a:r>
              <a:rPr lang="zh-CN" altLang="en-US" sz="2800" b="1" dirty="0" smtClean="0"/>
              <a:t>为一非空集合，</a:t>
            </a:r>
            <a:r>
              <a:rPr lang="en-US" sz="2800" b="1" dirty="0" smtClean="0"/>
              <a:t>G</a:t>
            </a:r>
            <a:r>
              <a:rPr lang="zh-CN" altLang="en-US" sz="2800" b="1" dirty="0" smtClean="0"/>
              <a:t>上乘法封闭且满足结合律。若对于</a:t>
            </a:r>
            <a:r>
              <a:rPr lang="en-US" altLang="zh-CN" sz="2800" b="1" dirty="0" smtClean="0"/>
              <a:t>G</a:t>
            </a:r>
            <a:r>
              <a:rPr lang="zh-CN" altLang="en-US" sz="2800" b="1" dirty="0" smtClean="0"/>
              <a:t>中的任意元素</a:t>
            </a:r>
            <a:r>
              <a:rPr lang="en-US" altLang="zh-CN" sz="2800" b="1" dirty="0" err="1" smtClean="0"/>
              <a:t>a,b</a:t>
            </a:r>
            <a:r>
              <a:rPr lang="en-US" altLang="zh-CN" sz="2800" b="1" dirty="0" smtClean="0"/>
              <a:t> </a:t>
            </a:r>
            <a:r>
              <a:rPr lang="zh-CN" altLang="en-US" sz="2800" b="1" dirty="0" smtClean="0"/>
              <a:t>，方程</a:t>
            </a:r>
            <a:endParaRPr lang="en-US" altLang="zh-CN" sz="2800" b="1" dirty="0" smtClean="0"/>
          </a:p>
          <a:p>
            <a:pPr algn="ctr">
              <a:buNone/>
            </a:pPr>
            <a:r>
              <a:rPr lang="en-US" altLang="zh-CN" sz="2800" b="1" i="1" dirty="0" smtClean="0">
                <a:latin typeface="Times New Roman" pitchFamily="18" charset="0"/>
                <a:cs typeface="Times New Roman" pitchFamily="18" charset="0"/>
              </a:rPr>
              <a:t>ax=b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altLang="zh-CN" sz="2800" b="1" i="1" dirty="0" err="1" smtClean="0">
                <a:latin typeface="Times New Roman" pitchFamily="18" charset="0"/>
                <a:cs typeface="Times New Roman" pitchFamily="18" charset="0"/>
              </a:rPr>
              <a:t>xa</a:t>
            </a:r>
            <a:r>
              <a:rPr lang="en-US" altLang="zh-CN" sz="2800" b="1" i="1" dirty="0" smtClean="0">
                <a:latin typeface="Times New Roman" pitchFamily="18" charset="0"/>
                <a:cs typeface="Times New Roman" pitchFamily="18" charset="0"/>
              </a:rPr>
              <a:t>=b</a:t>
            </a:r>
          </a:p>
          <a:p>
            <a:pPr>
              <a:buNone/>
            </a:pPr>
            <a:r>
              <a:rPr lang="zh-CN" altLang="en-US" sz="2800" b="1" dirty="0" smtClean="0"/>
              <a:t>在</a:t>
            </a:r>
            <a:r>
              <a:rPr lang="en-US" sz="2800" b="1" dirty="0" smtClean="0"/>
              <a:t>G</a:t>
            </a:r>
            <a:r>
              <a:rPr lang="zh-CN" altLang="en-US" sz="2800" b="1" dirty="0" smtClean="0"/>
              <a:t>中有解，则</a:t>
            </a:r>
            <a:r>
              <a:rPr lang="en-US" sz="2800" b="1" dirty="0" smtClean="0"/>
              <a:t>G</a:t>
            </a:r>
            <a:r>
              <a:rPr lang="zh-CN" altLang="en-US" sz="2800" b="1" dirty="0" smtClean="0"/>
              <a:t>是群。</a:t>
            </a:r>
          </a:p>
          <a:p>
            <a:pPr>
              <a:buNone/>
            </a:pPr>
            <a:endParaRPr lang="zh-CN" alt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151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53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53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765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765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7661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7663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7665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0" y="3929066"/>
            <a:ext cx="9144000" cy="954107"/>
            <a:chOff x="0" y="3929066"/>
            <a:chExt cx="9144000" cy="954107"/>
          </a:xfrm>
        </p:grpSpPr>
        <p:sp>
          <p:nvSpPr>
            <p:cNvPr id="11" name="TextBox 10"/>
            <p:cNvSpPr txBox="1"/>
            <p:nvPr/>
          </p:nvSpPr>
          <p:spPr>
            <a:xfrm>
              <a:off x="0" y="3929066"/>
              <a:ext cx="91440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/>
                <a:t>证明：根据群的定义，需要证明</a:t>
              </a:r>
              <a:r>
                <a:rPr lang="en-US" sz="2800" b="1" dirty="0" smtClean="0"/>
                <a:t>G</a:t>
              </a:r>
              <a:r>
                <a:rPr lang="zh-CN" altLang="en-US" sz="2800" b="1" dirty="0" smtClean="0"/>
                <a:t>中存在单位元</a:t>
              </a:r>
              <a:r>
                <a:rPr lang="en-US" altLang="zh-CN" sz="2800" b="1" dirty="0" smtClean="0"/>
                <a:t>e</a:t>
              </a:r>
              <a:r>
                <a:rPr lang="zh-CN" altLang="en-US" sz="2800" b="1" dirty="0" smtClean="0"/>
                <a:t>，且对于任意</a:t>
              </a:r>
              <a:r>
                <a:rPr lang="en-US" altLang="zh-CN" sz="2800" b="1" i="1" dirty="0" err="1" smtClean="0">
                  <a:latin typeface="Times New Roman" pitchFamily="18" charset="0"/>
                  <a:cs typeface="Times New Roman" pitchFamily="18" charset="0"/>
                </a:rPr>
                <a:t>a∈G</a:t>
              </a:r>
              <a:r>
                <a:rPr lang="en-US" altLang="zh-CN" sz="2800" b="1" i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zh-CN" altLang="en-US" sz="2800" b="1" dirty="0" smtClean="0"/>
                <a:t>，存在逆元     </a:t>
              </a:r>
              <a:r>
                <a:rPr lang="en-US" sz="2800" b="1" dirty="0" smtClean="0"/>
                <a:t>        </a:t>
              </a:r>
              <a:r>
                <a:rPr lang="zh-CN" altLang="en-US" sz="2800" b="1" dirty="0" smtClean="0"/>
                <a:t>，使得</a:t>
              </a:r>
              <a:r>
                <a:rPr lang="en-US" sz="2800" b="1" dirty="0" smtClean="0"/>
                <a:t>                                </a:t>
              </a:r>
              <a:r>
                <a:rPr lang="zh-CN" altLang="en-US" sz="2800" b="1" dirty="0" smtClean="0"/>
                <a:t>。</a:t>
              </a:r>
              <a:endParaRPr lang="zh-CN" altLang="en-US" sz="2800" b="1" dirty="0"/>
            </a:p>
          </p:txBody>
        </p:sp>
        <p:graphicFrame>
          <p:nvGraphicFramePr>
            <p:cNvPr id="27662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43087283"/>
                </p:ext>
              </p:extLst>
            </p:nvPr>
          </p:nvGraphicFramePr>
          <p:xfrm>
            <a:off x="3857620" y="4357694"/>
            <a:ext cx="1071571" cy="432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23" name="Equation" r:id="rId3" imgW="494870" imgH="203024" progId="Equation.DSMT4">
                    <p:embed/>
                  </p:oleObj>
                </mc:Choice>
                <mc:Fallback>
                  <p:oleObj name="Equation" r:id="rId3" imgW="494870" imgH="203024" progId="Equation.DSMT4">
                    <p:embed/>
                    <p:pic>
                      <p:nvPicPr>
                        <p:cNvPr id="0" name="Picture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7620" y="4357694"/>
                          <a:ext cx="1071571" cy="4327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4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49556525"/>
                </p:ext>
              </p:extLst>
            </p:nvPr>
          </p:nvGraphicFramePr>
          <p:xfrm>
            <a:off x="6072198" y="4286256"/>
            <a:ext cx="2500330" cy="530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24" name="Equation" r:id="rId5" imgW="939392" imgH="203112" progId="Equation.DSMT4">
                    <p:embed/>
                  </p:oleObj>
                </mc:Choice>
                <mc:Fallback>
                  <p:oleObj name="Equation" r:id="rId5" imgW="939392" imgH="203112" progId="Equation.DSMT4">
                    <p:embed/>
                    <p:pic>
                      <p:nvPicPr>
                        <p:cNvPr id="0" name="Picture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72198" y="4286256"/>
                          <a:ext cx="2500330" cy="53037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57166"/>
            <a:ext cx="8229600" cy="1143000"/>
          </a:xfrm>
        </p:spPr>
        <p:txBody>
          <a:bodyPr/>
          <a:lstStyle/>
          <a:p>
            <a:r>
              <a:rPr lang="en-US" altLang="zh-CN" dirty="0" smtClean="0"/>
              <a:t>4.2 </a:t>
            </a:r>
            <a:r>
              <a:rPr lang="zh-CN" altLang="en-US" dirty="0" smtClean="0"/>
              <a:t>群的定义和简单性质（续）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1643050"/>
            <a:ext cx="8229600" cy="20002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2800" b="1" dirty="0" smtClean="0"/>
              <a:t>定理</a:t>
            </a:r>
            <a:r>
              <a:rPr lang="en-US" sz="2800" b="1" dirty="0" smtClean="0"/>
              <a:t>4.2.1 </a:t>
            </a:r>
            <a:r>
              <a:rPr lang="zh-CN" altLang="en-US" sz="2800" b="1" dirty="0" smtClean="0"/>
              <a:t>证明（续）：</a:t>
            </a:r>
          </a:p>
          <a:p>
            <a:pPr>
              <a:buNone/>
            </a:pPr>
            <a:endParaRPr lang="zh-CN" alt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151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53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53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214282" y="2285992"/>
            <a:ext cx="89297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由于</a:t>
            </a:r>
            <a:r>
              <a:rPr lang="en-US" altLang="zh-CN" sz="2800" b="1" dirty="0" smtClean="0"/>
              <a:t>G</a:t>
            </a:r>
            <a:r>
              <a:rPr lang="zh-CN" altLang="en-US" sz="2800" b="1" dirty="0" smtClean="0"/>
              <a:t>非空，根据已知条件，对于某个元素</a:t>
            </a:r>
            <a:r>
              <a:rPr lang="en-US" altLang="zh-CN" sz="2800" b="1" dirty="0" err="1" smtClean="0"/>
              <a:t>c∈G</a:t>
            </a:r>
            <a:r>
              <a:rPr lang="zh-CN" altLang="en-US" sz="2800" b="1" dirty="0" smtClean="0"/>
              <a:t>，方程</a:t>
            </a:r>
            <a:endParaRPr lang="en-US" altLang="zh-CN" sz="2800" b="1" dirty="0" smtClean="0"/>
          </a:p>
          <a:p>
            <a:pPr algn="ctr"/>
            <a:r>
              <a:rPr lang="en-US" altLang="zh-CN" sz="2800" b="1" dirty="0" err="1" smtClean="0"/>
              <a:t>xc</a:t>
            </a:r>
            <a:r>
              <a:rPr lang="en-US" altLang="zh-CN" sz="2800" b="1" dirty="0" smtClean="0"/>
              <a:t>=c</a:t>
            </a:r>
          </a:p>
          <a:p>
            <a:r>
              <a:rPr lang="zh-CN" altLang="en-US" sz="2800" b="1" dirty="0" smtClean="0"/>
              <a:t>有解，不妨设解为</a:t>
            </a:r>
            <a:r>
              <a:rPr lang="en-US" altLang="zh-CN" sz="2800" b="1" dirty="0" smtClean="0"/>
              <a:t>x=e</a:t>
            </a:r>
            <a:r>
              <a:rPr lang="zh-CN" altLang="en-US" sz="2800" b="1" dirty="0" smtClean="0"/>
              <a:t>。</a:t>
            </a:r>
            <a:endParaRPr lang="zh-CN" altLang="en-US" sz="2800" b="1" dirty="0"/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765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765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7661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7663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7665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142844" y="3615641"/>
            <a:ext cx="892971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对于任意</a:t>
            </a:r>
            <a:r>
              <a:rPr lang="en-US" altLang="zh-CN" sz="2800" b="1" dirty="0" err="1" smtClean="0"/>
              <a:t>a∈G</a:t>
            </a:r>
            <a:r>
              <a:rPr lang="zh-CN" altLang="en-US" sz="2800" b="1" dirty="0" smtClean="0"/>
              <a:t>，方程</a:t>
            </a:r>
            <a:endParaRPr lang="en-US" altLang="zh-CN" sz="2800" b="1" dirty="0" smtClean="0"/>
          </a:p>
          <a:p>
            <a:pPr algn="ctr"/>
            <a:r>
              <a:rPr lang="en-US" altLang="zh-CN" sz="2800" b="1" dirty="0" err="1" smtClean="0"/>
              <a:t>cx</a:t>
            </a:r>
            <a:r>
              <a:rPr lang="en-US" altLang="zh-CN" sz="2800" b="1" dirty="0" smtClean="0"/>
              <a:t>=a</a:t>
            </a:r>
          </a:p>
          <a:p>
            <a:r>
              <a:rPr lang="zh-CN" altLang="en-US" sz="2800" b="1" dirty="0" smtClean="0"/>
              <a:t>有解，所以</a:t>
            </a:r>
            <a:endParaRPr lang="en-US" altLang="zh-CN" sz="2800" b="1" dirty="0" smtClean="0"/>
          </a:p>
          <a:p>
            <a:pPr algn="ctr"/>
            <a:r>
              <a:rPr lang="en-US" altLang="zh-CN" sz="2800" b="1" dirty="0" smtClean="0"/>
              <a:t>ea=e(</a:t>
            </a:r>
            <a:r>
              <a:rPr lang="en-US" altLang="zh-CN" sz="2800" b="1" dirty="0" err="1" smtClean="0"/>
              <a:t>cx</a:t>
            </a:r>
            <a:r>
              <a:rPr lang="en-US" altLang="zh-CN" sz="2800" b="1" dirty="0" smtClean="0"/>
              <a:t>)=(</a:t>
            </a:r>
            <a:r>
              <a:rPr lang="en-US" altLang="zh-CN" sz="2800" b="1" dirty="0" err="1" smtClean="0"/>
              <a:t>ec</a:t>
            </a:r>
            <a:r>
              <a:rPr lang="en-US" altLang="zh-CN" sz="2800" b="1" dirty="0" smtClean="0"/>
              <a:t>)x=</a:t>
            </a:r>
            <a:r>
              <a:rPr lang="en-US" altLang="zh-CN" sz="2800" b="1" dirty="0" err="1" smtClean="0"/>
              <a:t>cx</a:t>
            </a:r>
            <a:r>
              <a:rPr lang="en-US" altLang="zh-CN" sz="2800" b="1" dirty="0" smtClean="0"/>
              <a:t>=a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57166"/>
            <a:ext cx="8229600" cy="1143000"/>
          </a:xfrm>
        </p:spPr>
        <p:txBody>
          <a:bodyPr/>
          <a:lstStyle/>
          <a:p>
            <a:r>
              <a:rPr lang="en-US" altLang="zh-CN" dirty="0" smtClean="0"/>
              <a:t>4.2 </a:t>
            </a:r>
            <a:r>
              <a:rPr lang="zh-CN" altLang="en-US" dirty="0" smtClean="0"/>
              <a:t>群的定义和简单性质（续）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1643050"/>
            <a:ext cx="8229600" cy="20002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2800" b="1" dirty="0" smtClean="0"/>
              <a:t>定理</a:t>
            </a:r>
            <a:r>
              <a:rPr lang="en-US" sz="2800" b="1" dirty="0" smtClean="0"/>
              <a:t>4.2.1 </a:t>
            </a:r>
            <a:r>
              <a:rPr lang="zh-CN" altLang="en-US" sz="2800" b="1" dirty="0" smtClean="0"/>
              <a:t>证明（续）：</a:t>
            </a:r>
          </a:p>
          <a:p>
            <a:pPr>
              <a:buNone/>
            </a:pPr>
            <a:endParaRPr lang="zh-CN" alt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151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53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53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214282" y="2285992"/>
            <a:ext cx="8929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又由于</a:t>
            </a:r>
            <a:r>
              <a:rPr lang="en-US" altLang="zh-CN" sz="2800" b="1" dirty="0" err="1" smtClean="0"/>
              <a:t>xa</a:t>
            </a:r>
            <a:r>
              <a:rPr lang="en-US" altLang="zh-CN" sz="2800" b="1" dirty="0" smtClean="0"/>
              <a:t>=e</a:t>
            </a:r>
            <a:r>
              <a:rPr lang="zh-CN" altLang="en-US" sz="2800" b="1" dirty="0" smtClean="0"/>
              <a:t>有解，可知存在</a:t>
            </a:r>
            <a:r>
              <a:rPr lang="en-US" altLang="zh-CN" sz="2800" b="1" dirty="0" smtClean="0"/>
              <a:t>a’ ∈ G</a:t>
            </a:r>
            <a:r>
              <a:rPr lang="zh-CN" altLang="en-US" sz="2800" b="1" dirty="0" smtClean="0"/>
              <a:t>使得</a:t>
            </a:r>
            <a:r>
              <a:rPr lang="en-US" altLang="zh-CN" sz="2800" b="1" dirty="0" err="1" smtClean="0"/>
              <a:t>a’a</a:t>
            </a:r>
            <a:r>
              <a:rPr lang="en-US" altLang="zh-CN" sz="2800" b="1" dirty="0" smtClean="0"/>
              <a:t>=e</a:t>
            </a:r>
            <a:r>
              <a:rPr lang="zh-CN" altLang="en-US" sz="2800" b="1" dirty="0" smtClean="0"/>
              <a:t>。</a:t>
            </a:r>
            <a:endParaRPr lang="zh-CN" altLang="en-US" sz="2800" b="1" dirty="0"/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765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765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7661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7663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7665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214282" y="2857496"/>
            <a:ext cx="8929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由于</a:t>
            </a:r>
            <a:r>
              <a:rPr lang="en-US" altLang="zh-CN" sz="2800" b="1" dirty="0" err="1" smtClean="0"/>
              <a:t>xa</a:t>
            </a:r>
            <a:r>
              <a:rPr lang="en-US" altLang="zh-CN" sz="2800" b="1" dirty="0" smtClean="0"/>
              <a:t>’=e</a:t>
            </a:r>
            <a:r>
              <a:rPr lang="zh-CN" altLang="en-US" sz="2800" b="1" dirty="0" smtClean="0"/>
              <a:t>有解，可知存在</a:t>
            </a:r>
            <a:r>
              <a:rPr lang="en-US" altLang="zh-CN" sz="2800" b="1" dirty="0" smtClean="0"/>
              <a:t>a” ∈ G</a:t>
            </a:r>
            <a:r>
              <a:rPr lang="zh-CN" altLang="en-US" sz="2800" b="1" dirty="0" smtClean="0"/>
              <a:t>使得</a:t>
            </a:r>
            <a:r>
              <a:rPr lang="en-US" altLang="zh-CN" sz="2800" b="1" dirty="0" err="1" smtClean="0"/>
              <a:t>a”a</a:t>
            </a:r>
            <a:r>
              <a:rPr lang="en-US" altLang="zh-CN" sz="2800" b="1" dirty="0" smtClean="0"/>
              <a:t>’=e</a:t>
            </a:r>
            <a:r>
              <a:rPr lang="zh-CN" altLang="en-US" sz="2800" b="1" dirty="0" smtClean="0"/>
              <a:t>。所以</a:t>
            </a:r>
            <a:endParaRPr lang="en-US" altLang="zh-CN" sz="2800" b="1" dirty="0" smtClean="0"/>
          </a:p>
        </p:txBody>
      </p:sp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9697" name="Object 1"/>
          <p:cNvGraphicFramePr>
            <a:graphicFrameLocks noChangeAspect="1"/>
          </p:cNvGraphicFramePr>
          <p:nvPr/>
        </p:nvGraphicFramePr>
        <p:xfrm>
          <a:off x="1500166" y="3571876"/>
          <a:ext cx="6095787" cy="57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8" name="Equation" r:id="rId3" imgW="2133600" imgH="203200" progId="Equation.DSMT4">
                  <p:embed/>
                </p:oleObj>
              </mc:Choice>
              <mc:Fallback>
                <p:oleObj name="Equation" r:id="rId3" imgW="2133600" imgH="2032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166" y="3571876"/>
                        <a:ext cx="6095787" cy="57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357158" y="4000504"/>
            <a:ext cx="1714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又</a:t>
            </a:r>
            <a:endParaRPr lang="zh-CN" altLang="en-US" sz="2800" b="1" dirty="0"/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9699" name="Object 3"/>
          <p:cNvGraphicFramePr>
            <a:graphicFrameLocks noChangeAspect="1"/>
          </p:cNvGraphicFramePr>
          <p:nvPr/>
        </p:nvGraphicFramePr>
        <p:xfrm>
          <a:off x="1285852" y="4429132"/>
          <a:ext cx="6368187" cy="571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9" name="Equation" r:id="rId5" imgW="2222500" imgH="203200" progId="Equation.DSMT4">
                  <p:embed/>
                </p:oleObj>
              </mc:Choice>
              <mc:Fallback>
                <p:oleObj name="Equation" r:id="rId5" imgW="2222500" imgH="2032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52" y="4429132"/>
                        <a:ext cx="6368187" cy="5715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357158" y="5357826"/>
            <a:ext cx="27860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所以</a:t>
            </a:r>
            <a:r>
              <a:rPr lang="en-US" altLang="zh-CN" sz="2800" b="1" dirty="0" err="1" smtClean="0"/>
              <a:t>aa</a:t>
            </a:r>
            <a:r>
              <a:rPr lang="en-US" altLang="zh-CN" sz="2800" b="1" dirty="0" smtClean="0"/>
              <a:t>’=e</a:t>
            </a:r>
            <a:r>
              <a:rPr lang="zh-CN" altLang="en-US" sz="2800" b="1" dirty="0" smtClean="0"/>
              <a:t>。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2" grpId="0"/>
      <p:bldP spid="21" grpId="0"/>
      <p:bldP spid="2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57166"/>
            <a:ext cx="8229600" cy="1143000"/>
          </a:xfrm>
        </p:spPr>
        <p:txBody>
          <a:bodyPr/>
          <a:lstStyle/>
          <a:p>
            <a:r>
              <a:rPr lang="en-US" altLang="zh-CN" dirty="0" smtClean="0"/>
              <a:t>4.2 </a:t>
            </a:r>
            <a:r>
              <a:rPr lang="zh-CN" altLang="en-US" dirty="0" smtClean="0"/>
              <a:t>群的定义和简单性质（续）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1643050"/>
            <a:ext cx="8229600" cy="20002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altLang="en-US" sz="2800" b="1" dirty="0" smtClean="0"/>
              <a:t>定理</a:t>
            </a:r>
            <a:r>
              <a:rPr lang="en-US" sz="2800" b="1" dirty="0" smtClean="0"/>
              <a:t>4.2.1 </a:t>
            </a:r>
            <a:r>
              <a:rPr lang="zh-CN" altLang="en-US" sz="2800" b="1" dirty="0" smtClean="0"/>
              <a:t>证明（续）：</a:t>
            </a:r>
          </a:p>
          <a:p>
            <a:pPr>
              <a:buNone/>
            </a:pPr>
            <a:endParaRPr lang="zh-CN" alt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151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53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53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214282" y="2285992"/>
            <a:ext cx="8929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又因为</a:t>
            </a:r>
            <a:endParaRPr lang="zh-CN" altLang="en-US" sz="2800" b="1" dirty="0"/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765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765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7661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7663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7665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0724" name="Object 4"/>
          <p:cNvGraphicFramePr>
            <a:graphicFrameLocks noChangeAspect="1"/>
          </p:cNvGraphicFramePr>
          <p:nvPr/>
        </p:nvGraphicFramePr>
        <p:xfrm>
          <a:off x="1785918" y="2500306"/>
          <a:ext cx="3714776" cy="12291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8" name="Equation" r:id="rId3" imgW="1295400" imgH="431800" progId="Equation.DSMT4">
                  <p:embed/>
                </p:oleObj>
              </mc:Choice>
              <mc:Fallback>
                <p:oleObj name="Equation" r:id="rId3" imgW="1295400" imgH="4318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18" y="2500306"/>
                        <a:ext cx="3714776" cy="12291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00034" y="3929066"/>
            <a:ext cx="79296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所以</a:t>
            </a:r>
            <a:r>
              <a:rPr lang="en-US" altLang="zh-CN" sz="2800" b="1" dirty="0" err="1" smtClean="0"/>
              <a:t>ae</a:t>
            </a:r>
            <a:r>
              <a:rPr lang="en-US" altLang="zh-CN" sz="2800" b="1" dirty="0" smtClean="0"/>
              <a:t>=a</a:t>
            </a:r>
            <a:r>
              <a:rPr lang="zh-CN" altLang="en-US" sz="2800" b="1" dirty="0" smtClean="0"/>
              <a:t>。因此证明了</a:t>
            </a:r>
            <a:r>
              <a:rPr lang="en-US" altLang="zh-CN" sz="2800" b="1" dirty="0" smtClean="0"/>
              <a:t>G</a:t>
            </a:r>
            <a:r>
              <a:rPr lang="zh-CN" altLang="en-US" sz="2800" b="1" dirty="0" smtClean="0"/>
              <a:t>中存在单位元</a:t>
            </a:r>
            <a:r>
              <a:rPr lang="en-US" altLang="zh-CN" sz="2800" b="1" dirty="0" smtClean="0"/>
              <a:t>e</a:t>
            </a:r>
            <a:r>
              <a:rPr lang="zh-CN" altLang="en-US" sz="2800" b="1" dirty="0" smtClean="0"/>
              <a:t>。</a:t>
            </a:r>
            <a:endParaRPr lang="zh-CN" altLang="en-US" sz="28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357158" y="4429132"/>
            <a:ext cx="80724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上述证明过程中，令     </a:t>
            </a:r>
            <a:r>
              <a:rPr lang="en-US" sz="2800" b="1" dirty="0" smtClean="0"/>
              <a:t>           </a:t>
            </a:r>
            <a:r>
              <a:rPr lang="zh-CN" altLang="en-US" sz="2800" b="1" dirty="0" smtClean="0"/>
              <a:t>，即证明了对于任意</a:t>
            </a:r>
            <a:r>
              <a:rPr lang="en-US" altLang="zh-CN" sz="2800" b="1" dirty="0" err="1" smtClean="0"/>
              <a:t>a∈G</a:t>
            </a:r>
            <a:r>
              <a:rPr lang="en-US" sz="2800" b="1" dirty="0" smtClean="0"/>
              <a:t> </a:t>
            </a:r>
            <a:r>
              <a:rPr lang="zh-CN" altLang="en-US" sz="2800" b="1" dirty="0" smtClean="0"/>
              <a:t>，存在逆元         </a:t>
            </a:r>
            <a:r>
              <a:rPr lang="en-US" sz="2800" b="1" dirty="0" smtClean="0"/>
              <a:t>      </a:t>
            </a:r>
            <a:r>
              <a:rPr lang="zh-CN" altLang="en-US" sz="2800" b="1" dirty="0" smtClean="0"/>
              <a:t>，使得</a:t>
            </a:r>
            <a:endParaRPr lang="zh-CN" altLang="en-US" sz="2800" b="1" dirty="0"/>
          </a:p>
        </p:txBody>
      </p:sp>
      <p:sp>
        <p:nvSpPr>
          <p:cNvPr id="3072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0727" name="Object 7"/>
          <p:cNvGraphicFramePr>
            <a:graphicFrameLocks noChangeAspect="1"/>
          </p:cNvGraphicFramePr>
          <p:nvPr/>
        </p:nvGraphicFramePr>
        <p:xfrm>
          <a:off x="3786182" y="4429132"/>
          <a:ext cx="1238199" cy="500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9" name="Equation" r:id="rId5" imgW="494870" imgH="203024" progId="Equation.DSMT4">
                  <p:embed/>
                </p:oleObj>
              </mc:Choice>
              <mc:Fallback>
                <p:oleObj name="Equation" r:id="rId5" imgW="494870" imgH="203024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2" y="4429132"/>
                        <a:ext cx="1238199" cy="5000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0729" name="Object 9"/>
          <p:cNvGraphicFramePr>
            <a:graphicFrameLocks noChangeAspect="1"/>
          </p:cNvGraphicFramePr>
          <p:nvPr/>
        </p:nvGraphicFramePr>
        <p:xfrm>
          <a:off x="3214678" y="4857760"/>
          <a:ext cx="1238199" cy="500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0" name="Equation" r:id="rId7" imgW="494870" imgH="203024" progId="Equation.DSMT4">
                  <p:embed/>
                </p:oleObj>
              </mc:Choice>
              <mc:Fallback>
                <p:oleObj name="Equation" r:id="rId7" imgW="494870" imgH="203024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78" y="4857760"/>
                        <a:ext cx="1238199" cy="5000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2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0731" name="Object 11"/>
          <p:cNvGraphicFramePr>
            <a:graphicFrameLocks noChangeAspect="1"/>
          </p:cNvGraphicFramePr>
          <p:nvPr/>
        </p:nvGraphicFramePr>
        <p:xfrm>
          <a:off x="2500298" y="5500702"/>
          <a:ext cx="3030899" cy="642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1" name="Equation" r:id="rId9" imgW="939392" imgH="203112" progId="Equation.DSMT4">
                  <p:embed/>
                </p:oleObj>
              </mc:Choice>
              <mc:Fallback>
                <p:oleObj name="Equation" r:id="rId9" imgW="939392" imgH="203112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298" y="5500702"/>
                        <a:ext cx="3030899" cy="6429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7" grpId="0"/>
      <p:bldP spid="2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4.2 </a:t>
            </a:r>
            <a:r>
              <a:rPr lang="zh-CN" altLang="en-US" dirty="0" smtClean="0"/>
              <a:t>群的定义和简单性质（续）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422478"/>
          </a:xfrm>
        </p:spPr>
        <p:txBody>
          <a:bodyPr/>
          <a:lstStyle/>
          <a:p>
            <a:r>
              <a:rPr lang="zh-CN" altLang="en-US" b="1" dirty="0" smtClean="0"/>
              <a:t>定义</a:t>
            </a:r>
            <a:r>
              <a:rPr lang="en-US" altLang="zh-CN" b="1" dirty="0" smtClean="0"/>
              <a:t>4.2.2 </a:t>
            </a:r>
            <a:r>
              <a:rPr lang="zh-CN" altLang="en-US" b="1" dirty="0" smtClean="0"/>
              <a:t>元素的方幂</a:t>
            </a:r>
            <a:endParaRPr lang="en-US" altLang="zh-CN" b="1" dirty="0" smtClean="0"/>
          </a:p>
          <a:p>
            <a:r>
              <a:rPr lang="zh-CN" altLang="en-US" b="1" dirty="0" smtClean="0"/>
              <a:t>对于任意正整数</a:t>
            </a:r>
            <a:r>
              <a:rPr lang="en-US" altLang="zh-CN" b="1" dirty="0" smtClean="0"/>
              <a:t>n</a:t>
            </a:r>
            <a:r>
              <a:rPr lang="zh-CN" altLang="en-US" b="1" dirty="0" smtClean="0"/>
              <a:t>，定义</a:t>
            </a:r>
            <a:endParaRPr lang="en-US" altLang="zh-CN" b="1" dirty="0" smtClean="0"/>
          </a:p>
          <a:p>
            <a:endParaRPr lang="en-US" altLang="zh-CN" b="1" dirty="0" smtClean="0"/>
          </a:p>
          <a:p>
            <a:endParaRPr lang="en-US" altLang="zh-CN" b="1" dirty="0" smtClean="0"/>
          </a:p>
          <a:p>
            <a:endParaRPr lang="en-US" altLang="zh-CN" b="1" dirty="0" smtClean="0"/>
          </a:p>
          <a:p>
            <a:r>
              <a:rPr lang="zh-CN" altLang="en-US" b="1" dirty="0" smtClean="0"/>
              <a:t>再约定</a:t>
            </a:r>
            <a:endParaRPr lang="en-US" altLang="zh-CN" b="1" dirty="0" smtClean="0"/>
          </a:p>
          <a:p>
            <a:r>
              <a:rPr lang="zh-CN" altLang="en-US" b="1" dirty="0" smtClean="0"/>
              <a:t>容易验证</a:t>
            </a:r>
            <a:endParaRPr lang="zh-CN" altLang="en-US" b="1" dirty="0"/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6865" name="Object 1"/>
          <p:cNvGraphicFramePr>
            <a:graphicFrameLocks noChangeAspect="1"/>
          </p:cNvGraphicFramePr>
          <p:nvPr/>
        </p:nvGraphicFramePr>
        <p:xfrm>
          <a:off x="3286116" y="3000372"/>
          <a:ext cx="1928794" cy="903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29" name="Equation" r:id="rId3" imgW="748975" imgH="355446" progId="Equation.DSMT4">
                  <p:embed/>
                </p:oleObj>
              </mc:Choice>
              <mc:Fallback>
                <p:oleObj name="Equation" r:id="rId3" imgW="748975" imgH="355446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16" y="3000372"/>
                        <a:ext cx="1928794" cy="9033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6867" name="Object 3"/>
          <p:cNvGraphicFramePr>
            <a:graphicFrameLocks noChangeAspect="1"/>
          </p:cNvGraphicFramePr>
          <p:nvPr/>
        </p:nvGraphicFramePr>
        <p:xfrm>
          <a:off x="2428860" y="4214818"/>
          <a:ext cx="1142960" cy="57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30" name="Equation" r:id="rId5" imgW="406048" imgH="203024" progId="Equation.DSMT4">
                  <p:embed/>
                </p:oleObj>
              </mc:Choice>
              <mc:Fallback>
                <p:oleObj name="Equation" r:id="rId5" imgW="406048" imgH="203024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60" y="4214818"/>
                        <a:ext cx="1142960" cy="57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6869" name="Object 5"/>
          <p:cNvGraphicFramePr>
            <a:graphicFrameLocks noChangeAspect="1"/>
          </p:cNvGraphicFramePr>
          <p:nvPr/>
        </p:nvGraphicFramePr>
        <p:xfrm>
          <a:off x="4143372" y="4286280"/>
          <a:ext cx="1645972" cy="500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31" name="Equation" r:id="rId7" imgW="749300" imgH="228600" progId="Equation.DSMT4">
                  <p:embed/>
                </p:oleObj>
              </mc:Choice>
              <mc:Fallback>
                <p:oleObj name="Equation" r:id="rId7" imgW="749300" imgH="2286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72" y="4286280"/>
                        <a:ext cx="1645972" cy="5000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6871" name="Object 7"/>
          <p:cNvGraphicFramePr>
            <a:graphicFrameLocks noChangeAspect="1"/>
          </p:cNvGraphicFramePr>
          <p:nvPr/>
        </p:nvGraphicFramePr>
        <p:xfrm>
          <a:off x="1714480" y="5572140"/>
          <a:ext cx="2177067" cy="57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32" name="Equation" r:id="rId9" imgW="761669" imgH="203112" progId="Equation.DSMT4">
                  <p:embed/>
                </p:oleObj>
              </mc:Choice>
              <mc:Fallback>
                <p:oleObj name="Equation" r:id="rId9" imgW="761669" imgH="203112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480" y="5572140"/>
                        <a:ext cx="2177067" cy="57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6873" name="Object 9"/>
          <p:cNvGraphicFramePr>
            <a:graphicFrameLocks noChangeAspect="1"/>
          </p:cNvGraphicFramePr>
          <p:nvPr/>
        </p:nvGraphicFramePr>
        <p:xfrm>
          <a:off x="4643438" y="5572140"/>
          <a:ext cx="2062695" cy="642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33" name="Equation" r:id="rId11" imgW="736600" imgH="228600" progId="Equation.DSMT4">
                  <p:embed/>
                </p:oleObj>
              </mc:Choice>
              <mc:Fallback>
                <p:oleObj name="Equation" r:id="rId11" imgW="736600" imgH="22860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5572140"/>
                        <a:ext cx="2062695" cy="6429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4.2 </a:t>
            </a:r>
            <a:r>
              <a:rPr lang="zh-CN" altLang="en-US" dirty="0" smtClean="0"/>
              <a:t>群的定义和简单性质（续）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422478"/>
          </a:xfrm>
        </p:spPr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定义</a:t>
            </a:r>
            <a:r>
              <a:rPr lang="en-US" altLang="zh-CN" b="1" dirty="0" smtClean="0">
                <a:solidFill>
                  <a:srgbClr val="FF0000"/>
                </a:solidFill>
              </a:rPr>
              <a:t>4.2.3 </a:t>
            </a:r>
            <a:r>
              <a:rPr lang="zh-CN" altLang="en-US" b="1" dirty="0" smtClean="0">
                <a:solidFill>
                  <a:srgbClr val="FF0000"/>
                </a:solidFill>
              </a:rPr>
              <a:t>交换群（阿贝尔群）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zh-CN" altLang="en-US" b="1" dirty="0" smtClean="0"/>
              <a:t>如果群</a:t>
            </a:r>
            <a:r>
              <a:rPr lang="en-US" b="1" dirty="0" smtClean="0"/>
              <a:t>G</a:t>
            </a:r>
            <a:r>
              <a:rPr lang="zh-CN" altLang="en-US" b="1" dirty="0" smtClean="0"/>
              <a:t>上的乘法运算还满足交换律，即</a:t>
            </a:r>
            <a:r>
              <a:rPr lang="zh-CN" altLang="en-US" sz="2400" b="1" dirty="0" smtClean="0"/>
              <a:t>对于群</a:t>
            </a:r>
            <a:r>
              <a:rPr lang="en-US" altLang="zh-CN" sz="2400" b="1" dirty="0" smtClean="0"/>
              <a:t>G</a:t>
            </a:r>
            <a:r>
              <a:rPr lang="zh-CN" altLang="en-US" sz="2400" b="1" dirty="0" smtClean="0"/>
              <a:t>中的任意元素</a:t>
            </a:r>
            <a:r>
              <a:rPr lang="en-US" altLang="zh-CN" sz="2400" b="1" dirty="0" err="1" smtClean="0"/>
              <a:t>a,b</a:t>
            </a:r>
            <a:r>
              <a:rPr lang="zh-CN" altLang="en-US" b="1" dirty="0" smtClean="0"/>
              <a:t>都有</a:t>
            </a:r>
            <a:r>
              <a:rPr lang="en-US" b="1" dirty="0" smtClean="0"/>
              <a:t> </a:t>
            </a:r>
          </a:p>
          <a:p>
            <a:pPr algn="ctr">
              <a:buNone/>
            </a:pPr>
            <a:r>
              <a:rPr lang="en-US" b="1" dirty="0" err="1" smtClean="0"/>
              <a:t>ab</a:t>
            </a:r>
            <a:r>
              <a:rPr lang="en-US" b="1" dirty="0" smtClean="0"/>
              <a:t>=</a:t>
            </a:r>
            <a:r>
              <a:rPr lang="en-US" b="1" dirty="0" err="1" smtClean="0"/>
              <a:t>ba</a:t>
            </a:r>
            <a:endParaRPr lang="en-US" b="1" dirty="0" smtClean="0"/>
          </a:p>
          <a:p>
            <a:r>
              <a:rPr lang="zh-CN" altLang="en-US" b="1" dirty="0" smtClean="0"/>
              <a:t>则称群</a:t>
            </a:r>
            <a:r>
              <a:rPr lang="en-US" b="1" dirty="0" smtClean="0"/>
              <a:t>G</a:t>
            </a:r>
            <a:r>
              <a:rPr lang="zh-CN" altLang="en-US" b="1" dirty="0" smtClean="0"/>
              <a:t>为</a:t>
            </a:r>
            <a:r>
              <a:rPr lang="zh-CN" altLang="en-US" b="1" dirty="0" smtClean="0">
                <a:solidFill>
                  <a:srgbClr val="FF0000"/>
                </a:solidFill>
              </a:rPr>
              <a:t>交换群或阿贝尔群</a:t>
            </a:r>
            <a:r>
              <a:rPr lang="zh-CN" altLang="en-US" b="1" dirty="0" smtClean="0"/>
              <a:t>。</a:t>
            </a:r>
            <a:endParaRPr lang="en-US" altLang="zh-CN" b="1" dirty="0" smtClean="0"/>
          </a:p>
          <a:p>
            <a:endParaRPr lang="en-US" altLang="zh-CN" b="1" dirty="0" smtClean="0"/>
          </a:p>
          <a:p>
            <a:r>
              <a:rPr lang="zh-CN" altLang="en-US" b="1" dirty="0" smtClean="0"/>
              <a:t>例</a:t>
            </a:r>
            <a:r>
              <a:rPr lang="en-US" b="1" dirty="0" smtClean="0"/>
              <a:t>4.2.1</a:t>
            </a:r>
            <a:r>
              <a:rPr lang="zh-CN" altLang="en-US" b="1" dirty="0" smtClean="0"/>
              <a:t>中的（</a:t>
            </a:r>
            <a:r>
              <a:rPr lang="en-US" b="1" dirty="0" smtClean="0"/>
              <a:t>1</a:t>
            </a:r>
            <a:r>
              <a:rPr lang="zh-CN" altLang="en-US" b="1" dirty="0" smtClean="0"/>
              <a:t>）（</a:t>
            </a:r>
            <a:r>
              <a:rPr lang="en-US" b="1" dirty="0" smtClean="0"/>
              <a:t>2</a:t>
            </a:r>
            <a:r>
              <a:rPr lang="zh-CN" altLang="en-US" b="1" dirty="0" smtClean="0"/>
              <a:t>）（</a:t>
            </a:r>
            <a:r>
              <a:rPr lang="en-US" b="1" dirty="0" smtClean="0"/>
              <a:t>3</a:t>
            </a:r>
            <a:r>
              <a:rPr lang="zh-CN" altLang="en-US" b="1" dirty="0" smtClean="0"/>
              <a:t>）中的群都是交换群，而</a:t>
            </a:r>
            <a:r>
              <a:rPr lang="en-US" b="1" dirty="0" smtClean="0"/>
              <a:t>n</a:t>
            </a:r>
            <a:r>
              <a:rPr lang="zh-CN" altLang="en-US" b="1" dirty="0" smtClean="0"/>
              <a:t>级一般线形群</a:t>
            </a:r>
            <a:r>
              <a:rPr lang="en-US" b="1" dirty="0" smtClean="0"/>
              <a:t> </a:t>
            </a:r>
            <a:r>
              <a:rPr lang="zh-CN" altLang="en-US" b="1" dirty="0" smtClean="0"/>
              <a:t>为非交换群。</a:t>
            </a:r>
            <a:endParaRPr lang="en-US" altLang="zh-CN" b="1" dirty="0" smtClean="0"/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87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87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87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4.2 </a:t>
            </a:r>
            <a:r>
              <a:rPr lang="zh-CN" altLang="en-US" dirty="0" smtClean="0"/>
              <a:t>群的定义和简单性质（续）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422478"/>
          </a:xfrm>
        </p:spPr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有限群和无限群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zh-CN" altLang="en-US" b="1" dirty="0" smtClean="0"/>
              <a:t>定义</a:t>
            </a:r>
            <a:r>
              <a:rPr lang="en-US" b="1" dirty="0" smtClean="0"/>
              <a:t>4.2.4 </a:t>
            </a:r>
            <a:r>
              <a:rPr lang="zh-CN" altLang="en-US" b="1" dirty="0" smtClean="0"/>
              <a:t>若群</a:t>
            </a:r>
            <a:r>
              <a:rPr lang="en-US" b="1" dirty="0" smtClean="0"/>
              <a:t>G</a:t>
            </a:r>
            <a:r>
              <a:rPr lang="zh-CN" altLang="en-US" b="1" dirty="0" smtClean="0"/>
              <a:t>中只含有有限个元素，则称群</a:t>
            </a:r>
            <a:r>
              <a:rPr lang="en-US" b="1" dirty="0" smtClean="0"/>
              <a:t>G</a:t>
            </a:r>
            <a:r>
              <a:rPr lang="zh-CN" altLang="en-US" b="1" dirty="0" smtClean="0"/>
              <a:t>为有限群；若群</a:t>
            </a:r>
            <a:r>
              <a:rPr lang="en-US" b="1" dirty="0" smtClean="0"/>
              <a:t>G</a:t>
            </a:r>
            <a:r>
              <a:rPr lang="zh-CN" altLang="en-US" b="1" dirty="0" smtClean="0"/>
              <a:t>中含有无限多个元素，则称群</a:t>
            </a:r>
            <a:r>
              <a:rPr lang="en-US" b="1" dirty="0" smtClean="0"/>
              <a:t>G</a:t>
            </a:r>
            <a:r>
              <a:rPr lang="zh-CN" altLang="en-US" b="1" dirty="0" smtClean="0"/>
              <a:t>为无限群。一个有限群</a:t>
            </a:r>
            <a:r>
              <a:rPr lang="en-US" b="1" dirty="0" smtClean="0"/>
              <a:t>G</a:t>
            </a:r>
            <a:r>
              <a:rPr lang="zh-CN" altLang="en-US" b="1" dirty="0" smtClean="0"/>
              <a:t>中的元素个数称为群的阶，记为</a:t>
            </a:r>
            <a:r>
              <a:rPr lang="en-US" b="1" dirty="0" smtClean="0"/>
              <a:t>|G|</a:t>
            </a:r>
            <a:r>
              <a:rPr lang="zh-CN" altLang="en-US" b="1" dirty="0" smtClean="0"/>
              <a:t>。</a:t>
            </a:r>
          </a:p>
          <a:p>
            <a:endParaRPr lang="en-US" altLang="zh-CN" b="1" dirty="0" smtClean="0"/>
          </a:p>
          <a:p>
            <a:r>
              <a:rPr lang="zh-CN" altLang="en-US" b="1" dirty="0" smtClean="0"/>
              <a:t>例</a:t>
            </a:r>
            <a:r>
              <a:rPr lang="en-US" b="1" dirty="0" smtClean="0"/>
              <a:t>4.2.1</a:t>
            </a:r>
            <a:r>
              <a:rPr lang="zh-CN" altLang="en-US" b="1" dirty="0" smtClean="0"/>
              <a:t>中的（</a:t>
            </a:r>
            <a:r>
              <a:rPr lang="en-US" b="1" dirty="0" smtClean="0"/>
              <a:t>1</a:t>
            </a:r>
            <a:r>
              <a:rPr lang="zh-CN" altLang="en-US" b="1" dirty="0" smtClean="0"/>
              <a:t>）、（</a:t>
            </a:r>
            <a:r>
              <a:rPr lang="en-US" b="1" dirty="0" smtClean="0"/>
              <a:t>2</a:t>
            </a:r>
            <a:r>
              <a:rPr lang="zh-CN" altLang="en-US" b="1" dirty="0" smtClean="0"/>
              <a:t>）都是无限群，而整数模</a:t>
            </a:r>
            <a:r>
              <a:rPr lang="en-US" b="1" dirty="0" smtClean="0"/>
              <a:t>n</a:t>
            </a:r>
            <a:r>
              <a:rPr lang="zh-CN" altLang="en-US" b="1" dirty="0" smtClean="0"/>
              <a:t>加群       </a:t>
            </a:r>
            <a:r>
              <a:rPr lang="en-US" b="1" dirty="0" smtClean="0"/>
              <a:t>  </a:t>
            </a:r>
            <a:r>
              <a:rPr lang="zh-CN" altLang="en-US" b="1" dirty="0" smtClean="0"/>
              <a:t>为有限群，且    </a:t>
            </a:r>
            <a:r>
              <a:rPr lang="en-US" b="1" dirty="0" smtClean="0"/>
              <a:t>          </a:t>
            </a:r>
            <a:r>
              <a:rPr lang="zh-CN" altLang="en-US" b="1" dirty="0" smtClean="0"/>
              <a:t>。</a:t>
            </a:r>
            <a:endParaRPr lang="zh-CN" altLang="en-US" b="1" dirty="0"/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87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87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87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7889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2075204"/>
              </p:ext>
            </p:extLst>
          </p:nvPr>
        </p:nvGraphicFramePr>
        <p:xfrm>
          <a:off x="1331640" y="4509349"/>
          <a:ext cx="500034" cy="600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52" name="Equation" r:id="rId3" imgW="190500" imgH="228600" progId="Equation.DSMT4">
                  <p:embed/>
                </p:oleObj>
              </mc:Choice>
              <mc:Fallback>
                <p:oleObj name="Equation" r:id="rId3" imgW="190500" imgH="2286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4509349"/>
                        <a:ext cx="500034" cy="60004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789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9174591"/>
              </p:ext>
            </p:extLst>
          </p:nvPr>
        </p:nvGraphicFramePr>
        <p:xfrm>
          <a:off x="3851920" y="4509120"/>
          <a:ext cx="1071570" cy="567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53" name="Equation" r:id="rId5" imgW="482391" imgH="253890" progId="Equation.DSMT4">
                  <p:embed/>
                </p:oleObj>
              </mc:Choice>
              <mc:Fallback>
                <p:oleObj name="Equation" r:id="rId5" imgW="482391" imgH="25389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4509120"/>
                        <a:ext cx="1071570" cy="5673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4.2 </a:t>
            </a:r>
            <a:r>
              <a:rPr lang="zh-CN" altLang="en-US" dirty="0" smtClean="0"/>
              <a:t>群的定义和简单性质（续）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422478"/>
          </a:xfrm>
        </p:spPr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有限群的判定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zh-CN" altLang="en-US" b="1" dirty="0" smtClean="0"/>
              <a:t>定理</a:t>
            </a:r>
            <a:r>
              <a:rPr lang="en-US" b="1" dirty="0" smtClean="0"/>
              <a:t>4.2.2 </a:t>
            </a:r>
            <a:r>
              <a:rPr lang="zh-CN" altLang="en-US" b="1" dirty="0" smtClean="0"/>
              <a:t>一个有乘法的有限集合</a:t>
            </a:r>
            <a:r>
              <a:rPr lang="en-US" b="1" dirty="0" smtClean="0"/>
              <a:t>G</a:t>
            </a:r>
            <a:r>
              <a:rPr lang="zh-CN" altLang="en-US" b="1" dirty="0" smtClean="0"/>
              <a:t>，若其乘法在</a:t>
            </a:r>
            <a:r>
              <a:rPr lang="en-US" b="1" dirty="0" smtClean="0"/>
              <a:t>G</a:t>
            </a:r>
            <a:r>
              <a:rPr lang="zh-CN" altLang="en-US" b="1" dirty="0" smtClean="0"/>
              <a:t>中封闭，且满足结合律和消去律，则</a:t>
            </a:r>
            <a:r>
              <a:rPr lang="en-US" b="1" dirty="0" smtClean="0"/>
              <a:t>G</a:t>
            </a:r>
            <a:r>
              <a:rPr lang="zh-CN" altLang="en-US" b="1" dirty="0" smtClean="0"/>
              <a:t>是群。</a:t>
            </a:r>
            <a:endParaRPr lang="en-US" altLang="zh-CN" b="1" dirty="0" smtClean="0"/>
          </a:p>
          <a:p>
            <a:endParaRPr lang="en-US" altLang="zh-CN" b="1" dirty="0" smtClean="0"/>
          </a:p>
          <a:p>
            <a:endParaRPr lang="zh-CN" altLang="en-US" b="1" dirty="0" smtClean="0"/>
          </a:p>
          <a:p>
            <a:pPr>
              <a:buNone/>
            </a:pPr>
            <a:r>
              <a:rPr lang="zh-CN" altLang="en-US" b="1" dirty="0" smtClean="0"/>
              <a:t>证明思路：</a:t>
            </a:r>
            <a:r>
              <a:rPr lang="zh-CN" altLang="en-US" b="1" dirty="0" smtClean="0">
                <a:solidFill>
                  <a:srgbClr val="FF0000"/>
                </a:solidFill>
              </a:rPr>
              <a:t>（定理</a:t>
            </a:r>
            <a:r>
              <a:rPr lang="en-US" altLang="zh-CN" b="1" dirty="0" smtClean="0">
                <a:solidFill>
                  <a:srgbClr val="FF0000"/>
                </a:solidFill>
              </a:rPr>
              <a:t>4.2.1</a:t>
            </a:r>
            <a:r>
              <a:rPr lang="zh-CN" altLang="en-US" b="1" dirty="0" smtClean="0">
                <a:solidFill>
                  <a:srgbClr val="FF0000"/>
                </a:solidFill>
              </a:rPr>
              <a:t>）</a:t>
            </a:r>
            <a:r>
              <a:rPr lang="zh-CN" altLang="en-US" sz="2400" b="1" dirty="0" smtClean="0"/>
              <a:t>对于</a:t>
            </a:r>
            <a:r>
              <a:rPr lang="en-US" altLang="zh-CN" sz="2400" b="1" dirty="0" smtClean="0"/>
              <a:t>G</a:t>
            </a:r>
            <a:r>
              <a:rPr lang="zh-CN" altLang="en-US" sz="2400" b="1" dirty="0" smtClean="0"/>
              <a:t>中的任意元素</a:t>
            </a:r>
            <a:r>
              <a:rPr lang="en-US" altLang="zh-CN" sz="2400" b="1" dirty="0" err="1" smtClean="0"/>
              <a:t>a,b</a:t>
            </a:r>
            <a:r>
              <a:rPr lang="en-US" altLang="zh-CN" sz="2400" b="1" dirty="0" smtClean="0"/>
              <a:t> </a:t>
            </a:r>
            <a:r>
              <a:rPr lang="zh-CN" altLang="en-US" sz="2400" b="1" dirty="0" smtClean="0"/>
              <a:t>，方程</a:t>
            </a:r>
            <a:endParaRPr lang="en-US" altLang="zh-CN" sz="2400" b="1" dirty="0" smtClean="0"/>
          </a:p>
          <a:p>
            <a:pPr algn="ctr">
              <a:buNone/>
            </a:pPr>
            <a:r>
              <a:rPr lang="en-US" altLang="zh-CN" sz="2400" b="1" i="1" dirty="0" smtClean="0">
                <a:latin typeface="Times New Roman" pitchFamily="18" charset="0"/>
                <a:cs typeface="Times New Roman" pitchFamily="18" charset="0"/>
              </a:rPr>
              <a:t>ax=b</a:t>
            </a:r>
            <a:r>
              <a:rPr lang="zh-CN" altLang="en-US" sz="2400" b="1" dirty="0" smtClean="0"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altLang="zh-CN" sz="2400" b="1" i="1" dirty="0" err="1" smtClean="0">
                <a:latin typeface="Times New Roman" pitchFamily="18" charset="0"/>
                <a:cs typeface="Times New Roman" pitchFamily="18" charset="0"/>
              </a:rPr>
              <a:t>xa</a:t>
            </a:r>
            <a:r>
              <a:rPr lang="en-US" altLang="zh-CN" sz="2400" b="1" i="1" dirty="0" smtClean="0">
                <a:latin typeface="Times New Roman" pitchFamily="18" charset="0"/>
                <a:cs typeface="Times New Roman" pitchFamily="18" charset="0"/>
              </a:rPr>
              <a:t>=b</a:t>
            </a:r>
          </a:p>
          <a:p>
            <a:pPr>
              <a:buNone/>
            </a:pPr>
            <a:r>
              <a:rPr lang="zh-CN" altLang="en-US" sz="2400" b="1" dirty="0" smtClean="0"/>
              <a:t>在</a:t>
            </a:r>
            <a:r>
              <a:rPr lang="en-US" sz="2400" b="1" dirty="0" smtClean="0"/>
              <a:t>G</a:t>
            </a:r>
            <a:r>
              <a:rPr lang="zh-CN" altLang="en-US" sz="2400" b="1" dirty="0" smtClean="0"/>
              <a:t>中有解，则</a:t>
            </a:r>
            <a:r>
              <a:rPr lang="en-US" sz="2400" b="1" dirty="0" smtClean="0"/>
              <a:t>G</a:t>
            </a:r>
            <a:r>
              <a:rPr lang="zh-CN" altLang="en-US" sz="2400" b="1" dirty="0" smtClean="0"/>
              <a:t>是群。</a:t>
            </a:r>
          </a:p>
          <a:p>
            <a:endParaRPr lang="en-US" altLang="zh-CN" b="1" dirty="0" smtClean="0">
              <a:solidFill>
                <a:srgbClr val="FF0000"/>
              </a:solidFill>
            </a:endParaRPr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87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87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87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4.2 </a:t>
            </a:r>
            <a:r>
              <a:rPr lang="zh-CN" altLang="en-US" dirty="0" smtClean="0"/>
              <a:t>群的定义和简单性质（续）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422478"/>
          </a:xfrm>
        </p:spPr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有限群的判定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zh-CN" altLang="en-US" b="1" dirty="0" smtClean="0"/>
              <a:t>定理</a:t>
            </a:r>
            <a:r>
              <a:rPr lang="en-US" b="1" dirty="0" smtClean="0"/>
              <a:t>4.2.2 </a:t>
            </a:r>
            <a:r>
              <a:rPr lang="zh-CN" altLang="en-US" b="1" dirty="0" smtClean="0"/>
              <a:t>的证明：</a:t>
            </a:r>
            <a:endParaRPr lang="en-US" altLang="zh-CN" b="1" dirty="0" smtClean="0"/>
          </a:p>
          <a:p>
            <a:pPr>
              <a:buNone/>
            </a:pPr>
            <a:r>
              <a:rPr lang="zh-CN" altLang="en-US" b="1" dirty="0" smtClean="0"/>
              <a:t>假定</a:t>
            </a:r>
            <a:r>
              <a:rPr lang="en-US" b="1" dirty="0" smtClean="0"/>
              <a:t>G</a:t>
            </a:r>
            <a:r>
              <a:rPr lang="zh-CN" altLang="en-US" b="1" dirty="0" smtClean="0"/>
              <a:t>中有</a:t>
            </a:r>
            <a:r>
              <a:rPr lang="en-US" b="1" dirty="0" smtClean="0"/>
              <a:t>n</a:t>
            </a:r>
            <a:r>
              <a:rPr lang="zh-CN" altLang="en-US" b="1" dirty="0" smtClean="0"/>
              <a:t>个元素，不妨设这</a:t>
            </a:r>
            <a:r>
              <a:rPr lang="en-US" b="1" dirty="0" smtClean="0"/>
              <a:t>n</a:t>
            </a:r>
            <a:r>
              <a:rPr lang="zh-CN" altLang="en-US" b="1" dirty="0" smtClean="0"/>
              <a:t>个元素为</a:t>
            </a:r>
          </a:p>
          <a:p>
            <a:pPr>
              <a:buNone/>
            </a:pPr>
            <a:endParaRPr lang="zh-CN" altLang="en-US" b="1" dirty="0" smtClean="0"/>
          </a:p>
          <a:p>
            <a:pPr>
              <a:buNone/>
            </a:pPr>
            <a:r>
              <a:rPr lang="zh-CN" altLang="en-US" b="1" dirty="0" smtClean="0"/>
              <a:t>用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b="1" dirty="0" smtClean="0"/>
              <a:t>左乘所有的     </a:t>
            </a:r>
            <a:r>
              <a:rPr lang="en-US" b="1" dirty="0" smtClean="0"/>
              <a:t> </a:t>
            </a:r>
            <a:r>
              <a:rPr lang="zh-CN" altLang="en-US" b="1" dirty="0" smtClean="0"/>
              <a:t>，可做成集合</a:t>
            </a:r>
            <a:endParaRPr lang="en-US" altLang="zh-CN" b="1" dirty="0" smtClean="0"/>
          </a:p>
          <a:p>
            <a:pPr>
              <a:buNone/>
            </a:pPr>
            <a:endParaRPr lang="en-US" altLang="zh-CN" b="1" dirty="0" smtClean="0"/>
          </a:p>
          <a:p>
            <a:pPr>
              <a:buNone/>
            </a:pPr>
            <a:r>
              <a:rPr lang="zh-CN" altLang="en-US" b="1" dirty="0" smtClean="0"/>
              <a:t>由于乘法在</a:t>
            </a:r>
            <a:r>
              <a:rPr lang="en-US" b="1" dirty="0" smtClean="0"/>
              <a:t>G</a:t>
            </a:r>
            <a:r>
              <a:rPr lang="zh-CN" altLang="en-US" b="1" dirty="0" smtClean="0"/>
              <a:t>上封闭，所以</a:t>
            </a:r>
            <a:endParaRPr lang="en-US" altLang="zh-CN" b="1" dirty="0" smtClean="0">
              <a:solidFill>
                <a:srgbClr val="FF0000"/>
              </a:solidFill>
            </a:endParaRPr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87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87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87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09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0961" name="Object 1"/>
          <p:cNvGraphicFramePr>
            <a:graphicFrameLocks noChangeAspect="1"/>
          </p:cNvGraphicFramePr>
          <p:nvPr/>
        </p:nvGraphicFramePr>
        <p:xfrm>
          <a:off x="3428992" y="3286124"/>
          <a:ext cx="1571604" cy="5238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0" name="Equation" r:id="rId3" imgW="685800" imgH="228600" progId="Equation.DSMT4">
                  <p:embed/>
                </p:oleObj>
              </mc:Choice>
              <mc:Fallback>
                <p:oleObj name="Equation" r:id="rId3" imgW="685800" imgH="2286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8992" y="3286124"/>
                        <a:ext cx="1571604" cy="52386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0963" name="Object 3"/>
          <p:cNvGraphicFramePr>
            <a:graphicFrameLocks noChangeAspect="1"/>
          </p:cNvGraphicFramePr>
          <p:nvPr/>
        </p:nvGraphicFramePr>
        <p:xfrm>
          <a:off x="2714612" y="3714752"/>
          <a:ext cx="428596" cy="642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1" name="Equation" r:id="rId5" imgW="152334" imgH="228501" progId="Equation.DSMT4">
                  <p:embed/>
                </p:oleObj>
              </mc:Choice>
              <mc:Fallback>
                <p:oleObj name="Equation" r:id="rId5" imgW="152334" imgH="228501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12" y="3714752"/>
                        <a:ext cx="428596" cy="6428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0965" name="Object 5"/>
          <p:cNvGraphicFramePr>
            <a:graphicFrameLocks noChangeAspect="1"/>
          </p:cNvGraphicFramePr>
          <p:nvPr/>
        </p:nvGraphicFramePr>
        <p:xfrm>
          <a:off x="2928926" y="4286256"/>
          <a:ext cx="3062757" cy="500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2" name="Equation" r:id="rId7" imgW="1397000" imgH="228600" progId="Equation.DSMT4">
                  <p:embed/>
                </p:oleObj>
              </mc:Choice>
              <mc:Fallback>
                <p:oleObj name="Equation" r:id="rId7" imgW="1397000" imgH="2286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26" y="4286256"/>
                        <a:ext cx="3062757" cy="5000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0967" name="Object 7"/>
          <p:cNvGraphicFramePr>
            <a:graphicFrameLocks noChangeAspect="1"/>
          </p:cNvGraphicFramePr>
          <p:nvPr/>
        </p:nvGraphicFramePr>
        <p:xfrm>
          <a:off x="3786182" y="5357826"/>
          <a:ext cx="1071538" cy="4202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3" name="Equation" r:id="rId9" imgW="482391" imgH="190417" progId="Equation.DSMT4">
                  <p:embed/>
                </p:oleObj>
              </mc:Choice>
              <mc:Fallback>
                <p:oleObj name="Equation" r:id="rId9" imgW="482391" imgH="190417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2" y="5357826"/>
                        <a:ext cx="1071538" cy="42021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4.2 </a:t>
            </a:r>
            <a:r>
              <a:rPr lang="zh-CN" altLang="en-US" dirty="0" smtClean="0"/>
              <a:t>群的定义和简单性质（续）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779668"/>
          </a:xfrm>
        </p:spPr>
        <p:txBody>
          <a:bodyPr>
            <a:normAutofit lnSpcReduction="10000"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有限群的判定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zh-CN" altLang="en-US" b="1" dirty="0" smtClean="0"/>
              <a:t>定理</a:t>
            </a:r>
            <a:r>
              <a:rPr lang="en-US" b="1" dirty="0" smtClean="0"/>
              <a:t>4.2.2 </a:t>
            </a:r>
            <a:r>
              <a:rPr lang="zh-CN" altLang="en-US" b="1" dirty="0" smtClean="0"/>
              <a:t>的证明（续）：</a:t>
            </a:r>
            <a:endParaRPr lang="en-US" altLang="zh-CN" b="1" dirty="0" smtClean="0"/>
          </a:p>
          <a:p>
            <a:pPr>
              <a:buNone/>
            </a:pPr>
            <a:r>
              <a:rPr lang="zh-CN" altLang="en-US" b="1" dirty="0" smtClean="0"/>
              <a:t>但当</a:t>
            </a:r>
            <a:r>
              <a:rPr lang="en-US" b="1" dirty="0" smtClean="0"/>
              <a:t>           </a:t>
            </a:r>
            <a:r>
              <a:rPr lang="zh-CN" altLang="en-US" b="1" dirty="0" smtClean="0"/>
              <a:t>的时候</a:t>
            </a:r>
            <a:endParaRPr lang="en-US" altLang="zh-CN" b="1" dirty="0" smtClean="0"/>
          </a:p>
          <a:p>
            <a:pPr>
              <a:buNone/>
            </a:pPr>
            <a:endParaRPr lang="en-US" altLang="zh-CN" b="1" dirty="0" smtClean="0"/>
          </a:p>
          <a:p>
            <a:pPr>
              <a:buNone/>
            </a:pPr>
            <a:r>
              <a:rPr lang="zh-CN" altLang="en-US" b="1" dirty="0" smtClean="0"/>
              <a:t>否则由消去律可知，</a:t>
            </a:r>
            <a:r>
              <a:rPr lang="en-US" b="1" dirty="0" smtClean="0"/>
              <a:t>         </a:t>
            </a:r>
            <a:r>
              <a:rPr lang="zh-CN" altLang="en-US" b="1" dirty="0" smtClean="0"/>
              <a:t>，与假定不合。</a:t>
            </a:r>
            <a:endParaRPr lang="en-US" altLang="zh-CN" b="1" dirty="0" smtClean="0"/>
          </a:p>
          <a:p>
            <a:pPr>
              <a:buNone/>
            </a:pPr>
            <a:endParaRPr lang="en-US" altLang="zh-CN" b="1" dirty="0" smtClean="0"/>
          </a:p>
          <a:p>
            <a:pPr>
              <a:buNone/>
            </a:pPr>
            <a:r>
              <a:rPr lang="zh-CN" altLang="en-US" b="1" dirty="0" smtClean="0"/>
              <a:t>因此 </a:t>
            </a:r>
            <a:r>
              <a:rPr lang="en-US" b="1" dirty="0" smtClean="0"/>
              <a:t>     </a:t>
            </a:r>
            <a:r>
              <a:rPr lang="zh-CN" altLang="en-US" b="1" dirty="0" smtClean="0"/>
              <a:t>有</a:t>
            </a:r>
            <a:r>
              <a:rPr lang="en-US" b="1" dirty="0" smtClean="0"/>
              <a:t>n</a:t>
            </a:r>
            <a:r>
              <a:rPr lang="zh-CN" altLang="en-US" b="1" dirty="0" smtClean="0"/>
              <a:t>个不同的元素，所以有   </a:t>
            </a:r>
            <a:r>
              <a:rPr lang="en-US" b="1" dirty="0" smtClean="0"/>
              <a:t>            </a:t>
            </a:r>
            <a:r>
              <a:rPr lang="zh-CN" altLang="en-US" b="1" dirty="0" smtClean="0"/>
              <a:t>。这样，对于方程中的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zh-CN" altLang="en-US" b="1" dirty="0" smtClean="0"/>
              <a:t>，必然存在某个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zh-CN" altLang="en-US" b="1" dirty="0" smtClean="0"/>
              <a:t>，使得  </a:t>
            </a:r>
            <a:r>
              <a:rPr lang="en-US" b="1" dirty="0" smtClean="0"/>
              <a:t>            </a:t>
            </a:r>
            <a:r>
              <a:rPr lang="zh-CN" altLang="en-US" b="1" dirty="0" smtClean="0"/>
              <a:t>，也就是说方程</a:t>
            </a:r>
            <a:r>
              <a:rPr lang="en-US" b="1" dirty="0" smtClean="0"/>
              <a:t> </a:t>
            </a:r>
            <a:r>
              <a:rPr lang="en-US" altLang="zh-CN" sz="2800" b="1" i="1" dirty="0" smtClean="0">
                <a:latin typeface="Times New Roman" pitchFamily="18" charset="0"/>
                <a:cs typeface="Times New Roman" pitchFamily="18" charset="0"/>
              </a:rPr>
              <a:t>ax=b</a:t>
            </a:r>
            <a:r>
              <a:rPr lang="zh-CN" altLang="en-US" b="1" dirty="0" smtClean="0"/>
              <a:t>在</a:t>
            </a:r>
            <a:r>
              <a:rPr lang="en-US" b="1" dirty="0" smtClean="0"/>
              <a:t>G</a:t>
            </a:r>
            <a:r>
              <a:rPr lang="zh-CN" altLang="en-US" b="1" dirty="0" smtClean="0"/>
              <a:t>中有解。</a:t>
            </a:r>
            <a:endParaRPr lang="en-US" altLang="zh-CN" b="1" dirty="0" smtClean="0"/>
          </a:p>
          <a:p>
            <a:pPr>
              <a:buNone/>
            </a:pPr>
            <a:r>
              <a:rPr lang="zh-CN" altLang="en-US" b="1" dirty="0" smtClean="0"/>
              <a:t>同理可证，方程</a:t>
            </a:r>
            <a:r>
              <a:rPr lang="en-US" b="1" dirty="0" smtClean="0"/>
              <a:t> </a:t>
            </a:r>
            <a:r>
              <a:rPr lang="en-US" altLang="zh-CN" sz="2800" b="1" i="1" dirty="0" err="1" smtClean="0">
                <a:latin typeface="Times New Roman" pitchFamily="18" charset="0"/>
                <a:cs typeface="Times New Roman" pitchFamily="18" charset="0"/>
              </a:rPr>
              <a:t>xa</a:t>
            </a:r>
            <a:r>
              <a:rPr lang="en-US" altLang="zh-CN" sz="2800" b="1" i="1" dirty="0" smtClean="0">
                <a:latin typeface="Times New Roman" pitchFamily="18" charset="0"/>
                <a:cs typeface="Times New Roman" pitchFamily="18" charset="0"/>
              </a:rPr>
              <a:t>=b</a:t>
            </a:r>
            <a:r>
              <a:rPr lang="zh-CN" altLang="en-US" b="1" dirty="0" smtClean="0"/>
              <a:t>在</a:t>
            </a:r>
            <a:r>
              <a:rPr lang="en-US" b="1" dirty="0" smtClean="0"/>
              <a:t>G</a:t>
            </a:r>
            <a:r>
              <a:rPr lang="zh-CN" altLang="en-US" b="1" dirty="0" smtClean="0"/>
              <a:t>中也有解。</a:t>
            </a:r>
          </a:p>
          <a:p>
            <a:pPr>
              <a:buNone/>
            </a:pPr>
            <a:r>
              <a:rPr lang="zh-CN" altLang="en-US" b="1" dirty="0" smtClean="0"/>
              <a:t>根据定理</a:t>
            </a:r>
            <a:r>
              <a:rPr lang="en-US" b="1" dirty="0" smtClean="0"/>
              <a:t>4.2.1</a:t>
            </a:r>
            <a:r>
              <a:rPr lang="zh-CN" altLang="en-US" b="1" dirty="0" smtClean="0"/>
              <a:t>，</a:t>
            </a:r>
            <a:r>
              <a:rPr lang="en-US" b="1" dirty="0" smtClean="0"/>
              <a:t>G</a:t>
            </a:r>
            <a:r>
              <a:rPr lang="zh-CN" altLang="en-US" b="1" dirty="0" smtClean="0"/>
              <a:t>是群。</a:t>
            </a:r>
            <a:endParaRPr lang="en-US" altLang="zh-CN" b="1" dirty="0" smtClean="0"/>
          </a:p>
        </p:txBody>
      </p:sp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87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87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87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09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096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096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096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199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1990" name="Object 6"/>
          <p:cNvGraphicFramePr>
            <a:graphicFrameLocks noChangeAspect="1"/>
          </p:cNvGraphicFramePr>
          <p:nvPr/>
        </p:nvGraphicFramePr>
        <p:xfrm>
          <a:off x="1285852" y="2786058"/>
          <a:ext cx="785786" cy="462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69" name="Equation" r:id="rId3" imgW="317225" imgH="190335" progId="Equation.DSMT4">
                  <p:embed/>
                </p:oleObj>
              </mc:Choice>
              <mc:Fallback>
                <p:oleObj name="Equation" r:id="rId3" imgW="317225" imgH="190335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52" y="2786058"/>
                        <a:ext cx="785786" cy="46222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1992" name="Object 8"/>
          <p:cNvGraphicFramePr>
            <a:graphicFrameLocks noChangeAspect="1"/>
          </p:cNvGraphicFramePr>
          <p:nvPr/>
        </p:nvGraphicFramePr>
        <p:xfrm>
          <a:off x="3000364" y="3143248"/>
          <a:ext cx="1417270" cy="57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70" name="Equation" r:id="rId5" imgW="596900" imgH="241300" progId="Equation.DSMT4">
                  <p:embed/>
                </p:oleObj>
              </mc:Choice>
              <mc:Fallback>
                <p:oleObj name="Equation" r:id="rId5" imgW="596900" imgH="2413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64" y="3143248"/>
                        <a:ext cx="1417270" cy="57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5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1994" name="Object 10"/>
          <p:cNvGraphicFramePr>
            <a:graphicFrameLocks noChangeAspect="1"/>
          </p:cNvGraphicFramePr>
          <p:nvPr/>
        </p:nvGraphicFramePr>
        <p:xfrm>
          <a:off x="3357554" y="3649411"/>
          <a:ext cx="928662" cy="4939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71" name="Equation" r:id="rId7" imgW="444307" imgH="241195" progId="Equation.DSMT4">
                  <p:embed/>
                </p:oleObj>
              </mc:Choice>
              <mc:Fallback>
                <p:oleObj name="Equation" r:id="rId7" imgW="444307" imgH="241195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7554" y="3649411"/>
                        <a:ext cx="928662" cy="49396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7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1996" name="Object 12"/>
          <p:cNvGraphicFramePr>
            <a:graphicFrameLocks noChangeAspect="1"/>
          </p:cNvGraphicFramePr>
          <p:nvPr/>
        </p:nvGraphicFramePr>
        <p:xfrm>
          <a:off x="1214414" y="4548195"/>
          <a:ext cx="500066" cy="452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72" name="Equation" r:id="rId9" imgW="202936" imgH="177569" progId="Equation.DSMT4">
                  <p:embed/>
                </p:oleObj>
              </mc:Choice>
              <mc:Fallback>
                <p:oleObj name="Equation" r:id="rId9" imgW="202936" imgH="177569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14" y="4548195"/>
                        <a:ext cx="500066" cy="45244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9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1998" name="Object 14"/>
          <p:cNvGraphicFramePr>
            <a:graphicFrameLocks noChangeAspect="1"/>
          </p:cNvGraphicFramePr>
          <p:nvPr/>
        </p:nvGraphicFramePr>
        <p:xfrm>
          <a:off x="5643570" y="4500570"/>
          <a:ext cx="1105347" cy="428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73" name="Equation" r:id="rId11" imgW="469696" imgH="177723" progId="Equation.DSMT4">
                  <p:embed/>
                </p:oleObj>
              </mc:Choice>
              <mc:Fallback>
                <p:oleObj name="Equation" r:id="rId11" imgW="469696" imgH="177723" progId="Equation.DSMT4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3570" y="4500570"/>
                        <a:ext cx="1105347" cy="428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01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2000" name="Object 16"/>
          <p:cNvGraphicFramePr>
            <a:graphicFrameLocks noChangeAspect="1"/>
          </p:cNvGraphicFramePr>
          <p:nvPr/>
        </p:nvGraphicFramePr>
        <p:xfrm>
          <a:off x="6215074" y="4857760"/>
          <a:ext cx="928662" cy="454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74" name="Equation" r:id="rId13" imgW="469900" imgH="228600" progId="Equation.DSMT4">
                  <p:embed/>
                </p:oleObj>
              </mc:Choice>
              <mc:Fallback>
                <p:oleObj name="Equation" r:id="rId13" imgW="469900" imgH="228600" progId="Equation.DSMT4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5074" y="4857760"/>
                        <a:ext cx="928662" cy="45485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4.2 </a:t>
            </a:r>
            <a:r>
              <a:rPr lang="zh-CN" altLang="en-US" dirty="0" smtClean="0"/>
              <a:t>群的定义和简单性质（续）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 smtClean="0"/>
              <a:t>例</a:t>
            </a:r>
            <a:r>
              <a:rPr lang="en-US" b="1" dirty="0" smtClean="0"/>
              <a:t>4.2.2 </a:t>
            </a:r>
            <a:r>
              <a:rPr lang="zh-CN" altLang="en-US" b="1" dirty="0" smtClean="0"/>
              <a:t>取模</a:t>
            </a:r>
            <a:r>
              <a:rPr lang="en-US" b="1" dirty="0" smtClean="0"/>
              <a:t>m</a:t>
            </a:r>
            <a:r>
              <a:rPr lang="zh-CN" altLang="en-US" b="1" dirty="0" smtClean="0"/>
              <a:t>的最小非负简化剩余系，记为</a:t>
            </a:r>
            <a:r>
              <a:rPr lang="en-US" b="1" dirty="0" smtClean="0"/>
              <a:t>       </a:t>
            </a:r>
            <a:r>
              <a:rPr lang="zh-CN" altLang="en-US" b="1" dirty="0" smtClean="0"/>
              <a:t>，其中元素个数为     </a:t>
            </a:r>
            <a:r>
              <a:rPr lang="en-US" b="1" dirty="0" smtClean="0"/>
              <a:t>      </a:t>
            </a:r>
            <a:r>
              <a:rPr lang="zh-CN" altLang="en-US" b="1" dirty="0" smtClean="0"/>
              <a:t>个，定义其上的乘法为模</a:t>
            </a:r>
            <a:r>
              <a:rPr lang="en-US" b="1" dirty="0" smtClean="0"/>
              <a:t>m</a:t>
            </a:r>
            <a:r>
              <a:rPr lang="zh-CN" altLang="en-US" b="1" dirty="0" smtClean="0"/>
              <a:t>的乘法。显然其乘法在</a:t>
            </a:r>
            <a:r>
              <a:rPr lang="en-US" b="1" dirty="0" smtClean="0"/>
              <a:t> </a:t>
            </a:r>
            <a:r>
              <a:rPr lang="zh-CN" altLang="en-US" b="1" dirty="0" smtClean="0"/>
              <a:t>上封闭，且满足结合律。由定理</a:t>
            </a:r>
            <a:r>
              <a:rPr lang="en-US" b="1" dirty="0" smtClean="0"/>
              <a:t>2.2.7</a:t>
            </a:r>
            <a:r>
              <a:rPr lang="zh-CN" altLang="en-US" b="1" dirty="0" smtClean="0"/>
              <a:t>可知，</a:t>
            </a:r>
            <a:r>
              <a:rPr lang="en-US" b="1" dirty="0" smtClean="0"/>
              <a:t>    </a:t>
            </a:r>
            <a:r>
              <a:rPr lang="zh-CN" altLang="en-US" b="1" dirty="0" smtClean="0"/>
              <a:t>中的元素均存在模</a:t>
            </a:r>
            <a:r>
              <a:rPr lang="en-US" b="1" dirty="0" smtClean="0"/>
              <a:t>m</a:t>
            </a:r>
            <a:r>
              <a:rPr lang="zh-CN" altLang="en-US" b="1" dirty="0" smtClean="0"/>
              <a:t>的乘法逆元。对于任意</a:t>
            </a:r>
            <a:r>
              <a:rPr lang="en-US" b="1" dirty="0" smtClean="0"/>
              <a:t>                     </a:t>
            </a:r>
            <a:r>
              <a:rPr lang="zh-CN" altLang="en-US" b="1" dirty="0" smtClean="0"/>
              <a:t>，若</a:t>
            </a:r>
            <a:endParaRPr lang="en-US" altLang="zh-CN" b="1" dirty="0" smtClean="0"/>
          </a:p>
          <a:p>
            <a:pPr algn="ctr">
              <a:buNone/>
            </a:pPr>
            <a:endParaRPr lang="en-US" altLang="zh-CN" b="1" dirty="0" smtClean="0"/>
          </a:p>
          <a:p>
            <a:r>
              <a:rPr lang="zh-CN" altLang="en-US" b="1" dirty="0" smtClean="0"/>
              <a:t>则有</a:t>
            </a:r>
            <a:endParaRPr lang="en-US" altLang="zh-CN" b="1" dirty="0" smtClean="0"/>
          </a:p>
          <a:p>
            <a:endParaRPr lang="zh-CN" altLang="en-US" b="1" dirty="0" smtClean="0"/>
          </a:p>
          <a:p>
            <a:r>
              <a:rPr lang="zh-CN" altLang="en-US" b="1" dirty="0" smtClean="0"/>
              <a:t>即           </a:t>
            </a:r>
            <a:r>
              <a:rPr lang="en-US" b="1" dirty="0" smtClean="0"/>
              <a:t>             </a:t>
            </a:r>
            <a:r>
              <a:rPr lang="zh-CN" altLang="en-US" b="1" dirty="0" smtClean="0"/>
              <a:t>。因此，模</a:t>
            </a:r>
            <a:r>
              <a:rPr lang="en-US" b="1" dirty="0" smtClean="0"/>
              <a:t>m</a:t>
            </a:r>
            <a:r>
              <a:rPr lang="zh-CN" altLang="en-US" b="1" dirty="0" smtClean="0"/>
              <a:t>的乘法在</a:t>
            </a:r>
            <a:r>
              <a:rPr lang="en-US" b="1" dirty="0" smtClean="0"/>
              <a:t>       </a:t>
            </a:r>
            <a:r>
              <a:rPr lang="zh-CN" altLang="en-US" b="1" dirty="0" smtClean="0"/>
              <a:t>上满足消去律。根据定理</a:t>
            </a:r>
            <a:r>
              <a:rPr lang="en-US" b="1" dirty="0" smtClean="0"/>
              <a:t>4.2.2</a:t>
            </a:r>
            <a:r>
              <a:rPr lang="zh-CN" altLang="en-US" b="1" dirty="0" smtClean="0"/>
              <a:t>，     </a:t>
            </a:r>
            <a:r>
              <a:rPr lang="en-US" b="1" dirty="0" smtClean="0"/>
              <a:t> </a:t>
            </a:r>
            <a:r>
              <a:rPr lang="zh-CN" altLang="en-US" b="1" dirty="0" smtClean="0"/>
              <a:t>是群。</a:t>
            </a:r>
            <a:endParaRPr lang="zh-CN" altLang="en-US" b="1" dirty="0"/>
          </a:p>
        </p:txBody>
      </p:sp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3009" name="Object 1"/>
          <p:cNvGraphicFramePr>
            <a:graphicFrameLocks noChangeAspect="1"/>
          </p:cNvGraphicFramePr>
          <p:nvPr/>
        </p:nvGraphicFramePr>
        <p:xfrm>
          <a:off x="7215206" y="1885353"/>
          <a:ext cx="500034" cy="543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78" name="Equation" r:id="rId3" imgW="215713" imgH="241091" progId="Equation.DSMT4">
                  <p:embed/>
                </p:oleObj>
              </mc:Choice>
              <mc:Fallback>
                <p:oleObj name="Equation" r:id="rId3" imgW="215713" imgH="241091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5206" y="1885353"/>
                        <a:ext cx="500034" cy="5435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3011" name="Object 3"/>
          <p:cNvGraphicFramePr>
            <a:graphicFrameLocks noChangeAspect="1"/>
          </p:cNvGraphicFramePr>
          <p:nvPr/>
        </p:nvGraphicFramePr>
        <p:xfrm>
          <a:off x="2857488" y="2357430"/>
          <a:ext cx="857224" cy="486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79" name="Equation" r:id="rId5" imgW="355292" imgH="203024" progId="Equation.DSMT4">
                  <p:embed/>
                </p:oleObj>
              </mc:Choice>
              <mc:Fallback>
                <p:oleObj name="Equation" r:id="rId5" imgW="355292" imgH="203024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488" y="2357430"/>
                        <a:ext cx="857224" cy="48653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3" name="Object 5"/>
          <p:cNvGraphicFramePr>
            <a:graphicFrameLocks noChangeAspect="1"/>
          </p:cNvGraphicFramePr>
          <p:nvPr/>
        </p:nvGraphicFramePr>
        <p:xfrm>
          <a:off x="2357422" y="3071810"/>
          <a:ext cx="500062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80" name="Equation" r:id="rId7" imgW="215713" imgH="241091" progId="Equation.DSMT4">
                  <p:embed/>
                </p:oleObj>
              </mc:Choice>
              <mc:Fallback>
                <p:oleObj name="Equation" r:id="rId7" imgW="215713" imgH="241091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7422" y="3071810"/>
                        <a:ext cx="500062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3014" name="Object 6"/>
          <p:cNvGraphicFramePr>
            <a:graphicFrameLocks noChangeAspect="1"/>
          </p:cNvGraphicFramePr>
          <p:nvPr/>
        </p:nvGraphicFramePr>
        <p:xfrm>
          <a:off x="1571604" y="3454808"/>
          <a:ext cx="1571604" cy="545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81" name="Equation" r:id="rId8" imgW="685800" imgH="241200" progId="Equation.DSMT4">
                  <p:embed/>
                </p:oleObj>
              </mc:Choice>
              <mc:Fallback>
                <p:oleObj name="Equation" r:id="rId8" imgW="685800" imgH="2412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04" y="3454808"/>
                        <a:ext cx="1571604" cy="5456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3016" name="Object 8"/>
          <p:cNvGraphicFramePr>
            <a:graphicFrameLocks noChangeAspect="1"/>
          </p:cNvGraphicFramePr>
          <p:nvPr/>
        </p:nvGraphicFramePr>
        <p:xfrm>
          <a:off x="3000364" y="4000504"/>
          <a:ext cx="2857400" cy="57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82" name="Equation" r:id="rId10" imgW="1002865" imgH="203112" progId="Equation.DSMT4">
                  <p:embed/>
                </p:oleObj>
              </mc:Choice>
              <mc:Fallback>
                <p:oleObj name="Equation" r:id="rId10" imgW="1002865" imgH="203112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64" y="4000504"/>
                        <a:ext cx="2857400" cy="57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3018" name="Object 10"/>
          <p:cNvGraphicFramePr>
            <a:graphicFrameLocks noChangeAspect="1"/>
          </p:cNvGraphicFramePr>
          <p:nvPr/>
        </p:nvGraphicFramePr>
        <p:xfrm>
          <a:off x="2571736" y="4786322"/>
          <a:ext cx="3405211" cy="571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83" name="Equation" r:id="rId12" imgW="1358900" imgH="228600" progId="Equation.DSMT4">
                  <p:embed/>
                </p:oleObj>
              </mc:Choice>
              <mc:Fallback>
                <p:oleObj name="Equation" r:id="rId12" imgW="1358900" imgH="22860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36" y="4786322"/>
                        <a:ext cx="3405211" cy="5715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21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3020" name="Object 12"/>
          <p:cNvGraphicFramePr>
            <a:graphicFrameLocks noChangeAspect="1"/>
          </p:cNvGraphicFramePr>
          <p:nvPr/>
        </p:nvGraphicFramePr>
        <p:xfrm>
          <a:off x="1214414" y="5500726"/>
          <a:ext cx="1836874" cy="428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84" name="Equation" r:id="rId14" imgW="850531" imgH="203112" progId="Equation.DSMT4">
                  <p:embed/>
                </p:oleObj>
              </mc:Choice>
              <mc:Fallback>
                <p:oleObj name="Equation" r:id="rId14" imgW="850531" imgH="203112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14" y="5500726"/>
                        <a:ext cx="1836874" cy="428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23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3024" name="Object 16"/>
          <p:cNvGraphicFramePr>
            <a:graphicFrameLocks noChangeAspect="1"/>
          </p:cNvGraphicFramePr>
          <p:nvPr/>
        </p:nvGraphicFramePr>
        <p:xfrm>
          <a:off x="6429388" y="5357826"/>
          <a:ext cx="500062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85" name="Equation" r:id="rId16" imgW="215713" imgH="241091" progId="Equation.DSMT4">
                  <p:embed/>
                </p:oleObj>
              </mc:Choice>
              <mc:Fallback>
                <p:oleObj name="Equation" r:id="rId16" imgW="215713" imgH="241091" progId="Equation.DSMT4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8" y="5357826"/>
                        <a:ext cx="500062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5" name="Object 17"/>
          <p:cNvGraphicFramePr>
            <a:graphicFrameLocks noChangeAspect="1"/>
          </p:cNvGraphicFramePr>
          <p:nvPr/>
        </p:nvGraphicFramePr>
        <p:xfrm>
          <a:off x="3714744" y="5786454"/>
          <a:ext cx="500062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86" name="Equation" r:id="rId17" imgW="215713" imgH="241091" progId="Equation.DSMT4">
                  <p:embed/>
                </p:oleObj>
              </mc:Choice>
              <mc:Fallback>
                <p:oleObj name="Equation" r:id="rId17" imgW="215713" imgH="241091" progId="Equation.DSMT4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44" y="5786454"/>
                        <a:ext cx="500062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4.3 </a:t>
            </a:r>
            <a:r>
              <a:rPr lang="zh-CN" altLang="en-US" dirty="0" smtClean="0"/>
              <a:t>子群、陪集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 smtClean="0"/>
              <a:t>定义</a:t>
            </a:r>
            <a:r>
              <a:rPr lang="en-US" b="1" dirty="0" smtClean="0"/>
              <a:t>4.3.1 </a:t>
            </a:r>
            <a:r>
              <a:rPr lang="zh-CN" altLang="en-US" b="1" dirty="0" smtClean="0"/>
              <a:t>如果群</a:t>
            </a:r>
            <a:r>
              <a:rPr lang="en-US" b="1" dirty="0" smtClean="0"/>
              <a:t>G</a:t>
            </a:r>
            <a:r>
              <a:rPr lang="zh-CN" altLang="en-US" b="1" dirty="0" smtClean="0"/>
              <a:t>的非空子集合</a:t>
            </a:r>
            <a:r>
              <a:rPr lang="en-US" b="1" dirty="0" smtClean="0"/>
              <a:t>H</a:t>
            </a:r>
            <a:r>
              <a:rPr lang="zh-CN" altLang="en-US" b="1" dirty="0" smtClean="0">
                <a:solidFill>
                  <a:srgbClr val="FF0000"/>
                </a:solidFill>
              </a:rPr>
              <a:t>对于</a:t>
            </a:r>
            <a:r>
              <a:rPr lang="en-US" b="1" dirty="0" smtClean="0">
                <a:solidFill>
                  <a:srgbClr val="FF0000"/>
                </a:solidFill>
              </a:rPr>
              <a:t>G</a:t>
            </a:r>
            <a:r>
              <a:rPr lang="zh-CN" altLang="en-US" b="1" dirty="0" smtClean="0">
                <a:solidFill>
                  <a:srgbClr val="FF0000"/>
                </a:solidFill>
              </a:rPr>
              <a:t>中的运算</a:t>
            </a:r>
            <a:r>
              <a:rPr lang="zh-CN" altLang="en-US" b="1" dirty="0" smtClean="0"/>
              <a:t>也构成一个群，那么</a:t>
            </a:r>
            <a:r>
              <a:rPr lang="en-US" b="1" dirty="0" smtClean="0"/>
              <a:t>H</a:t>
            </a:r>
            <a:r>
              <a:rPr lang="zh-CN" altLang="en-US" b="1" dirty="0" smtClean="0"/>
              <a:t>称为</a:t>
            </a:r>
            <a:r>
              <a:rPr lang="en-US" b="1" dirty="0" smtClean="0"/>
              <a:t>G</a:t>
            </a:r>
            <a:r>
              <a:rPr lang="zh-CN" altLang="en-US" b="1" dirty="0" smtClean="0"/>
              <a:t>的</a:t>
            </a:r>
            <a:r>
              <a:rPr lang="zh-CN" altLang="en-US" b="1" dirty="0" smtClean="0">
                <a:solidFill>
                  <a:srgbClr val="FF0000"/>
                </a:solidFill>
              </a:rPr>
              <a:t>子群</a:t>
            </a:r>
            <a:r>
              <a:rPr lang="zh-CN" altLang="en-US" b="1" dirty="0" smtClean="0"/>
              <a:t>，记为</a:t>
            </a:r>
            <a:r>
              <a:rPr lang="en-US" b="1" dirty="0" smtClean="0"/>
              <a:t> </a:t>
            </a:r>
            <a:r>
              <a:rPr lang="en-US" altLang="zh-CN" b="1" dirty="0" smtClean="0"/>
              <a:t>H ≤ G</a:t>
            </a:r>
            <a:r>
              <a:rPr lang="zh-CN" altLang="en-US" b="1" dirty="0" smtClean="0"/>
              <a:t>。</a:t>
            </a:r>
          </a:p>
          <a:p>
            <a:endParaRPr lang="en-US" altLang="zh-CN" b="1" dirty="0" smtClean="0"/>
          </a:p>
          <a:p>
            <a:r>
              <a:rPr lang="zh-CN" altLang="en-US" b="1" dirty="0" smtClean="0"/>
              <a:t>在群</a:t>
            </a:r>
            <a:r>
              <a:rPr lang="en-US" b="1" dirty="0" smtClean="0"/>
              <a:t>G</a:t>
            </a:r>
            <a:r>
              <a:rPr lang="zh-CN" altLang="en-US" b="1" dirty="0" smtClean="0"/>
              <a:t>中，仅有单位元素构成的子集合</a:t>
            </a:r>
            <a:r>
              <a:rPr lang="en-US" altLang="zh-CN" b="1" dirty="0" smtClean="0"/>
              <a:t>{e}</a:t>
            </a:r>
            <a:r>
              <a:rPr lang="zh-CN" altLang="en-US" b="1" dirty="0" smtClean="0"/>
              <a:t>和</a:t>
            </a:r>
            <a:r>
              <a:rPr lang="en-US" b="1" dirty="0" smtClean="0"/>
              <a:t>G</a:t>
            </a:r>
            <a:r>
              <a:rPr lang="zh-CN" altLang="en-US" b="1" dirty="0" smtClean="0"/>
              <a:t>本身显然都是</a:t>
            </a:r>
            <a:r>
              <a:rPr lang="en-US" b="1" dirty="0" smtClean="0"/>
              <a:t>G</a:t>
            </a:r>
            <a:r>
              <a:rPr lang="zh-CN" altLang="en-US" b="1" dirty="0" smtClean="0"/>
              <a:t>的子群。这两个子群称为</a:t>
            </a:r>
            <a:r>
              <a:rPr lang="en-US" b="1" dirty="0" smtClean="0"/>
              <a:t>G</a:t>
            </a:r>
            <a:r>
              <a:rPr lang="zh-CN" altLang="en-US" b="1" dirty="0" smtClean="0"/>
              <a:t>的</a:t>
            </a:r>
            <a:r>
              <a:rPr lang="zh-CN" altLang="en-US" b="1" dirty="0" smtClean="0">
                <a:solidFill>
                  <a:srgbClr val="FF0000"/>
                </a:solidFill>
              </a:rPr>
              <a:t>平凡子群</a:t>
            </a:r>
            <a:r>
              <a:rPr lang="zh-CN" altLang="en-US" b="1" dirty="0" smtClean="0"/>
              <a:t>，其余的子群称为非平凡子群。</a:t>
            </a:r>
          </a:p>
          <a:p>
            <a:endParaRPr lang="en-US" altLang="zh-CN" dirty="0" smtClean="0"/>
          </a:p>
          <a:p>
            <a:r>
              <a:rPr lang="zh-CN" altLang="en-US" b="1" dirty="0" smtClean="0"/>
              <a:t>例</a:t>
            </a:r>
            <a:r>
              <a:rPr lang="en-US" b="1" dirty="0" smtClean="0"/>
              <a:t>4.3.1 </a:t>
            </a:r>
            <a:r>
              <a:rPr lang="zh-CN" altLang="en-US" b="1" dirty="0" smtClean="0"/>
              <a:t>设</a:t>
            </a:r>
            <a:r>
              <a:rPr lang="en-US" b="1" dirty="0" smtClean="0"/>
              <a:t>n</a:t>
            </a:r>
            <a:r>
              <a:rPr lang="zh-CN" altLang="en-US" b="1" dirty="0" smtClean="0"/>
              <a:t>是一个正整数，在整数加群</a:t>
            </a:r>
            <a:r>
              <a:rPr lang="en-US" b="1" dirty="0" smtClean="0"/>
              <a:t>Z</a:t>
            </a:r>
            <a:r>
              <a:rPr lang="zh-CN" altLang="en-US" b="1" dirty="0" smtClean="0"/>
              <a:t>中所有</a:t>
            </a:r>
            <a:r>
              <a:rPr lang="en-US" b="1" dirty="0" smtClean="0"/>
              <a:t>n</a:t>
            </a:r>
            <a:r>
              <a:rPr lang="zh-CN" altLang="en-US" b="1" dirty="0" smtClean="0"/>
              <a:t>的倍数对于加法显然构成一个群，因而是</a:t>
            </a:r>
            <a:r>
              <a:rPr lang="en-US" b="1" dirty="0" smtClean="0"/>
              <a:t>Z</a:t>
            </a:r>
            <a:r>
              <a:rPr lang="zh-CN" altLang="en-US" b="1" dirty="0" smtClean="0"/>
              <a:t>的子群。这个子群记为</a:t>
            </a:r>
            <a:r>
              <a:rPr lang="en-US" b="1" dirty="0" err="1" smtClean="0"/>
              <a:t>nZ</a:t>
            </a:r>
            <a:r>
              <a:rPr lang="zh-CN" altLang="en-US" b="1" dirty="0" smtClean="0"/>
              <a:t>。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4.3 </a:t>
            </a:r>
            <a:r>
              <a:rPr lang="zh-CN" altLang="en-US" dirty="0" smtClean="0"/>
              <a:t>子群、陪集（续）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 smtClean="0"/>
              <a:t>例</a:t>
            </a:r>
            <a:r>
              <a:rPr lang="en-US" b="1" dirty="0" smtClean="0"/>
              <a:t>4.3.2 </a:t>
            </a:r>
            <a:r>
              <a:rPr lang="zh-CN" altLang="en-US" b="1" dirty="0" smtClean="0"/>
              <a:t>设</a:t>
            </a:r>
            <a:r>
              <a:rPr lang="en-US" b="1" dirty="0" smtClean="0"/>
              <a:t>P</a:t>
            </a:r>
            <a:r>
              <a:rPr lang="zh-CN" altLang="en-US" b="1" dirty="0" smtClean="0"/>
              <a:t>是一个数域。特殊线性群             是一般线性群             的子群。</a:t>
            </a:r>
          </a:p>
        </p:txBody>
      </p:sp>
      <p:sp>
        <p:nvSpPr>
          <p:cNvPr id="440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4033" name="Object 1"/>
          <p:cNvGraphicFramePr>
            <a:graphicFrameLocks noChangeAspect="1"/>
          </p:cNvGraphicFramePr>
          <p:nvPr/>
        </p:nvGraphicFramePr>
        <p:xfrm>
          <a:off x="6072198" y="1928802"/>
          <a:ext cx="1062589" cy="500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18" name="Equation" r:id="rId3" imgW="482391" imgH="228501" progId="Equation.DSMT4">
                  <p:embed/>
                </p:oleObj>
              </mc:Choice>
              <mc:Fallback>
                <p:oleObj name="Equation" r:id="rId3" imgW="482391" imgH="228501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2198" y="1928802"/>
                        <a:ext cx="1062589" cy="5000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4035" name="Object 3"/>
          <p:cNvGraphicFramePr>
            <a:graphicFrameLocks noChangeAspect="1"/>
          </p:cNvGraphicFramePr>
          <p:nvPr/>
        </p:nvGraphicFramePr>
        <p:xfrm>
          <a:off x="1500166" y="2357430"/>
          <a:ext cx="964359" cy="428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19" name="Equation" r:id="rId5" imgW="508000" imgH="228600" progId="Equation.DSMT4">
                  <p:embed/>
                </p:oleObj>
              </mc:Choice>
              <mc:Fallback>
                <p:oleObj name="Equation" r:id="rId5" imgW="508000" imgH="2286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166" y="2357430"/>
                        <a:ext cx="964359" cy="428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404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404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4044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4046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4048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4.3 </a:t>
            </a:r>
            <a:r>
              <a:rPr lang="zh-CN" altLang="en-US" dirty="0" smtClean="0"/>
              <a:t>子群、陪集（续）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 smtClean="0"/>
              <a:t>子群的判定定理</a:t>
            </a:r>
            <a:endParaRPr lang="en-US" altLang="zh-CN" b="1" dirty="0" smtClean="0"/>
          </a:p>
          <a:p>
            <a:r>
              <a:rPr lang="zh-CN" altLang="en-US" b="1" dirty="0" smtClean="0"/>
              <a:t>定理</a:t>
            </a:r>
            <a:r>
              <a:rPr lang="en-US" b="1" dirty="0" smtClean="0"/>
              <a:t>4.3.1 </a:t>
            </a:r>
            <a:r>
              <a:rPr lang="zh-CN" altLang="en-US" b="1" dirty="0" smtClean="0"/>
              <a:t>群</a:t>
            </a:r>
            <a:r>
              <a:rPr lang="en-US" b="1" dirty="0" smtClean="0"/>
              <a:t>G</a:t>
            </a:r>
            <a:r>
              <a:rPr lang="zh-CN" altLang="en-US" b="1" dirty="0" smtClean="0"/>
              <a:t>的非空集合</a:t>
            </a:r>
            <a:r>
              <a:rPr lang="en-US" b="1" dirty="0" smtClean="0"/>
              <a:t>H</a:t>
            </a:r>
            <a:r>
              <a:rPr lang="zh-CN" altLang="en-US" b="1" dirty="0" smtClean="0"/>
              <a:t>是一子群的充要条件是：对于任意   </a:t>
            </a:r>
            <a:r>
              <a:rPr lang="en-US" b="1" dirty="0" smtClean="0"/>
              <a:t>           </a:t>
            </a:r>
            <a:r>
              <a:rPr lang="zh-CN" altLang="en-US" b="1" dirty="0" smtClean="0"/>
              <a:t>，有</a:t>
            </a:r>
          </a:p>
          <a:p>
            <a:endParaRPr lang="en-US" altLang="zh-CN" b="1" dirty="0" smtClean="0"/>
          </a:p>
          <a:p>
            <a:r>
              <a:rPr lang="zh-CN" altLang="en-US" b="1" dirty="0" smtClean="0"/>
              <a:t>证明： 必要性显然。</a:t>
            </a:r>
            <a:endParaRPr lang="en-US" altLang="zh-CN" b="1" dirty="0" smtClean="0"/>
          </a:p>
          <a:p>
            <a:r>
              <a:rPr lang="zh-CN" altLang="en-US" b="1" dirty="0" smtClean="0"/>
              <a:t>充分性：</a:t>
            </a:r>
            <a:r>
              <a:rPr lang="en-US" altLang="zh-CN" b="1" dirty="0" smtClean="0"/>
              <a:t>H</a:t>
            </a:r>
            <a:r>
              <a:rPr lang="zh-CN" altLang="en-US" b="1" dirty="0" smtClean="0"/>
              <a:t>非空，则</a:t>
            </a:r>
            <a:r>
              <a:rPr lang="en-US" altLang="zh-CN" b="1" dirty="0" smtClean="0"/>
              <a:t>H</a:t>
            </a:r>
            <a:r>
              <a:rPr lang="zh-CN" altLang="en-US" b="1" dirty="0" smtClean="0"/>
              <a:t>中至少存在一个元素，设为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b="1" dirty="0" smtClean="0">
                <a:latin typeface="Times New Roman" pitchFamily="18" charset="0"/>
                <a:cs typeface="Times New Roman" pitchFamily="18" charset="0"/>
              </a:rPr>
              <a:t>，因而有</a:t>
            </a:r>
            <a:endParaRPr lang="zh-CN" altLang="en-US" b="1" dirty="0"/>
          </a:p>
        </p:txBody>
      </p:sp>
      <p:sp>
        <p:nvSpPr>
          <p:cNvPr id="440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403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403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404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404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4044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4046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4048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609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6090" name="Object 10"/>
          <p:cNvGraphicFramePr>
            <a:graphicFrameLocks noChangeAspect="1"/>
          </p:cNvGraphicFramePr>
          <p:nvPr/>
        </p:nvGraphicFramePr>
        <p:xfrm>
          <a:off x="2214546" y="2857496"/>
          <a:ext cx="1142944" cy="428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46" name="Equation" r:id="rId3" imgW="533169" imgH="203112" progId="Equation.DSMT4">
                  <p:embed/>
                </p:oleObj>
              </mc:Choice>
              <mc:Fallback>
                <p:oleObj name="Equation" r:id="rId3" imgW="533169" imgH="203112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46" y="2857496"/>
                        <a:ext cx="1142944" cy="428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3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6092" name="Object 12"/>
          <p:cNvGraphicFramePr>
            <a:graphicFrameLocks noChangeAspect="1"/>
          </p:cNvGraphicFramePr>
          <p:nvPr/>
        </p:nvGraphicFramePr>
        <p:xfrm>
          <a:off x="3214678" y="3286124"/>
          <a:ext cx="1476314" cy="500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47" name="Equation" r:id="rId5" imgW="583947" imgH="203112" progId="Equation.DSMT4">
                  <p:embed/>
                </p:oleObj>
              </mc:Choice>
              <mc:Fallback>
                <p:oleObj name="Equation" r:id="rId5" imgW="583947" imgH="203112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78" y="3286124"/>
                        <a:ext cx="1476314" cy="5000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5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6094" name="Object 14"/>
          <p:cNvGraphicFramePr>
            <a:graphicFrameLocks noChangeAspect="1"/>
          </p:cNvGraphicFramePr>
          <p:nvPr/>
        </p:nvGraphicFramePr>
        <p:xfrm>
          <a:off x="2928925" y="4714884"/>
          <a:ext cx="2024077" cy="500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48" name="Equation" r:id="rId7" imgW="812447" imgH="203112" progId="Equation.DSMT4">
                  <p:embed/>
                </p:oleObj>
              </mc:Choice>
              <mc:Fallback>
                <p:oleObj name="Equation" r:id="rId7" imgW="812447" imgH="203112" progId="Equation.DSMT4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25" y="4714884"/>
                        <a:ext cx="2024077" cy="5000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7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6096" name="Object 16"/>
          <p:cNvGraphicFramePr>
            <a:graphicFrameLocks noChangeAspect="1"/>
          </p:cNvGraphicFramePr>
          <p:nvPr/>
        </p:nvGraphicFramePr>
        <p:xfrm>
          <a:off x="2143108" y="5286388"/>
          <a:ext cx="4032251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49" name="Equation" r:id="rId9" imgW="1612800" imgH="228600" progId="Equation.DSMT4">
                  <p:embed/>
                </p:oleObj>
              </mc:Choice>
              <mc:Fallback>
                <p:oleObj name="Equation" r:id="rId9" imgW="1612800" imgH="228600" progId="Equation.DSMT4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08" y="5286388"/>
                        <a:ext cx="4032251" cy="561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44"/>
          <p:cNvGraphicFramePr>
            <a:graphicFrameLocks noChangeAspect="1"/>
          </p:cNvGraphicFramePr>
          <p:nvPr/>
        </p:nvGraphicFramePr>
        <p:xfrm>
          <a:off x="1071538" y="5786454"/>
          <a:ext cx="6858048" cy="60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50" name="Equation" r:id="rId11" imgW="2628720" imgH="228600" progId="Equation.DSMT4">
                  <p:embed/>
                </p:oleObj>
              </mc:Choice>
              <mc:Fallback>
                <p:oleObj name="Equation" r:id="rId11" imgW="2628720" imgH="228600" progId="Equation.DSMT4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38" y="5786454"/>
                        <a:ext cx="6858048" cy="607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5786446" y="4714884"/>
            <a:ext cx="24288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有单位元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357950" y="5357826"/>
            <a:ext cx="24288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有逆元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500562" y="6334780"/>
            <a:ext cx="24288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乘法封闭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b="1" dirty="0" smtClean="0"/>
              <a:t>子群的例子</a:t>
            </a:r>
            <a:endParaRPr lang="zh-CN" altLang="en-US" sz="28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993454"/>
          </a:xfrm>
        </p:spPr>
        <p:txBody>
          <a:bodyPr/>
          <a:lstStyle/>
          <a:p>
            <a:r>
              <a:rPr lang="zh-CN" altLang="en-US" sz="2800" b="1" dirty="0" smtClean="0"/>
              <a:t>例</a:t>
            </a:r>
            <a:r>
              <a:rPr lang="en-US" sz="2800" b="1" dirty="0" smtClean="0"/>
              <a:t>4.3.4 </a:t>
            </a:r>
            <a:r>
              <a:rPr lang="zh-CN" altLang="en-US" sz="2800" b="1" dirty="0" smtClean="0"/>
              <a:t>设</a:t>
            </a:r>
            <a:r>
              <a:rPr lang="en-US" sz="2800" b="1" dirty="0" smtClean="0"/>
              <a:t>G</a:t>
            </a:r>
            <a:r>
              <a:rPr lang="zh-CN" altLang="en-US" sz="2800" b="1" dirty="0" smtClean="0"/>
              <a:t>是群，证明：</a:t>
            </a:r>
            <a:r>
              <a:rPr lang="en-US" sz="2800" b="1" dirty="0" smtClean="0"/>
              <a:t>G</a:t>
            </a:r>
            <a:r>
              <a:rPr lang="zh-CN" altLang="en-US" sz="2800" b="1" dirty="0" smtClean="0"/>
              <a:t>中任意多个子群的交集也是</a:t>
            </a:r>
            <a:r>
              <a:rPr lang="en-US" sz="2800" b="1" dirty="0" smtClean="0"/>
              <a:t>G</a:t>
            </a:r>
            <a:r>
              <a:rPr lang="zh-CN" altLang="en-US" sz="2800" b="1" dirty="0" smtClean="0"/>
              <a:t>的子群。</a:t>
            </a:r>
          </a:p>
          <a:p>
            <a:endParaRPr lang="zh-CN" altLang="en-US" sz="2800" b="1" dirty="0"/>
          </a:p>
        </p:txBody>
      </p:sp>
      <p:grpSp>
        <p:nvGrpSpPr>
          <p:cNvPr id="30" name="组合 29"/>
          <p:cNvGrpSpPr/>
          <p:nvPr/>
        </p:nvGrpSpPr>
        <p:grpSpPr>
          <a:xfrm>
            <a:off x="214282" y="2571744"/>
            <a:ext cx="8764757" cy="3643338"/>
            <a:chOff x="214282" y="2571744"/>
            <a:chExt cx="8764757" cy="3643338"/>
          </a:xfrm>
        </p:grpSpPr>
        <p:graphicFrame>
          <p:nvGraphicFramePr>
            <p:cNvPr id="47119" name="Object 15"/>
            <p:cNvGraphicFramePr>
              <a:graphicFrameLocks noChangeAspect="1"/>
            </p:cNvGraphicFramePr>
            <p:nvPr/>
          </p:nvGraphicFramePr>
          <p:xfrm>
            <a:off x="2143108" y="2857496"/>
            <a:ext cx="2148533" cy="4819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39" name="Equation" r:id="rId3" imgW="1016000" imgH="228600" progId="Equation.DSMT4">
                    <p:embed/>
                  </p:oleObj>
                </mc:Choice>
                <mc:Fallback>
                  <p:oleObj name="Equation" r:id="rId3" imgW="1016000" imgH="228600" progId="Equation.DSMT4">
                    <p:embed/>
                    <p:pic>
                      <p:nvPicPr>
                        <p:cNvPr id="0" name="Picture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3108" y="2857496"/>
                          <a:ext cx="2148533" cy="48191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18" name="Object 14"/>
            <p:cNvGraphicFramePr>
              <a:graphicFrameLocks noChangeAspect="1"/>
            </p:cNvGraphicFramePr>
            <p:nvPr/>
          </p:nvGraphicFramePr>
          <p:xfrm>
            <a:off x="3214678" y="5531101"/>
            <a:ext cx="868841" cy="6839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40" name="Equation" r:id="rId5" imgW="444307" imgH="342751" progId="Equation.DSMT4">
                    <p:embed/>
                  </p:oleObj>
                </mc:Choice>
                <mc:Fallback>
                  <p:oleObj name="Equation" r:id="rId5" imgW="444307" imgH="342751" progId="Equation.DSMT4">
                    <p:embed/>
                    <p:pic>
                      <p:nvPicPr>
                        <p:cNvPr id="0" name="Picture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4678" y="5531101"/>
                          <a:ext cx="868841" cy="68398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17" name="Object 13"/>
            <p:cNvGraphicFramePr>
              <a:graphicFrameLocks noChangeAspect="1"/>
            </p:cNvGraphicFramePr>
            <p:nvPr/>
          </p:nvGraphicFramePr>
          <p:xfrm>
            <a:off x="4572000" y="3357562"/>
            <a:ext cx="883509" cy="4819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41" name="Equation" r:id="rId7" imgW="419100" imgH="228600" progId="Equation.DSMT4">
                    <p:embed/>
                  </p:oleObj>
                </mc:Choice>
                <mc:Fallback>
                  <p:oleObj name="Equation" r:id="rId7" imgW="419100" imgH="228600" progId="Equation.DSMT4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2000" y="3357562"/>
                          <a:ext cx="883509" cy="48191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16" name="Object 12"/>
            <p:cNvGraphicFramePr>
              <a:graphicFrameLocks noChangeAspect="1"/>
            </p:cNvGraphicFramePr>
            <p:nvPr/>
          </p:nvGraphicFramePr>
          <p:xfrm>
            <a:off x="8001024" y="2571744"/>
            <a:ext cx="943749" cy="7429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42" name="Equation" r:id="rId9" imgW="444307" imgH="342751" progId="Equation.DSMT4">
                    <p:embed/>
                  </p:oleObj>
                </mc:Choice>
                <mc:Fallback>
                  <p:oleObj name="Equation" r:id="rId9" imgW="444307" imgH="342751" progId="Equation.DSMT4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01024" y="2571744"/>
                          <a:ext cx="943749" cy="7429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15" name="Object 11"/>
            <p:cNvGraphicFramePr>
              <a:graphicFrameLocks noChangeAspect="1"/>
            </p:cNvGraphicFramePr>
            <p:nvPr/>
          </p:nvGraphicFramePr>
          <p:xfrm>
            <a:off x="285720" y="4000504"/>
            <a:ext cx="1686700" cy="7429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43" name="Equation" r:id="rId10" imgW="799753" imgH="342751" progId="Equation.DSMT4">
                    <p:embed/>
                  </p:oleObj>
                </mc:Choice>
                <mc:Fallback>
                  <p:oleObj name="Equation" r:id="rId10" imgW="799753" imgH="342751" progId="Equation.DSMT4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720" y="4000504"/>
                          <a:ext cx="1686700" cy="7429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14" name="Object 10"/>
            <p:cNvGraphicFramePr>
              <a:graphicFrameLocks noChangeAspect="1"/>
            </p:cNvGraphicFramePr>
            <p:nvPr/>
          </p:nvGraphicFramePr>
          <p:xfrm>
            <a:off x="5572132" y="4143380"/>
            <a:ext cx="180718" cy="341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44" name="Equation" r:id="rId12" imgW="88707" imgH="164742" progId="Equation.DSMT4">
                    <p:embed/>
                  </p:oleObj>
                </mc:Choice>
                <mc:Fallback>
                  <p:oleObj name="Equation" r:id="rId12" imgW="88707" imgH="164742" progId="Equation.DSMT4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72132" y="4143380"/>
                          <a:ext cx="180718" cy="3413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13" name="Object 9"/>
            <p:cNvGraphicFramePr>
              <a:graphicFrameLocks noChangeAspect="1"/>
            </p:cNvGraphicFramePr>
            <p:nvPr/>
          </p:nvGraphicFramePr>
          <p:xfrm>
            <a:off x="6786578" y="4071942"/>
            <a:ext cx="1184705" cy="4819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45" name="Equation" r:id="rId14" imgW="558800" imgH="228600" progId="Equation.DSMT4">
                    <p:embed/>
                  </p:oleObj>
                </mc:Choice>
                <mc:Fallback>
                  <p:oleObj name="Equation" r:id="rId14" imgW="558800" imgH="228600" progId="Equation.DSMT4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86578" y="4071942"/>
                          <a:ext cx="1184705" cy="48191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12" name="Object 8"/>
            <p:cNvGraphicFramePr>
              <a:graphicFrameLocks noChangeAspect="1"/>
            </p:cNvGraphicFramePr>
            <p:nvPr/>
          </p:nvGraphicFramePr>
          <p:xfrm>
            <a:off x="285720" y="4857760"/>
            <a:ext cx="1024067" cy="4819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46" name="Equation" r:id="rId16" imgW="482391" imgH="228501" progId="Equation.DSMT4">
                    <p:embed/>
                  </p:oleObj>
                </mc:Choice>
                <mc:Fallback>
                  <p:oleObj name="Equation" r:id="rId16" imgW="482391" imgH="228501" progId="Equation.DSMT4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720" y="4857760"/>
                          <a:ext cx="1024067" cy="48191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11" name="Object 7"/>
            <p:cNvGraphicFramePr>
              <a:graphicFrameLocks noChangeAspect="1"/>
            </p:cNvGraphicFramePr>
            <p:nvPr/>
          </p:nvGraphicFramePr>
          <p:xfrm>
            <a:off x="2285984" y="4857760"/>
            <a:ext cx="1285105" cy="5019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47" name="Equation" r:id="rId18" imgW="609336" imgH="241195" progId="Equation.DSMT4">
                    <p:embed/>
                  </p:oleObj>
                </mc:Choice>
                <mc:Fallback>
                  <p:oleObj name="Equation" r:id="rId18" imgW="609336" imgH="241195" progId="Equation.DSMT4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5984" y="4857760"/>
                          <a:ext cx="1285105" cy="50199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10" name="Object 6"/>
            <p:cNvGraphicFramePr>
              <a:graphicFrameLocks noChangeAspect="1"/>
            </p:cNvGraphicFramePr>
            <p:nvPr/>
          </p:nvGraphicFramePr>
          <p:xfrm>
            <a:off x="4572000" y="4686313"/>
            <a:ext cx="1807178" cy="7429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48" name="Equation" r:id="rId20" imgW="850531" imgH="342751" progId="Equation.DSMT4">
                    <p:embed/>
                  </p:oleObj>
                </mc:Choice>
                <mc:Fallback>
                  <p:oleObj name="Equation" r:id="rId20" imgW="850531" imgH="342751" progId="Equation.DSMT4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2000" y="4686313"/>
                          <a:ext cx="1807178" cy="7429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09" name="Object 5"/>
            <p:cNvGraphicFramePr>
              <a:graphicFrameLocks noChangeAspect="1"/>
            </p:cNvGraphicFramePr>
            <p:nvPr/>
          </p:nvGraphicFramePr>
          <p:xfrm>
            <a:off x="6357950" y="3214686"/>
            <a:ext cx="943749" cy="7429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49" name="Equation" r:id="rId22" imgW="444307" imgH="342751" progId="Equation.DSMT4">
                    <p:embed/>
                  </p:oleObj>
                </mc:Choice>
                <mc:Fallback>
                  <p:oleObj name="Equation" r:id="rId22" imgW="444307" imgH="342751" progId="Equation.DSMT4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57950" y="3214686"/>
                          <a:ext cx="943749" cy="7429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20" name="Rectangle 16"/>
            <p:cNvSpPr>
              <a:spLocks noChangeArrowheads="1"/>
            </p:cNvSpPr>
            <p:nvPr/>
          </p:nvSpPr>
          <p:spPr bwMode="auto">
            <a:xfrm>
              <a:off x="500034" y="2857496"/>
              <a:ext cx="1625766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宋体" pitchFamily="2" charset="-122"/>
                  <a:cs typeface="Times New Roman" pitchFamily="18" charset="0"/>
                </a:rPr>
                <a:t>证明：设</a:t>
              </a:r>
              <a:endParaRPr kumimoji="0" 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7121" name="Rectangle 17"/>
            <p:cNvSpPr>
              <a:spLocks noChangeArrowheads="1"/>
            </p:cNvSpPr>
            <p:nvPr/>
          </p:nvSpPr>
          <p:spPr bwMode="auto">
            <a:xfrm>
              <a:off x="4357686" y="2786058"/>
              <a:ext cx="3605474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宋体" pitchFamily="2" charset="-122"/>
                  <a:cs typeface="Times New Roman" pitchFamily="18" charset="0"/>
                </a:rPr>
                <a:t>，</a:t>
              </a:r>
              <a:r>
                <a:rPr kumimoji="0" lang="en-US" altLang="zh-CN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宋体" pitchFamily="2" charset="-122"/>
                  <a:cs typeface="Times New Roman" pitchFamily="18" charset="0"/>
                </a:rPr>
                <a:t>n</a:t>
              </a:r>
              <a:r>
                <a:rPr kumimoji="0" lang="zh-CN" altLang="en-US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宋体" pitchFamily="2" charset="-122"/>
                  <a:cs typeface="Times New Roman" pitchFamily="18" charset="0"/>
                </a:rPr>
                <a:t>是某个正整数。记</a:t>
              </a:r>
              <a:endPara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7122" name="Rectangle 18"/>
            <p:cNvSpPr>
              <a:spLocks noChangeArrowheads="1"/>
            </p:cNvSpPr>
            <p:nvPr/>
          </p:nvSpPr>
          <p:spPr bwMode="auto">
            <a:xfrm>
              <a:off x="214282" y="3357562"/>
              <a:ext cx="4429156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宋体" pitchFamily="2" charset="-122"/>
                  <a:cs typeface="Times New Roman" pitchFamily="18" charset="0"/>
                </a:rPr>
                <a:t>为这</a:t>
              </a:r>
              <a:r>
                <a:rPr kumimoji="0" lang="en-US" altLang="zh-CN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宋体" pitchFamily="2" charset="-122"/>
                  <a:cs typeface="Times New Roman" pitchFamily="18" charset="0"/>
                </a:rPr>
                <a:t>n</a:t>
              </a:r>
              <a:r>
                <a:rPr kumimoji="0" lang="zh-CN" altLang="en-US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宋体" pitchFamily="2" charset="-122"/>
                  <a:cs typeface="Times New Roman" pitchFamily="18" charset="0"/>
                </a:rPr>
                <a:t>个子群的交集。因为</a:t>
              </a:r>
              <a:endPara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7123" name="Rectangle 19"/>
            <p:cNvSpPr>
              <a:spLocks noChangeArrowheads="1"/>
            </p:cNvSpPr>
            <p:nvPr/>
          </p:nvSpPr>
          <p:spPr bwMode="auto">
            <a:xfrm>
              <a:off x="5500694" y="3286124"/>
              <a:ext cx="902811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宋体" pitchFamily="2" charset="-122"/>
                  <a:cs typeface="Times New Roman" pitchFamily="18" charset="0"/>
                </a:rPr>
                <a:t>，故</a:t>
              </a:r>
              <a:endPara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7124" name="Rectangle 20"/>
            <p:cNvSpPr>
              <a:spLocks noChangeArrowheads="1"/>
            </p:cNvSpPr>
            <p:nvPr/>
          </p:nvSpPr>
          <p:spPr bwMode="auto">
            <a:xfrm>
              <a:off x="7358082" y="3357562"/>
              <a:ext cx="1620957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宋体" pitchFamily="2" charset="-122"/>
                  <a:cs typeface="Times New Roman" pitchFamily="18" charset="0"/>
                </a:rPr>
                <a:t>非空。若</a:t>
              </a:r>
              <a:endPara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7125" name="Rectangle 21"/>
            <p:cNvSpPr>
              <a:spLocks noChangeArrowheads="1"/>
            </p:cNvSpPr>
            <p:nvPr/>
          </p:nvSpPr>
          <p:spPr bwMode="auto">
            <a:xfrm>
              <a:off x="2143108" y="4071942"/>
              <a:ext cx="3416320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宋体" pitchFamily="2" charset="-122"/>
                  <a:cs typeface="Times New Roman" pitchFamily="18" charset="0"/>
                </a:rPr>
                <a:t>，则对于每一个指标</a:t>
              </a:r>
              <a:endPara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7126" name="Rectangle 22"/>
            <p:cNvSpPr>
              <a:spLocks noChangeArrowheads="1"/>
            </p:cNvSpPr>
            <p:nvPr/>
          </p:nvSpPr>
          <p:spPr bwMode="auto">
            <a:xfrm>
              <a:off x="5857884" y="4071942"/>
              <a:ext cx="902811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宋体" pitchFamily="2" charset="-122"/>
                  <a:cs typeface="Times New Roman" pitchFamily="18" charset="0"/>
                </a:rPr>
                <a:t>，有</a:t>
              </a:r>
              <a:endPara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7127" name="Rectangle 23"/>
            <p:cNvSpPr>
              <a:spLocks noChangeArrowheads="1"/>
            </p:cNvSpPr>
            <p:nvPr/>
          </p:nvSpPr>
          <p:spPr bwMode="auto">
            <a:xfrm>
              <a:off x="8001024" y="3977350"/>
              <a:ext cx="902811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宋体" pitchFamily="2" charset="-122"/>
                  <a:cs typeface="Times New Roman" pitchFamily="18" charset="0"/>
                </a:rPr>
                <a:t>。由</a:t>
              </a:r>
              <a:endPara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7128" name="Rectangle 24"/>
            <p:cNvSpPr>
              <a:spLocks noChangeArrowheads="1"/>
            </p:cNvSpPr>
            <p:nvPr/>
          </p:nvSpPr>
          <p:spPr bwMode="auto">
            <a:xfrm>
              <a:off x="1357290" y="4857760"/>
              <a:ext cx="902811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宋体" pitchFamily="2" charset="-122"/>
                  <a:cs typeface="Times New Roman" pitchFamily="18" charset="0"/>
                </a:rPr>
                <a:t>，有</a:t>
              </a:r>
              <a:endPara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7129" name="Rectangle 25"/>
            <p:cNvSpPr>
              <a:spLocks noChangeArrowheads="1"/>
            </p:cNvSpPr>
            <p:nvPr/>
          </p:nvSpPr>
          <p:spPr bwMode="auto">
            <a:xfrm>
              <a:off x="3643306" y="4786322"/>
              <a:ext cx="902811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宋体" pitchFamily="2" charset="-122"/>
                  <a:cs typeface="Times New Roman" pitchFamily="18" charset="0"/>
                </a:rPr>
                <a:t>，故</a:t>
              </a:r>
              <a:endPara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7130" name="Rectangle 26"/>
            <p:cNvSpPr>
              <a:spLocks noChangeArrowheads="1"/>
            </p:cNvSpPr>
            <p:nvPr/>
          </p:nvSpPr>
          <p:spPr bwMode="auto">
            <a:xfrm>
              <a:off x="357158" y="5572140"/>
              <a:ext cx="3089307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宋体" pitchFamily="2" charset="-122"/>
                  <a:cs typeface="Times New Roman" pitchFamily="18" charset="0"/>
                </a:rPr>
                <a:t>由定理</a:t>
              </a:r>
              <a:r>
                <a:rPr kumimoji="0" lang="en-US" altLang="zh-CN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宋体" pitchFamily="2" charset="-122"/>
                  <a:cs typeface="Times New Roman" pitchFamily="18" charset="0"/>
                </a:rPr>
                <a:t>4.3.1</a:t>
              </a:r>
              <a:r>
                <a:rPr kumimoji="0" lang="zh-CN" altLang="en-US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宋体" pitchFamily="2" charset="-122"/>
                  <a:cs typeface="Times New Roman" pitchFamily="18" charset="0"/>
                </a:rPr>
                <a:t>可得，</a:t>
              </a:r>
              <a:endParaRPr kumimoji="0" lang="zh-C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7131" name="Rectangle 27"/>
            <p:cNvSpPr>
              <a:spLocks noChangeArrowheads="1"/>
            </p:cNvSpPr>
            <p:nvPr/>
          </p:nvSpPr>
          <p:spPr bwMode="auto">
            <a:xfrm>
              <a:off x="4071934" y="5572140"/>
              <a:ext cx="2664512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宋体" pitchFamily="2" charset="-122"/>
                  <a:cs typeface="Times New Roman" pitchFamily="18" charset="0"/>
                </a:rPr>
                <a:t>是群</a:t>
              </a:r>
              <a:r>
                <a:rPr kumimoji="0" lang="en-US" altLang="zh-CN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宋体" pitchFamily="2" charset="-122"/>
                  <a:cs typeface="Times New Roman" pitchFamily="18" charset="0"/>
                </a:rPr>
                <a:t>G</a:t>
              </a:r>
              <a:r>
                <a:rPr kumimoji="0" lang="zh-CN" altLang="en-US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宋体" pitchFamily="2" charset="-122"/>
                  <a:cs typeface="Times New Roman" pitchFamily="18" charset="0"/>
                </a:rPr>
                <a:t>的子群。</a:t>
              </a:r>
              <a:r>
                <a:rPr kumimoji="0" lang="zh-CN" altLang="en-US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宋体" pitchFamily="2" charset="-122"/>
                  <a:cs typeface="宋体" pitchFamily="2" charset="-122"/>
                </a:rPr>
                <a:t>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1779272"/>
          </a:xfrm>
        </p:spPr>
        <p:txBody>
          <a:bodyPr/>
          <a:lstStyle/>
          <a:p>
            <a:r>
              <a:rPr lang="zh-CN" altLang="en-US" b="1" dirty="0" smtClean="0"/>
              <a:t>定义</a:t>
            </a:r>
            <a:r>
              <a:rPr lang="en-US" b="1" dirty="0" smtClean="0"/>
              <a:t>4.3.2 </a:t>
            </a:r>
            <a:r>
              <a:rPr lang="zh-CN" altLang="en-US" b="1" dirty="0" smtClean="0"/>
              <a:t>设</a:t>
            </a:r>
            <a:r>
              <a:rPr lang="en-US" b="1" dirty="0" smtClean="0"/>
              <a:t>G</a:t>
            </a:r>
            <a:r>
              <a:rPr lang="zh-CN" altLang="en-US" b="1" dirty="0" smtClean="0"/>
              <a:t>是群，</a:t>
            </a:r>
            <a:r>
              <a:rPr lang="en-US" b="1" dirty="0" smtClean="0"/>
              <a:t>S</a:t>
            </a:r>
            <a:r>
              <a:rPr lang="zh-CN" altLang="en-US" b="1" dirty="0" smtClean="0"/>
              <a:t>是</a:t>
            </a:r>
            <a:r>
              <a:rPr lang="en-US" b="1" dirty="0" smtClean="0"/>
              <a:t>G</a:t>
            </a:r>
            <a:r>
              <a:rPr lang="zh-CN" altLang="en-US" b="1" dirty="0" smtClean="0"/>
              <a:t>的子集，</a:t>
            </a:r>
            <a:r>
              <a:rPr lang="en-US" b="1" dirty="0" smtClean="0"/>
              <a:t>G</a:t>
            </a:r>
            <a:r>
              <a:rPr lang="zh-CN" altLang="en-US" b="1" dirty="0" smtClean="0"/>
              <a:t>中包含</a:t>
            </a:r>
            <a:r>
              <a:rPr lang="en-US" b="1" dirty="0" smtClean="0"/>
              <a:t>S</a:t>
            </a:r>
            <a:r>
              <a:rPr lang="zh-CN" altLang="en-US" b="1" dirty="0" smtClean="0"/>
              <a:t>的最小子群称为由</a:t>
            </a:r>
            <a:r>
              <a:rPr lang="en-US" b="1" dirty="0" smtClean="0"/>
              <a:t>S</a:t>
            </a:r>
            <a:r>
              <a:rPr lang="zh-CN" altLang="en-US" b="1" dirty="0" smtClean="0"/>
              <a:t>生成的子群，记为</a:t>
            </a:r>
            <a:r>
              <a:rPr lang="en-US" b="1" dirty="0" smtClean="0"/>
              <a:t> &lt;S&gt;</a:t>
            </a:r>
            <a:r>
              <a:rPr lang="zh-CN" altLang="en-US" b="1" dirty="0" smtClean="0"/>
              <a:t>。如果群</a:t>
            </a:r>
            <a:r>
              <a:rPr lang="en-US" b="1" dirty="0" smtClean="0"/>
              <a:t>G</a:t>
            </a:r>
            <a:r>
              <a:rPr lang="zh-CN" altLang="en-US" b="1" dirty="0" smtClean="0"/>
              <a:t>自身是由</a:t>
            </a:r>
            <a:r>
              <a:rPr lang="en-US" b="1" dirty="0" smtClean="0"/>
              <a:t>S</a:t>
            </a:r>
            <a:r>
              <a:rPr lang="zh-CN" altLang="en-US" b="1" dirty="0" smtClean="0"/>
              <a:t>生成的，则称</a:t>
            </a:r>
            <a:r>
              <a:rPr lang="en-US" b="1" dirty="0" smtClean="0"/>
              <a:t>S</a:t>
            </a:r>
            <a:r>
              <a:rPr lang="zh-CN" altLang="en-US" b="1" dirty="0" smtClean="0"/>
              <a:t>是</a:t>
            </a:r>
            <a:r>
              <a:rPr lang="en-US" b="1" dirty="0" smtClean="0"/>
              <a:t>G</a:t>
            </a:r>
            <a:r>
              <a:rPr lang="zh-CN" altLang="en-US" b="1" dirty="0" smtClean="0"/>
              <a:t>的一组生成元。如果</a:t>
            </a:r>
            <a:r>
              <a:rPr lang="en-US" b="1" dirty="0" smtClean="0"/>
              <a:t>G=&lt;S&gt;</a:t>
            </a:r>
            <a:r>
              <a:rPr lang="zh-CN" altLang="en-US" b="1" dirty="0" smtClean="0"/>
              <a:t>，</a:t>
            </a:r>
            <a:r>
              <a:rPr lang="en-US" b="1" dirty="0" smtClean="0"/>
              <a:t>S</a:t>
            </a:r>
            <a:r>
              <a:rPr lang="zh-CN" altLang="en-US" b="1" dirty="0" smtClean="0"/>
              <a:t>是有限子集，则称群</a:t>
            </a:r>
            <a:r>
              <a:rPr lang="en-US" b="1" dirty="0" smtClean="0"/>
              <a:t>G</a:t>
            </a:r>
            <a:r>
              <a:rPr lang="zh-CN" altLang="en-US" b="1" dirty="0" smtClean="0"/>
              <a:t>是</a:t>
            </a:r>
            <a:r>
              <a:rPr lang="zh-CN" altLang="en-US" b="1" dirty="0" smtClean="0">
                <a:solidFill>
                  <a:srgbClr val="FF0000"/>
                </a:solidFill>
              </a:rPr>
              <a:t>有限生成</a:t>
            </a:r>
            <a:r>
              <a:rPr lang="zh-CN" altLang="en-US" b="1" dirty="0" smtClean="0"/>
              <a:t>的。</a:t>
            </a:r>
          </a:p>
          <a:p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42910" y="3857628"/>
            <a:ext cx="70009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容易证明：</a:t>
            </a:r>
            <a:endParaRPr lang="zh-CN" altLang="en-US" sz="2800" b="1" dirty="0"/>
          </a:p>
        </p:txBody>
      </p:sp>
      <p:sp>
        <p:nvSpPr>
          <p:cNvPr id="4813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8129" name="Object 1"/>
          <p:cNvGraphicFramePr>
            <a:graphicFrameLocks noChangeAspect="1"/>
          </p:cNvGraphicFramePr>
          <p:nvPr/>
        </p:nvGraphicFramePr>
        <p:xfrm>
          <a:off x="2571735" y="3857628"/>
          <a:ext cx="4741367" cy="571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90" name="Equation" r:id="rId3" imgW="2133360" imgH="253800" progId="Equation.DSMT4">
                  <p:embed/>
                </p:oleObj>
              </mc:Choice>
              <mc:Fallback>
                <p:oleObj name="Equation" r:id="rId3" imgW="2133360" imgH="2538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35" y="3857628"/>
                        <a:ext cx="4741367" cy="5715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4348" y="4572008"/>
            <a:ext cx="5143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其中</a:t>
            </a:r>
            <a:endParaRPr lang="zh-CN" altLang="en-US" sz="2800" b="1" dirty="0"/>
          </a:p>
        </p:txBody>
      </p:sp>
      <p:sp>
        <p:nvSpPr>
          <p:cNvPr id="4813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8131" name="Object 3"/>
          <p:cNvGraphicFramePr>
            <a:graphicFrameLocks noChangeAspect="1"/>
          </p:cNvGraphicFramePr>
          <p:nvPr/>
        </p:nvGraphicFramePr>
        <p:xfrm>
          <a:off x="1785919" y="4643446"/>
          <a:ext cx="2857520" cy="596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91" name="Equation" r:id="rId5" imgW="1091726" imgH="228501" progId="Equation.DSMT4">
                  <p:embed/>
                </p:oleObj>
              </mc:Choice>
              <mc:Fallback>
                <p:oleObj name="Equation" r:id="rId5" imgW="1091726" imgH="228501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19" y="4643446"/>
                        <a:ext cx="2857520" cy="596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等价关系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 smtClean="0"/>
              <a:t>定义</a:t>
            </a:r>
            <a:r>
              <a:rPr lang="en-US" b="1" dirty="0" smtClean="0"/>
              <a:t>4.3.3 </a:t>
            </a:r>
            <a:r>
              <a:rPr lang="zh-CN" altLang="en-US" b="1" dirty="0" smtClean="0"/>
              <a:t>设集合</a:t>
            </a:r>
            <a:r>
              <a:rPr lang="en-US" b="1" dirty="0" smtClean="0"/>
              <a:t>A</a:t>
            </a:r>
            <a:r>
              <a:rPr lang="zh-CN" altLang="en-US" b="1" dirty="0" smtClean="0"/>
              <a:t>上的一个二元关系</a:t>
            </a:r>
            <a:r>
              <a:rPr lang="en-US" b="1" dirty="0" smtClean="0"/>
              <a:t> </a:t>
            </a:r>
            <a:r>
              <a:rPr lang="en-US" altLang="zh-CN" b="1" dirty="0" smtClean="0"/>
              <a:t>~</a:t>
            </a:r>
            <a:r>
              <a:rPr lang="zh-CN" altLang="en-US" b="1" dirty="0" smtClean="0"/>
              <a:t>，满足下列条件：</a:t>
            </a:r>
          </a:p>
          <a:p>
            <a:pPr marL="850392" lvl="1" indent="-457200">
              <a:buFont typeface="+mj-ea"/>
              <a:buAutoNum type="circleNumDbPlain"/>
            </a:pPr>
            <a:r>
              <a:rPr lang="zh-CN" altLang="en-US" b="1" dirty="0" smtClean="0"/>
              <a:t>若</a:t>
            </a:r>
            <a:r>
              <a:rPr lang="en-US" b="1" dirty="0" smtClean="0"/>
              <a:t> 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∈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A</a:t>
            </a:r>
            <a:r>
              <a:rPr lang="zh-CN" altLang="en-US" b="1" dirty="0" smtClean="0"/>
              <a:t>，则</a:t>
            </a:r>
            <a:r>
              <a:rPr lang="en-US" b="1" dirty="0" smtClean="0"/>
              <a:t> 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~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zh-CN" altLang="en-US" b="1" dirty="0" smtClean="0"/>
              <a:t>；（自反性）</a:t>
            </a:r>
          </a:p>
          <a:p>
            <a:pPr marL="850392" lvl="1" indent="-457200">
              <a:buFont typeface="+mj-ea"/>
              <a:buAutoNum type="circleNumDbPlain"/>
            </a:pPr>
            <a:r>
              <a:rPr lang="zh-CN" altLang="en-US" b="1" dirty="0" smtClean="0"/>
              <a:t>若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b="1" dirty="0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∈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A</a:t>
            </a:r>
            <a:r>
              <a:rPr lang="en-US" b="1" dirty="0" smtClean="0"/>
              <a:t> </a:t>
            </a:r>
            <a:r>
              <a:rPr lang="zh-CN" altLang="en-US" b="1" dirty="0" smtClean="0"/>
              <a:t>，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~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b </a:t>
            </a:r>
            <a:r>
              <a:rPr lang="zh-CN" altLang="en-US" b="1" dirty="0" smtClean="0"/>
              <a:t>，则</a:t>
            </a:r>
            <a:r>
              <a:rPr lang="en-US" b="1" dirty="0" smtClean="0"/>
              <a:t> 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~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zh-CN" altLang="en-US" b="1" dirty="0" smtClean="0"/>
              <a:t>；（对称性）</a:t>
            </a:r>
          </a:p>
          <a:p>
            <a:pPr marL="850392" lvl="1" indent="-457200">
              <a:buFont typeface="+mj-ea"/>
              <a:buAutoNum type="circleNumDbPlain"/>
            </a:pPr>
            <a:r>
              <a:rPr lang="zh-CN" altLang="en-US" b="1" dirty="0" smtClean="0"/>
              <a:t>若</a:t>
            </a:r>
            <a:r>
              <a:rPr lang="en-US" b="1" dirty="0" smtClean="0"/>
              <a:t> 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b="1" dirty="0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b="1" dirty="0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∈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A</a:t>
            </a:r>
            <a:r>
              <a:rPr lang="en-US" b="1" dirty="0" smtClean="0"/>
              <a:t> </a:t>
            </a:r>
            <a:r>
              <a:rPr lang="zh-CN" altLang="en-US" b="1" dirty="0" smtClean="0"/>
              <a:t>，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~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b </a:t>
            </a:r>
            <a:r>
              <a:rPr lang="zh-CN" altLang="en-US" b="1" dirty="0" smtClean="0"/>
              <a:t>，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b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~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zh-CN" altLang="en-US" b="1" i="1" dirty="0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zh-CN" altLang="en-US" b="1" dirty="0" smtClean="0"/>
              <a:t>则</a:t>
            </a:r>
            <a:r>
              <a:rPr lang="en-US" b="1" dirty="0" smtClean="0"/>
              <a:t> 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~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c </a:t>
            </a:r>
            <a:r>
              <a:rPr lang="zh-CN" altLang="en-US" b="1" dirty="0" smtClean="0"/>
              <a:t>；（传递性）</a:t>
            </a:r>
          </a:p>
          <a:p>
            <a:r>
              <a:rPr lang="zh-CN" altLang="en-US" b="1" dirty="0" smtClean="0"/>
              <a:t>那么称</a:t>
            </a:r>
            <a:r>
              <a:rPr lang="en-US" b="1" dirty="0" smtClean="0"/>
              <a:t>~</a:t>
            </a:r>
            <a:r>
              <a:rPr lang="zh-CN" altLang="en-US" b="1" dirty="0" smtClean="0"/>
              <a:t>是集合</a:t>
            </a:r>
            <a:r>
              <a:rPr lang="en-US" b="1" dirty="0" smtClean="0"/>
              <a:t>A</a:t>
            </a:r>
            <a:r>
              <a:rPr lang="zh-CN" altLang="en-US" b="1" dirty="0" smtClean="0"/>
              <a:t>上的一个等价关系。</a:t>
            </a:r>
          </a:p>
          <a:p>
            <a:r>
              <a:rPr lang="zh-CN" altLang="en-US" b="1" dirty="0" smtClean="0"/>
              <a:t>若</a:t>
            </a:r>
            <a:r>
              <a:rPr lang="en-US" altLang="zh-CN" b="1" dirty="0" smtClean="0"/>
              <a:t>~</a:t>
            </a:r>
            <a:r>
              <a:rPr lang="zh-CN" altLang="en-US" b="1" dirty="0" smtClean="0"/>
              <a:t>是</a:t>
            </a:r>
            <a:r>
              <a:rPr lang="en-US" b="1" dirty="0" smtClean="0"/>
              <a:t>A</a:t>
            </a:r>
            <a:r>
              <a:rPr lang="zh-CN" altLang="en-US" b="1" dirty="0" smtClean="0"/>
              <a:t>上的一个等价关系，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∈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zh-CN" altLang="en-US" b="1" dirty="0" smtClean="0"/>
              <a:t>，则与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zh-CN" altLang="en-US" b="1" dirty="0" smtClean="0"/>
              <a:t>等价的所有元素组成的一个子集合称为</a:t>
            </a:r>
            <a:r>
              <a:rPr lang="en-US" b="1" dirty="0" smtClean="0"/>
              <a:t>A</a:t>
            </a:r>
            <a:r>
              <a:rPr lang="zh-CN" altLang="en-US" b="1" dirty="0" smtClean="0"/>
              <a:t>中由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zh-CN" altLang="en-US" b="1" dirty="0" smtClean="0"/>
              <a:t>确定的等价类，记为</a:t>
            </a:r>
            <a:r>
              <a:rPr lang="en-US" altLang="zh-CN" b="1" dirty="0" smtClean="0"/>
              <a:t>[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] </a:t>
            </a:r>
            <a:r>
              <a:rPr lang="zh-CN" altLang="en-US" b="1" dirty="0" smtClean="0"/>
              <a:t>。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陪集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 smtClean="0"/>
              <a:t>设</a:t>
            </a:r>
            <a:r>
              <a:rPr lang="en-US" b="1" dirty="0" smtClean="0"/>
              <a:t>G</a:t>
            </a:r>
            <a:r>
              <a:rPr lang="zh-CN" altLang="en-US" b="1" dirty="0" smtClean="0"/>
              <a:t>是群，</a:t>
            </a:r>
            <a:r>
              <a:rPr lang="en-US" b="1" dirty="0" smtClean="0"/>
              <a:t>H</a:t>
            </a:r>
            <a:r>
              <a:rPr lang="zh-CN" altLang="en-US" b="1" dirty="0" smtClean="0"/>
              <a:t>是群</a:t>
            </a:r>
            <a:r>
              <a:rPr lang="en-US" b="1" dirty="0" smtClean="0"/>
              <a:t>G</a:t>
            </a:r>
            <a:r>
              <a:rPr lang="zh-CN" altLang="en-US" b="1" dirty="0" smtClean="0"/>
              <a:t>的一个子群，在群</a:t>
            </a:r>
            <a:r>
              <a:rPr lang="en-US" b="1" dirty="0" smtClean="0"/>
              <a:t>G</a:t>
            </a:r>
            <a:r>
              <a:rPr lang="zh-CN" altLang="en-US" b="1" dirty="0" smtClean="0"/>
              <a:t>上定义关系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~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b</a:t>
            </a:r>
            <a:r>
              <a:rPr lang="zh-CN" altLang="en-US" b="1" dirty="0" smtClean="0"/>
              <a:t>当且仅当      </a:t>
            </a:r>
            <a:r>
              <a:rPr lang="en-US" b="1" dirty="0" smtClean="0"/>
              <a:t>          </a:t>
            </a:r>
            <a:r>
              <a:rPr lang="zh-CN" altLang="en-US" b="1" dirty="0" smtClean="0"/>
              <a:t>。</a:t>
            </a:r>
          </a:p>
          <a:p>
            <a:pPr marL="850392" lvl="1" indent="-457200">
              <a:buFont typeface="+mj-ea"/>
              <a:buAutoNum type="circleNumDbPlain"/>
            </a:pPr>
            <a:r>
              <a:rPr lang="zh-CN" altLang="en-US" b="1" dirty="0" smtClean="0"/>
              <a:t>对于任意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∈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zh-CN" altLang="en-US" b="1" dirty="0" smtClean="0"/>
              <a:t>，       </a:t>
            </a:r>
            <a:r>
              <a:rPr lang="en-US" b="1" dirty="0" smtClean="0"/>
              <a:t>            </a:t>
            </a:r>
            <a:r>
              <a:rPr lang="zh-CN" altLang="en-US" b="1" dirty="0" smtClean="0"/>
              <a:t>，故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~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b="1" dirty="0" smtClean="0"/>
              <a:t>；</a:t>
            </a:r>
          </a:p>
          <a:p>
            <a:pPr marL="850392" lvl="1" indent="-457200">
              <a:buFont typeface="+mj-ea"/>
              <a:buAutoNum type="circleNumDbPlain"/>
            </a:pPr>
            <a:r>
              <a:rPr lang="zh-CN" altLang="en-US" b="1" dirty="0" smtClean="0"/>
              <a:t>若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~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b </a:t>
            </a:r>
            <a:r>
              <a:rPr lang="zh-CN" altLang="en-US" b="1" dirty="0" smtClean="0"/>
              <a:t>，则   </a:t>
            </a:r>
            <a:r>
              <a:rPr lang="en-US" b="1" dirty="0" smtClean="0"/>
              <a:t>             </a:t>
            </a:r>
            <a:r>
              <a:rPr lang="zh-CN" altLang="en-US" b="1" dirty="0" smtClean="0"/>
              <a:t>，从而</a:t>
            </a:r>
            <a:r>
              <a:rPr lang="en-US" b="1" dirty="0" smtClean="0"/>
              <a:t>                                 </a:t>
            </a:r>
            <a:r>
              <a:rPr lang="zh-CN" altLang="en-US" b="1" dirty="0" smtClean="0"/>
              <a:t>，故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~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zh-CN" altLang="en-US" b="1" dirty="0" smtClean="0"/>
              <a:t>；</a:t>
            </a:r>
          </a:p>
          <a:p>
            <a:pPr marL="850392" lvl="1" indent="-457200">
              <a:buFont typeface="+mj-ea"/>
              <a:buAutoNum type="circleNumDbPlain"/>
            </a:pPr>
            <a:r>
              <a:rPr lang="zh-CN" altLang="en-US" b="1" dirty="0" smtClean="0"/>
              <a:t>若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~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b </a:t>
            </a:r>
            <a:r>
              <a:rPr lang="zh-CN" altLang="en-US" b="1" dirty="0" smtClean="0"/>
              <a:t>，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b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~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c </a:t>
            </a:r>
            <a:r>
              <a:rPr lang="zh-CN" altLang="en-US" b="1" dirty="0" smtClean="0"/>
              <a:t>，则                               </a:t>
            </a:r>
            <a:r>
              <a:rPr lang="en-US" b="1" dirty="0" smtClean="0"/>
              <a:t> </a:t>
            </a:r>
            <a:r>
              <a:rPr lang="zh-CN" altLang="en-US" b="1" dirty="0" smtClean="0"/>
              <a:t>，从而</a:t>
            </a:r>
            <a:r>
              <a:rPr lang="en-US" b="1" dirty="0" smtClean="0"/>
              <a:t>                </a:t>
            </a:r>
            <a:r>
              <a:rPr lang="zh-CN" altLang="en-US" b="1" dirty="0" smtClean="0"/>
              <a:t>，故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~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c </a:t>
            </a:r>
            <a:r>
              <a:rPr lang="zh-CN" altLang="en-US" b="1" dirty="0" smtClean="0"/>
              <a:t>。</a:t>
            </a:r>
          </a:p>
          <a:p>
            <a:r>
              <a:rPr lang="zh-CN" altLang="en-US" b="1" dirty="0" smtClean="0"/>
              <a:t>因此</a:t>
            </a:r>
            <a:r>
              <a:rPr lang="en-US" b="1" dirty="0" smtClean="0"/>
              <a:t> </a:t>
            </a:r>
            <a:r>
              <a:rPr lang="zh-CN" altLang="en-US" b="1" dirty="0" smtClean="0"/>
              <a:t>是</a:t>
            </a:r>
            <a:r>
              <a:rPr lang="en-US" b="1" dirty="0" smtClean="0"/>
              <a:t>G</a:t>
            </a:r>
            <a:r>
              <a:rPr lang="zh-CN" altLang="en-US" b="1" dirty="0" smtClean="0"/>
              <a:t>上的一个等价关系，记为</a:t>
            </a:r>
            <a:r>
              <a:rPr lang="en-US" b="1" dirty="0" smtClean="0"/>
              <a:t>       </a:t>
            </a:r>
            <a:r>
              <a:rPr lang="zh-CN" altLang="en-US" b="1" dirty="0" smtClean="0"/>
              <a:t>。</a:t>
            </a:r>
            <a:endParaRPr lang="zh-CN" altLang="en-US" b="1" dirty="0"/>
          </a:p>
        </p:txBody>
      </p:sp>
      <p:sp>
        <p:nvSpPr>
          <p:cNvPr id="491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9153" name="Object 1"/>
          <p:cNvGraphicFramePr>
            <a:graphicFrameLocks noChangeAspect="1"/>
          </p:cNvGraphicFramePr>
          <p:nvPr/>
        </p:nvGraphicFramePr>
        <p:xfrm>
          <a:off x="2428860" y="2357430"/>
          <a:ext cx="1265402" cy="428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61" name="Equation" r:id="rId3" imgW="583947" imgH="203112" progId="Equation.DSMT4">
                  <p:embed/>
                </p:oleObj>
              </mc:Choice>
              <mc:Fallback>
                <p:oleObj name="Equation" r:id="rId3" imgW="583947" imgH="203112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60" y="2357430"/>
                        <a:ext cx="1265402" cy="428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9155" name="Object 3"/>
          <p:cNvGraphicFramePr>
            <a:graphicFrameLocks noChangeAspect="1"/>
          </p:cNvGraphicFramePr>
          <p:nvPr/>
        </p:nvGraphicFramePr>
        <p:xfrm>
          <a:off x="3571868" y="2786058"/>
          <a:ext cx="1643042" cy="410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62" name="Equation" r:id="rId5" imgW="799753" imgH="203112" progId="Equation.DSMT4">
                  <p:embed/>
                </p:oleObj>
              </mc:Choice>
              <mc:Fallback>
                <p:oleObj name="Equation" r:id="rId5" imgW="799753" imgH="203112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68" y="2786058"/>
                        <a:ext cx="1643042" cy="41076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7" name="Object 5"/>
          <p:cNvGraphicFramePr>
            <a:graphicFrameLocks noChangeAspect="1"/>
          </p:cNvGraphicFramePr>
          <p:nvPr/>
        </p:nvGraphicFramePr>
        <p:xfrm>
          <a:off x="3000364" y="3214686"/>
          <a:ext cx="126523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63" name="Equation" r:id="rId7" imgW="583947" imgH="203112" progId="Equation.DSMT4">
                  <p:embed/>
                </p:oleObj>
              </mc:Choice>
              <mc:Fallback>
                <p:oleObj name="Equation" r:id="rId7" imgW="583947" imgH="203112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64" y="3214686"/>
                        <a:ext cx="1265238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9158" name="Object 6"/>
          <p:cNvGraphicFramePr>
            <a:graphicFrameLocks noChangeAspect="1"/>
          </p:cNvGraphicFramePr>
          <p:nvPr/>
        </p:nvGraphicFramePr>
        <p:xfrm>
          <a:off x="5214942" y="3248405"/>
          <a:ext cx="2428892" cy="466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64" name="Equation" r:id="rId8" imgW="1193800" imgH="228600" progId="Equation.DSMT4">
                  <p:embed/>
                </p:oleObj>
              </mc:Choice>
              <mc:Fallback>
                <p:oleObj name="Equation" r:id="rId8" imgW="1193800" imgH="2286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4942" y="3248405"/>
                        <a:ext cx="2428892" cy="46634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9160" name="Object 8"/>
          <p:cNvGraphicFramePr>
            <a:graphicFrameLocks noChangeAspect="1"/>
          </p:cNvGraphicFramePr>
          <p:nvPr/>
        </p:nvGraphicFramePr>
        <p:xfrm>
          <a:off x="4071935" y="4000504"/>
          <a:ext cx="2500330" cy="487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65" name="Equation" r:id="rId10" imgW="1168400" imgH="228600" progId="Equation.DSMT4">
                  <p:embed/>
                </p:oleObj>
              </mc:Choice>
              <mc:Fallback>
                <p:oleObj name="Equation" r:id="rId10" imgW="1168400" imgH="2286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1935" y="4000504"/>
                        <a:ext cx="2500330" cy="48786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9162" name="Object 10"/>
          <p:cNvGraphicFramePr>
            <a:graphicFrameLocks noChangeAspect="1"/>
          </p:cNvGraphicFramePr>
          <p:nvPr/>
        </p:nvGraphicFramePr>
        <p:xfrm>
          <a:off x="7286644" y="4000504"/>
          <a:ext cx="1204173" cy="428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66" name="Equation" r:id="rId12" imgW="571252" imgH="203112" progId="Equation.DSMT4">
                  <p:embed/>
                </p:oleObj>
              </mc:Choice>
              <mc:Fallback>
                <p:oleObj name="Equation" r:id="rId12" imgW="571252" imgH="203112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6644" y="4000504"/>
                        <a:ext cx="1204173" cy="428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5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9164" name="Object 12"/>
          <p:cNvGraphicFramePr>
            <a:graphicFrameLocks noChangeAspect="1"/>
          </p:cNvGraphicFramePr>
          <p:nvPr/>
        </p:nvGraphicFramePr>
        <p:xfrm>
          <a:off x="5786446" y="4836051"/>
          <a:ext cx="500034" cy="52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67" name="Equation" r:id="rId14" imgW="215806" imgH="228501" progId="Equation.DSMT4">
                  <p:embed/>
                </p:oleObj>
              </mc:Choice>
              <mc:Fallback>
                <p:oleObj name="Equation" r:id="rId14" imgW="215806" imgH="228501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6446" y="4836051"/>
                        <a:ext cx="500034" cy="521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陪集（续）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 smtClean="0"/>
              <a:t>定义</a:t>
            </a:r>
            <a:r>
              <a:rPr lang="en-US" b="1" dirty="0" smtClean="0"/>
              <a:t>4.3.4</a:t>
            </a:r>
            <a:r>
              <a:rPr lang="zh-CN" altLang="en-US" b="1" dirty="0" smtClean="0"/>
              <a:t>设</a:t>
            </a:r>
            <a:r>
              <a:rPr lang="en-US" b="1" dirty="0" smtClean="0"/>
              <a:t>H</a:t>
            </a:r>
            <a:r>
              <a:rPr lang="zh-CN" altLang="en-US" b="1" dirty="0" smtClean="0"/>
              <a:t>是群</a:t>
            </a:r>
            <a:r>
              <a:rPr lang="en-US" b="1" dirty="0" smtClean="0"/>
              <a:t>G</a:t>
            </a:r>
            <a:r>
              <a:rPr lang="zh-CN" altLang="en-US" b="1" dirty="0" smtClean="0"/>
              <a:t>的一个子群。对于</a:t>
            </a:r>
            <a:r>
              <a:rPr lang="en-US" b="1" dirty="0" smtClean="0"/>
              <a:t>G</a:t>
            </a:r>
            <a:r>
              <a:rPr lang="zh-CN" altLang="en-US" b="1" dirty="0" smtClean="0"/>
              <a:t>中的任意元素</a:t>
            </a:r>
            <a:r>
              <a:rPr lang="en-US" altLang="zh-CN" b="1" i="1" dirty="0" smtClean="0"/>
              <a:t>a</a:t>
            </a:r>
            <a:r>
              <a:rPr lang="zh-CN" altLang="en-US" b="1" dirty="0" smtClean="0"/>
              <a:t>，称集合</a:t>
            </a:r>
            <a:endParaRPr lang="en-US" altLang="zh-CN" b="1" dirty="0" smtClean="0"/>
          </a:p>
          <a:p>
            <a:pPr algn="ctr">
              <a:buNone/>
            </a:pPr>
            <a:r>
              <a:rPr lang="en-US" altLang="zh-CN" b="1" dirty="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altLang="zh-CN" b="1" i="1" dirty="0" err="1" smtClean="0">
                <a:latin typeface="Times New Roman" pitchFamily="18" charset="0"/>
                <a:cs typeface="Times New Roman" pitchFamily="18" charset="0"/>
              </a:rPr>
              <a:t>ah|h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b="1" dirty="0" smtClean="0">
                <a:latin typeface="Times New Roman" pitchFamily="18" charset="0"/>
                <a:cs typeface="Times New Roman" pitchFamily="18" charset="0"/>
              </a:rPr>
              <a:t>∈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CN" b="1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zh-CN" alt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zh-CN" altLang="en-US" b="1" dirty="0" smtClean="0"/>
              <a:t>为</a:t>
            </a:r>
            <a:r>
              <a:rPr lang="en-US" b="1" dirty="0" smtClean="0"/>
              <a:t>H</a:t>
            </a:r>
            <a:r>
              <a:rPr lang="zh-CN" altLang="en-US" b="1" dirty="0" smtClean="0"/>
              <a:t>的一个左陪集，简记为</a:t>
            </a:r>
            <a:r>
              <a:rPr lang="en-US" b="1" dirty="0" smtClean="0"/>
              <a:t> </a:t>
            </a:r>
            <a:r>
              <a:rPr lang="en-US" b="1" i="1" dirty="0" err="1" smtClean="0">
                <a:latin typeface="Times New Roman" pitchFamily="18" charset="0"/>
                <a:cs typeface="Times New Roman" pitchFamily="18" charset="0"/>
              </a:rPr>
              <a:t>aH</a:t>
            </a:r>
            <a:r>
              <a:rPr lang="zh-CN" altLang="en-US" b="1" dirty="0" smtClean="0"/>
              <a:t>。因为</a:t>
            </a:r>
            <a:r>
              <a:rPr lang="en-US" b="1" dirty="0" smtClean="0"/>
              <a:t>H</a:t>
            </a:r>
            <a:r>
              <a:rPr lang="zh-CN" altLang="en-US" b="1" dirty="0" smtClean="0"/>
              <a:t>中有单位元素，所以</a:t>
            </a:r>
            <a:r>
              <a:rPr lang="en-US" b="1" dirty="0" smtClean="0"/>
              <a:t> 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b="1" dirty="0" smtClean="0">
                <a:latin typeface="Times New Roman" pitchFamily="18" charset="0"/>
                <a:cs typeface="Times New Roman" pitchFamily="18" charset="0"/>
              </a:rPr>
              <a:t> ∈</a:t>
            </a:r>
            <a:r>
              <a:rPr lang="en-US" altLang="zh-CN" b="1" i="1" dirty="0" err="1" smtClean="0">
                <a:latin typeface="Times New Roman" pitchFamily="18" charset="0"/>
                <a:cs typeface="Times New Roman" pitchFamily="18" charset="0"/>
              </a:rPr>
              <a:t>aH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b="1" dirty="0" smtClean="0"/>
              <a:t>。同样可以定义右陪集为</a:t>
            </a:r>
          </a:p>
          <a:p>
            <a:pPr algn="ctr">
              <a:buNone/>
            </a:pP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Ha=</a:t>
            </a:r>
            <a:r>
              <a:rPr lang="en-US" altLang="zh-CN" b="1" dirty="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altLang="zh-CN" b="1" i="1" dirty="0" err="1" smtClean="0">
                <a:latin typeface="Times New Roman" pitchFamily="18" charset="0"/>
                <a:cs typeface="Times New Roman" pitchFamily="18" charset="0"/>
              </a:rPr>
              <a:t>ha|h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b="1" dirty="0" smtClean="0">
                <a:latin typeface="Times New Roman" pitchFamily="18" charset="0"/>
                <a:cs typeface="Times New Roman" pitchFamily="18" charset="0"/>
              </a:rPr>
              <a:t>∈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CN" b="1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zh-CN" altLang="en-US" b="1" dirty="0" smtClean="0"/>
          </a:p>
          <a:p>
            <a:r>
              <a:rPr lang="en-US" b="1" dirty="0" smtClean="0"/>
              <a:t>    </a:t>
            </a:r>
            <a:r>
              <a:rPr lang="zh-CN" altLang="en-US" b="1" dirty="0" smtClean="0"/>
              <a:t>对于任意元素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∈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G </a:t>
            </a:r>
            <a:r>
              <a:rPr lang="zh-CN" altLang="en-US" b="1" dirty="0" smtClean="0"/>
              <a:t>，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latin typeface="Times New Roman" pitchFamily="18" charset="0"/>
                <a:cs typeface="Times New Roman" pitchFamily="18" charset="0"/>
              </a:rPr>
              <a:t>aH</a:t>
            </a:r>
            <a:r>
              <a:rPr lang="zh-CN" altLang="en-US" b="1" dirty="0" smtClean="0"/>
              <a:t>与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zh-CN" altLang="en-US" b="1" dirty="0" smtClean="0"/>
              <a:t>中有相同的元素个数。因为对于任意   </a:t>
            </a:r>
            <a:r>
              <a:rPr lang="en-US" b="1" dirty="0" smtClean="0"/>
              <a:t>            </a:t>
            </a:r>
            <a:r>
              <a:rPr lang="zh-CN" altLang="en-US" b="1" dirty="0" smtClean="0"/>
              <a:t>，由     </a:t>
            </a:r>
            <a:r>
              <a:rPr lang="en-US" b="1" dirty="0" smtClean="0"/>
              <a:t>           </a:t>
            </a:r>
            <a:r>
              <a:rPr lang="zh-CN" altLang="en-US" b="1" dirty="0" smtClean="0"/>
              <a:t>可推导出               </a:t>
            </a:r>
            <a:r>
              <a:rPr lang="en-US" b="1" dirty="0" smtClean="0"/>
              <a:t> </a:t>
            </a:r>
            <a:r>
              <a:rPr lang="zh-CN" altLang="en-US" b="1" dirty="0" smtClean="0"/>
              <a:t>。</a:t>
            </a:r>
            <a:endParaRPr lang="zh-CN" altLang="en-US" b="1" dirty="0"/>
          </a:p>
        </p:txBody>
      </p:sp>
      <p:sp>
        <p:nvSpPr>
          <p:cNvPr id="5120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1201" name="Object 1"/>
          <p:cNvGraphicFramePr>
            <a:graphicFrameLocks noChangeAspect="1"/>
          </p:cNvGraphicFramePr>
          <p:nvPr/>
        </p:nvGraphicFramePr>
        <p:xfrm>
          <a:off x="2857488" y="5072098"/>
          <a:ext cx="1160803" cy="428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3" name="Equation" r:id="rId3" imgW="622030" imgH="228501" progId="Equation.DSMT4">
                  <p:embed/>
                </p:oleObj>
              </mc:Choice>
              <mc:Fallback>
                <p:oleObj name="Equation" r:id="rId3" imgW="622030" imgH="228501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488" y="5072098"/>
                        <a:ext cx="1160803" cy="428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1203" name="Object 3"/>
          <p:cNvGraphicFramePr>
            <a:graphicFrameLocks noChangeAspect="1"/>
          </p:cNvGraphicFramePr>
          <p:nvPr/>
        </p:nvGraphicFramePr>
        <p:xfrm>
          <a:off x="4643438" y="5000636"/>
          <a:ext cx="1291779" cy="5000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4" name="Equation" r:id="rId5" imgW="583947" imgH="228501" progId="Equation.DSMT4">
                  <p:embed/>
                </p:oleObj>
              </mc:Choice>
              <mc:Fallback>
                <p:oleObj name="Equation" r:id="rId5" imgW="583947" imgH="228501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5000636"/>
                        <a:ext cx="1291779" cy="5000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5" name="Object 5"/>
          <p:cNvGraphicFramePr>
            <a:graphicFrameLocks noChangeAspect="1"/>
          </p:cNvGraphicFramePr>
          <p:nvPr/>
        </p:nvGraphicFramePr>
        <p:xfrm>
          <a:off x="7358082" y="5072077"/>
          <a:ext cx="954088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5" name="Equation" r:id="rId7" imgW="431640" imgH="228600" progId="Equation.DSMT4">
                  <p:embed/>
                </p:oleObj>
              </mc:Choice>
              <mc:Fallback>
                <p:oleObj name="Equation" r:id="rId7" imgW="431640" imgH="2286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8082" y="5072077"/>
                        <a:ext cx="954088" cy="500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陪集（续）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1493520"/>
          </a:xfrm>
        </p:spPr>
        <p:txBody>
          <a:bodyPr/>
          <a:lstStyle/>
          <a:p>
            <a:r>
              <a:rPr lang="zh-CN" altLang="en-US" b="1" dirty="0" smtClean="0"/>
              <a:t>定理</a:t>
            </a:r>
            <a:r>
              <a:rPr lang="en-US" b="1" dirty="0" smtClean="0"/>
              <a:t>4.3.2 </a:t>
            </a:r>
            <a:r>
              <a:rPr lang="zh-CN" altLang="en-US" b="1" dirty="0" smtClean="0"/>
              <a:t>设</a:t>
            </a:r>
            <a:r>
              <a:rPr lang="en-US" b="1" dirty="0" smtClean="0"/>
              <a:t>H</a:t>
            </a:r>
            <a:r>
              <a:rPr lang="zh-CN" altLang="en-US" b="1" dirty="0" smtClean="0"/>
              <a:t>是</a:t>
            </a:r>
            <a:r>
              <a:rPr lang="en-US" b="1" dirty="0" smtClean="0"/>
              <a:t>G</a:t>
            </a:r>
            <a:r>
              <a:rPr lang="zh-CN" altLang="en-US" b="1" dirty="0" smtClean="0"/>
              <a:t>的子群，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∈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G </a:t>
            </a:r>
            <a:r>
              <a:rPr lang="zh-CN" altLang="en-US" b="1" dirty="0" smtClean="0"/>
              <a:t>，则在等价关系</a:t>
            </a:r>
            <a:r>
              <a:rPr lang="en-US" b="1" dirty="0" smtClean="0"/>
              <a:t>   </a:t>
            </a:r>
            <a:r>
              <a:rPr lang="zh-CN" altLang="en-US" b="1" dirty="0" smtClean="0"/>
              <a:t>下，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a</a:t>
            </a:r>
            <a:r>
              <a:rPr lang="zh-CN" altLang="en-US" b="1" dirty="0" smtClean="0"/>
              <a:t>的等价类</a:t>
            </a:r>
            <a:r>
              <a:rPr lang="en-US" altLang="zh-CN" b="1" dirty="0" smtClean="0"/>
              <a:t>[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]=</a:t>
            </a:r>
            <a:r>
              <a:rPr lang="en-US" b="1" i="1" dirty="0" err="1" smtClean="0">
                <a:latin typeface="Times New Roman" pitchFamily="18" charset="0"/>
                <a:cs typeface="Times New Roman" pitchFamily="18" charset="0"/>
              </a:rPr>
              <a:t>aH</a:t>
            </a:r>
            <a:r>
              <a:rPr lang="zh-CN" altLang="en-US" b="1" dirty="0" smtClean="0">
                <a:latin typeface="Times New Roman" pitchFamily="18" charset="0"/>
                <a:cs typeface="Times New Roman" pitchFamily="18" charset="0"/>
              </a:rPr>
              <a:t>。</a:t>
            </a:r>
            <a:endParaRPr lang="en-US" altLang="zh-CN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zh-CN" altLang="en-US" b="1" dirty="0" smtClean="0">
                <a:latin typeface="Times New Roman" pitchFamily="18" charset="0"/>
                <a:cs typeface="Times New Roman" pitchFamily="18" charset="0"/>
              </a:rPr>
              <a:t>证明：</a:t>
            </a:r>
            <a:endParaRPr lang="zh-CN" altLang="en-US" b="1" dirty="0"/>
          </a:p>
        </p:txBody>
      </p:sp>
      <p:graphicFrame>
        <p:nvGraphicFramePr>
          <p:cNvPr id="52226" name="Object 2"/>
          <p:cNvGraphicFramePr>
            <a:graphicFrameLocks noChangeAspect="1"/>
          </p:cNvGraphicFramePr>
          <p:nvPr/>
        </p:nvGraphicFramePr>
        <p:xfrm>
          <a:off x="8143900" y="1906580"/>
          <a:ext cx="500062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88" name="Equation" r:id="rId3" imgW="215806" imgH="228501" progId="Equation.DSMT4">
                  <p:embed/>
                </p:oleObj>
              </mc:Choice>
              <mc:Fallback>
                <p:oleObj name="Equation" r:id="rId3" imgW="215806" imgH="228501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3900" y="1906580"/>
                        <a:ext cx="500062" cy="522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2786050" y="3140968"/>
            <a:ext cx="3495853" cy="2716924"/>
            <a:chOff x="2786050" y="3140968"/>
            <a:chExt cx="3495853" cy="2716924"/>
          </a:xfrm>
        </p:grpSpPr>
        <p:graphicFrame>
          <p:nvGraphicFramePr>
            <p:cNvPr id="52227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00869486"/>
                </p:ext>
              </p:extLst>
            </p:nvPr>
          </p:nvGraphicFramePr>
          <p:xfrm>
            <a:off x="2786050" y="3214686"/>
            <a:ext cx="3495853" cy="2643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89" name="Equation" r:id="rId5" imgW="1168400" imgH="889000" progId="Equation.DSMT4">
                    <p:embed/>
                  </p:oleObj>
                </mc:Choice>
                <mc:Fallback>
                  <p:oleObj name="Equation" r:id="rId5" imgW="1168400" imgH="889000" progId="Equation.DSMT4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6050" y="3214686"/>
                          <a:ext cx="3495853" cy="26432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文本框 3"/>
            <p:cNvSpPr txBox="1"/>
            <p:nvPr/>
          </p:nvSpPr>
          <p:spPr>
            <a:xfrm>
              <a:off x="4716016" y="3140968"/>
              <a:ext cx="360040" cy="70788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000" b="1" dirty="0" smtClean="0"/>
                <a:t>~</a:t>
              </a:r>
              <a:endParaRPr lang="zh-CN" altLang="en-US" sz="40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陪集（续）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1493520"/>
          </a:xfrm>
        </p:spPr>
        <p:txBody>
          <a:bodyPr/>
          <a:lstStyle/>
          <a:p>
            <a:r>
              <a:rPr lang="zh-CN" altLang="en-US" b="1" dirty="0" smtClean="0"/>
              <a:t>定理</a:t>
            </a:r>
            <a:r>
              <a:rPr lang="en-US" b="1" dirty="0" smtClean="0"/>
              <a:t>4.3.3 </a:t>
            </a:r>
            <a:r>
              <a:rPr lang="zh-CN" altLang="en-US" b="1" dirty="0" smtClean="0"/>
              <a:t>设</a:t>
            </a:r>
            <a:r>
              <a:rPr lang="en-US" b="1" dirty="0" smtClean="0"/>
              <a:t>H</a:t>
            </a:r>
            <a:r>
              <a:rPr lang="zh-CN" altLang="en-US" b="1" dirty="0" smtClean="0"/>
              <a:t>是群</a:t>
            </a:r>
            <a:r>
              <a:rPr lang="en-US" b="1" dirty="0" smtClean="0"/>
              <a:t>G</a:t>
            </a:r>
            <a:r>
              <a:rPr lang="zh-CN" altLang="en-US" b="1" dirty="0" smtClean="0"/>
              <a:t>的一个子群。</a:t>
            </a:r>
            <a:r>
              <a:rPr lang="en-US" b="1" dirty="0" smtClean="0"/>
              <a:t>H</a:t>
            </a:r>
            <a:r>
              <a:rPr lang="zh-CN" altLang="en-US" b="1" dirty="0" smtClean="0"/>
              <a:t>的任意两个左陪集或者相等或者无公共元素。群</a:t>
            </a:r>
            <a:r>
              <a:rPr lang="en-US" b="1" dirty="0" smtClean="0"/>
              <a:t>G</a:t>
            </a:r>
            <a:r>
              <a:rPr lang="zh-CN" altLang="en-US" b="1" dirty="0" smtClean="0"/>
              <a:t>可以表示成</a:t>
            </a:r>
            <a:r>
              <a:rPr lang="en-US" altLang="zh-CN" b="1" dirty="0" smtClean="0"/>
              <a:t>H</a:t>
            </a:r>
            <a:r>
              <a:rPr lang="zh-CN" altLang="en-US" b="1" dirty="0" smtClean="0"/>
              <a:t>的若干个不相交的左陪集之并。</a:t>
            </a:r>
            <a:endParaRPr lang="zh-CN" alt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785786" y="3786190"/>
            <a:ext cx="68580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证明思路：假设</a:t>
            </a:r>
            <a:r>
              <a:rPr lang="en-US" altLang="zh-CN" sz="2800" b="1" dirty="0" smtClean="0"/>
              <a:t>H</a:t>
            </a:r>
            <a:r>
              <a:rPr lang="zh-CN" altLang="en-US" sz="2800" b="1" dirty="0" smtClean="0"/>
              <a:t>的两个陪集有公共元素从而推导出这两个陪集相等。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定理</a:t>
            </a:r>
            <a:r>
              <a:rPr lang="en-US" altLang="zh-CN" dirty="0" smtClean="0"/>
              <a:t>4.3.2</a:t>
            </a:r>
            <a:r>
              <a:rPr lang="zh-CN" altLang="en-US" dirty="0" smtClean="0"/>
              <a:t>的证明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zh-CN" altLang="en-US" b="1" dirty="0" smtClean="0"/>
              <a:t>证明：</a:t>
            </a:r>
            <a:r>
              <a:rPr lang="en-US" b="1" i="1" dirty="0" err="1" smtClean="0">
                <a:latin typeface="Times New Roman" pitchFamily="18" charset="0"/>
                <a:cs typeface="Times New Roman" pitchFamily="18" charset="0"/>
              </a:rPr>
              <a:t>aH</a:t>
            </a:r>
            <a:r>
              <a:rPr lang="zh-CN" altLang="en-US" b="1" dirty="0" smtClean="0"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altLang="zh-CN" b="1" i="1" dirty="0" err="1" smtClean="0">
                <a:latin typeface="Times New Roman" pitchFamily="18" charset="0"/>
                <a:cs typeface="Times New Roman" pitchFamily="18" charset="0"/>
              </a:rPr>
              <a:t>bH</a:t>
            </a:r>
            <a:r>
              <a:rPr lang="zh-CN" altLang="en-US" b="1" dirty="0" smtClean="0"/>
              <a:t>是两个左陪集。假如它们有公共元素，即存在   </a:t>
            </a:r>
            <a:r>
              <a:rPr lang="en-US" b="1" dirty="0" smtClean="0"/>
              <a:t>              </a:t>
            </a:r>
            <a:r>
              <a:rPr lang="zh-CN" altLang="en-US" b="1" dirty="0" smtClean="0"/>
              <a:t>，使得</a:t>
            </a:r>
            <a:endParaRPr lang="en-US" altLang="zh-CN" b="1" dirty="0" smtClean="0"/>
          </a:p>
          <a:p>
            <a:pPr>
              <a:buNone/>
            </a:pPr>
            <a:endParaRPr lang="zh-CN" altLang="en-US" b="1" dirty="0" smtClean="0"/>
          </a:p>
          <a:p>
            <a:pPr>
              <a:buNone/>
            </a:pPr>
            <a:endParaRPr lang="en-US" altLang="zh-CN" b="1" dirty="0" smtClean="0"/>
          </a:p>
          <a:p>
            <a:pPr>
              <a:buNone/>
            </a:pPr>
            <a:r>
              <a:rPr lang="zh-CN" altLang="en-US" b="1" dirty="0" smtClean="0"/>
              <a:t>于是有         </a:t>
            </a:r>
            <a:r>
              <a:rPr lang="en-US" b="1" dirty="0" smtClean="0"/>
              <a:t>           </a:t>
            </a:r>
            <a:r>
              <a:rPr lang="zh-CN" altLang="en-US" b="1" dirty="0" smtClean="0"/>
              <a:t>，其中                </a:t>
            </a:r>
            <a:r>
              <a:rPr lang="en-US" b="1" dirty="0" smtClean="0"/>
              <a:t> </a:t>
            </a:r>
            <a:r>
              <a:rPr lang="zh-CN" altLang="en-US" b="1" dirty="0" smtClean="0"/>
              <a:t>。由</a:t>
            </a:r>
            <a:endParaRPr lang="en-US" altLang="zh-CN" b="1" dirty="0" smtClean="0"/>
          </a:p>
          <a:p>
            <a:pPr>
              <a:buNone/>
            </a:pPr>
            <a:endParaRPr lang="zh-CN" altLang="en-US" b="1" dirty="0" smtClean="0"/>
          </a:p>
          <a:p>
            <a:pPr>
              <a:buNone/>
            </a:pPr>
            <a:endParaRPr lang="en-US" altLang="zh-CN" b="1" dirty="0" smtClean="0"/>
          </a:p>
          <a:p>
            <a:pPr>
              <a:buNone/>
            </a:pPr>
            <a:endParaRPr lang="en-US" altLang="zh-CN" b="1" dirty="0" smtClean="0"/>
          </a:p>
          <a:p>
            <a:pPr>
              <a:buNone/>
            </a:pPr>
            <a:r>
              <a:rPr lang="zh-CN" altLang="en-US" b="1" dirty="0" smtClean="0"/>
              <a:t>可知                  。同理可证，</a:t>
            </a:r>
            <a:r>
              <a:rPr lang="en-US" b="1" dirty="0" smtClean="0"/>
              <a:t>               </a:t>
            </a:r>
            <a:r>
              <a:rPr lang="zh-CN" altLang="en-US" b="1" dirty="0" smtClean="0"/>
              <a:t>，即有</a:t>
            </a:r>
            <a:r>
              <a:rPr lang="en-US" b="1" i="1" dirty="0" err="1" smtClean="0">
                <a:latin typeface="Times New Roman" pitchFamily="18" charset="0"/>
                <a:cs typeface="Times New Roman" pitchFamily="18" charset="0"/>
              </a:rPr>
              <a:t>aH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b="1" i="1" dirty="0" err="1" smtClean="0">
                <a:latin typeface="Times New Roman" pitchFamily="18" charset="0"/>
                <a:cs typeface="Times New Roman" pitchFamily="18" charset="0"/>
              </a:rPr>
              <a:t>bH</a:t>
            </a:r>
            <a:endParaRPr lang="zh-CN" altLang="en-US" b="1" dirty="0" smtClean="0"/>
          </a:p>
          <a:p>
            <a:r>
              <a:rPr lang="zh-CN" altLang="en-US" b="1" dirty="0" smtClean="0"/>
              <a:t>这就证明了第一个结论。</a:t>
            </a:r>
            <a:endParaRPr lang="en-US" altLang="zh-CN" b="1" dirty="0" smtClean="0"/>
          </a:p>
          <a:p>
            <a:endParaRPr lang="zh-CN" altLang="en-US" b="1" dirty="0" smtClean="0"/>
          </a:p>
        </p:txBody>
      </p:sp>
      <p:sp>
        <p:nvSpPr>
          <p:cNvPr id="532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3249" name="Object 1"/>
          <p:cNvGraphicFramePr>
            <a:graphicFrameLocks noChangeAspect="1"/>
          </p:cNvGraphicFramePr>
          <p:nvPr/>
        </p:nvGraphicFramePr>
        <p:xfrm>
          <a:off x="1860332" y="2357430"/>
          <a:ext cx="1354346" cy="500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65" name="Equation" r:id="rId3" imgW="622030" imgH="228501" progId="Equation.DSMT4">
                  <p:embed/>
                </p:oleObj>
              </mc:Choice>
              <mc:Fallback>
                <p:oleObj name="Equation" r:id="rId3" imgW="622030" imgH="228501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0332" y="2357430"/>
                        <a:ext cx="1354346" cy="5000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3251" name="Object 3"/>
          <p:cNvGraphicFramePr>
            <a:graphicFrameLocks noChangeAspect="1"/>
          </p:cNvGraphicFramePr>
          <p:nvPr/>
        </p:nvGraphicFramePr>
        <p:xfrm>
          <a:off x="3428992" y="2786058"/>
          <a:ext cx="1580507" cy="642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66" name="Equation" r:id="rId5" imgW="571252" imgH="228501" progId="Equation.DSMT4">
                  <p:embed/>
                </p:oleObj>
              </mc:Choice>
              <mc:Fallback>
                <p:oleObj name="Equation" r:id="rId5" imgW="571252" imgH="228501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8992" y="2786058"/>
                        <a:ext cx="1580507" cy="6429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3253" name="Object 5"/>
          <p:cNvGraphicFramePr>
            <a:graphicFrameLocks noChangeAspect="1"/>
          </p:cNvGraphicFramePr>
          <p:nvPr/>
        </p:nvGraphicFramePr>
        <p:xfrm>
          <a:off x="1643042" y="3571876"/>
          <a:ext cx="1428728" cy="525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67" name="Equation" r:id="rId7" imgW="647700" imgH="241300" progId="Equation.DSMT4">
                  <p:embed/>
                </p:oleObj>
              </mc:Choice>
              <mc:Fallback>
                <p:oleObj name="Equation" r:id="rId7" imgW="647700" imgH="2413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42" y="3571876"/>
                        <a:ext cx="1428728" cy="52526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3255" name="Object 7"/>
          <p:cNvGraphicFramePr>
            <a:graphicFrameLocks noChangeAspect="1"/>
          </p:cNvGraphicFramePr>
          <p:nvPr/>
        </p:nvGraphicFramePr>
        <p:xfrm>
          <a:off x="4214810" y="3500438"/>
          <a:ext cx="1340113" cy="500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68" name="Equation" r:id="rId9" imgW="634725" imgH="241195" progId="Equation.DSMT4">
                  <p:embed/>
                </p:oleObj>
              </mc:Choice>
              <mc:Fallback>
                <p:oleObj name="Equation" r:id="rId9" imgW="634725" imgH="241195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810" y="3500438"/>
                        <a:ext cx="1340113" cy="5000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8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3257" name="Object 9"/>
          <p:cNvGraphicFramePr>
            <a:graphicFrameLocks noChangeAspect="1"/>
          </p:cNvGraphicFramePr>
          <p:nvPr/>
        </p:nvGraphicFramePr>
        <p:xfrm>
          <a:off x="3000364" y="4214818"/>
          <a:ext cx="2743104" cy="57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69" name="Equation" r:id="rId11" imgW="1143000" imgH="241300" progId="Equation.DSMT4">
                  <p:embed/>
                </p:oleObj>
              </mc:Choice>
              <mc:Fallback>
                <p:oleObj name="Equation" r:id="rId11" imgW="1143000" imgH="24130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64" y="4214818"/>
                        <a:ext cx="2743104" cy="57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0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3259" name="Object 11"/>
          <p:cNvGraphicFramePr>
            <a:graphicFrameLocks noChangeAspect="1"/>
          </p:cNvGraphicFramePr>
          <p:nvPr/>
        </p:nvGraphicFramePr>
        <p:xfrm>
          <a:off x="1285852" y="5286388"/>
          <a:ext cx="1435824" cy="428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70" name="Equation" r:id="rId13" imgW="634725" imgH="190417" progId="Equation.DSMT4">
                  <p:embed/>
                </p:oleObj>
              </mc:Choice>
              <mc:Fallback>
                <p:oleObj name="Equation" r:id="rId13" imgW="634725" imgH="190417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52" y="5286388"/>
                        <a:ext cx="1435824" cy="428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1" name="Object 13"/>
          <p:cNvGraphicFramePr>
            <a:graphicFrameLocks noChangeAspect="1"/>
          </p:cNvGraphicFramePr>
          <p:nvPr/>
        </p:nvGraphicFramePr>
        <p:xfrm>
          <a:off x="4500562" y="5286388"/>
          <a:ext cx="14351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71" name="Equation" r:id="rId15" imgW="634680" imgH="190440" progId="Equation.DSMT4">
                  <p:embed/>
                </p:oleObj>
              </mc:Choice>
              <mc:Fallback>
                <p:oleObj name="Equation" r:id="rId15" imgW="634680" imgH="190440" progId="Equation.DSMT4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2" y="5286388"/>
                        <a:ext cx="1435100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定理</a:t>
            </a:r>
            <a:r>
              <a:rPr lang="en-US" altLang="zh-CN" dirty="0" smtClean="0"/>
              <a:t>4.3.2</a:t>
            </a:r>
            <a:r>
              <a:rPr lang="zh-CN" altLang="en-US" dirty="0" smtClean="0"/>
              <a:t>的证明（续）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 smtClean="0"/>
              <a:t>因为                </a:t>
            </a:r>
            <a:r>
              <a:rPr lang="en-US" b="1" dirty="0" smtClean="0"/>
              <a:t> </a:t>
            </a:r>
            <a:r>
              <a:rPr lang="zh-CN" altLang="en-US" b="1" dirty="0" smtClean="0"/>
              <a:t>，所以</a:t>
            </a:r>
            <a:endParaRPr lang="en-US" altLang="zh-CN" b="1" dirty="0" smtClean="0"/>
          </a:p>
          <a:p>
            <a:endParaRPr lang="zh-CN" altLang="en-US" b="1" dirty="0" smtClean="0"/>
          </a:p>
          <a:p>
            <a:endParaRPr lang="en-US" altLang="zh-CN" b="1" dirty="0" smtClean="0"/>
          </a:p>
          <a:p>
            <a:r>
              <a:rPr lang="zh-CN" altLang="en-US" b="1" dirty="0" smtClean="0"/>
              <a:t>把其中重复出现的左陪集去掉，即可得</a:t>
            </a:r>
          </a:p>
          <a:p>
            <a:endParaRPr lang="en-US" altLang="zh-CN" b="1" dirty="0" smtClean="0"/>
          </a:p>
          <a:p>
            <a:endParaRPr lang="en-US" altLang="zh-CN" b="1" dirty="0" smtClean="0"/>
          </a:p>
          <a:p>
            <a:endParaRPr lang="en-US" altLang="zh-CN" b="1" dirty="0" smtClean="0"/>
          </a:p>
          <a:p>
            <a:r>
              <a:rPr lang="zh-CN" altLang="en-US" b="1" dirty="0" smtClean="0"/>
              <a:t>其中当                时，有           </a:t>
            </a:r>
            <a:r>
              <a:rPr lang="en-US" b="1" dirty="0" smtClean="0"/>
              <a:t>                     </a:t>
            </a:r>
            <a:r>
              <a:rPr lang="zh-CN" altLang="en-US" b="1" dirty="0" smtClean="0"/>
              <a:t>。这就证明了第二点。</a:t>
            </a:r>
            <a:endParaRPr lang="zh-CN" altLang="en-US" b="1" dirty="0"/>
          </a:p>
        </p:txBody>
      </p:sp>
      <p:sp>
        <p:nvSpPr>
          <p:cNvPr id="552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5297" name="Object 1"/>
          <p:cNvGraphicFramePr>
            <a:graphicFrameLocks noChangeAspect="1"/>
          </p:cNvGraphicFramePr>
          <p:nvPr/>
        </p:nvGraphicFramePr>
        <p:xfrm>
          <a:off x="1571604" y="1928802"/>
          <a:ext cx="1342218" cy="500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51" name="Equation" r:id="rId3" imgW="482181" imgH="177646" progId="Equation.DSMT4">
                  <p:embed/>
                </p:oleObj>
              </mc:Choice>
              <mc:Fallback>
                <p:oleObj name="Equation" r:id="rId3" imgW="482181" imgH="177646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04" y="1928802"/>
                        <a:ext cx="1342218" cy="5000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5299" name="Object 3"/>
          <p:cNvGraphicFramePr>
            <a:graphicFrameLocks noChangeAspect="1"/>
          </p:cNvGraphicFramePr>
          <p:nvPr/>
        </p:nvGraphicFramePr>
        <p:xfrm>
          <a:off x="3143240" y="2428868"/>
          <a:ext cx="1643042" cy="8105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52" name="Equation" r:id="rId5" imgW="710891" imgH="342751" progId="Equation.DSMT4">
                  <p:embed/>
                </p:oleObj>
              </mc:Choice>
              <mc:Fallback>
                <p:oleObj name="Equation" r:id="rId5" imgW="710891" imgH="342751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40" y="2428868"/>
                        <a:ext cx="1643042" cy="81056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5301" name="Object 5"/>
          <p:cNvGraphicFramePr>
            <a:graphicFrameLocks noChangeAspect="1"/>
          </p:cNvGraphicFramePr>
          <p:nvPr/>
        </p:nvGraphicFramePr>
        <p:xfrm>
          <a:off x="3143240" y="3929066"/>
          <a:ext cx="1830358" cy="857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53" name="Equation" r:id="rId7" imgW="748975" imgH="342751" progId="Equation.DSMT4">
                  <p:embed/>
                </p:oleObj>
              </mc:Choice>
              <mc:Fallback>
                <p:oleObj name="Equation" r:id="rId7" imgW="748975" imgH="342751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40" y="3929066"/>
                        <a:ext cx="1830358" cy="8572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5303" name="Object 7"/>
          <p:cNvGraphicFramePr>
            <a:graphicFrameLocks noChangeAspect="1"/>
          </p:cNvGraphicFramePr>
          <p:nvPr/>
        </p:nvGraphicFramePr>
        <p:xfrm>
          <a:off x="1857356" y="5214974"/>
          <a:ext cx="1142960" cy="57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54" name="Equation" r:id="rId9" imgW="406048" imgH="203024" progId="Equation.DSMT4">
                  <p:embed/>
                </p:oleObj>
              </mc:Choice>
              <mc:Fallback>
                <p:oleObj name="Equation" r:id="rId9" imgW="406048" imgH="203024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56" y="5214974"/>
                        <a:ext cx="1142960" cy="57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5305" name="Object 9"/>
          <p:cNvGraphicFramePr>
            <a:graphicFrameLocks noChangeAspect="1"/>
          </p:cNvGraphicFramePr>
          <p:nvPr/>
        </p:nvGraphicFramePr>
        <p:xfrm>
          <a:off x="4143372" y="5286412"/>
          <a:ext cx="2445934" cy="57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55" name="Equation" r:id="rId11" imgW="1028254" imgH="241195" progId="Equation.DSMT4">
                  <p:embed/>
                </p:oleObj>
              </mc:Choice>
              <mc:Fallback>
                <p:oleObj name="Equation" r:id="rId11" imgW="1028254" imgH="241195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72" y="5286412"/>
                        <a:ext cx="2445934" cy="57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7158" y="214290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指数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1214422"/>
            <a:ext cx="8229600" cy="922016"/>
          </a:xfrm>
        </p:spPr>
        <p:txBody>
          <a:bodyPr/>
          <a:lstStyle/>
          <a:p>
            <a:r>
              <a:rPr lang="zh-CN" altLang="en-US" b="1" dirty="0" smtClean="0"/>
              <a:t>定义</a:t>
            </a:r>
            <a:r>
              <a:rPr lang="en-US" b="1" dirty="0" smtClean="0"/>
              <a:t>4.3.5</a:t>
            </a:r>
            <a:r>
              <a:rPr lang="zh-CN" altLang="en-US" b="1" dirty="0" smtClean="0"/>
              <a:t>群</a:t>
            </a:r>
            <a:r>
              <a:rPr lang="en-US" b="1" dirty="0" smtClean="0"/>
              <a:t>G</a:t>
            </a:r>
            <a:r>
              <a:rPr lang="zh-CN" altLang="en-US" b="1" dirty="0" smtClean="0"/>
              <a:t>关于子群</a:t>
            </a:r>
            <a:r>
              <a:rPr lang="en-US" b="1" dirty="0" smtClean="0"/>
              <a:t>H</a:t>
            </a:r>
            <a:r>
              <a:rPr lang="zh-CN" altLang="en-US" b="1" dirty="0" smtClean="0"/>
              <a:t>的左陪集的个数称为</a:t>
            </a:r>
            <a:r>
              <a:rPr lang="en-US" b="1" dirty="0" smtClean="0"/>
              <a:t>H</a:t>
            </a:r>
            <a:r>
              <a:rPr lang="zh-CN" altLang="en-US" b="1" dirty="0" smtClean="0"/>
              <a:t>在</a:t>
            </a:r>
            <a:r>
              <a:rPr lang="en-US" b="1" dirty="0" smtClean="0"/>
              <a:t>G</a:t>
            </a:r>
            <a:r>
              <a:rPr lang="zh-CN" altLang="en-US" b="1" dirty="0" smtClean="0"/>
              <a:t>中的</a:t>
            </a:r>
            <a:r>
              <a:rPr lang="zh-CN" altLang="en-US" b="1" dirty="0" smtClean="0">
                <a:solidFill>
                  <a:srgbClr val="FF0000"/>
                </a:solidFill>
              </a:rPr>
              <a:t>指数</a:t>
            </a:r>
            <a:r>
              <a:rPr lang="zh-CN" altLang="en-US" b="1" dirty="0" smtClean="0"/>
              <a:t>，记为</a:t>
            </a:r>
            <a:r>
              <a:rPr lang="en-US" b="1" dirty="0" smtClean="0"/>
              <a:t>[G:H]</a:t>
            </a:r>
            <a:r>
              <a:rPr lang="zh-CN" altLang="en-US" b="1" dirty="0" smtClean="0"/>
              <a:t>。</a:t>
            </a:r>
            <a:endParaRPr lang="zh-CN" alt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85720" y="2000240"/>
            <a:ext cx="864399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推论</a:t>
            </a:r>
            <a:r>
              <a:rPr lang="en-US" sz="2800" b="1" dirty="0" smtClean="0"/>
              <a:t>4.3.1 </a:t>
            </a:r>
            <a:r>
              <a:rPr lang="zh-CN" altLang="en-US" sz="2800" b="1" dirty="0" smtClean="0"/>
              <a:t>（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拉格朗日定理</a:t>
            </a:r>
            <a:r>
              <a:rPr lang="zh-CN" altLang="en-US" sz="2800" b="1" dirty="0" smtClean="0"/>
              <a:t>）设群</a:t>
            </a:r>
            <a:r>
              <a:rPr lang="en-US" sz="2800" b="1" dirty="0" smtClean="0"/>
              <a:t>G</a:t>
            </a:r>
            <a:r>
              <a:rPr lang="zh-CN" altLang="en-US" sz="2800" b="1" dirty="0" smtClean="0"/>
              <a:t>是一个有限群，</a:t>
            </a:r>
            <a:r>
              <a:rPr lang="en-US" sz="2800" b="1" dirty="0" smtClean="0"/>
              <a:t>H</a:t>
            </a:r>
            <a:r>
              <a:rPr lang="zh-CN" altLang="en-US" sz="2800" b="1" dirty="0" smtClean="0"/>
              <a:t>是群</a:t>
            </a:r>
            <a:r>
              <a:rPr lang="en-US" sz="2800" b="1" dirty="0" smtClean="0"/>
              <a:t>G</a:t>
            </a:r>
            <a:r>
              <a:rPr lang="zh-CN" altLang="en-US" sz="2800" b="1" dirty="0" smtClean="0"/>
              <a:t>的一个子群，则</a:t>
            </a:r>
            <a:r>
              <a:rPr lang="en-US" sz="2800" b="1" dirty="0" smtClean="0"/>
              <a:t>H</a:t>
            </a:r>
            <a:r>
              <a:rPr lang="zh-CN" altLang="en-US" sz="2800" b="1" dirty="0" smtClean="0"/>
              <a:t>的阶</a:t>
            </a:r>
            <a:r>
              <a:rPr lang="en-US" sz="2800" b="1" dirty="0" smtClean="0"/>
              <a:t>|H|</a:t>
            </a:r>
            <a:r>
              <a:rPr lang="zh-CN" altLang="en-US" sz="2800" b="1" dirty="0" smtClean="0"/>
              <a:t>是群</a:t>
            </a:r>
            <a:r>
              <a:rPr lang="en-US" sz="2800" b="1" dirty="0" smtClean="0"/>
              <a:t>G</a:t>
            </a:r>
            <a:r>
              <a:rPr lang="zh-CN" altLang="en-US" sz="2800" b="1" dirty="0" smtClean="0"/>
              <a:t>的阶</a:t>
            </a:r>
            <a:r>
              <a:rPr lang="en-US" altLang="zh-CN" sz="2800" b="1" dirty="0" smtClean="0"/>
              <a:t>|G|</a:t>
            </a:r>
            <a:r>
              <a:rPr lang="en-US" sz="2800" b="1" dirty="0" smtClean="0"/>
              <a:t> </a:t>
            </a:r>
            <a:r>
              <a:rPr lang="zh-CN" altLang="en-US" sz="2800" b="1" dirty="0" smtClean="0"/>
              <a:t>的因子，而且</a:t>
            </a:r>
          </a:p>
          <a:p>
            <a:endParaRPr lang="zh-CN" altLang="en-US" sz="2800" b="1" dirty="0"/>
          </a:p>
        </p:txBody>
      </p:sp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6321" name="Object 1"/>
          <p:cNvGraphicFramePr>
            <a:graphicFrameLocks noChangeAspect="1"/>
          </p:cNvGraphicFramePr>
          <p:nvPr/>
        </p:nvGraphicFramePr>
        <p:xfrm>
          <a:off x="2571736" y="2857496"/>
          <a:ext cx="2751593" cy="714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44" name="Equation" r:id="rId3" imgW="990170" imgH="253890" progId="Equation.DSMT4">
                  <p:embed/>
                </p:oleObj>
              </mc:Choice>
              <mc:Fallback>
                <p:oleObj name="Equation" r:id="rId3" imgW="990170" imgH="25389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36" y="2857496"/>
                        <a:ext cx="2751593" cy="7143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28596" y="3615641"/>
            <a:ext cx="835824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证明：设</a:t>
            </a:r>
            <a:r>
              <a:rPr lang="en-US" altLang="zh-CN" sz="2800" b="1" dirty="0" smtClean="0"/>
              <a:t>|G|=n</a:t>
            </a:r>
            <a:r>
              <a:rPr lang="en-US" sz="2800" b="1" dirty="0" smtClean="0"/>
              <a:t> </a:t>
            </a:r>
            <a:r>
              <a:rPr lang="zh-CN" altLang="en-US" sz="2800" b="1" dirty="0" smtClean="0"/>
              <a:t>，</a:t>
            </a:r>
            <a:r>
              <a:rPr lang="en-US" sz="2800" b="1" dirty="0" smtClean="0"/>
              <a:t>|H|</a:t>
            </a:r>
            <a:r>
              <a:rPr lang="en-US" altLang="zh-CN" sz="2800" b="1" dirty="0" smtClean="0"/>
              <a:t>=m</a:t>
            </a:r>
            <a:r>
              <a:rPr lang="en-US" sz="2800" b="1" dirty="0" smtClean="0"/>
              <a:t> </a:t>
            </a:r>
            <a:r>
              <a:rPr lang="zh-CN" altLang="en-US" sz="2800" b="1" dirty="0" smtClean="0"/>
              <a:t>，</a:t>
            </a:r>
            <a:r>
              <a:rPr lang="en-US" sz="2800" b="1" dirty="0" smtClean="0"/>
              <a:t>[G:H]=t</a:t>
            </a:r>
            <a:r>
              <a:rPr lang="zh-CN" altLang="en-US" sz="2800" b="1" dirty="0" smtClean="0"/>
              <a:t>。由定理</a:t>
            </a:r>
            <a:r>
              <a:rPr lang="en-US" sz="2800" b="1" dirty="0" smtClean="0"/>
              <a:t>4.4.3</a:t>
            </a:r>
            <a:r>
              <a:rPr lang="zh-CN" altLang="en-US" sz="2800" b="1" dirty="0" smtClean="0"/>
              <a:t>可知，</a:t>
            </a:r>
            <a:r>
              <a:rPr lang="en-US" sz="2800" b="1" dirty="0" smtClean="0"/>
              <a:t>G</a:t>
            </a:r>
            <a:r>
              <a:rPr lang="zh-CN" altLang="en-US" sz="2800" b="1" dirty="0" smtClean="0"/>
              <a:t>可以表示成</a:t>
            </a:r>
            <a:r>
              <a:rPr lang="en-US" sz="2800" b="1" dirty="0" smtClean="0"/>
              <a:t>H</a:t>
            </a:r>
            <a:r>
              <a:rPr lang="zh-CN" altLang="en-US" sz="2800" b="1" dirty="0" smtClean="0"/>
              <a:t>的不相交的左陪集之并，即</a:t>
            </a:r>
            <a:endParaRPr lang="en-US" altLang="zh-CN" sz="2800" b="1" dirty="0" smtClean="0"/>
          </a:p>
          <a:p>
            <a:endParaRPr lang="en-US" altLang="zh-CN" sz="2800" b="1" dirty="0" smtClean="0"/>
          </a:p>
          <a:p>
            <a:endParaRPr lang="en-US" altLang="zh-CN" sz="2800" b="1" dirty="0" smtClean="0"/>
          </a:p>
          <a:p>
            <a:r>
              <a:rPr lang="zh-CN" altLang="en-US" sz="2800" b="1" dirty="0" smtClean="0"/>
              <a:t>又因为</a:t>
            </a:r>
            <a:r>
              <a:rPr lang="en-US" sz="2800" b="1" dirty="0" smtClean="0"/>
              <a:t>                        </a:t>
            </a:r>
            <a:r>
              <a:rPr lang="zh-CN" altLang="en-US" sz="2800" b="1" dirty="0" smtClean="0"/>
              <a:t>，所以有</a:t>
            </a:r>
            <a:r>
              <a:rPr lang="en-US" altLang="zh-CN" sz="2800" b="1" dirty="0" smtClean="0"/>
              <a:t>n=</a:t>
            </a:r>
            <a:r>
              <a:rPr lang="en-US" altLang="zh-CN" sz="2800" b="1" dirty="0" err="1" smtClean="0"/>
              <a:t>mt</a:t>
            </a:r>
            <a:r>
              <a:rPr lang="zh-CN" altLang="en-US" sz="2800" b="1" dirty="0" smtClean="0"/>
              <a:t>，即</a:t>
            </a:r>
            <a:endParaRPr lang="zh-CN" altLang="en-US" sz="2800" b="1" dirty="0"/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6323" name="Object 3"/>
          <p:cNvGraphicFramePr>
            <a:graphicFrameLocks noChangeAspect="1"/>
          </p:cNvGraphicFramePr>
          <p:nvPr/>
        </p:nvGraphicFramePr>
        <p:xfrm>
          <a:off x="2571736" y="4500570"/>
          <a:ext cx="3482473" cy="642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45" name="Equation" r:id="rId5" imgW="1231366" imgH="228501" progId="Equation.DSMT4">
                  <p:embed/>
                </p:oleObj>
              </mc:Choice>
              <mc:Fallback>
                <p:oleObj name="Equation" r:id="rId5" imgW="1231366" imgH="228501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36" y="4500570"/>
                        <a:ext cx="3482473" cy="6429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6325" name="Object 5"/>
          <p:cNvGraphicFramePr>
            <a:graphicFrameLocks noChangeAspect="1"/>
          </p:cNvGraphicFramePr>
          <p:nvPr/>
        </p:nvGraphicFramePr>
        <p:xfrm>
          <a:off x="1643042" y="5286412"/>
          <a:ext cx="2095427" cy="57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46" name="Equation" r:id="rId7" imgW="939392" imgH="253890" progId="Equation.DSMT4">
                  <p:embed/>
                </p:oleObj>
              </mc:Choice>
              <mc:Fallback>
                <p:oleObj name="Equation" r:id="rId7" imgW="939392" imgH="25389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42" y="5286412"/>
                        <a:ext cx="2095427" cy="57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7" name="Object 7"/>
          <p:cNvGraphicFramePr>
            <a:graphicFrameLocks noChangeAspect="1"/>
          </p:cNvGraphicFramePr>
          <p:nvPr/>
        </p:nvGraphicFramePr>
        <p:xfrm>
          <a:off x="3071802" y="5857892"/>
          <a:ext cx="2751138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47" name="Equation" r:id="rId9" imgW="990170" imgH="253890" progId="Equation.DSMT4">
                  <p:embed/>
                </p:oleObj>
              </mc:Choice>
              <mc:Fallback>
                <p:oleObj name="Equation" r:id="rId9" imgW="990170" imgH="25389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02" y="5857892"/>
                        <a:ext cx="2751138" cy="714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元素的阶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 smtClean="0"/>
              <a:t>例</a:t>
            </a:r>
            <a:r>
              <a:rPr lang="en-US" altLang="zh-CN" b="1" dirty="0" smtClean="0"/>
              <a:t>4.3.3 </a:t>
            </a:r>
            <a:r>
              <a:rPr lang="zh-CN" altLang="en-US" b="1" dirty="0"/>
              <a:t>设</a:t>
            </a:r>
            <a:r>
              <a:rPr lang="en-US" altLang="zh-CN" b="1" dirty="0"/>
              <a:t>G</a:t>
            </a:r>
            <a:r>
              <a:rPr lang="zh-CN" altLang="en-US" b="1" dirty="0"/>
              <a:t>是群，对于任意</a:t>
            </a:r>
            <a:r>
              <a:rPr lang="en-US" altLang="zh-CN" b="1" dirty="0"/>
              <a:t>             </a:t>
            </a:r>
            <a:r>
              <a:rPr lang="zh-CN" altLang="en-US" b="1" dirty="0"/>
              <a:t>，定义</a:t>
            </a:r>
            <a:r>
              <a:rPr lang="en-US" altLang="zh-CN" b="1" dirty="0"/>
              <a:t> </a:t>
            </a:r>
          </a:p>
          <a:p>
            <a:pPr>
              <a:buNone/>
            </a:pPr>
            <a:endParaRPr lang="en-US" altLang="zh-CN" b="1" dirty="0"/>
          </a:p>
          <a:p>
            <a:r>
              <a:rPr lang="zh-CN" altLang="en-US" b="1" dirty="0"/>
              <a:t>则</a:t>
            </a:r>
            <a:r>
              <a:rPr lang="en-US" altLang="zh-CN" b="1" dirty="0"/>
              <a:t>       </a:t>
            </a:r>
            <a:r>
              <a:rPr lang="zh-CN" altLang="en-US" b="1" dirty="0"/>
              <a:t>是</a:t>
            </a:r>
            <a:r>
              <a:rPr lang="en-US" altLang="zh-CN" b="1" dirty="0"/>
              <a:t>G</a:t>
            </a:r>
            <a:r>
              <a:rPr lang="zh-CN" altLang="en-US" b="1" dirty="0"/>
              <a:t>的子</a:t>
            </a:r>
            <a:r>
              <a:rPr lang="zh-CN" altLang="en-US" b="1" dirty="0" smtClean="0"/>
              <a:t>群，称为由</a:t>
            </a:r>
            <a:r>
              <a:rPr lang="en-US" altLang="zh-CN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b="1" dirty="0" smtClean="0"/>
              <a:t>生成的子群。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证明思路：根据群的定义逐条验证即可。</a:t>
            </a:r>
          </a:p>
          <a:p>
            <a:endParaRPr lang="zh-CN" altLang="en-US" dirty="0"/>
          </a:p>
        </p:txBody>
      </p:sp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750741"/>
              </p:ext>
            </p:extLst>
          </p:nvPr>
        </p:nvGraphicFramePr>
        <p:xfrm>
          <a:off x="4932040" y="1954454"/>
          <a:ext cx="902324" cy="428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70" name="Equation" r:id="rId3" imgW="380670" imgH="177646" progId="Equation.DSMT4">
                  <p:embed/>
                </p:oleObj>
              </mc:Choice>
              <mc:Fallback>
                <p:oleObj name="Equation" r:id="rId3" imgW="380670" imgH="1776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1954454"/>
                        <a:ext cx="902324" cy="428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1161023"/>
              </p:ext>
            </p:extLst>
          </p:nvPr>
        </p:nvGraphicFramePr>
        <p:xfrm>
          <a:off x="3074652" y="2383082"/>
          <a:ext cx="2500330" cy="642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71" name="Equation" r:id="rId5" imgW="1002865" imgH="253890" progId="Equation.DSMT4">
                  <p:embed/>
                </p:oleObj>
              </mc:Choice>
              <mc:Fallback>
                <p:oleObj name="Equation" r:id="rId5" imgW="1002865" imgH="2538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4652" y="2383082"/>
                        <a:ext cx="2500330" cy="6429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0796399"/>
              </p:ext>
            </p:extLst>
          </p:nvPr>
        </p:nvGraphicFramePr>
        <p:xfrm>
          <a:off x="1217264" y="2811710"/>
          <a:ext cx="571472" cy="617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72" name="Equation" r:id="rId7" imgW="241195" imgH="253890" progId="Equation.DSMT4">
                  <p:embed/>
                </p:oleObj>
              </mc:Choice>
              <mc:Fallback>
                <p:oleObj name="Equation" r:id="rId7" imgW="241195" imgH="2538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7264" y="2811710"/>
                        <a:ext cx="571472" cy="6171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53482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元素的阶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1350644"/>
          </a:xfrm>
        </p:spPr>
        <p:txBody>
          <a:bodyPr/>
          <a:lstStyle/>
          <a:p>
            <a:r>
              <a:rPr lang="zh-CN" altLang="en-US" b="1" dirty="0" smtClean="0"/>
              <a:t>群</a:t>
            </a:r>
            <a:r>
              <a:rPr lang="en-US" b="1" dirty="0" smtClean="0"/>
              <a:t>G</a:t>
            </a:r>
            <a:r>
              <a:rPr lang="zh-CN" altLang="en-US" b="1" dirty="0" smtClean="0"/>
              <a:t>中的任意一个元素</a:t>
            </a:r>
            <a:r>
              <a:rPr lang="en-US" b="1" dirty="0" smtClean="0"/>
              <a:t> 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b="1" dirty="0" smtClean="0"/>
              <a:t> </a:t>
            </a:r>
            <a:r>
              <a:rPr lang="zh-CN" altLang="en-US" b="1" dirty="0" smtClean="0"/>
              <a:t>的全体方幂构成的集合，对于群</a:t>
            </a:r>
            <a:r>
              <a:rPr lang="en-US" b="1" dirty="0" smtClean="0"/>
              <a:t>G</a:t>
            </a:r>
            <a:r>
              <a:rPr lang="zh-CN" altLang="en-US" b="1" dirty="0" smtClean="0"/>
              <a:t>中的乘法构成子群，这个子群</a:t>
            </a:r>
            <a:r>
              <a:rPr lang="zh-CN" altLang="en-US" b="1" dirty="0" smtClean="0">
                <a:solidFill>
                  <a:srgbClr val="FF0000"/>
                </a:solidFill>
              </a:rPr>
              <a:t>称为由</a:t>
            </a:r>
            <a:r>
              <a:rPr lang="en-US" altLang="zh-CN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b="1" dirty="0" smtClean="0">
                <a:solidFill>
                  <a:srgbClr val="FF0000"/>
                </a:solidFill>
              </a:rPr>
              <a:t>生成的子群，</a:t>
            </a:r>
            <a:r>
              <a:rPr lang="zh-CN" altLang="en-US" b="1" dirty="0" smtClean="0"/>
              <a:t>记为</a:t>
            </a:r>
            <a:endParaRPr lang="zh-CN" altLang="en-US" b="1" dirty="0"/>
          </a:p>
        </p:txBody>
      </p:sp>
      <p:sp>
        <p:nvSpPr>
          <p:cNvPr id="5734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7345" name="Object 1"/>
          <p:cNvGraphicFramePr>
            <a:graphicFrameLocks noChangeAspect="1"/>
          </p:cNvGraphicFramePr>
          <p:nvPr/>
        </p:nvGraphicFramePr>
        <p:xfrm>
          <a:off x="2285984" y="2714620"/>
          <a:ext cx="2222422" cy="57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76" name="Equation" r:id="rId3" imgW="1002865" imgH="253890" progId="Equation.DSMT4">
                  <p:embed/>
                </p:oleObj>
              </mc:Choice>
              <mc:Fallback>
                <p:oleObj name="Equation" r:id="rId3" imgW="1002865" imgH="25389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5984" y="2714620"/>
                        <a:ext cx="2222422" cy="57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4348" y="3357562"/>
            <a:ext cx="792961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定义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4.3.6 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对于群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当中的任一元素</a:t>
            </a:r>
            <a:r>
              <a:rPr lang="en-US" altLang="zh-CN" sz="2800" b="1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b="1" dirty="0" smtClean="0"/>
              <a:t> 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，若存在正整数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，使得</a:t>
            </a:r>
          </a:p>
          <a:p>
            <a:endParaRPr lang="zh-CN" alt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那么，称满足上式的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最小正整数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为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元素</a:t>
            </a:r>
            <a:r>
              <a:rPr lang="en-US" altLang="zh-CN" sz="28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的阶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，记为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。等价地，</a:t>
            </a:r>
            <a:r>
              <a:rPr lang="en-US" altLang="zh-CN" sz="2800" b="1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生成的子群的阶也为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。若不存在上述的正整数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，则称</a:t>
            </a:r>
            <a:r>
              <a:rPr lang="en-US" altLang="zh-CN" sz="2800" b="1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是无限阶元，记</a:t>
            </a:r>
            <a:endParaRPr lang="zh-CN" alt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7347" name="Object 3"/>
          <p:cNvGraphicFramePr>
            <a:graphicFrameLocks noChangeAspect="1"/>
          </p:cNvGraphicFramePr>
          <p:nvPr/>
        </p:nvGraphicFramePr>
        <p:xfrm>
          <a:off x="3000364" y="4071966"/>
          <a:ext cx="1047707" cy="500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77" name="Equation" r:id="rId5" imgW="418918" imgH="203112" progId="Equation.DSMT4">
                  <p:embed/>
                </p:oleObj>
              </mc:Choice>
              <mc:Fallback>
                <p:oleObj name="Equation" r:id="rId5" imgW="418918" imgH="203112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64" y="4071966"/>
                        <a:ext cx="1047707" cy="5000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7349" name="Object 5"/>
          <p:cNvGraphicFramePr>
            <a:graphicFrameLocks noChangeAspect="1"/>
          </p:cNvGraphicFramePr>
          <p:nvPr/>
        </p:nvGraphicFramePr>
        <p:xfrm>
          <a:off x="1571604" y="5143536"/>
          <a:ext cx="693930" cy="428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78" name="Equation" r:id="rId7" imgW="317225" imgH="203024" progId="Equation.DSMT4">
                  <p:embed/>
                </p:oleObj>
              </mc:Choice>
              <mc:Fallback>
                <p:oleObj name="Equation" r:id="rId7" imgW="317225" imgH="203024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04" y="5143536"/>
                        <a:ext cx="693930" cy="428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7351" name="Object 7"/>
          <p:cNvGraphicFramePr>
            <a:graphicFrameLocks noChangeAspect="1"/>
          </p:cNvGraphicFramePr>
          <p:nvPr/>
        </p:nvGraphicFramePr>
        <p:xfrm>
          <a:off x="928662" y="6072230"/>
          <a:ext cx="1204173" cy="428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79" name="Equation" r:id="rId9" imgW="571252" imgH="203112" progId="Equation.DSMT4">
                  <p:embed/>
                </p:oleObj>
              </mc:Choice>
              <mc:Fallback>
                <p:oleObj name="Equation" r:id="rId9" imgW="571252" imgH="203112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62" y="6072230"/>
                        <a:ext cx="1204173" cy="428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元素的阶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 </a:t>
            </a:r>
            <a:r>
              <a:rPr lang="en-US" altLang="zh-CN" dirty="0"/>
              <a:t>4.3.7 </a:t>
            </a:r>
            <a:r>
              <a:rPr lang="zh-CN" altLang="en-US" dirty="0" smtClean="0"/>
              <a:t>求        </a:t>
            </a:r>
            <a:r>
              <a:rPr lang="zh-CN" altLang="en-US" dirty="0"/>
              <a:t>中所有元素的阶。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473687"/>
              </p:ext>
            </p:extLst>
          </p:nvPr>
        </p:nvGraphicFramePr>
        <p:xfrm>
          <a:off x="2411760" y="1988840"/>
          <a:ext cx="4953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2" name="Formula" r:id="rId3" imgW="209880" imgH="169200" progId="Equation.Ribbit">
                  <p:embed/>
                </p:oleObj>
              </mc:Choice>
              <mc:Fallback>
                <p:oleObj name="Formula" r:id="rId3" imgW="209880" imgH="16920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11760" y="1988840"/>
                        <a:ext cx="49530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5865280"/>
              </p:ext>
            </p:extLst>
          </p:nvPr>
        </p:nvGraphicFramePr>
        <p:xfrm>
          <a:off x="1475656" y="2477282"/>
          <a:ext cx="5770782" cy="591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3" r:id="rId5" imgW="2387600" imgH="241300" progId="Equation.DSMT4">
                  <p:embed/>
                </p:oleObj>
              </mc:Choice>
              <mc:Fallback>
                <p:oleObj r:id="rId5" imgW="2387600" imgH="2413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2477282"/>
                        <a:ext cx="5770782" cy="5916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/>
          <p:cNvPicPr/>
          <p:nvPr/>
        </p:nvPicPr>
        <p:blipFill>
          <a:blip r:embed="rId7"/>
          <a:stretch>
            <a:fillRect/>
          </a:stretch>
        </p:blipFill>
        <p:spPr>
          <a:xfrm>
            <a:off x="35497" y="3861049"/>
            <a:ext cx="9073007" cy="999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640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034" y="928670"/>
            <a:ext cx="8229600" cy="1350644"/>
          </a:xfrm>
        </p:spPr>
        <p:txBody>
          <a:bodyPr/>
          <a:lstStyle/>
          <a:p>
            <a:r>
              <a:rPr lang="zh-CN" altLang="en-US" b="1" dirty="0" smtClean="0"/>
              <a:t>推论</a:t>
            </a:r>
            <a:r>
              <a:rPr lang="en-US" b="1" dirty="0" smtClean="0"/>
              <a:t>4.3.2 </a:t>
            </a:r>
            <a:r>
              <a:rPr lang="zh-CN" altLang="en-US" b="1" dirty="0" smtClean="0"/>
              <a:t>设</a:t>
            </a:r>
            <a:r>
              <a:rPr lang="en-US" b="1" dirty="0" smtClean="0"/>
              <a:t>G</a:t>
            </a:r>
            <a:r>
              <a:rPr lang="zh-CN" altLang="en-US" b="1" dirty="0" smtClean="0"/>
              <a:t>是一个有限群，则</a:t>
            </a:r>
            <a:r>
              <a:rPr lang="en-US" b="1" dirty="0" smtClean="0"/>
              <a:t>G</a:t>
            </a:r>
            <a:r>
              <a:rPr lang="zh-CN" altLang="en-US" b="1" dirty="0" smtClean="0"/>
              <a:t>中每一个元素的阶一定是</a:t>
            </a:r>
            <a:r>
              <a:rPr lang="en-US" altLang="zh-CN" b="1" dirty="0" smtClean="0"/>
              <a:t>|G|</a:t>
            </a:r>
            <a:r>
              <a:rPr lang="zh-CN" altLang="en-US" b="1" dirty="0" smtClean="0"/>
              <a:t>的因子。设</a:t>
            </a:r>
            <a:r>
              <a:rPr lang="en-US" b="1" dirty="0" smtClean="0"/>
              <a:t> </a:t>
            </a:r>
            <a:r>
              <a:rPr lang="en-US" altLang="zh-CN" b="1" dirty="0" smtClean="0"/>
              <a:t>|G|=n</a:t>
            </a:r>
            <a:r>
              <a:rPr lang="zh-CN" altLang="en-US" b="1" dirty="0" smtClean="0"/>
              <a:t>，对于</a:t>
            </a:r>
            <a:r>
              <a:rPr lang="en-US" b="1" dirty="0" smtClean="0"/>
              <a:t>G</a:t>
            </a:r>
            <a:r>
              <a:rPr lang="zh-CN" altLang="en-US" b="1" dirty="0" smtClean="0"/>
              <a:t>中的每一个元素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b="1" dirty="0" smtClean="0"/>
              <a:t>，有</a:t>
            </a:r>
          </a:p>
          <a:p>
            <a:endParaRPr lang="zh-CN" altLang="en-US" b="1" dirty="0"/>
          </a:p>
        </p:txBody>
      </p:sp>
      <p:sp>
        <p:nvSpPr>
          <p:cNvPr id="583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8369" name="Object 1"/>
          <p:cNvGraphicFramePr>
            <a:graphicFrameLocks noChangeAspect="1"/>
          </p:cNvGraphicFramePr>
          <p:nvPr/>
        </p:nvGraphicFramePr>
        <p:xfrm>
          <a:off x="3643306" y="2000240"/>
          <a:ext cx="1071538" cy="511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24" name="Equation" r:id="rId3" imgW="418918" imgH="203112" progId="Equation.DSMT4">
                  <p:embed/>
                </p:oleObj>
              </mc:Choice>
              <mc:Fallback>
                <p:oleObj name="Equation" r:id="rId3" imgW="418918" imgH="203112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3306" y="2000240"/>
                        <a:ext cx="1071538" cy="5114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4348" y="2786058"/>
            <a:ext cx="80010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推论</a:t>
            </a:r>
            <a:r>
              <a:rPr lang="en-US" sz="2800" b="1" dirty="0" smtClean="0"/>
              <a:t>4.3.3 </a:t>
            </a:r>
            <a:r>
              <a:rPr lang="zh-CN" altLang="en-US" sz="2800" b="1" dirty="0" smtClean="0"/>
              <a:t>（欧拉定理）设</a:t>
            </a:r>
            <a:r>
              <a:rPr lang="en-US" sz="2800" b="1" dirty="0" smtClean="0"/>
              <a:t>m</a:t>
            </a:r>
            <a:r>
              <a:rPr lang="zh-CN" altLang="en-US" sz="2800" b="1" dirty="0" smtClean="0"/>
              <a:t>是正整数，   </a:t>
            </a:r>
            <a:r>
              <a:rPr lang="en-US" sz="2800" b="1" dirty="0" smtClean="0"/>
              <a:t>    </a:t>
            </a:r>
            <a:r>
              <a:rPr lang="zh-CN" altLang="en-US" sz="2800" b="1" dirty="0" smtClean="0"/>
              <a:t>为</a:t>
            </a:r>
            <a:r>
              <a:rPr lang="en-US" sz="2800" b="1" dirty="0" smtClean="0"/>
              <a:t>m</a:t>
            </a:r>
            <a:r>
              <a:rPr lang="zh-CN" altLang="en-US" sz="2800" b="1" dirty="0" smtClean="0"/>
              <a:t>的欧拉函数，       </a:t>
            </a:r>
            <a:r>
              <a:rPr lang="en-US" sz="2800" b="1" dirty="0" smtClean="0"/>
              <a:t> </a:t>
            </a:r>
            <a:r>
              <a:rPr lang="zh-CN" altLang="en-US" sz="2800" b="1" dirty="0" smtClean="0"/>
              <a:t>，若                      </a:t>
            </a:r>
            <a:r>
              <a:rPr lang="en-US" sz="2800" b="1" dirty="0" smtClean="0"/>
              <a:t> </a:t>
            </a:r>
            <a:r>
              <a:rPr lang="zh-CN" altLang="en-US" sz="2800" b="1" dirty="0" smtClean="0"/>
              <a:t>，则</a:t>
            </a:r>
          </a:p>
          <a:p>
            <a:endParaRPr lang="en-US" altLang="zh-CN" sz="2800" b="1" dirty="0" smtClean="0"/>
          </a:p>
        </p:txBody>
      </p:sp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8371" name="Object 3"/>
          <p:cNvGraphicFramePr>
            <a:graphicFrameLocks noChangeAspect="1"/>
          </p:cNvGraphicFramePr>
          <p:nvPr/>
        </p:nvGraphicFramePr>
        <p:xfrm>
          <a:off x="6786578" y="2857520"/>
          <a:ext cx="755159" cy="428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25" name="Equation" r:id="rId5" imgW="355292" imgH="203024" progId="Equation.DSMT4">
                  <p:embed/>
                </p:oleObj>
              </mc:Choice>
              <mc:Fallback>
                <p:oleObj name="Equation" r:id="rId5" imgW="355292" imgH="203024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6578" y="2857520"/>
                        <a:ext cx="755159" cy="428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8373" name="Object 5"/>
          <p:cNvGraphicFramePr>
            <a:graphicFrameLocks noChangeAspect="1"/>
          </p:cNvGraphicFramePr>
          <p:nvPr/>
        </p:nvGraphicFramePr>
        <p:xfrm>
          <a:off x="2428860" y="3214686"/>
          <a:ext cx="910802" cy="520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26" name="Equation" r:id="rId7" imgW="419100" imgH="228600" progId="Equation.DSMT4">
                  <p:embed/>
                </p:oleObj>
              </mc:Choice>
              <mc:Fallback>
                <p:oleObj name="Equation" r:id="rId7" imgW="419100" imgH="2286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60" y="3214686"/>
                        <a:ext cx="910802" cy="5204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8375" name="Object 7"/>
          <p:cNvGraphicFramePr>
            <a:graphicFrameLocks noChangeAspect="1"/>
          </p:cNvGraphicFramePr>
          <p:nvPr/>
        </p:nvGraphicFramePr>
        <p:xfrm>
          <a:off x="4000496" y="3286148"/>
          <a:ext cx="2023980" cy="500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27" name="Equation" r:id="rId9" imgW="812447" imgH="203112" progId="Equation.DSMT4">
                  <p:embed/>
                </p:oleObj>
              </mc:Choice>
              <mc:Fallback>
                <p:oleObj name="Equation" r:id="rId9" imgW="812447" imgH="203112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496" y="3286148"/>
                        <a:ext cx="2023980" cy="5000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8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8377" name="Object 9"/>
          <p:cNvGraphicFramePr>
            <a:graphicFrameLocks noChangeAspect="1"/>
          </p:cNvGraphicFramePr>
          <p:nvPr/>
        </p:nvGraphicFramePr>
        <p:xfrm>
          <a:off x="2786050" y="3786190"/>
          <a:ext cx="2946708" cy="642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28" name="Equation" r:id="rId11" imgW="1040948" imgH="228501" progId="Equation.DSMT4">
                  <p:embed/>
                </p:oleObj>
              </mc:Choice>
              <mc:Fallback>
                <p:oleObj name="Equation" r:id="rId11" imgW="1040948" imgH="228501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6050" y="3786190"/>
                        <a:ext cx="2946708" cy="6429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>
          <a:xfrm>
            <a:off x="785786" y="4500570"/>
            <a:ext cx="807249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/>
              <a:t>证明：根据例</a:t>
            </a:r>
            <a:r>
              <a:rPr lang="en-US" sz="2800" b="1" dirty="0" smtClean="0"/>
              <a:t>4.2.2</a:t>
            </a:r>
            <a:r>
              <a:rPr lang="zh-CN" altLang="en-US" sz="2800" b="1" dirty="0" smtClean="0"/>
              <a:t>，       </a:t>
            </a:r>
            <a:r>
              <a:rPr lang="en-US" sz="2800" b="1" dirty="0" smtClean="0"/>
              <a:t> </a:t>
            </a:r>
            <a:r>
              <a:rPr lang="zh-CN" altLang="en-US" sz="2800" b="1" dirty="0" smtClean="0"/>
              <a:t>，               </a:t>
            </a:r>
            <a:r>
              <a:rPr lang="en-US" sz="2800" b="1" dirty="0" smtClean="0"/>
              <a:t> </a:t>
            </a:r>
            <a:r>
              <a:rPr lang="zh-CN" altLang="en-US" sz="2800" b="1" dirty="0" smtClean="0"/>
              <a:t>。根据推论</a:t>
            </a:r>
            <a:r>
              <a:rPr lang="en-US" sz="2800" b="1" dirty="0" smtClean="0"/>
              <a:t>4.3.2</a:t>
            </a:r>
            <a:r>
              <a:rPr lang="zh-CN" altLang="en-US" sz="2800" b="1" dirty="0" smtClean="0"/>
              <a:t>，有</a:t>
            </a:r>
            <a:r>
              <a:rPr lang="en-US" sz="2800" b="1" dirty="0" smtClean="0"/>
              <a:t> </a:t>
            </a:r>
            <a:endParaRPr lang="zh-CN" altLang="en-US" sz="2800" b="1" dirty="0"/>
          </a:p>
        </p:txBody>
      </p:sp>
      <p:sp>
        <p:nvSpPr>
          <p:cNvPr id="58380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8379" name="Object 11"/>
          <p:cNvGraphicFramePr>
            <a:graphicFrameLocks noChangeAspect="1"/>
          </p:cNvGraphicFramePr>
          <p:nvPr/>
        </p:nvGraphicFramePr>
        <p:xfrm>
          <a:off x="3857621" y="4500570"/>
          <a:ext cx="880116" cy="500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29" name="Equation" r:id="rId13" imgW="418918" imgH="241195" progId="Equation.DSMT4">
                  <p:embed/>
                </p:oleObj>
              </mc:Choice>
              <mc:Fallback>
                <p:oleObj name="Equation" r:id="rId13" imgW="418918" imgH="241195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7621" y="4500570"/>
                        <a:ext cx="880116" cy="5000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82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8381" name="Object 13"/>
          <p:cNvGraphicFramePr>
            <a:graphicFrameLocks noChangeAspect="1"/>
          </p:cNvGraphicFramePr>
          <p:nvPr/>
        </p:nvGraphicFramePr>
        <p:xfrm>
          <a:off x="5000628" y="4500594"/>
          <a:ext cx="1517378" cy="57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30" name="Equation" r:id="rId15" imgW="736600" imgH="279400" progId="Equation.DSMT4">
                  <p:embed/>
                </p:oleObj>
              </mc:Choice>
              <mc:Fallback>
                <p:oleObj name="Equation" r:id="rId15" imgW="736600" imgH="279400" progId="Equation.DSMT4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28" y="4500594"/>
                        <a:ext cx="1517378" cy="57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3" name="Object 15"/>
          <p:cNvGraphicFramePr>
            <a:graphicFrameLocks noChangeAspect="1"/>
          </p:cNvGraphicFramePr>
          <p:nvPr/>
        </p:nvGraphicFramePr>
        <p:xfrm>
          <a:off x="2714612" y="5500702"/>
          <a:ext cx="2946400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31" name="Equation" r:id="rId17" imgW="1040948" imgH="228501" progId="Equation.DSMT4">
                  <p:embed/>
                </p:oleObj>
              </mc:Choice>
              <mc:Fallback>
                <p:oleObj name="Equation" r:id="rId17" imgW="1040948" imgH="228501" progId="Equation.DSMT4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12" y="5500702"/>
                        <a:ext cx="2946400" cy="642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4.4 </a:t>
            </a:r>
            <a:r>
              <a:rPr lang="zh-CN" altLang="en-US" dirty="0" smtClean="0"/>
              <a:t>正规子群、商群和同态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917456"/>
          </a:xfrm>
        </p:spPr>
        <p:txBody>
          <a:bodyPr/>
          <a:lstStyle/>
          <a:p>
            <a:r>
              <a:rPr lang="zh-CN" altLang="zh-CN" b="1" dirty="0" smtClean="0"/>
              <a:t>定义</a:t>
            </a:r>
            <a:r>
              <a:rPr lang="en-US" altLang="zh-CN" b="1" dirty="0" smtClean="0"/>
              <a:t>4.4.1 </a:t>
            </a:r>
            <a:r>
              <a:rPr lang="zh-CN" altLang="zh-CN" b="1" dirty="0" smtClean="0"/>
              <a:t>若</a:t>
            </a:r>
            <a:r>
              <a:rPr lang="en-US" altLang="zh-CN" b="1" dirty="0" smtClean="0"/>
              <a:t>H</a:t>
            </a:r>
            <a:r>
              <a:rPr lang="zh-CN" altLang="zh-CN" b="1" dirty="0" smtClean="0"/>
              <a:t>是</a:t>
            </a:r>
            <a:r>
              <a:rPr lang="en-US" altLang="zh-CN" b="1" dirty="0" smtClean="0"/>
              <a:t>G</a:t>
            </a:r>
            <a:r>
              <a:rPr lang="zh-CN" altLang="zh-CN" b="1" dirty="0" smtClean="0"/>
              <a:t>的子群，且对于任意元素</a:t>
            </a:r>
            <a:r>
              <a:rPr lang="en-US" altLang="zh-CN" b="1" i="1" dirty="0" err="1" smtClean="0">
                <a:latin typeface="Times New Roman" pitchFamily="18" charset="0"/>
                <a:cs typeface="Times New Roman" pitchFamily="18" charset="0"/>
              </a:rPr>
              <a:t>a∈</a:t>
            </a:r>
            <a:r>
              <a:rPr lang="en-US" altLang="zh-CN" b="1" dirty="0" err="1" smtClean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zh-CN" altLang="zh-CN" b="1" dirty="0" smtClean="0"/>
              <a:t>，均有</a:t>
            </a:r>
            <a:r>
              <a:rPr lang="en-US" altLang="zh-CN" b="1" i="1" dirty="0" err="1" smtClean="0">
                <a:latin typeface="Times New Roman" pitchFamily="18" charset="0"/>
                <a:cs typeface="Times New Roman" pitchFamily="18" charset="0"/>
              </a:rPr>
              <a:t>aH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=Ha</a:t>
            </a:r>
            <a:r>
              <a:rPr lang="zh-CN" altLang="zh-CN" b="1" dirty="0" smtClean="0"/>
              <a:t>，则称</a:t>
            </a:r>
            <a:r>
              <a:rPr lang="en-US" altLang="zh-CN" b="1" dirty="0" smtClean="0"/>
              <a:t>H</a:t>
            </a:r>
            <a:r>
              <a:rPr lang="zh-CN" altLang="zh-CN" b="1" dirty="0" smtClean="0"/>
              <a:t>是</a:t>
            </a:r>
            <a:r>
              <a:rPr lang="en-US" altLang="zh-CN" b="1" dirty="0" smtClean="0"/>
              <a:t>G</a:t>
            </a:r>
            <a:r>
              <a:rPr lang="zh-CN" altLang="zh-CN" b="1" dirty="0" smtClean="0"/>
              <a:t>的</a:t>
            </a:r>
            <a:r>
              <a:rPr lang="zh-CN" altLang="zh-CN" b="1" dirty="0" smtClean="0">
                <a:solidFill>
                  <a:srgbClr val="FF0000"/>
                </a:solidFill>
              </a:rPr>
              <a:t>正规子群</a:t>
            </a:r>
            <a:r>
              <a:rPr lang="zh-CN" altLang="zh-CN" b="1" dirty="0" smtClean="0"/>
              <a:t>，记为</a:t>
            </a:r>
            <a:r>
              <a:rPr lang="en-US" altLang="zh-CN" b="1" dirty="0" smtClean="0"/>
              <a:t>  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zh-CN" altLang="zh-CN" b="1" dirty="0" smtClean="0"/>
              <a:t>。</a:t>
            </a:r>
          </a:p>
          <a:p>
            <a:endParaRPr lang="zh-CN" altLang="en-US" b="1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732240" y="2420888"/>
          <a:ext cx="896628" cy="358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78" name="Equation" r:id="rId3" imgW="444240" imgH="177480" progId="Equation.DSMT4">
                  <p:embed/>
                </p:oleObj>
              </mc:Choice>
              <mc:Fallback>
                <p:oleObj name="Equation" r:id="rId3" imgW="444240" imgH="1774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240" y="2420888"/>
                        <a:ext cx="896628" cy="3586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5576" y="2852936"/>
            <a:ext cx="76328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b="1" dirty="0" smtClean="0"/>
              <a:t>交换群的所有子群都是正规子群。</a:t>
            </a:r>
            <a:r>
              <a:rPr lang="zh-CN" altLang="en-US" sz="2800" b="1" dirty="0" smtClean="0"/>
              <a:t>例如：</a:t>
            </a:r>
            <a:r>
              <a:rPr lang="zh-CN" altLang="zh-CN" sz="2800" b="1" dirty="0" smtClean="0"/>
              <a:t>整数加法群</a:t>
            </a:r>
            <a:r>
              <a:rPr lang="en-US" altLang="zh-CN" sz="2800" b="1" dirty="0" smtClean="0"/>
              <a:t>Z</a:t>
            </a:r>
            <a:r>
              <a:rPr lang="zh-CN" altLang="zh-CN" sz="2800" b="1" dirty="0" smtClean="0"/>
              <a:t>是交换群，所以它的子群</a:t>
            </a:r>
            <a:r>
              <a:rPr lang="en-US" altLang="zh-CN" sz="2800" b="1" dirty="0" err="1" smtClean="0"/>
              <a:t>nZ</a:t>
            </a:r>
            <a:r>
              <a:rPr lang="zh-CN" altLang="zh-CN" sz="2800" b="1" dirty="0" smtClean="0"/>
              <a:t>是正规子群。</a:t>
            </a:r>
            <a:endParaRPr lang="zh-CN" altLang="en-US" sz="2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83568" y="4005064"/>
            <a:ext cx="82809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b="1" dirty="0" smtClean="0"/>
              <a:t>例</a:t>
            </a:r>
            <a:r>
              <a:rPr lang="en-US" altLang="zh-CN" sz="2800" b="1" dirty="0" smtClean="0"/>
              <a:t>4.4.1 </a:t>
            </a:r>
            <a:r>
              <a:rPr lang="zh-CN" altLang="zh-CN" sz="2800" b="1" dirty="0" smtClean="0"/>
              <a:t>设</a:t>
            </a:r>
            <a:r>
              <a:rPr lang="en-US" altLang="zh-CN" sz="2800" b="1" dirty="0" smtClean="0"/>
              <a:t>N</a:t>
            </a:r>
            <a:r>
              <a:rPr lang="zh-CN" altLang="zh-CN" sz="2800" b="1" dirty="0" smtClean="0"/>
              <a:t>是群</a:t>
            </a:r>
            <a:r>
              <a:rPr lang="en-US" altLang="zh-CN" sz="2800" b="1" dirty="0" smtClean="0"/>
              <a:t>G</a:t>
            </a:r>
            <a:r>
              <a:rPr lang="zh-CN" altLang="zh-CN" sz="2800" b="1" dirty="0" smtClean="0"/>
              <a:t>中所有满足下列条件的元素构成的集合：</a:t>
            </a:r>
          </a:p>
          <a:p>
            <a:endParaRPr lang="en-US" altLang="zh-CN" sz="2800" b="1" dirty="0" smtClean="0"/>
          </a:p>
          <a:p>
            <a:r>
              <a:rPr lang="zh-CN" altLang="zh-CN" sz="2800" b="1" dirty="0" smtClean="0"/>
              <a:t>那么</a:t>
            </a:r>
            <a:r>
              <a:rPr lang="en-US" altLang="zh-CN" sz="2800" b="1" dirty="0" smtClean="0"/>
              <a:t>N</a:t>
            </a:r>
            <a:r>
              <a:rPr lang="zh-CN" altLang="zh-CN" sz="2800" b="1" dirty="0" smtClean="0"/>
              <a:t>是</a:t>
            </a:r>
            <a:r>
              <a:rPr lang="en-US" altLang="zh-CN" sz="2800" b="1" dirty="0" smtClean="0"/>
              <a:t>G</a:t>
            </a:r>
            <a:r>
              <a:rPr lang="zh-CN" altLang="zh-CN" sz="2800" b="1" dirty="0" smtClean="0"/>
              <a:t>的</a:t>
            </a:r>
            <a:r>
              <a:rPr lang="zh-CN" altLang="zh-CN" sz="2800" b="1" dirty="0" smtClean="0">
                <a:solidFill>
                  <a:srgbClr val="FF0000"/>
                </a:solidFill>
              </a:rPr>
              <a:t>正规子群</a:t>
            </a:r>
            <a:r>
              <a:rPr lang="zh-CN" altLang="zh-CN" sz="2800" b="1" dirty="0" smtClean="0"/>
              <a:t>，这个正规子群称为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G</a:t>
            </a:r>
            <a:r>
              <a:rPr lang="zh-CN" altLang="zh-CN" sz="2800" b="1" dirty="0" smtClean="0">
                <a:solidFill>
                  <a:srgbClr val="FF0000"/>
                </a:solidFill>
              </a:rPr>
              <a:t>的中心</a:t>
            </a:r>
            <a:r>
              <a:rPr lang="zh-CN" altLang="zh-CN" sz="2800" b="1" dirty="0" smtClean="0"/>
              <a:t>。</a:t>
            </a:r>
            <a:endParaRPr lang="zh-CN" altLang="en-US" sz="2800" b="1" dirty="0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0419" name="Object 3"/>
          <p:cNvGraphicFramePr>
            <a:graphicFrameLocks noChangeAspect="1"/>
          </p:cNvGraphicFramePr>
          <p:nvPr/>
        </p:nvGraphicFramePr>
        <p:xfrm>
          <a:off x="3131840" y="4653136"/>
          <a:ext cx="2795655" cy="548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79" name="Equation" r:id="rId5" imgW="1016000" imgH="203200" progId="Equation.DSMT4">
                  <p:embed/>
                </p:oleObj>
              </mc:Choice>
              <mc:Fallback>
                <p:oleObj name="Equation" r:id="rId5" imgW="1016000" imgH="2032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4653136"/>
                        <a:ext cx="2795655" cy="5486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1560" y="5805264"/>
            <a:ext cx="79208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证明思路：严格按照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子群和正规子群的定义</a:t>
            </a:r>
            <a:r>
              <a:rPr lang="zh-CN" altLang="en-US" sz="2800" b="1" dirty="0" smtClean="0"/>
              <a:t>进行验证。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正规子群的等价定义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35480"/>
            <a:ext cx="8579296" cy="4389120"/>
          </a:xfrm>
        </p:spPr>
        <p:txBody>
          <a:bodyPr/>
          <a:lstStyle/>
          <a:p>
            <a:r>
              <a:rPr lang="zh-CN" altLang="zh-CN" b="1" dirty="0" smtClean="0"/>
              <a:t>定理</a:t>
            </a:r>
            <a:r>
              <a:rPr lang="en-US" altLang="zh-CN" b="1" dirty="0" smtClean="0"/>
              <a:t>4.4.1</a:t>
            </a:r>
            <a:r>
              <a:rPr lang="zh-CN" altLang="zh-CN" b="1" dirty="0" smtClean="0"/>
              <a:t>：设</a:t>
            </a:r>
            <a:r>
              <a:rPr lang="en-US" altLang="zh-CN" b="1" dirty="0" smtClean="0"/>
              <a:t>H</a:t>
            </a:r>
            <a:r>
              <a:rPr lang="zh-CN" altLang="zh-CN" b="1" dirty="0" smtClean="0"/>
              <a:t>是</a:t>
            </a:r>
            <a:r>
              <a:rPr lang="en-US" altLang="zh-CN" b="1" dirty="0" smtClean="0"/>
              <a:t>G</a:t>
            </a:r>
            <a:r>
              <a:rPr lang="zh-CN" altLang="zh-CN" b="1" dirty="0" smtClean="0"/>
              <a:t>的子群，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b="1" i="1" dirty="0" err="1" smtClean="0">
                <a:latin typeface="Times New Roman" pitchFamily="18" charset="0"/>
                <a:cs typeface="Times New Roman" pitchFamily="18" charset="0"/>
              </a:rPr>
              <a:t>a∈</a:t>
            </a:r>
            <a:r>
              <a:rPr lang="en-US" altLang="zh-CN" b="1" dirty="0" err="1" smtClean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zh-CN" altLang="zh-CN" b="1" dirty="0" smtClean="0"/>
              <a:t>。令</a:t>
            </a:r>
            <a:r>
              <a:rPr lang="en-US" altLang="zh-CN" b="1" dirty="0" smtClean="0"/>
              <a:t>                              </a:t>
            </a:r>
            <a:r>
              <a:rPr lang="zh-CN" altLang="zh-CN" b="1" dirty="0" smtClean="0"/>
              <a:t>，则下列条件等价：</a:t>
            </a:r>
          </a:p>
          <a:p>
            <a:pPr marL="850392" lvl="1" indent="-457200">
              <a:buFont typeface="+mj-ea"/>
              <a:buAutoNum type="circleNumDbPlain"/>
            </a:pPr>
            <a:r>
              <a:rPr lang="en-US" altLang="zh-CN" b="1" dirty="0" smtClean="0"/>
              <a:t>H</a:t>
            </a:r>
            <a:r>
              <a:rPr lang="zh-CN" altLang="zh-CN" b="1" dirty="0" smtClean="0"/>
              <a:t>是</a:t>
            </a:r>
            <a:r>
              <a:rPr lang="en-US" altLang="zh-CN" b="1" dirty="0" smtClean="0"/>
              <a:t>G</a:t>
            </a:r>
            <a:r>
              <a:rPr lang="zh-CN" altLang="zh-CN" b="1" dirty="0" smtClean="0"/>
              <a:t>的正规子群；</a:t>
            </a:r>
          </a:p>
          <a:p>
            <a:pPr marL="850392" lvl="1" indent="-457200">
              <a:buFont typeface="+mj-ea"/>
              <a:buAutoNum type="circleNumDbPlain"/>
            </a:pPr>
            <a:r>
              <a:rPr lang="en-US" altLang="zh-CN" b="1" dirty="0" smtClean="0"/>
              <a:t>                  </a:t>
            </a:r>
            <a:r>
              <a:rPr lang="zh-CN" altLang="zh-CN" b="1" dirty="0" smtClean="0"/>
              <a:t>，</a:t>
            </a:r>
            <a:r>
              <a:rPr lang="en-US" altLang="zh-CN" b="1" dirty="0" smtClean="0"/>
              <a:t>                </a:t>
            </a:r>
            <a:r>
              <a:rPr lang="zh-CN" altLang="zh-CN" b="1" dirty="0" smtClean="0"/>
              <a:t>，有</a:t>
            </a:r>
            <a:r>
              <a:rPr lang="en-US" altLang="zh-CN" b="1" dirty="0" smtClean="0"/>
              <a:t>                   </a:t>
            </a:r>
            <a:r>
              <a:rPr lang="zh-CN" altLang="zh-CN" b="1" dirty="0" smtClean="0"/>
              <a:t>；</a:t>
            </a:r>
          </a:p>
          <a:p>
            <a:pPr marL="850392" lvl="1" indent="-457200">
              <a:buFont typeface="+mj-ea"/>
              <a:buAutoNum type="circleNumDbPlain"/>
            </a:pPr>
            <a:r>
              <a:rPr lang="en-US" altLang="zh-CN" b="1" dirty="0" smtClean="0"/>
              <a:t>                  </a:t>
            </a:r>
            <a:r>
              <a:rPr lang="zh-CN" altLang="zh-CN" b="1" dirty="0" smtClean="0"/>
              <a:t>，</a:t>
            </a:r>
            <a:r>
              <a:rPr lang="en-US" altLang="zh-CN" b="1" dirty="0" smtClean="0"/>
              <a:t>                    </a:t>
            </a:r>
            <a:r>
              <a:rPr lang="zh-CN" altLang="zh-CN" b="1" dirty="0" smtClean="0"/>
              <a:t>；</a:t>
            </a:r>
          </a:p>
          <a:p>
            <a:pPr marL="850392" lvl="1" indent="-457200">
              <a:buFont typeface="+mj-ea"/>
              <a:buAutoNum type="circleNumDbPlain"/>
            </a:pPr>
            <a:r>
              <a:rPr lang="en-US" altLang="zh-CN" b="1" dirty="0" smtClean="0"/>
              <a:t>                  </a:t>
            </a:r>
            <a:r>
              <a:rPr lang="zh-CN" altLang="zh-CN" b="1" dirty="0" smtClean="0"/>
              <a:t>，</a:t>
            </a:r>
            <a:r>
              <a:rPr lang="en-US" altLang="zh-CN" b="1" dirty="0" smtClean="0"/>
              <a:t>                    </a:t>
            </a:r>
            <a:r>
              <a:rPr lang="zh-CN" altLang="zh-CN" b="1" dirty="0" smtClean="0"/>
              <a:t>。</a:t>
            </a:r>
            <a:endParaRPr lang="zh-CN" altLang="en-US" b="1" dirty="0"/>
          </a:p>
        </p:txBody>
      </p:sp>
      <p:sp>
        <p:nvSpPr>
          <p:cNvPr id="6144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1441" name="Object 1"/>
          <p:cNvGraphicFramePr>
            <a:graphicFrameLocks noChangeAspect="1"/>
          </p:cNvGraphicFramePr>
          <p:nvPr/>
        </p:nvGraphicFramePr>
        <p:xfrm>
          <a:off x="6444208" y="1988840"/>
          <a:ext cx="2579733" cy="404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79" name="Equation" r:id="rId3" imgW="1460500" imgH="228600" progId="Equation.DSMT4">
                  <p:embed/>
                </p:oleObj>
              </mc:Choice>
              <mc:Fallback>
                <p:oleObj name="Equation" r:id="rId3" imgW="1460500" imgH="2286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4208" y="1988840"/>
                        <a:ext cx="2579733" cy="4046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1443" name="Object 3"/>
          <p:cNvGraphicFramePr>
            <a:graphicFrameLocks noChangeAspect="1"/>
          </p:cNvGraphicFramePr>
          <p:nvPr/>
        </p:nvGraphicFramePr>
        <p:xfrm>
          <a:off x="1403648" y="3284984"/>
          <a:ext cx="1049261" cy="390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80" name="Equation" r:id="rId5" imgW="482181" imgH="177646" progId="Equation.DSMT4">
                  <p:embed/>
                </p:oleObj>
              </mc:Choice>
              <mc:Fallback>
                <p:oleObj name="Equation" r:id="rId5" imgW="482181" imgH="177646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3284984"/>
                        <a:ext cx="1049261" cy="3909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1445" name="Object 5"/>
          <p:cNvGraphicFramePr>
            <a:graphicFrameLocks noChangeAspect="1"/>
          </p:cNvGraphicFramePr>
          <p:nvPr/>
        </p:nvGraphicFramePr>
        <p:xfrm>
          <a:off x="3059832" y="3254123"/>
          <a:ext cx="864097" cy="390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81" name="Equation" r:id="rId7" imgW="405872" imgH="177569" progId="Equation.DSMT4">
                  <p:embed/>
                </p:oleObj>
              </mc:Choice>
              <mc:Fallback>
                <p:oleObj name="Equation" r:id="rId7" imgW="405872" imgH="177569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3254123"/>
                        <a:ext cx="864097" cy="3909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1447" name="Object 7"/>
          <p:cNvGraphicFramePr>
            <a:graphicFrameLocks noChangeAspect="1"/>
          </p:cNvGraphicFramePr>
          <p:nvPr/>
        </p:nvGraphicFramePr>
        <p:xfrm>
          <a:off x="4860032" y="3212976"/>
          <a:ext cx="1419586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82" name="Equation" r:id="rId9" imgW="660113" imgH="203112" progId="Equation.DSMT4">
                  <p:embed/>
                </p:oleObj>
              </mc:Choice>
              <mc:Fallback>
                <p:oleObj name="Equation" r:id="rId9" imgW="660113" imgH="203112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032" y="3212976"/>
                        <a:ext cx="1419586" cy="4320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1449" name="Object 9"/>
          <p:cNvGraphicFramePr>
            <a:graphicFrameLocks noChangeAspect="1"/>
          </p:cNvGraphicFramePr>
          <p:nvPr/>
        </p:nvGraphicFramePr>
        <p:xfrm>
          <a:off x="2915816" y="3645024"/>
          <a:ext cx="1584175" cy="473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83" name="Equation" r:id="rId11" imgW="736280" imgH="215806" progId="Equation.DSMT4">
                  <p:embed/>
                </p:oleObj>
              </mc:Choice>
              <mc:Fallback>
                <p:oleObj name="Equation" r:id="rId11" imgW="736280" imgH="215806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3645024"/>
                        <a:ext cx="1584175" cy="4731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2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1451" name="Object 11"/>
          <p:cNvGraphicFramePr>
            <a:graphicFrameLocks noChangeAspect="1"/>
          </p:cNvGraphicFramePr>
          <p:nvPr/>
        </p:nvGraphicFramePr>
        <p:xfrm>
          <a:off x="2956963" y="4149080"/>
          <a:ext cx="1543029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84" name="Equation" r:id="rId13" imgW="710891" imgH="203112" progId="Equation.DSMT4">
                  <p:embed/>
                </p:oleObj>
              </mc:Choice>
              <mc:Fallback>
                <p:oleObj name="Equation" r:id="rId13" imgW="710891" imgH="203112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6963" y="4149080"/>
                        <a:ext cx="1543029" cy="4320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3" name="Object 13"/>
          <p:cNvGraphicFramePr>
            <a:graphicFrameLocks noChangeAspect="1"/>
          </p:cNvGraphicFramePr>
          <p:nvPr/>
        </p:nvGraphicFramePr>
        <p:xfrm>
          <a:off x="1403648" y="4149080"/>
          <a:ext cx="1049261" cy="390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85" name="Equation" r:id="rId15" imgW="482181" imgH="177646" progId="Equation.DSMT4">
                  <p:embed/>
                </p:oleObj>
              </mc:Choice>
              <mc:Fallback>
                <p:oleObj name="Equation" r:id="rId15" imgW="482181" imgH="177646" progId="Equation.DSMT4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4149080"/>
                        <a:ext cx="1049261" cy="3909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4" name="Object 14"/>
          <p:cNvGraphicFramePr>
            <a:graphicFrameLocks noChangeAspect="1"/>
          </p:cNvGraphicFramePr>
          <p:nvPr/>
        </p:nvGraphicFramePr>
        <p:xfrm>
          <a:off x="1403648" y="3717032"/>
          <a:ext cx="1049261" cy="390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86" name="Equation" r:id="rId16" imgW="482181" imgH="177646" progId="Equation.DSMT4">
                  <p:embed/>
                </p:oleObj>
              </mc:Choice>
              <mc:Fallback>
                <p:oleObj name="Equation" r:id="rId16" imgW="482181" imgH="177646" progId="Equation.DSMT4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3717032"/>
                        <a:ext cx="1049261" cy="3909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定理</a:t>
            </a:r>
            <a:r>
              <a:rPr lang="en-US" altLang="zh-CN" dirty="0" smtClean="0"/>
              <a:t>4.4.1</a:t>
            </a:r>
            <a:r>
              <a:rPr lang="zh-CN" altLang="en-US" dirty="0" smtClean="0"/>
              <a:t>的证明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b="1" dirty="0" smtClean="0"/>
              <a:t>证明：</a:t>
            </a:r>
            <a:endParaRPr lang="en-US" altLang="zh-CN" b="1" dirty="0" smtClean="0"/>
          </a:p>
          <a:p>
            <a:r>
              <a:rPr lang="en-US" altLang="zh-CN" b="1" dirty="0" smtClean="0"/>
              <a:t>               </a:t>
            </a:r>
            <a:r>
              <a:rPr lang="zh-CN" altLang="zh-CN" b="1" dirty="0" smtClean="0"/>
              <a:t>：</a:t>
            </a:r>
            <a:r>
              <a:rPr lang="en-US" altLang="zh-CN" b="1" dirty="0" smtClean="0"/>
              <a:t>H</a:t>
            </a:r>
            <a:r>
              <a:rPr lang="zh-CN" altLang="zh-CN" b="1" dirty="0" smtClean="0"/>
              <a:t>是</a:t>
            </a:r>
            <a:r>
              <a:rPr lang="en-US" altLang="zh-CN" b="1" dirty="0" smtClean="0"/>
              <a:t>G</a:t>
            </a:r>
            <a:r>
              <a:rPr lang="zh-CN" altLang="zh-CN" b="1" dirty="0" smtClean="0"/>
              <a:t>的正规子群，所以</a:t>
            </a:r>
            <a:r>
              <a:rPr lang="en-US" altLang="zh-CN" b="1" dirty="0" smtClean="0"/>
              <a:t>           </a:t>
            </a:r>
            <a:r>
              <a:rPr lang="zh-CN" altLang="zh-CN" b="1" dirty="0" smtClean="0"/>
              <a:t>，有</a:t>
            </a:r>
            <a:r>
              <a:rPr lang="en-US" altLang="zh-CN" b="1" i="1" dirty="0" err="1" smtClean="0">
                <a:latin typeface="Times New Roman" pitchFamily="18" charset="0"/>
                <a:cs typeface="Times New Roman" pitchFamily="18" charset="0"/>
              </a:rPr>
              <a:t>aH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=Ha </a:t>
            </a:r>
            <a:r>
              <a:rPr lang="zh-CN" altLang="zh-CN" b="1" dirty="0" smtClean="0"/>
              <a:t>。故</a:t>
            </a:r>
            <a:r>
              <a:rPr lang="en-US" altLang="zh-CN" b="1" dirty="0" smtClean="0"/>
              <a:t>           </a:t>
            </a:r>
            <a:r>
              <a:rPr lang="zh-CN" altLang="zh-CN" b="1" dirty="0" smtClean="0"/>
              <a:t>，</a:t>
            </a:r>
            <a:r>
              <a:rPr lang="en-US" altLang="zh-CN" b="1" dirty="0" smtClean="0"/>
              <a:t>                  </a:t>
            </a:r>
            <a:r>
              <a:rPr lang="zh-CN" altLang="en-US" b="1" dirty="0" smtClean="0"/>
              <a:t>，</a:t>
            </a:r>
            <a:r>
              <a:rPr lang="zh-CN" altLang="zh-CN" b="1" dirty="0" smtClean="0"/>
              <a:t>从而存在</a:t>
            </a:r>
            <a:r>
              <a:rPr lang="en-US" altLang="zh-CN" b="1" dirty="0" smtClean="0"/>
              <a:t>          </a:t>
            </a:r>
            <a:r>
              <a:rPr lang="zh-CN" altLang="zh-CN" b="1" dirty="0" smtClean="0"/>
              <a:t>使得</a:t>
            </a:r>
            <a:r>
              <a:rPr lang="en-US" altLang="zh-CN" b="1" dirty="0" smtClean="0"/>
              <a:t>                 </a:t>
            </a:r>
            <a:r>
              <a:rPr lang="zh-CN" altLang="zh-CN" b="1" dirty="0" smtClean="0"/>
              <a:t>，即</a:t>
            </a:r>
            <a:r>
              <a:rPr lang="en-US" altLang="zh-CN" b="1" dirty="0" smtClean="0"/>
              <a:t>                         </a:t>
            </a:r>
            <a:r>
              <a:rPr lang="zh-CN" altLang="zh-CN" b="1" dirty="0" smtClean="0"/>
              <a:t>。</a:t>
            </a:r>
          </a:p>
          <a:p>
            <a:r>
              <a:rPr lang="zh-CN" altLang="zh-CN" b="1" dirty="0" smtClean="0"/>
              <a:t>（</a:t>
            </a:r>
            <a:r>
              <a:rPr lang="en-US" altLang="zh-CN" b="1" dirty="0" smtClean="0"/>
              <a:t>2</a:t>
            </a:r>
            <a:r>
              <a:rPr lang="zh-CN" altLang="zh-CN" b="1" dirty="0" smtClean="0"/>
              <a:t>）</a:t>
            </a:r>
            <a:r>
              <a:rPr lang="en-US" altLang="zh-CN" b="1" dirty="0" smtClean="0"/>
              <a:t>=&gt;</a:t>
            </a:r>
            <a:r>
              <a:rPr lang="zh-CN" altLang="zh-CN" b="1" dirty="0" smtClean="0"/>
              <a:t>（</a:t>
            </a:r>
            <a:r>
              <a:rPr lang="en-US" altLang="zh-CN" b="1" dirty="0" smtClean="0"/>
              <a:t>3</a:t>
            </a:r>
            <a:r>
              <a:rPr lang="zh-CN" altLang="zh-CN" b="1" dirty="0" smtClean="0"/>
              <a:t>）：显然。</a:t>
            </a:r>
          </a:p>
          <a:p>
            <a:r>
              <a:rPr lang="zh-CN" altLang="zh-CN" b="1" dirty="0" smtClean="0"/>
              <a:t>（</a:t>
            </a:r>
            <a:r>
              <a:rPr lang="en-US" altLang="zh-CN" b="1" dirty="0" smtClean="0"/>
              <a:t>3</a:t>
            </a:r>
            <a:r>
              <a:rPr lang="zh-CN" altLang="zh-CN" b="1" dirty="0" smtClean="0"/>
              <a:t>）</a:t>
            </a:r>
            <a:r>
              <a:rPr lang="en-US" altLang="zh-CN" b="1" dirty="0" smtClean="0"/>
              <a:t> =&gt; </a:t>
            </a:r>
            <a:r>
              <a:rPr lang="zh-CN" altLang="zh-CN" b="1" dirty="0" smtClean="0"/>
              <a:t>（</a:t>
            </a:r>
            <a:r>
              <a:rPr lang="en-US" altLang="zh-CN" b="1" dirty="0" smtClean="0"/>
              <a:t>4</a:t>
            </a:r>
            <a:r>
              <a:rPr lang="zh-CN" altLang="zh-CN" b="1" dirty="0" smtClean="0"/>
              <a:t>）</a:t>
            </a:r>
            <a:r>
              <a:rPr lang="en-US" altLang="zh-CN" b="1" dirty="0" smtClean="0"/>
              <a:t>  </a:t>
            </a:r>
            <a:r>
              <a:rPr lang="zh-CN" altLang="zh-CN" b="1" dirty="0" smtClean="0"/>
              <a:t>：</a:t>
            </a:r>
            <a:r>
              <a:rPr lang="en-US" altLang="zh-CN" b="1" dirty="0" smtClean="0"/>
              <a:t>        </a:t>
            </a:r>
            <a:r>
              <a:rPr lang="zh-CN" altLang="zh-CN" b="1" dirty="0" smtClean="0"/>
              <a:t>，有</a:t>
            </a:r>
            <a:r>
              <a:rPr lang="en-US" altLang="zh-CN" b="1" dirty="0" smtClean="0"/>
              <a:t>                </a:t>
            </a:r>
            <a:r>
              <a:rPr lang="zh-CN" altLang="zh-CN" b="1" dirty="0" smtClean="0"/>
              <a:t>。同样</a:t>
            </a:r>
            <a:r>
              <a:rPr lang="en-US" altLang="zh-CN" b="1" dirty="0" smtClean="0"/>
              <a:t>            </a:t>
            </a:r>
            <a:r>
              <a:rPr lang="zh-CN" altLang="zh-CN" b="1" dirty="0" smtClean="0"/>
              <a:t>，也有</a:t>
            </a:r>
            <a:r>
              <a:rPr lang="en-US" altLang="zh-CN" b="1" dirty="0" smtClean="0"/>
              <a:t>                       </a:t>
            </a:r>
            <a:r>
              <a:rPr lang="zh-CN" altLang="zh-CN" b="1" dirty="0" smtClean="0"/>
              <a:t>，即</a:t>
            </a:r>
            <a:r>
              <a:rPr lang="en-US" altLang="zh-CN" b="1" dirty="0" smtClean="0"/>
              <a:t>                  </a:t>
            </a:r>
            <a:r>
              <a:rPr lang="zh-CN" altLang="zh-CN" b="1" dirty="0" smtClean="0"/>
              <a:t>，从而</a:t>
            </a:r>
            <a:r>
              <a:rPr lang="zh-CN" altLang="en-US" b="1" dirty="0" smtClean="0"/>
              <a:t>对于任意        存在           ，使得                 ，即                。所以有               </a:t>
            </a:r>
            <a:r>
              <a:rPr lang="zh-CN" altLang="zh-CN" b="1" dirty="0" smtClean="0"/>
              <a:t>。</a:t>
            </a:r>
            <a:r>
              <a:rPr lang="zh-CN" altLang="en-US" b="1" dirty="0" smtClean="0"/>
              <a:t>综上所述，                  。</a:t>
            </a:r>
            <a:endParaRPr lang="zh-CN" altLang="zh-CN" b="1" dirty="0" smtClean="0"/>
          </a:p>
          <a:p>
            <a:r>
              <a:rPr lang="zh-CN" altLang="zh-CN" b="1" dirty="0" smtClean="0"/>
              <a:t>（</a:t>
            </a:r>
            <a:r>
              <a:rPr lang="en-US" altLang="zh-CN" b="1" dirty="0" smtClean="0"/>
              <a:t>4</a:t>
            </a:r>
            <a:r>
              <a:rPr lang="zh-CN" altLang="zh-CN" b="1" dirty="0" smtClean="0"/>
              <a:t>）</a:t>
            </a:r>
            <a:r>
              <a:rPr lang="en-US" altLang="zh-CN" b="1" dirty="0" smtClean="0"/>
              <a:t> =&gt; </a:t>
            </a:r>
            <a:r>
              <a:rPr lang="zh-CN" altLang="zh-CN" b="1" dirty="0" smtClean="0"/>
              <a:t>（</a:t>
            </a:r>
            <a:r>
              <a:rPr lang="en-US" altLang="zh-CN" b="1" dirty="0" smtClean="0"/>
              <a:t>1</a:t>
            </a:r>
            <a:r>
              <a:rPr lang="zh-CN" altLang="zh-CN" b="1" dirty="0" smtClean="0"/>
              <a:t>）：</a:t>
            </a:r>
            <a:r>
              <a:rPr lang="en-US" altLang="zh-CN" b="1" dirty="0" smtClean="0"/>
              <a:t>                             </a:t>
            </a:r>
            <a:r>
              <a:rPr lang="zh-CN" altLang="zh-CN" b="1" dirty="0" smtClean="0"/>
              <a:t>。</a:t>
            </a:r>
            <a:endParaRPr lang="zh-CN" altLang="en-US" b="1" dirty="0"/>
          </a:p>
        </p:txBody>
      </p:sp>
      <p:sp>
        <p:nvSpPr>
          <p:cNvPr id="6246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2465" name="Object 1"/>
          <p:cNvGraphicFramePr>
            <a:graphicFrameLocks noChangeAspect="1"/>
          </p:cNvGraphicFramePr>
          <p:nvPr/>
        </p:nvGraphicFramePr>
        <p:xfrm>
          <a:off x="899592" y="2492896"/>
          <a:ext cx="1120464" cy="379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49" name="Equation" r:id="rId3" imgW="596641" imgH="203112" progId="Equation.DSMT4">
                  <p:embed/>
                </p:oleObj>
              </mc:Choice>
              <mc:Fallback>
                <p:oleObj name="Equation" r:id="rId3" imgW="596641" imgH="203112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2492896"/>
                        <a:ext cx="1120464" cy="379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2467" name="Object 3"/>
          <p:cNvGraphicFramePr>
            <a:graphicFrameLocks noChangeAspect="1"/>
          </p:cNvGraphicFramePr>
          <p:nvPr/>
        </p:nvGraphicFramePr>
        <p:xfrm>
          <a:off x="5868144" y="2492896"/>
          <a:ext cx="892919" cy="332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50" name="Equation" r:id="rId5" imgW="482181" imgH="177646" progId="Equation.DSMT4">
                  <p:embed/>
                </p:oleObj>
              </mc:Choice>
              <mc:Fallback>
                <p:oleObj name="Equation" r:id="rId5" imgW="482181" imgH="177646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4" y="2492896"/>
                        <a:ext cx="892919" cy="3326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2469" name="Object 5"/>
          <p:cNvGraphicFramePr>
            <a:graphicFrameLocks noChangeAspect="1"/>
          </p:cNvGraphicFramePr>
          <p:nvPr/>
        </p:nvGraphicFramePr>
        <p:xfrm>
          <a:off x="1187624" y="2880320"/>
          <a:ext cx="945443" cy="332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51" name="Equation" r:id="rId7" imgW="507780" imgH="177723" progId="Equation.DSMT4">
                  <p:embed/>
                </p:oleObj>
              </mc:Choice>
              <mc:Fallback>
                <p:oleObj name="Equation" r:id="rId7" imgW="507780" imgH="177723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2880320"/>
                        <a:ext cx="945443" cy="3326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2471" name="Object 7"/>
          <p:cNvGraphicFramePr>
            <a:graphicFrameLocks noChangeAspect="1"/>
          </p:cNvGraphicFramePr>
          <p:nvPr/>
        </p:nvGraphicFramePr>
        <p:xfrm>
          <a:off x="2267744" y="2880320"/>
          <a:ext cx="1663280" cy="332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52" name="Equation" r:id="rId9" imgW="901309" imgH="177723" progId="Equation.DSMT4">
                  <p:embed/>
                </p:oleObj>
              </mc:Choice>
              <mc:Fallback>
                <p:oleObj name="Equation" r:id="rId9" imgW="901309" imgH="177723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2880320"/>
                        <a:ext cx="1663280" cy="3326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2473" name="Object 9"/>
          <p:cNvGraphicFramePr>
            <a:graphicFrameLocks noChangeAspect="1"/>
          </p:cNvGraphicFramePr>
          <p:nvPr/>
        </p:nvGraphicFramePr>
        <p:xfrm>
          <a:off x="5436096" y="2880320"/>
          <a:ext cx="822886" cy="332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53" name="Equation" r:id="rId11" imgW="444114" imgH="177646" progId="Equation.DSMT4">
                  <p:embed/>
                </p:oleObj>
              </mc:Choice>
              <mc:Fallback>
                <p:oleObj name="Equation" r:id="rId11" imgW="444114" imgH="177646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096" y="2880320"/>
                        <a:ext cx="822886" cy="3326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6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2475" name="Object 11"/>
          <p:cNvGraphicFramePr>
            <a:graphicFrameLocks noChangeAspect="1"/>
          </p:cNvGraphicFramePr>
          <p:nvPr/>
        </p:nvGraphicFramePr>
        <p:xfrm>
          <a:off x="7164288" y="2852935"/>
          <a:ext cx="1152128" cy="3840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54" name="Equation" r:id="rId13" imgW="545626" imgH="177646" progId="Equation.DSMT4">
                  <p:embed/>
                </p:oleObj>
              </mc:Choice>
              <mc:Fallback>
                <p:oleObj name="Equation" r:id="rId13" imgW="545626" imgH="177646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288" y="2852935"/>
                        <a:ext cx="1152128" cy="3840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8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2477" name="Object 13"/>
          <p:cNvGraphicFramePr>
            <a:graphicFrameLocks noChangeAspect="1"/>
          </p:cNvGraphicFramePr>
          <p:nvPr/>
        </p:nvGraphicFramePr>
        <p:xfrm>
          <a:off x="1259632" y="3212976"/>
          <a:ext cx="2036797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55" name="Equation" r:id="rId15" imgW="939392" imgH="203112" progId="Equation.DSMT4">
                  <p:embed/>
                </p:oleObj>
              </mc:Choice>
              <mc:Fallback>
                <p:oleObj name="Equation" r:id="rId15" imgW="939392" imgH="203112" progId="Equation.DSMT4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3212976"/>
                        <a:ext cx="2036797" cy="4320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80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2479" name="Object 15"/>
          <p:cNvGraphicFramePr>
            <a:graphicFrameLocks noChangeAspect="1"/>
          </p:cNvGraphicFramePr>
          <p:nvPr/>
        </p:nvGraphicFramePr>
        <p:xfrm>
          <a:off x="3203848" y="4221087"/>
          <a:ext cx="1008112" cy="3755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56" name="Equation" r:id="rId17" imgW="482181" imgH="177646" progId="Equation.DSMT4">
                  <p:embed/>
                </p:oleObj>
              </mc:Choice>
              <mc:Fallback>
                <p:oleObj name="Equation" r:id="rId17" imgW="482181" imgH="177646" progId="Equation.DSMT4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4221087"/>
                        <a:ext cx="1008112" cy="37557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82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2481" name="Object 17"/>
          <p:cNvGraphicFramePr>
            <a:graphicFrameLocks noChangeAspect="1"/>
          </p:cNvGraphicFramePr>
          <p:nvPr/>
        </p:nvGraphicFramePr>
        <p:xfrm>
          <a:off x="4788024" y="4176464"/>
          <a:ext cx="1354745" cy="404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57" name="Equation" r:id="rId18" imgW="736280" imgH="215806" progId="Equation.DSMT4">
                  <p:embed/>
                </p:oleObj>
              </mc:Choice>
              <mc:Fallback>
                <p:oleObj name="Equation" r:id="rId18" imgW="736280" imgH="215806" progId="Equation.DSMT4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024" y="4176464"/>
                        <a:ext cx="1354745" cy="4046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84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2483" name="Object 19"/>
          <p:cNvGraphicFramePr>
            <a:graphicFrameLocks noChangeAspect="1"/>
          </p:cNvGraphicFramePr>
          <p:nvPr/>
        </p:nvGraphicFramePr>
        <p:xfrm>
          <a:off x="7092280" y="4221088"/>
          <a:ext cx="982127" cy="332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58" name="Equation" r:id="rId20" imgW="596641" imgH="203112" progId="Equation.DSMT4">
                  <p:embed/>
                </p:oleObj>
              </mc:Choice>
              <mc:Fallback>
                <p:oleObj name="Equation" r:id="rId20" imgW="596641" imgH="203112" progId="Equation.DSMT4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280" y="4221088"/>
                        <a:ext cx="982127" cy="3326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8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2485" name="Object 21"/>
          <p:cNvGraphicFramePr>
            <a:graphicFrameLocks noChangeAspect="1"/>
          </p:cNvGraphicFramePr>
          <p:nvPr/>
        </p:nvGraphicFramePr>
        <p:xfrm>
          <a:off x="1475656" y="4581128"/>
          <a:ext cx="1888432" cy="404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59" name="Equation" r:id="rId22" imgW="1066800" imgH="228600" progId="Equation.DSMT4">
                  <p:embed/>
                </p:oleObj>
              </mc:Choice>
              <mc:Fallback>
                <p:oleObj name="Equation" r:id="rId22" imgW="1066800" imgH="228600" progId="Equation.DSMT4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4581128"/>
                        <a:ext cx="1888432" cy="4046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88" name="Rectangle 2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2487" name="Object 23"/>
          <p:cNvGraphicFramePr>
            <a:graphicFrameLocks noChangeAspect="1"/>
          </p:cNvGraphicFramePr>
          <p:nvPr/>
        </p:nvGraphicFramePr>
        <p:xfrm>
          <a:off x="4067944" y="4581128"/>
          <a:ext cx="1354745" cy="404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60" name="Equation" r:id="rId24" imgW="736280" imgH="215806" progId="Equation.DSMT4">
                  <p:embed/>
                </p:oleObj>
              </mc:Choice>
              <mc:Fallback>
                <p:oleObj name="Equation" r:id="rId24" imgW="736280" imgH="215806" progId="Equation.DSMT4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944" y="4581128"/>
                        <a:ext cx="1354745" cy="4046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7812360" y="4595608"/>
          <a:ext cx="951954" cy="4895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61" name="Equation" r:id="rId26" imgW="444240" imgH="228600" progId="Equation.DSMT4">
                  <p:embed/>
                </p:oleObj>
              </mc:Choice>
              <mc:Fallback>
                <p:oleObj name="Equation" r:id="rId26" imgW="444240" imgH="228600" progId="Equation.DSMT4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360" y="4595608"/>
                        <a:ext cx="951954" cy="4895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1475656" y="5013176"/>
          <a:ext cx="886296" cy="443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62" name="Equation" r:id="rId28" imgW="457200" imgH="228600" progId="Equation.DSMT4">
                  <p:embed/>
                </p:oleObj>
              </mc:Choice>
              <mc:Fallback>
                <p:oleObj name="Equation" r:id="rId28" imgW="457200" imgH="228600" progId="Equation.DSMT4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5013176"/>
                        <a:ext cx="886296" cy="4431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3406312" y="4984402"/>
          <a:ext cx="1309704" cy="4608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63" name="Equation" r:id="rId30" imgW="685800" imgH="241200" progId="Equation.DSMT4">
                  <p:embed/>
                </p:oleObj>
              </mc:Choice>
              <mc:Fallback>
                <p:oleObj name="Equation" r:id="rId30" imgW="685800" imgH="241200" progId="Equation.DSMT4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6312" y="4984402"/>
                        <a:ext cx="1309704" cy="46082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92" name="Object 28"/>
          <p:cNvGraphicFramePr>
            <a:graphicFrameLocks noChangeAspect="1"/>
          </p:cNvGraphicFramePr>
          <p:nvPr/>
        </p:nvGraphicFramePr>
        <p:xfrm>
          <a:off x="5364088" y="4941168"/>
          <a:ext cx="1309688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64" name="Equation" r:id="rId32" imgW="685800" imgH="241200" progId="Equation.DSMT4">
                  <p:embed/>
                </p:oleObj>
              </mc:Choice>
              <mc:Fallback>
                <p:oleObj name="Equation" r:id="rId32" imgW="685800" imgH="241200" progId="Equation.DSMT4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088" y="4941168"/>
                        <a:ext cx="1309688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94" name="Rectangle 3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2493" name="Object 29"/>
          <p:cNvGraphicFramePr>
            <a:graphicFrameLocks noChangeAspect="1"/>
          </p:cNvGraphicFramePr>
          <p:nvPr/>
        </p:nvGraphicFramePr>
        <p:xfrm>
          <a:off x="1187624" y="5445224"/>
          <a:ext cx="1187624" cy="354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65" name="Equation" r:id="rId34" imgW="736280" imgH="215806" progId="Equation.DSMT4">
                  <p:embed/>
                </p:oleObj>
              </mc:Choice>
              <mc:Fallback>
                <p:oleObj name="Equation" r:id="rId34" imgW="736280" imgH="215806" progId="Equation.DSMT4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5445224"/>
                        <a:ext cx="1187624" cy="3547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96" name="Rectangle 3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2495" name="Object 31"/>
          <p:cNvGraphicFramePr>
            <a:graphicFrameLocks noChangeAspect="1"/>
          </p:cNvGraphicFramePr>
          <p:nvPr/>
        </p:nvGraphicFramePr>
        <p:xfrm>
          <a:off x="4355976" y="5373216"/>
          <a:ext cx="1445229" cy="404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66" name="Equation" r:id="rId36" imgW="710891" imgH="203112" progId="Equation.DSMT4">
                  <p:embed/>
                </p:oleObj>
              </mc:Choice>
              <mc:Fallback>
                <p:oleObj name="Equation" r:id="rId36" imgW="710891" imgH="203112" progId="Equation.DSMT4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976" y="5373216"/>
                        <a:ext cx="1445229" cy="4046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98" name="Rectangle 3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2497" name="Object 33"/>
          <p:cNvGraphicFramePr>
            <a:graphicFrameLocks noChangeAspect="1"/>
          </p:cNvGraphicFramePr>
          <p:nvPr/>
        </p:nvGraphicFramePr>
        <p:xfrm>
          <a:off x="3275856" y="5805264"/>
          <a:ext cx="2447254" cy="404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67" name="Equation" r:id="rId38" imgW="1206500" imgH="203200" progId="Equation.DSMT4">
                  <p:embed/>
                </p:oleObj>
              </mc:Choice>
              <mc:Fallback>
                <p:oleObj name="Equation" r:id="rId38" imgW="1206500" imgH="203200" progId="Equation.DSMT4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5805264"/>
                        <a:ext cx="2447254" cy="4046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商群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2573640"/>
          </a:xfrm>
        </p:spPr>
        <p:txBody>
          <a:bodyPr>
            <a:normAutofit lnSpcReduction="10000"/>
          </a:bodyPr>
          <a:lstStyle/>
          <a:p>
            <a:r>
              <a:rPr lang="zh-CN" altLang="zh-CN" b="1" dirty="0" smtClean="0">
                <a:solidFill>
                  <a:schemeClr val="accent1"/>
                </a:solidFill>
              </a:rPr>
              <a:t>定理</a:t>
            </a:r>
            <a:r>
              <a:rPr lang="en-US" altLang="zh-CN" b="1" dirty="0" smtClean="0">
                <a:solidFill>
                  <a:schemeClr val="accent1"/>
                </a:solidFill>
              </a:rPr>
              <a:t>4.4.2 </a:t>
            </a:r>
            <a:r>
              <a:rPr lang="zh-CN" altLang="zh-CN" b="1" dirty="0" smtClean="0"/>
              <a:t>设</a:t>
            </a:r>
            <a:r>
              <a:rPr lang="en-US" altLang="zh-CN" b="1" dirty="0" smtClean="0"/>
              <a:t>H</a:t>
            </a:r>
            <a:r>
              <a:rPr lang="zh-CN" altLang="zh-CN" b="1" dirty="0" smtClean="0"/>
              <a:t>是</a:t>
            </a:r>
            <a:r>
              <a:rPr lang="en-US" altLang="zh-CN" b="1" dirty="0" smtClean="0"/>
              <a:t>G</a:t>
            </a:r>
            <a:r>
              <a:rPr lang="zh-CN" altLang="zh-CN" b="1" dirty="0" smtClean="0"/>
              <a:t>的正规子群，记</a:t>
            </a:r>
            <a:r>
              <a:rPr lang="en-US" altLang="zh-CN" b="1" dirty="0" smtClean="0"/>
              <a:t> 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G/H={</a:t>
            </a:r>
            <a:r>
              <a:rPr lang="en-US" altLang="zh-CN" b="1" i="1" dirty="0" err="1" smtClean="0">
                <a:latin typeface="Times New Roman" pitchFamily="18" charset="0"/>
                <a:cs typeface="Times New Roman" pitchFamily="18" charset="0"/>
              </a:rPr>
              <a:t>aH|a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 ∈ G}</a:t>
            </a:r>
            <a:r>
              <a:rPr lang="zh-CN" altLang="zh-CN" b="1" dirty="0" smtClean="0"/>
              <a:t>，在集合记</a:t>
            </a:r>
            <a:r>
              <a:rPr lang="en-US" altLang="zh-CN" b="1" dirty="0" smtClean="0"/>
              <a:t> 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G/H</a:t>
            </a:r>
            <a:r>
              <a:rPr lang="zh-CN" altLang="zh-CN" b="1" dirty="0" smtClean="0"/>
              <a:t>上定义运算：</a:t>
            </a:r>
            <a:endParaRPr lang="en-US" altLang="zh-CN" b="1" dirty="0" smtClean="0"/>
          </a:p>
          <a:p>
            <a:pPr algn="ctr">
              <a:buNone/>
            </a:pPr>
            <a:r>
              <a:rPr lang="en-US" altLang="zh-CN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b="1" i="1" dirty="0" err="1" smtClean="0">
                <a:latin typeface="Times New Roman" pitchFamily="18" charset="0"/>
                <a:cs typeface="Times New Roman" pitchFamily="18" charset="0"/>
              </a:rPr>
              <a:t>aH</a:t>
            </a:r>
            <a:r>
              <a:rPr lang="en-US" altLang="zh-CN" b="1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·</a:t>
            </a:r>
            <a:r>
              <a:rPr lang="en-US" altLang="zh-CN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b="1" i="1" dirty="0" err="1" smtClean="0">
                <a:latin typeface="Times New Roman" pitchFamily="18" charset="0"/>
                <a:cs typeface="Times New Roman" pitchFamily="18" charset="0"/>
              </a:rPr>
              <a:t>bH</a:t>
            </a:r>
            <a:r>
              <a:rPr lang="en-US" altLang="zh-CN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b="1" i="1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altLang="zh-CN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H</a:t>
            </a:r>
            <a:endParaRPr lang="zh-CN" altLang="zh-CN" b="1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zh-CN" altLang="zh-CN" b="1" dirty="0" smtClean="0"/>
              <a:t>则上述定义的运算给出了记</a:t>
            </a:r>
            <a:r>
              <a:rPr lang="en-US" altLang="zh-CN" b="1" dirty="0" smtClean="0"/>
              <a:t> 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G/H</a:t>
            </a:r>
            <a:r>
              <a:rPr lang="zh-CN" altLang="zh-CN" b="1" dirty="0" smtClean="0"/>
              <a:t>上的一个乘法，且记</a:t>
            </a:r>
            <a:r>
              <a:rPr lang="en-US" altLang="zh-CN" b="1" dirty="0" smtClean="0"/>
              <a:t> 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G/H</a:t>
            </a:r>
            <a:r>
              <a:rPr lang="zh-CN" altLang="zh-CN" b="1" dirty="0" smtClean="0"/>
              <a:t>在这个乘法下构成群</a:t>
            </a:r>
            <a:r>
              <a:rPr lang="zh-CN" altLang="en-US" b="1" dirty="0" smtClean="0"/>
              <a:t>，称为</a:t>
            </a:r>
            <a:r>
              <a:rPr lang="en-US" altLang="zh-CN" b="1" dirty="0" smtClean="0"/>
              <a:t>G</a:t>
            </a:r>
            <a:r>
              <a:rPr lang="zh-CN" altLang="en-US" b="1" dirty="0" smtClean="0"/>
              <a:t>关于正规子群</a:t>
            </a:r>
            <a:r>
              <a:rPr lang="en-US" altLang="zh-CN" b="1" dirty="0" smtClean="0"/>
              <a:t>H</a:t>
            </a:r>
            <a:r>
              <a:rPr lang="zh-CN" altLang="en-US" b="1" dirty="0" smtClean="0"/>
              <a:t>的</a:t>
            </a:r>
            <a:r>
              <a:rPr lang="zh-CN" altLang="en-US" b="1" dirty="0" smtClean="0">
                <a:solidFill>
                  <a:srgbClr val="FF0000"/>
                </a:solidFill>
              </a:rPr>
              <a:t>商群</a:t>
            </a:r>
            <a:r>
              <a:rPr lang="zh-CN" altLang="en-US" b="1" dirty="0" smtClean="0"/>
              <a:t>。</a:t>
            </a:r>
            <a:endParaRPr lang="zh-CN" alt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611560" y="4437112"/>
            <a:ext cx="83529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</a:rPr>
              <a:t>证明思路：</a:t>
            </a:r>
            <a:r>
              <a:rPr lang="zh-CN" altLang="zh-CN" sz="2800" b="1" dirty="0" smtClean="0"/>
              <a:t>首先，要证明定理中定义的运算不依赖陪集代表元的选择。</a:t>
            </a:r>
            <a:endParaRPr lang="en-US" altLang="zh-CN" sz="2800" b="1" dirty="0" smtClean="0"/>
          </a:p>
          <a:p>
            <a:r>
              <a:rPr lang="zh-CN" altLang="en-US" sz="2800" b="1" dirty="0" smtClean="0"/>
              <a:t>其次，要证明</a:t>
            </a:r>
            <a:r>
              <a:rPr lang="en-US" altLang="zh-CN" sz="2800" b="1" i="1" dirty="0" smtClean="0">
                <a:latin typeface="Times New Roman" pitchFamily="18" charset="0"/>
                <a:cs typeface="Times New Roman" pitchFamily="18" charset="0"/>
              </a:rPr>
              <a:t>G/H</a:t>
            </a:r>
            <a:r>
              <a:rPr lang="zh-CN" altLang="zh-CN" sz="2800" b="1" dirty="0" smtClean="0"/>
              <a:t>在这个乘法下构成群</a:t>
            </a:r>
            <a:r>
              <a:rPr lang="zh-CN" altLang="en-US" sz="2800" b="1" dirty="0" smtClean="0"/>
              <a:t>。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商群（续）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 smtClean="0"/>
              <a:t>证明：首先证明当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b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CN" b="1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zh-CN" altLang="en-US" b="1" dirty="0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CN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H=b</a:t>
            </a:r>
            <a:r>
              <a:rPr lang="en-US" altLang="zh-CN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zh-CN" altLang="en-US" b="1" dirty="0" smtClean="0">
                <a:latin typeface="Times New Roman" pitchFamily="18" charset="0"/>
                <a:cs typeface="Times New Roman" pitchFamily="18" charset="0"/>
              </a:rPr>
              <a:t>时，有</a:t>
            </a:r>
            <a:r>
              <a:rPr lang="en-US" altLang="zh-CN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b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b="1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CN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CN" b="1" dirty="0" smtClean="0">
                <a:latin typeface="Times New Roman" pitchFamily="18" charset="0"/>
                <a:cs typeface="Times New Roman" pitchFamily="18" charset="0"/>
              </a:rPr>
              <a:t>=(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CN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CN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zh-CN" altLang="en-US" b="1" i="1" dirty="0" smtClean="0">
                <a:latin typeface="Times New Roman" pitchFamily="18" charset="0"/>
                <a:cs typeface="Times New Roman" pitchFamily="18" charset="0"/>
              </a:rPr>
              <a:t>。</a:t>
            </a:r>
            <a:endParaRPr lang="en-US" altLang="zh-CN" b="1" i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b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CN" b="1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zh-CN" altLang="en-US" b="1" dirty="0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CN" b="1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H=b</a:t>
            </a:r>
            <a:r>
              <a:rPr lang="en-US" altLang="zh-CN" b="1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H </a:t>
            </a:r>
            <a:r>
              <a:rPr lang="en-US" altLang="zh-CN" b="1" dirty="0" smtClean="0">
                <a:latin typeface="Times New Roman" pitchFamily="18" charset="0"/>
                <a:cs typeface="Times New Roman" pitchFamily="18" charset="0"/>
              </a:rPr>
              <a:t>=&gt;</a:t>
            </a:r>
          </a:p>
          <a:p>
            <a:pPr>
              <a:buNone/>
            </a:pPr>
            <a:r>
              <a:rPr lang="zh-CN" altLang="en-US" b="1" dirty="0" smtClean="0">
                <a:latin typeface="Times New Roman" pitchFamily="18" charset="0"/>
                <a:cs typeface="Times New Roman" pitchFamily="18" charset="0"/>
              </a:rPr>
              <a:t>而</a:t>
            </a:r>
            <a:endParaRPr lang="en-US" altLang="zh-CN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altLang="zh-CN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zh-CN" altLang="en-US" b="1" dirty="0" smtClean="0"/>
              <a:t>又</a:t>
            </a:r>
            <a:r>
              <a:rPr lang="en-US" altLang="zh-CN" b="1" dirty="0" smtClean="0"/>
              <a:t>H</a:t>
            </a:r>
            <a:r>
              <a:rPr lang="zh-CN" altLang="en-US" b="1" dirty="0" smtClean="0"/>
              <a:t>是正规子群，所以</a:t>
            </a:r>
            <a:endParaRPr lang="en-US" altLang="zh-CN" b="1" dirty="0" smtClean="0"/>
          </a:p>
          <a:p>
            <a:pPr>
              <a:buNone/>
            </a:pPr>
            <a:r>
              <a:rPr lang="zh-CN" altLang="en-US" b="1" dirty="0" smtClean="0"/>
              <a:t>从而                              ，即有</a:t>
            </a:r>
            <a:endParaRPr lang="en-US" altLang="zh-CN" b="1" dirty="0" smtClean="0"/>
          </a:p>
          <a:p>
            <a:pPr>
              <a:buNone/>
            </a:pPr>
            <a:r>
              <a:rPr lang="zh-CN" altLang="en-US" b="1" dirty="0" smtClean="0"/>
              <a:t>其次，验证</a:t>
            </a:r>
            <a:r>
              <a:rPr lang="en-US" altLang="zh-CN" sz="2400" b="1" i="1" dirty="0" smtClean="0">
                <a:latin typeface="Times New Roman" pitchFamily="18" charset="0"/>
                <a:cs typeface="Times New Roman" pitchFamily="18" charset="0"/>
              </a:rPr>
              <a:t>G/H</a:t>
            </a:r>
            <a:r>
              <a:rPr lang="zh-CN" altLang="zh-CN" sz="2400" b="1" dirty="0" smtClean="0"/>
              <a:t>在这个乘法下构成群</a:t>
            </a:r>
            <a:r>
              <a:rPr lang="zh-CN" altLang="en-US" sz="2400" b="1" dirty="0" smtClean="0"/>
              <a:t>。根据群的定义很容易验证其乘法满足结合律，有单位元，有逆元。</a:t>
            </a:r>
            <a:endParaRPr lang="en-US" altLang="zh-CN" b="1" dirty="0" smtClean="0"/>
          </a:p>
        </p:txBody>
      </p:sp>
      <p:sp>
        <p:nvSpPr>
          <p:cNvPr id="634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3489" name="Object 1"/>
          <p:cNvGraphicFramePr>
            <a:graphicFrameLocks noChangeAspect="1"/>
          </p:cNvGraphicFramePr>
          <p:nvPr/>
        </p:nvGraphicFramePr>
        <p:xfrm>
          <a:off x="3924151" y="2855913"/>
          <a:ext cx="22320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43" name="Equation" r:id="rId3" imgW="1244520" imgH="241200" progId="Equation.DSMT4">
                  <p:embed/>
                </p:oleObj>
              </mc:Choice>
              <mc:Fallback>
                <p:oleObj name="Equation" r:id="rId3" imgW="1244520" imgH="2412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151" y="2855913"/>
                        <a:ext cx="2232025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3491" name="Object 3"/>
          <p:cNvGraphicFramePr>
            <a:graphicFrameLocks noChangeAspect="1"/>
          </p:cNvGraphicFramePr>
          <p:nvPr/>
        </p:nvGraphicFramePr>
        <p:xfrm>
          <a:off x="1403648" y="3645024"/>
          <a:ext cx="5270986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44" name="Equation" r:id="rId5" imgW="2895600" imgH="241300" progId="Equation.DSMT4">
                  <p:embed/>
                </p:oleObj>
              </mc:Choice>
              <mc:Fallback>
                <p:oleObj name="Equation" r:id="rId5" imgW="2895600" imgH="2413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3645024"/>
                        <a:ext cx="5270986" cy="4320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3493" name="Object 5"/>
          <p:cNvGraphicFramePr>
            <a:graphicFrameLocks noChangeAspect="1"/>
          </p:cNvGraphicFramePr>
          <p:nvPr/>
        </p:nvGraphicFramePr>
        <p:xfrm>
          <a:off x="4067944" y="4221088"/>
          <a:ext cx="2040156" cy="476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45" name="Equation" r:id="rId7" imgW="1028254" imgH="241195" progId="Equation.DSMT4">
                  <p:embed/>
                </p:oleObj>
              </mc:Choice>
              <mc:Fallback>
                <p:oleObj name="Equation" r:id="rId7" imgW="1028254" imgH="241195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944" y="4221088"/>
                        <a:ext cx="2040156" cy="4766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3495" name="Object 7"/>
          <p:cNvGraphicFramePr>
            <a:graphicFrameLocks noChangeAspect="1"/>
          </p:cNvGraphicFramePr>
          <p:nvPr/>
        </p:nvGraphicFramePr>
        <p:xfrm>
          <a:off x="1331640" y="4725144"/>
          <a:ext cx="2230825" cy="476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46" name="Equation" r:id="rId9" imgW="1117600" imgH="241300" progId="Equation.DSMT4">
                  <p:embed/>
                </p:oleObj>
              </mc:Choice>
              <mc:Fallback>
                <p:oleObj name="Equation" r:id="rId9" imgW="1117600" imgH="2413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4725144"/>
                        <a:ext cx="2230825" cy="4766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8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349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4432946"/>
              </p:ext>
            </p:extLst>
          </p:nvPr>
        </p:nvGraphicFramePr>
        <p:xfrm>
          <a:off x="4632325" y="4724400"/>
          <a:ext cx="2201863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47" name="Equation" r:id="rId11" imgW="1168200" imgH="228600" progId="Equation.DSMT4">
                  <p:embed/>
                </p:oleObj>
              </mc:Choice>
              <mc:Fallback>
                <p:oleObj name="Equation" r:id="rId11" imgW="1168200" imgH="22860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2325" y="4724400"/>
                        <a:ext cx="2201863" cy="433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商群（例）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b="1" dirty="0" smtClean="0"/>
              <a:t>例</a:t>
            </a:r>
            <a:r>
              <a:rPr lang="en-US" altLang="zh-CN" b="1" dirty="0" smtClean="0"/>
              <a:t>4.4.2 </a:t>
            </a:r>
            <a:r>
              <a:rPr lang="zh-CN" altLang="zh-CN" b="1" dirty="0" smtClean="0"/>
              <a:t>对于正整数</a:t>
            </a:r>
            <a:r>
              <a:rPr lang="en-US" altLang="zh-CN" b="1" dirty="0" smtClean="0"/>
              <a:t>m</a:t>
            </a:r>
            <a:r>
              <a:rPr lang="zh-CN" altLang="zh-CN" b="1" dirty="0" smtClean="0"/>
              <a:t>，</a:t>
            </a:r>
            <a:r>
              <a:rPr lang="en-US" altLang="zh-CN" b="1" dirty="0" err="1" smtClean="0"/>
              <a:t>mZ</a:t>
            </a:r>
            <a:r>
              <a:rPr lang="zh-CN" altLang="zh-CN" b="1" dirty="0" smtClean="0"/>
              <a:t>是整数加法群</a:t>
            </a:r>
            <a:r>
              <a:rPr lang="en-US" altLang="zh-CN" b="1" dirty="0" smtClean="0"/>
              <a:t>Z</a:t>
            </a:r>
            <a:r>
              <a:rPr lang="zh-CN" altLang="zh-CN" b="1" dirty="0" smtClean="0"/>
              <a:t>的正规子群，其所有加法陪集为 </a:t>
            </a:r>
            <a:endParaRPr lang="en-US" altLang="zh-CN" b="1" dirty="0" smtClean="0"/>
          </a:p>
          <a:p>
            <a:pPr>
              <a:buNone/>
            </a:pPr>
            <a:endParaRPr lang="zh-CN" altLang="zh-CN" b="1" dirty="0" smtClean="0"/>
          </a:p>
          <a:p>
            <a:r>
              <a:rPr lang="zh-CN" altLang="zh-CN" b="1" dirty="0" smtClean="0"/>
              <a:t>可分别用</a:t>
            </a:r>
            <a:r>
              <a:rPr lang="en-US" altLang="zh-CN" b="1" dirty="0" smtClean="0"/>
              <a:t>[0]</a:t>
            </a:r>
            <a:r>
              <a:rPr lang="zh-CN" altLang="zh-CN" b="1" dirty="0" smtClean="0"/>
              <a:t>，</a:t>
            </a:r>
            <a:r>
              <a:rPr lang="en-US" altLang="zh-CN" b="1" dirty="0" smtClean="0"/>
              <a:t>[1]</a:t>
            </a:r>
            <a:r>
              <a:rPr lang="zh-CN" altLang="zh-CN" b="1" dirty="0" smtClean="0"/>
              <a:t>，…，</a:t>
            </a:r>
            <a:r>
              <a:rPr lang="en-US" altLang="zh-CN" b="1" dirty="0" smtClean="0"/>
              <a:t>[m-1]</a:t>
            </a:r>
            <a:r>
              <a:rPr lang="zh-CN" altLang="zh-CN" b="1" dirty="0" smtClean="0"/>
              <a:t>表示这</a:t>
            </a:r>
            <a:r>
              <a:rPr lang="en-US" altLang="zh-CN" b="1" dirty="0" smtClean="0"/>
              <a:t>m</a:t>
            </a:r>
            <a:r>
              <a:rPr lang="zh-CN" altLang="zh-CN" b="1" dirty="0" smtClean="0"/>
              <a:t>个陪集</a:t>
            </a:r>
            <a:r>
              <a:rPr lang="en-US" altLang="zh-CN" b="1" dirty="0" smtClean="0"/>
              <a:t>: </a:t>
            </a:r>
          </a:p>
          <a:p>
            <a:endParaRPr lang="en-US" altLang="zh-CN" b="1" dirty="0" smtClean="0"/>
          </a:p>
          <a:p>
            <a:r>
              <a:rPr lang="zh-CN" altLang="zh-CN" b="1" dirty="0" smtClean="0"/>
              <a:t>定义加法</a:t>
            </a:r>
            <a:r>
              <a:rPr lang="en-US" altLang="zh-CN" b="1" dirty="0" smtClean="0"/>
              <a:t>:</a:t>
            </a:r>
            <a:endParaRPr lang="zh-CN" altLang="zh-CN" b="1" dirty="0" smtClean="0"/>
          </a:p>
          <a:p>
            <a:r>
              <a:rPr lang="zh-CN" altLang="zh-CN" b="1" dirty="0" smtClean="0"/>
              <a:t>显然，在这个运算下，</a:t>
            </a:r>
            <a:r>
              <a:rPr lang="en-US" altLang="zh-CN" b="1" dirty="0" smtClean="0"/>
              <a:t> Z/(</a:t>
            </a:r>
            <a:r>
              <a:rPr lang="en-US" altLang="zh-CN" b="1" dirty="0" err="1" smtClean="0"/>
              <a:t>mZ</a:t>
            </a:r>
            <a:r>
              <a:rPr lang="en-US" altLang="zh-CN" b="1" dirty="0" smtClean="0"/>
              <a:t>)</a:t>
            </a:r>
            <a:r>
              <a:rPr lang="zh-CN" altLang="zh-CN" b="1" dirty="0" smtClean="0"/>
              <a:t>构成一个加群。由于</a:t>
            </a:r>
            <a:r>
              <a:rPr lang="en-US" altLang="zh-CN" b="1" dirty="0" smtClean="0"/>
              <a:t>[</a:t>
            </a:r>
            <a:r>
              <a:rPr lang="en-US" altLang="zh-CN" b="1" i="1" dirty="0" smtClean="0"/>
              <a:t>a</a:t>
            </a:r>
            <a:r>
              <a:rPr lang="en-US" altLang="zh-CN" b="1" dirty="0" smtClean="0"/>
              <a:t>] </a:t>
            </a:r>
            <a:r>
              <a:rPr lang="zh-CN" altLang="zh-CN" b="1" dirty="0" smtClean="0"/>
              <a:t>又表示</a:t>
            </a:r>
            <a:r>
              <a:rPr lang="en-US" altLang="zh-CN" b="1" i="1" dirty="0" smtClean="0"/>
              <a:t>a</a:t>
            </a:r>
            <a:r>
              <a:rPr lang="zh-CN" altLang="zh-CN" b="1" dirty="0" smtClean="0"/>
              <a:t>这个整数所在的剩余类，因此，</a:t>
            </a:r>
            <a:r>
              <a:rPr lang="en-US" altLang="zh-CN" b="1" dirty="0" smtClean="0"/>
              <a:t> Z/(</a:t>
            </a:r>
            <a:r>
              <a:rPr lang="en-US" altLang="zh-CN" b="1" dirty="0" err="1" smtClean="0"/>
              <a:t>mZ</a:t>
            </a:r>
            <a:r>
              <a:rPr lang="en-US" altLang="zh-CN" b="1" dirty="0" smtClean="0"/>
              <a:t>)</a:t>
            </a:r>
            <a:r>
              <a:rPr lang="zh-CN" altLang="zh-CN" b="1" dirty="0" smtClean="0"/>
              <a:t>又称为</a:t>
            </a:r>
            <a:r>
              <a:rPr lang="zh-CN" altLang="zh-CN" b="1" dirty="0" smtClean="0">
                <a:solidFill>
                  <a:srgbClr val="FF0000"/>
                </a:solidFill>
              </a:rPr>
              <a:t>剩余类群</a:t>
            </a:r>
            <a:r>
              <a:rPr lang="zh-CN" altLang="zh-CN" b="1" dirty="0" smtClean="0"/>
              <a:t>。</a:t>
            </a:r>
          </a:p>
          <a:p>
            <a:endParaRPr lang="zh-CN" altLang="en-US" b="1" dirty="0"/>
          </a:p>
        </p:txBody>
      </p:sp>
      <p:sp>
        <p:nvSpPr>
          <p:cNvPr id="6553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5537" name="Object 1"/>
          <p:cNvGraphicFramePr>
            <a:graphicFrameLocks noChangeAspect="1"/>
          </p:cNvGraphicFramePr>
          <p:nvPr/>
        </p:nvGraphicFramePr>
        <p:xfrm>
          <a:off x="2483768" y="2780928"/>
          <a:ext cx="4393495" cy="404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29" name="Equation" r:id="rId3" imgW="2171700" imgH="203200" progId="Equation.DSMT4">
                  <p:embed/>
                </p:oleObj>
              </mc:Choice>
              <mc:Fallback>
                <p:oleObj name="Equation" r:id="rId3" imgW="2171700" imgH="2032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2780928"/>
                        <a:ext cx="4393495" cy="4046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5539" name="Object 3"/>
          <p:cNvGraphicFramePr>
            <a:graphicFrameLocks noChangeAspect="1"/>
          </p:cNvGraphicFramePr>
          <p:nvPr/>
        </p:nvGraphicFramePr>
        <p:xfrm>
          <a:off x="2195736" y="3789040"/>
          <a:ext cx="3584167" cy="404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30" name="Equation" r:id="rId5" imgW="1765300" imgH="203200" progId="Equation.DSMT4">
                  <p:embed/>
                </p:oleObj>
              </mc:Choice>
              <mc:Fallback>
                <p:oleObj name="Equation" r:id="rId5" imgW="1765300" imgH="2032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3789040"/>
                        <a:ext cx="3584167" cy="4046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55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6666019"/>
              </p:ext>
            </p:extLst>
          </p:nvPr>
        </p:nvGraphicFramePr>
        <p:xfrm>
          <a:off x="3032125" y="4221163"/>
          <a:ext cx="2187575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31" name="Equation" r:id="rId7" imgW="1079280" imgH="203040" progId="Equation.DSMT4">
                  <p:embed/>
                </p:oleObj>
              </mc:Choice>
              <mc:Fallback>
                <p:oleObj name="Equation" r:id="rId7" imgW="1079280" imgH="20304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2125" y="4221163"/>
                        <a:ext cx="2187575" cy="404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同态与同构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zh-CN" b="1" dirty="0" smtClean="0"/>
              <a:t>定义</a:t>
            </a:r>
            <a:r>
              <a:rPr lang="en-US" altLang="zh-CN" b="1" dirty="0" smtClean="0"/>
              <a:t>4.4.3 </a:t>
            </a:r>
            <a:r>
              <a:rPr lang="zh-CN" altLang="zh-CN" b="1" dirty="0" smtClean="0"/>
              <a:t>设</a:t>
            </a:r>
            <a:r>
              <a:rPr lang="en-US" altLang="zh-CN" b="1" dirty="0" smtClean="0"/>
              <a:t>G</a:t>
            </a:r>
            <a:r>
              <a:rPr lang="zh-CN" altLang="zh-CN" b="1" dirty="0" smtClean="0"/>
              <a:t>和</a:t>
            </a:r>
            <a:r>
              <a:rPr lang="en-US" altLang="zh-CN" b="1" dirty="0" smtClean="0"/>
              <a:t>G’</a:t>
            </a:r>
            <a:r>
              <a:rPr lang="zh-CN" altLang="zh-CN" b="1" dirty="0" smtClean="0"/>
              <a:t>是两个群。</a:t>
            </a:r>
            <a:r>
              <a:rPr lang="en-US" altLang="zh-CN" b="1" i="1" dirty="0" smtClean="0"/>
              <a:t>f</a:t>
            </a:r>
            <a:r>
              <a:rPr lang="zh-CN" altLang="zh-CN" b="1" dirty="0" smtClean="0"/>
              <a:t>是群</a:t>
            </a:r>
            <a:r>
              <a:rPr lang="en-US" altLang="zh-CN" b="1" dirty="0" smtClean="0"/>
              <a:t>G</a:t>
            </a:r>
            <a:r>
              <a:rPr lang="zh-CN" altLang="zh-CN" b="1" dirty="0" smtClean="0"/>
              <a:t>到群</a:t>
            </a:r>
            <a:r>
              <a:rPr lang="en-US" altLang="zh-CN" b="1" dirty="0" smtClean="0"/>
              <a:t>G’</a:t>
            </a:r>
            <a:r>
              <a:rPr lang="zh-CN" altLang="zh-CN" b="1" dirty="0" smtClean="0"/>
              <a:t>的一个映射。如果</a:t>
            </a:r>
            <a:r>
              <a:rPr lang="zh-CN" altLang="en-US" b="1" dirty="0" smtClean="0"/>
              <a:t>对于任意</a:t>
            </a:r>
            <a:r>
              <a:rPr lang="en-US" altLang="zh-CN" b="1" i="1" dirty="0" smtClean="0"/>
              <a:t>a </a:t>
            </a:r>
            <a:r>
              <a:rPr lang="en-US" altLang="zh-CN" b="1" dirty="0" smtClean="0"/>
              <a:t>∈ </a:t>
            </a:r>
            <a:r>
              <a:rPr lang="en-US" altLang="zh-CN" b="1" i="1" dirty="0" smtClean="0"/>
              <a:t>G</a:t>
            </a:r>
            <a:r>
              <a:rPr lang="zh-CN" altLang="zh-CN" b="1" dirty="0" smtClean="0"/>
              <a:t>，映射</a:t>
            </a:r>
            <a:r>
              <a:rPr lang="en-US" altLang="zh-CN" b="1" i="1" dirty="0" smtClean="0"/>
              <a:t>f</a:t>
            </a:r>
            <a:r>
              <a:rPr lang="zh-CN" altLang="zh-CN" b="1" dirty="0" smtClean="0"/>
              <a:t>满足</a:t>
            </a:r>
            <a:endParaRPr lang="en-US" altLang="zh-CN" b="1" dirty="0" smtClean="0"/>
          </a:p>
          <a:p>
            <a:pPr algn="ctr">
              <a:buNone/>
            </a:pPr>
            <a:r>
              <a:rPr lang="en-US" altLang="zh-CN" b="1" i="1" dirty="0" smtClean="0"/>
              <a:t>f(</a:t>
            </a:r>
            <a:r>
              <a:rPr lang="en-US" altLang="zh-CN" b="1" i="1" dirty="0" err="1" smtClean="0"/>
              <a:t>ab</a:t>
            </a:r>
            <a:r>
              <a:rPr lang="en-US" altLang="zh-CN" b="1" i="1" dirty="0" smtClean="0"/>
              <a:t>)=f(a)f(b)</a:t>
            </a:r>
            <a:endParaRPr lang="zh-CN" altLang="zh-CN" b="1" i="1" dirty="0" smtClean="0"/>
          </a:p>
          <a:p>
            <a:r>
              <a:rPr lang="zh-CN" altLang="zh-CN" b="1" dirty="0" smtClean="0"/>
              <a:t>则称</a:t>
            </a:r>
            <a:r>
              <a:rPr lang="en-US" altLang="zh-CN" b="1" i="1" dirty="0" smtClean="0"/>
              <a:t>f</a:t>
            </a:r>
            <a:r>
              <a:rPr lang="zh-CN" altLang="zh-CN" b="1" dirty="0" smtClean="0"/>
              <a:t>是群</a:t>
            </a:r>
            <a:r>
              <a:rPr lang="en-US" altLang="zh-CN" b="1" dirty="0" smtClean="0"/>
              <a:t>G</a:t>
            </a:r>
            <a:r>
              <a:rPr lang="zh-CN" altLang="zh-CN" b="1" dirty="0" smtClean="0"/>
              <a:t>到群</a:t>
            </a:r>
            <a:r>
              <a:rPr lang="en-US" altLang="zh-CN" b="1" dirty="0" smtClean="0"/>
              <a:t>G’</a:t>
            </a:r>
            <a:r>
              <a:rPr lang="zh-CN" altLang="zh-CN" b="1" dirty="0" smtClean="0"/>
              <a:t>的一个</a:t>
            </a:r>
            <a:r>
              <a:rPr lang="zh-CN" altLang="zh-CN" b="1" dirty="0" smtClean="0">
                <a:solidFill>
                  <a:srgbClr val="FF0000"/>
                </a:solidFill>
              </a:rPr>
              <a:t>同态映射</a:t>
            </a:r>
            <a:r>
              <a:rPr lang="zh-CN" altLang="zh-CN" b="1" dirty="0" smtClean="0"/>
              <a:t>。</a:t>
            </a:r>
            <a:endParaRPr lang="en-US" altLang="zh-CN" b="1" dirty="0" smtClean="0"/>
          </a:p>
          <a:p>
            <a:r>
              <a:rPr lang="zh-CN" altLang="zh-CN" b="1" dirty="0" smtClean="0"/>
              <a:t>当该映射是满射时，称</a:t>
            </a:r>
            <a:r>
              <a:rPr lang="en-US" altLang="zh-CN" b="1" i="1" dirty="0" smtClean="0"/>
              <a:t>f</a:t>
            </a:r>
            <a:r>
              <a:rPr lang="zh-CN" altLang="zh-CN" b="1" dirty="0" smtClean="0"/>
              <a:t>是群</a:t>
            </a:r>
            <a:r>
              <a:rPr lang="en-US" altLang="zh-CN" b="1" dirty="0" smtClean="0"/>
              <a:t>G</a:t>
            </a:r>
            <a:r>
              <a:rPr lang="zh-CN" altLang="zh-CN" b="1" dirty="0" smtClean="0"/>
              <a:t>到群</a:t>
            </a:r>
            <a:r>
              <a:rPr lang="en-US" altLang="zh-CN" b="1" dirty="0" smtClean="0"/>
              <a:t>G’</a:t>
            </a:r>
            <a:r>
              <a:rPr lang="zh-CN" altLang="zh-CN" b="1" dirty="0" smtClean="0"/>
              <a:t>的一个</a:t>
            </a:r>
            <a:r>
              <a:rPr lang="zh-CN" altLang="zh-CN" b="1" dirty="0" smtClean="0">
                <a:solidFill>
                  <a:srgbClr val="FF0000"/>
                </a:solidFill>
              </a:rPr>
              <a:t>满同态映射</a:t>
            </a:r>
            <a:r>
              <a:rPr lang="zh-CN" altLang="zh-CN" b="1" dirty="0" smtClean="0"/>
              <a:t>。</a:t>
            </a:r>
            <a:endParaRPr lang="en-US" altLang="zh-CN" b="1" dirty="0" smtClean="0"/>
          </a:p>
          <a:p>
            <a:r>
              <a:rPr lang="zh-CN" altLang="zh-CN" b="1" dirty="0" smtClean="0"/>
              <a:t>若该映射是一一映射，则称</a:t>
            </a:r>
            <a:r>
              <a:rPr lang="en-US" altLang="zh-CN" b="1" i="1" dirty="0" smtClean="0"/>
              <a:t>f</a:t>
            </a:r>
            <a:r>
              <a:rPr lang="zh-CN" altLang="zh-CN" b="1" dirty="0" smtClean="0"/>
              <a:t>是群</a:t>
            </a:r>
            <a:r>
              <a:rPr lang="en-US" altLang="zh-CN" b="1" dirty="0" smtClean="0"/>
              <a:t>G</a:t>
            </a:r>
            <a:r>
              <a:rPr lang="zh-CN" altLang="zh-CN" b="1" dirty="0" smtClean="0"/>
              <a:t>到群</a:t>
            </a:r>
            <a:r>
              <a:rPr lang="en-US" altLang="zh-CN" b="1" dirty="0" smtClean="0"/>
              <a:t>G’</a:t>
            </a:r>
            <a:r>
              <a:rPr lang="zh-CN" altLang="zh-CN" b="1" dirty="0" smtClean="0"/>
              <a:t>的一个</a:t>
            </a:r>
            <a:r>
              <a:rPr lang="zh-CN" altLang="zh-CN" b="1" dirty="0" smtClean="0">
                <a:solidFill>
                  <a:srgbClr val="FF0000"/>
                </a:solidFill>
              </a:rPr>
              <a:t>同构映射</a:t>
            </a:r>
            <a:r>
              <a:rPr lang="zh-CN" altLang="zh-CN" b="1" dirty="0" smtClean="0"/>
              <a:t>。</a:t>
            </a:r>
            <a:endParaRPr lang="en-US" altLang="zh-CN" b="1" dirty="0" smtClean="0"/>
          </a:p>
          <a:p>
            <a:r>
              <a:rPr lang="zh-CN" altLang="zh-CN" b="1" dirty="0" smtClean="0"/>
              <a:t>若群</a:t>
            </a:r>
            <a:r>
              <a:rPr lang="en-US" altLang="zh-CN" b="1" dirty="0" smtClean="0"/>
              <a:t>G</a:t>
            </a:r>
            <a:r>
              <a:rPr lang="zh-CN" altLang="zh-CN" b="1" dirty="0" smtClean="0"/>
              <a:t>和群</a:t>
            </a:r>
            <a:r>
              <a:rPr lang="en-US" altLang="zh-CN" b="1" dirty="0" smtClean="0"/>
              <a:t>G’</a:t>
            </a:r>
            <a:r>
              <a:rPr lang="zh-CN" altLang="zh-CN" b="1" dirty="0" smtClean="0"/>
              <a:t>之间存在同态（同构）映射，则称群</a:t>
            </a:r>
            <a:r>
              <a:rPr lang="en-US" altLang="zh-CN" b="1" dirty="0" smtClean="0"/>
              <a:t>G</a:t>
            </a:r>
            <a:r>
              <a:rPr lang="zh-CN" altLang="zh-CN" b="1" dirty="0" smtClean="0"/>
              <a:t>和群</a:t>
            </a:r>
            <a:r>
              <a:rPr lang="en-US" altLang="zh-CN" b="1" dirty="0" smtClean="0"/>
              <a:t>G’</a:t>
            </a:r>
            <a:r>
              <a:rPr lang="zh-CN" altLang="zh-CN" b="1" dirty="0" smtClean="0">
                <a:solidFill>
                  <a:srgbClr val="FF0000"/>
                </a:solidFill>
              </a:rPr>
              <a:t>同态（同构）</a:t>
            </a:r>
            <a:r>
              <a:rPr lang="zh-CN" altLang="zh-CN" b="1" dirty="0" smtClean="0"/>
              <a:t>。用符号</a:t>
            </a:r>
            <a:r>
              <a:rPr lang="en-US" altLang="zh-CN" b="1" dirty="0" smtClean="0"/>
              <a:t>           </a:t>
            </a:r>
            <a:r>
              <a:rPr lang="zh-CN" altLang="zh-CN" b="1" dirty="0" smtClean="0"/>
              <a:t>表示群</a:t>
            </a:r>
            <a:r>
              <a:rPr lang="en-US" altLang="zh-CN" b="1" dirty="0" smtClean="0"/>
              <a:t>G</a:t>
            </a:r>
            <a:r>
              <a:rPr lang="zh-CN" altLang="zh-CN" b="1" dirty="0" smtClean="0"/>
              <a:t>和群</a:t>
            </a:r>
            <a:r>
              <a:rPr lang="en-US" altLang="zh-CN" b="1" dirty="0" smtClean="0"/>
              <a:t>G’</a:t>
            </a:r>
            <a:r>
              <a:rPr lang="zh-CN" altLang="zh-CN" b="1" dirty="0" smtClean="0"/>
              <a:t>同构。</a:t>
            </a:r>
            <a:endParaRPr lang="en-US" altLang="zh-CN" b="1" dirty="0" smtClean="0"/>
          </a:p>
          <a:p>
            <a:r>
              <a:rPr lang="en-US" altLang="zh-CN" b="1" dirty="0" smtClean="0"/>
              <a:t>G</a:t>
            </a:r>
            <a:r>
              <a:rPr lang="zh-CN" altLang="zh-CN" b="1" dirty="0" smtClean="0"/>
              <a:t>到</a:t>
            </a:r>
            <a:r>
              <a:rPr lang="en-US" altLang="zh-CN" b="1" dirty="0" smtClean="0"/>
              <a:t>G</a:t>
            </a:r>
            <a:r>
              <a:rPr lang="zh-CN" altLang="zh-CN" b="1" dirty="0" smtClean="0"/>
              <a:t>自身的同构称为</a:t>
            </a:r>
            <a:r>
              <a:rPr lang="zh-CN" altLang="zh-CN" b="1" dirty="0" smtClean="0">
                <a:solidFill>
                  <a:srgbClr val="FF0000"/>
                </a:solidFill>
              </a:rPr>
              <a:t>内自同构</a:t>
            </a:r>
            <a:r>
              <a:rPr lang="zh-CN" altLang="zh-CN" b="1" dirty="0" smtClean="0"/>
              <a:t>。</a:t>
            </a:r>
          </a:p>
          <a:p>
            <a:r>
              <a:rPr lang="en-US" altLang="zh-CN" b="1" dirty="0" smtClean="0"/>
              <a:t>    </a:t>
            </a:r>
            <a:r>
              <a:rPr lang="zh-CN" altLang="zh-CN" b="1" dirty="0" smtClean="0"/>
              <a:t>在满同态映射下，单位元映射到单位元，逆元映射到映射象的逆元。</a:t>
            </a:r>
          </a:p>
          <a:p>
            <a:endParaRPr lang="zh-CN" altLang="en-US" b="1" dirty="0"/>
          </a:p>
        </p:txBody>
      </p:sp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6561" name="Object 1"/>
          <p:cNvGraphicFramePr>
            <a:graphicFrameLocks noChangeAspect="1"/>
          </p:cNvGraphicFramePr>
          <p:nvPr/>
        </p:nvGraphicFramePr>
        <p:xfrm>
          <a:off x="3851920" y="4653136"/>
          <a:ext cx="857902" cy="332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0" name="Equation" r:id="rId3" imgW="469696" imgH="177723" progId="Equation.DSMT4">
                  <p:embed/>
                </p:oleObj>
              </mc:Choice>
              <mc:Fallback>
                <p:oleObj name="Equation" r:id="rId3" imgW="469696" imgH="177723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4653136"/>
                        <a:ext cx="857902" cy="3326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同态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629424"/>
          </a:xfrm>
        </p:spPr>
        <p:txBody>
          <a:bodyPr/>
          <a:lstStyle/>
          <a:p>
            <a:r>
              <a:rPr lang="zh-CN" altLang="zh-CN" b="1" dirty="0" smtClean="0">
                <a:solidFill>
                  <a:schemeClr val="accent1"/>
                </a:solidFill>
              </a:rPr>
              <a:t>例</a:t>
            </a:r>
            <a:r>
              <a:rPr lang="en-US" altLang="zh-CN" b="1" dirty="0" smtClean="0">
                <a:solidFill>
                  <a:schemeClr val="accent1"/>
                </a:solidFill>
              </a:rPr>
              <a:t>4.4.3 </a:t>
            </a:r>
            <a:r>
              <a:rPr lang="zh-CN" altLang="zh-CN" b="1" dirty="0" smtClean="0"/>
              <a:t>整数加法群</a:t>
            </a:r>
            <a:r>
              <a:rPr lang="en-US" altLang="zh-CN" b="1" dirty="0" smtClean="0"/>
              <a:t>Z</a:t>
            </a:r>
            <a:r>
              <a:rPr lang="zh-CN" altLang="zh-CN" b="1" dirty="0" smtClean="0"/>
              <a:t>与商群</a:t>
            </a:r>
            <a:r>
              <a:rPr lang="en-US" altLang="zh-CN" b="1" dirty="0" smtClean="0"/>
              <a:t>Z/</a:t>
            </a:r>
            <a:r>
              <a:rPr lang="en-US" altLang="zh-CN" b="1" dirty="0" err="1" smtClean="0"/>
              <a:t>mZ</a:t>
            </a:r>
            <a:r>
              <a:rPr lang="zh-CN" altLang="zh-CN" b="1" dirty="0" smtClean="0"/>
              <a:t>同态。</a:t>
            </a:r>
            <a:endParaRPr lang="zh-CN" alt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611560" y="2780928"/>
            <a:ext cx="763284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b="1" dirty="0" smtClean="0">
                <a:solidFill>
                  <a:schemeClr val="accent1"/>
                </a:solidFill>
              </a:rPr>
              <a:t>证明：</a:t>
            </a:r>
            <a:r>
              <a:rPr lang="zh-CN" altLang="zh-CN" sz="2800" b="1" dirty="0" smtClean="0"/>
              <a:t>定义映射</a:t>
            </a:r>
            <a:r>
              <a:rPr lang="en-US" altLang="zh-CN" sz="2800" b="1" dirty="0" smtClean="0"/>
              <a:t>                      </a:t>
            </a:r>
            <a:r>
              <a:rPr lang="zh-CN" altLang="zh-CN" sz="2800" b="1" dirty="0" smtClean="0"/>
              <a:t>，</a:t>
            </a:r>
            <a:r>
              <a:rPr lang="en-US" altLang="zh-CN" sz="2800" b="1" dirty="0" smtClean="0"/>
              <a:t>        </a:t>
            </a:r>
            <a:r>
              <a:rPr lang="zh-CN" altLang="zh-CN" sz="2800" b="1" dirty="0" smtClean="0"/>
              <a:t>，</a:t>
            </a:r>
            <a:endParaRPr lang="en-US" altLang="zh-CN" sz="2800" b="1" dirty="0" smtClean="0"/>
          </a:p>
          <a:p>
            <a:endParaRPr lang="zh-CN" altLang="zh-CN" sz="2800" b="1" dirty="0" smtClean="0"/>
          </a:p>
          <a:p>
            <a:r>
              <a:rPr lang="zh-CN" altLang="zh-CN" sz="2800" b="1" dirty="0" smtClean="0"/>
              <a:t>显然，这是一个满射。根据对于</a:t>
            </a:r>
            <a:r>
              <a:rPr lang="en-US" altLang="zh-CN" sz="2800" b="1" dirty="0" smtClean="0"/>
              <a:t>Z</a:t>
            </a:r>
            <a:r>
              <a:rPr lang="zh-CN" altLang="zh-CN" sz="2800" b="1" dirty="0" smtClean="0"/>
              <a:t>中任意两个整数</a:t>
            </a:r>
            <a:r>
              <a:rPr lang="en-US" altLang="zh-CN" sz="2800" b="1" i="1" dirty="0" err="1" smtClean="0"/>
              <a:t>a,b</a:t>
            </a:r>
            <a:r>
              <a:rPr lang="zh-CN" altLang="zh-CN" sz="2800" b="1" dirty="0" smtClean="0"/>
              <a:t>，有</a:t>
            </a:r>
            <a:endParaRPr lang="en-US" altLang="zh-CN" sz="2800" b="1" dirty="0" smtClean="0"/>
          </a:p>
          <a:p>
            <a:endParaRPr lang="en-US" altLang="zh-CN" sz="2800" b="1" dirty="0" smtClean="0"/>
          </a:p>
          <a:p>
            <a:r>
              <a:rPr lang="zh-CN" altLang="zh-CN" sz="2800" b="1" dirty="0" smtClean="0"/>
              <a:t>所以，</a:t>
            </a:r>
            <a:r>
              <a:rPr lang="en-US" altLang="zh-CN" sz="2800" b="1" i="1" dirty="0" smtClean="0"/>
              <a:t>f</a:t>
            </a:r>
            <a:r>
              <a:rPr lang="zh-CN" altLang="zh-CN" sz="2800" b="1" dirty="0" smtClean="0"/>
              <a:t>是整数加法群</a:t>
            </a:r>
            <a:r>
              <a:rPr lang="en-US" altLang="zh-CN" sz="2800" b="1" dirty="0" smtClean="0"/>
              <a:t>Z</a:t>
            </a:r>
            <a:r>
              <a:rPr lang="zh-CN" altLang="zh-CN" sz="2800" b="1" dirty="0" smtClean="0"/>
              <a:t>到商群</a:t>
            </a:r>
            <a:r>
              <a:rPr lang="en-US" altLang="zh-CN" sz="2800" b="1" dirty="0" smtClean="0"/>
              <a:t>Z/</a:t>
            </a:r>
            <a:r>
              <a:rPr lang="en-US" altLang="zh-CN" sz="2800" b="1" dirty="0" err="1" smtClean="0"/>
              <a:t>mZ</a:t>
            </a:r>
            <a:r>
              <a:rPr lang="zh-CN" altLang="zh-CN" sz="2800" b="1" dirty="0" smtClean="0"/>
              <a:t>的一个同态映射，即整数加法群</a:t>
            </a:r>
            <a:r>
              <a:rPr lang="en-US" altLang="zh-CN" sz="2800" b="1" dirty="0" smtClean="0"/>
              <a:t>Z</a:t>
            </a:r>
            <a:r>
              <a:rPr lang="zh-CN" altLang="zh-CN" sz="2800" b="1" dirty="0" smtClean="0"/>
              <a:t>与商群</a:t>
            </a:r>
            <a:r>
              <a:rPr lang="en-US" altLang="zh-CN" sz="2800" b="1" dirty="0" smtClean="0"/>
              <a:t>Z/</a:t>
            </a:r>
            <a:r>
              <a:rPr lang="en-US" altLang="zh-CN" sz="2800" b="1" dirty="0" err="1" smtClean="0"/>
              <a:t>mZ</a:t>
            </a:r>
            <a:r>
              <a:rPr lang="zh-CN" altLang="zh-CN" sz="2800" b="1" dirty="0" smtClean="0"/>
              <a:t>同态。</a:t>
            </a:r>
          </a:p>
          <a:p>
            <a:endParaRPr lang="zh-CN" altLang="en-US" sz="2800" b="1" dirty="0"/>
          </a:p>
        </p:txBody>
      </p:sp>
      <p:sp>
        <p:nvSpPr>
          <p:cNvPr id="675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7585" name="Object 1"/>
          <p:cNvGraphicFramePr>
            <a:graphicFrameLocks noChangeAspect="1"/>
          </p:cNvGraphicFramePr>
          <p:nvPr/>
        </p:nvGraphicFramePr>
        <p:xfrm>
          <a:off x="3203848" y="2852936"/>
          <a:ext cx="1965511" cy="404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08" name="Equation" r:id="rId3" imgW="977476" imgH="203112" progId="Equation.DSMT4">
                  <p:embed/>
                </p:oleObj>
              </mc:Choice>
              <mc:Fallback>
                <p:oleObj name="Equation" r:id="rId3" imgW="977476" imgH="203112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2852936"/>
                        <a:ext cx="1965511" cy="4046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7587" name="Object 3"/>
          <p:cNvGraphicFramePr>
            <a:graphicFrameLocks noChangeAspect="1"/>
          </p:cNvGraphicFramePr>
          <p:nvPr/>
        </p:nvGraphicFramePr>
        <p:xfrm>
          <a:off x="5292080" y="2880320"/>
          <a:ext cx="892919" cy="332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09" name="Equation" r:id="rId5" imgW="482181" imgH="177646" progId="Equation.DSMT4">
                  <p:embed/>
                </p:oleObj>
              </mc:Choice>
              <mc:Fallback>
                <p:oleObj name="Equation" r:id="rId5" imgW="482181" imgH="177646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080" y="2880320"/>
                        <a:ext cx="892919" cy="3326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7589" name="Object 5"/>
          <p:cNvGraphicFramePr>
            <a:graphicFrameLocks noChangeAspect="1"/>
          </p:cNvGraphicFramePr>
          <p:nvPr/>
        </p:nvGraphicFramePr>
        <p:xfrm>
          <a:off x="3491880" y="3212976"/>
          <a:ext cx="1187624" cy="361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10" name="Equation" r:id="rId7" imgW="660113" imgH="203112" progId="Equation.DSMT4">
                  <p:embed/>
                </p:oleObj>
              </mc:Choice>
              <mc:Fallback>
                <p:oleObj name="Equation" r:id="rId7" imgW="660113" imgH="203112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880" y="3212976"/>
                        <a:ext cx="1187624" cy="3614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7591" name="Object 7"/>
          <p:cNvGraphicFramePr>
            <a:graphicFrameLocks noChangeAspect="1"/>
          </p:cNvGraphicFramePr>
          <p:nvPr/>
        </p:nvGraphicFramePr>
        <p:xfrm>
          <a:off x="1979712" y="4581128"/>
          <a:ext cx="3430009" cy="404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11" name="Equation" r:id="rId9" imgW="1701800" imgH="203200" progId="Equation.DSMT4">
                  <p:embed/>
                </p:oleObj>
              </mc:Choice>
              <mc:Fallback>
                <p:oleObj name="Equation" r:id="rId9" imgW="1701800" imgH="2032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4581128"/>
                        <a:ext cx="3430009" cy="4046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自然同态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989464"/>
          </a:xfrm>
        </p:spPr>
        <p:txBody>
          <a:bodyPr/>
          <a:lstStyle/>
          <a:p>
            <a:r>
              <a:rPr lang="zh-CN" altLang="zh-CN" b="1" dirty="0" smtClean="0">
                <a:solidFill>
                  <a:schemeClr val="accent1"/>
                </a:solidFill>
              </a:rPr>
              <a:t>定理</a:t>
            </a:r>
            <a:r>
              <a:rPr lang="en-US" altLang="zh-CN" b="1" dirty="0" smtClean="0">
                <a:solidFill>
                  <a:schemeClr val="accent1"/>
                </a:solidFill>
              </a:rPr>
              <a:t>4.4.3 </a:t>
            </a:r>
            <a:r>
              <a:rPr lang="zh-CN" altLang="zh-CN" b="1" dirty="0" smtClean="0"/>
              <a:t>（</a:t>
            </a:r>
            <a:r>
              <a:rPr lang="zh-CN" altLang="zh-CN" b="1" dirty="0" smtClean="0">
                <a:solidFill>
                  <a:srgbClr val="FF0000"/>
                </a:solidFill>
              </a:rPr>
              <a:t>自然同态</a:t>
            </a:r>
            <a:r>
              <a:rPr lang="zh-CN" altLang="zh-CN" b="1" dirty="0" smtClean="0"/>
              <a:t>）一个群</a:t>
            </a:r>
            <a:r>
              <a:rPr lang="en-US" altLang="zh-CN" b="1" dirty="0" smtClean="0"/>
              <a:t>G</a:t>
            </a:r>
            <a:r>
              <a:rPr lang="zh-CN" altLang="zh-CN" b="1" dirty="0" smtClean="0"/>
              <a:t>与它的每一个商群</a:t>
            </a:r>
            <a:r>
              <a:rPr lang="en-US" altLang="zh-CN" b="1" dirty="0" smtClean="0"/>
              <a:t>G/H</a:t>
            </a:r>
            <a:r>
              <a:rPr lang="zh-CN" altLang="zh-CN" b="1" dirty="0" smtClean="0"/>
              <a:t>同态。</a:t>
            </a:r>
            <a:endParaRPr lang="zh-CN" alt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395536" y="2924944"/>
            <a:ext cx="849694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b="1" dirty="0" smtClean="0"/>
              <a:t>证明：设</a:t>
            </a:r>
            <a:r>
              <a:rPr lang="en-US" altLang="zh-CN" sz="2800" b="1" dirty="0" smtClean="0"/>
              <a:t>H</a:t>
            </a:r>
            <a:r>
              <a:rPr lang="zh-CN" altLang="zh-CN" sz="2800" b="1" dirty="0" smtClean="0"/>
              <a:t>是</a:t>
            </a:r>
            <a:r>
              <a:rPr lang="en-US" altLang="zh-CN" sz="2800" b="1" dirty="0" smtClean="0"/>
              <a:t>G</a:t>
            </a:r>
            <a:r>
              <a:rPr lang="zh-CN" altLang="zh-CN" sz="2800" b="1" dirty="0" smtClean="0"/>
              <a:t>的正规子群。定义映射</a:t>
            </a:r>
            <a:r>
              <a:rPr lang="en-US" altLang="zh-CN" sz="2800" b="1" dirty="0" smtClean="0"/>
              <a:t>                                       </a:t>
            </a:r>
            <a:r>
              <a:rPr lang="zh-CN" altLang="zh-CN" sz="2800" b="1" dirty="0" smtClean="0"/>
              <a:t>为：</a:t>
            </a:r>
            <a:endParaRPr lang="en-US" altLang="zh-CN" sz="2800" b="1" dirty="0" smtClean="0"/>
          </a:p>
          <a:p>
            <a:endParaRPr lang="zh-CN" altLang="zh-CN" sz="2800" b="1" dirty="0" smtClean="0"/>
          </a:p>
          <a:p>
            <a:r>
              <a:rPr lang="zh-CN" altLang="zh-CN" sz="2800" b="1" dirty="0" smtClean="0"/>
              <a:t>根据定理</a:t>
            </a:r>
            <a:r>
              <a:rPr lang="en-US" altLang="zh-CN" sz="2800" b="1" dirty="0" smtClean="0"/>
              <a:t>4.4.2</a:t>
            </a:r>
            <a:r>
              <a:rPr lang="zh-CN" altLang="zh-CN" sz="2800" b="1" dirty="0" smtClean="0"/>
              <a:t>很容易证明这个结论</a:t>
            </a:r>
            <a:r>
              <a:rPr lang="zh-CN" altLang="en-US" sz="2800" b="1" dirty="0" smtClean="0"/>
              <a:t>。</a:t>
            </a:r>
            <a:endParaRPr lang="en-US" altLang="zh-CN" sz="2800" b="1" dirty="0" smtClean="0"/>
          </a:p>
          <a:p>
            <a:endParaRPr lang="zh-CN" altLang="zh-CN" sz="2800" b="1" dirty="0" smtClean="0"/>
          </a:p>
          <a:p>
            <a:r>
              <a:rPr lang="zh-CN" altLang="zh-CN" sz="2800" b="1" dirty="0" smtClean="0"/>
              <a:t>上述定理证明过程中定义的映射</a:t>
            </a:r>
            <a:r>
              <a:rPr lang="en-US" altLang="zh-CN" sz="2800" b="1" dirty="0" smtClean="0"/>
              <a:t>    </a:t>
            </a:r>
            <a:r>
              <a:rPr lang="zh-CN" altLang="zh-CN" sz="2800" b="1" dirty="0" smtClean="0"/>
              <a:t>为群</a:t>
            </a:r>
            <a:r>
              <a:rPr lang="en-US" altLang="zh-CN" sz="2800" b="1" dirty="0" smtClean="0"/>
              <a:t>G</a:t>
            </a:r>
            <a:r>
              <a:rPr lang="zh-CN" altLang="zh-CN" sz="2800" b="1" dirty="0" smtClean="0"/>
              <a:t>到它的商群的</a:t>
            </a:r>
            <a:r>
              <a:rPr lang="zh-CN" altLang="zh-CN" sz="2800" b="1" dirty="0" smtClean="0">
                <a:solidFill>
                  <a:srgbClr val="FF0000"/>
                </a:solidFill>
              </a:rPr>
              <a:t>自然同态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映射</a:t>
            </a:r>
            <a:r>
              <a:rPr lang="zh-CN" altLang="zh-CN" sz="2800" b="1" dirty="0" smtClean="0"/>
              <a:t>。</a:t>
            </a:r>
          </a:p>
          <a:p>
            <a:endParaRPr lang="zh-CN" altLang="en-US" sz="2800" b="1" dirty="0"/>
          </a:p>
        </p:txBody>
      </p:sp>
      <p:sp>
        <p:nvSpPr>
          <p:cNvPr id="686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8609" name="Object 1"/>
          <p:cNvGraphicFramePr>
            <a:graphicFrameLocks noChangeAspect="1"/>
          </p:cNvGraphicFramePr>
          <p:nvPr/>
        </p:nvGraphicFramePr>
        <p:xfrm>
          <a:off x="6444208" y="2996952"/>
          <a:ext cx="1830623" cy="404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01" name="Equation" r:id="rId3" imgW="901309" imgH="203112" progId="Equation.DSMT4">
                  <p:embed/>
                </p:oleObj>
              </mc:Choice>
              <mc:Fallback>
                <p:oleObj name="Equation" r:id="rId3" imgW="901309" imgH="203112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4208" y="2996952"/>
                        <a:ext cx="1830623" cy="4046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8611" name="Object 3"/>
          <p:cNvGraphicFramePr>
            <a:graphicFrameLocks noChangeAspect="1"/>
          </p:cNvGraphicFramePr>
          <p:nvPr/>
        </p:nvGraphicFramePr>
        <p:xfrm>
          <a:off x="2483768" y="3645024"/>
          <a:ext cx="1387419" cy="404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02" name="Equation" r:id="rId5" imgW="685800" imgH="203200" progId="Equation.DSMT4">
                  <p:embed/>
                </p:oleObj>
              </mc:Choice>
              <mc:Fallback>
                <p:oleObj name="Equation" r:id="rId5" imgW="685800" imgH="2032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3645024"/>
                        <a:ext cx="1387419" cy="4046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8613" name="Object 5"/>
          <p:cNvGraphicFramePr>
            <a:graphicFrameLocks noChangeAspect="1"/>
          </p:cNvGraphicFramePr>
          <p:nvPr/>
        </p:nvGraphicFramePr>
        <p:xfrm>
          <a:off x="5508104" y="5085184"/>
          <a:ext cx="395536" cy="4802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03" name="Equation" r:id="rId7" imgW="139579" imgH="164957" progId="Equation.DSMT4">
                  <p:embed/>
                </p:oleObj>
              </mc:Choice>
              <mc:Fallback>
                <p:oleObj name="Equation" r:id="rId7" imgW="139579" imgH="164957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104" y="5085184"/>
                        <a:ext cx="395536" cy="4802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同态的象与核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3581752"/>
          </a:xfrm>
        </p:spPr>
        <p:txBody>
          <a:bodyPr>
            <a:normAutofit/>
          </a:bodyPr>
          <a:lstStyle/>
          <a:p>
            <a:r>
              <a:rPr lang="zh-CN" altLang="zh-CN" b="1" dirty="0" smtClean="0">
                <a:solidFill>
                  <a:schemeClr val="accent1"/>
                </a:solidFill>
              </a:rPr>
              <a:t>定义</a:t>
            </a:r>
            <a:r>
              <a:rPr lang="en-US" altLang="zh-CN" b="1" dirty="0" smtClean="0">
                <a:solidFill>
                  <a:schemeClr val="accent1"/>
                </a:solidFill>
              </a:rPr>
              <a:t>4.4.4 </a:t>
            </a:r>
            <a:r>
              <a:rPr lang="zh-CN" altLang="zh-CN" b="1" dirty="0" smtClean="0"/>
              <a:t>设</a:t>
            </a:r>
            <a:r>
              <a:rPr lang="en-US" altLang="zh-CN" b="1" i="1" dirty="0" smtClean="0"/>
              <a:t>f</a:t>
            </a:r>
            <a:r>
              <a:rPr lang="zh-CN" altLang="zh-CN" b="1" dirty="0" smtClean="0"/>
              <a:t>是群</a:t>
            </a:r>
            <a:r>
              <a:rPr lang="en-US" altLang="zh-CN" b="1" dirty="0" smtClean="0"/>
              <a:t>G</a:t>
            </a:r>
            <a:r>
              <a:rPr lang="zh-CN" altLang="zh-CN" b="1" dirty="0" smtClean="0"/>
              <a:t>到群</a:t>
            </a:r>
            <a:r>
              <a:rPr lang="en-US" altLang="zh-CN" b="1" dirty="0" smtClean="0"/>
              <a:t>G’</a:t>
            </a:r>
            <a:r>
              <a:rPr lang="zh-CN" altLang="zh-CN" b="1" dirty="0" smtClean="0"/>
              <a:t>的一个同态映射，称</a:t>
            </a:r>
            <a:endParaRPr lang="en-US" altLang="zh-CN" b="1" dirty="0" smtClean="0"/>
          </a:p>
          <a:p>
            <a:endParaRPr lang="en-US" altLang="zh-CN" b="1" dirty="0" smtClean="0"/>
          </a:p>
          <a:p>
            <a:pPr>
              <a:buNone/>
            </a:pPr>
            <a:r>
              <a:rPr lang="zh-CN" altLang="zh-CN" b="1" dirty="0" smtClean="0"/>
              <a:t>为</a:t>
            </a:r>
            <a:r>
              <a:rPr lang="zh-CN" altLang="zh-CN" b="1" dirty="0" smtClean="0">
                <a:solidFill>
                  <a:srgbClr val="FF0000"/>
                </a:solidFill>
              </a:rPr>
              <a:t>同态</a:t>
            </a:r>
            <a:r>
              <a:rPr lang="en-US" altLang="zh-CN" b="1" i="1" dirty="0" smtClean="0">
                <a:solidFill>
                  <a:srgbClr val="FF0000"/>
                </a:solidFill>
              </a:rPr>
              <a:t>f</a:t>
            </a:r>
            <a:r>
              <a:rPr lang="zh-CN" altLang="zh-CN" b="1" dirty="0" smtClean="0">
                <a:solidFill>
                  <a:srgbClr val="FF0000"/>
                </a:solidFill>
              </a:rPr>
              <a:t>的象</a:t>
            </a:r>
            <a:r>
              <a:rPr lang="zh-CN" altLang="zh-CN" b="1" dirty="0" smtClean="0"/>
              <a:t>。对于任意</a:t>
            </a:r>
            <a:r>
              <a:rPr lang="en-US" altLang="zh-CN" b="1" dirty="0" smtClean="0"/>
              <a:t>           </a:t>
            </a:r>
            <a:r>
              <a:rPr lang="zh-CN" altLang="zh-CN" b="1" dirty="0" smtClean="0"/>
              <a:t>，集合：</a:t>
            </a:r>
            <a:endParaRPr lang="en-US" altLang="zh-CN" b="1" dirty="0" smtClean="0"/>
          </a:p>
          <a:p>
            <a:pPr>
              <a:buNone/>
            </a:pPr>
            <a:endParaRPr lang="zh-CN" altLang="zh-CN" b="1" dirty="0" smtClean="0"/>
          </a:p>
          <a:p>
            <a:pPr>
              <a:buNone/>
            </a:pPr>
            <a:r>
              <a:rPr lang="zh-CN" altLang="zh-CN" b="1" dirty="0" smtClean="0"/>
              <a:t>称为元素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a’</a:t>
            </a:r>
            <a:r>
              <a:rPr lang="zh-CN" altLang="zh-CN" b="1" dirty="0" smtClean="0"/>
              <a:t>的</a:t>
            </a:r>
            <a:r>
              <a:rPr lang="zh-CN" altLang="zh-CN" b="1" dirty="0" smtClean="0">
                <a:solidFill>
                  <a:srgbClr val="FF0000"/>
                </a:solidFill>
              </a:rPr>
              <a:t>完全逆象</a:t>
            </a:r>
            <a:r>
              <a:rPr lang="zh-CN" altLang="zh-CN" b="1" dirty="0" smtClean="0"/>
              <a:t>，记为</a:t>
            </a:r>
            <a:r>
              <a:rPr lang="en-US" altLang="zh-CN" b="1" dirty="0" smtClean="0"/>
              <a:t>           </a:t>
            </a:r>
            <a:r>
              <a:rPr lang="zh-CN" altLang="zh-CN" b="1" dirty="0" smtClean="0"/>
              <a:t>。</a:t>
            </a:r>
            <a:endParaRPr lang="en-US" altLang="zh-CN" b="1" dirty="0" smtClean="0"/>
          </a:p>
          <a:p>
            <a:pPr>
              <a:buNone/>
            </a:pPr>
            <a:r>
              <a:rPr lang="zh-CN" altLang="zh-CN" b="1" dirty="0" smtClean="0"/>
              <a:t>单位元素</a:t>
            </a:r>
            <a:r>
              <a:rPr lang="en-US" altLang="zh-CN" b="1" dirty="0" smtClean="0"/>
              <a:t>          </a:t>
            </a:r>
            <a:r>
              <a:rPr lang="zh-CN" altLang="zh-CN" b="1" dirty="0" smtClean="0"/>
              <a:t>的完全逆象</a:t>
            </a:r>
            <a:r>
              <a:rPr lang="en-US" altLang="zh-CN" b="1" dirty="0" smtClean="0"/>
              <a:t>           </a:t>
            </a:r>
            <a:r>
              <a:rPr lang="zh-CN" altLang="zh-CN" b="1" dirty="0" smtClean="0"/>
              <a:t>称为同态</a:t>
            </a:r>
            <a:r>
              <a:rPr lang="en-US" altLang="zh-CN" b="1" i="1" dirty="0" smtClean="0"/>
              <a:t>f </a:t>
            </a:r>
            <a:r>
              <a:rPr lang="zh-CN" altLang="zh-CN" b="1" dirty="0" smtClean="0"/>
              <a:t>的核，记为</a:t>
            </a:r>
            <a:r>
              <a:rPr lang="en-US" altLang="zh-CN" b="1" dirty="0" smtClean="0"/>
              <a:t> </a:t>
            </a:r>
            <a:r>
              <a:rPr lang="en-US" altLang="zh-CN" b="1" dirty="0" err="1" smtClean="0"/>
              <a:t>ker</a:t>
            </a:r>
            <a:r>
              <a:rPr lang="en-US" altLang="zh-CN" b="1" dirty="0" smtClean="0"/>
              <a:t>(</a:t>
            </a:r>
            <a:r>
              <a:rPr lang="en-US" altLang="zh-CN" b="1" i="1" dirty="0" smtClean="0"/>
              <a:t>f</a:t>
            </a:r>
            <a:r>
              <a:rPr lang="en-US" altLang="zh-CN" b="1" dirty="0" smtClean="0"/>
              <a:t>)</a:t>
            </a:r>
            <a:r>
              <a:rPr lang="zh-CN" altLang="zh-CN" b="1" dirty="0" smtClean="0"/>
              <a:t>。</a:t>
            </a:r>
            <a:endParaRPr lang="zh-CN" altLang="en-US" b="1" dirty="0"/>
          </a:p>
        </p:txBody>
      </p:sp>
      <p:sp>
        <p:nvSpPr>
          <p:cNvPr id="696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9633" name="Object 1"/>
          <p:cNvGraphicFramePr>
            <a:graphicFrameLocks noChangeAspect="1"/>
          </p:cNvGraphicFramePr>
          <p:nvPr/>
        </p:nvGraphicFramePr>
        <p:xfrm>
          <a:off x="2699792" y="2420888"/>
          <a:ext cx="3200512" cy="476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18" name="Equation" r:id="rId3" imgW="1346200" imgH="203200" progId="Equation.DSMT4">
                  <p:embed/>
                </p:oleObj>
              </mc:Choice>
              <mc:Fallback>
                <p:oleObj name="Equation" r:id="rId3" imgW="1346200" imgH="2032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2420888"/>
                        <a:ext cx="3200512" cy="4766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9635" name="Object 3"/>
          <p:cNvGraphicFramePr>
            <a:graphicFrameLocks noChangeAspect="1"/>
          </p:cNvGraphicFramePr>
          <p:nvPr/>
        </p:nvGraphicFramePr>
        <p:xfrm>
          <a:off x="4074138" y="2952328"/>
          <a:ext cx="857902" cy="332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19" name="Equation" r:id="rId5" imgW="469696" imgH="177723" progId="Equation.DSMT4">
                  <p:embed/>
                </p:oleObj>
              </mc:Choice>
              <mc:Fallback>
                <p:oleObj name="Equation" r:id="rId5" imgW="469696" imgH="177723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4138" y="2952328"/>
                        <a:ext cx="857902" cy="3326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9637" name="Object 5"/>
          <p:cNvGraphicFramePr>
            <a:graphicFrameLocks noChangeAspect="1"/>
          </p:cNvGraphicFramePr>
          <p:nvPr/>
        </p:nvGraphicFramePr>
        <p:xfrm>
          <a:off x="2987824" y="3356992"/>
          <a:ext cx="2331635" cy="404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20" name="Equation" r:id="rId7" imgW="1155700" imgH="203200" progId="Equation.DSMT4">
                  <p:embed/>
                </p:oleObj>
              </mc:Choice>
              <mc:Fallback>
                <p:oleObj name="Equation" r:id="rId7" imgW="1155700" imgH="2032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3356992"/>
                        <a:ext cx="2331635" cy="4046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9639" name="Object 7"/>
          <p:cNvGraphicFramePr>
            <a:graphicFrameLocks noChangeAspect="1"/>
          </p:cNvGraphicFramePr>
          <p:nvPr/>
        </p:nvGraphicFramePr>
        <p:xfrm>
          <a:off x="4788024" y="3861048"/>
          <a:ext cx="918102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21" name="Equation" r:id="rId9" imgW="482391" imgH="228501" progId="Equation.DSMT4">
                  <p:embed/>
                </p:oleObj>
              </mc:Choice>
              <mc:Fallback>
                <p:oleObj name="Equation" r:id="rId9" imgW="482391" imgH="228501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024" y="3861048"/>
                        <a:ext cx="918102" cy="4320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96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5608338"/>
              </p:ext>
            </p:extLst>
          </p:nvPr>
        </p:nvGraphicFramePr>
        <p:xfrm>
          <a:off x="4355039" y="4357811"/>
          <a:ext cx="826189" cy="404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22" name="Equation" r:id="rId11" imgW="469900" imgH="228600" progId="Equation.DSMT4">
                  <p:embed/>
                </p:oleObj>
              </mc:Choice>
              <mc:Fallback>
                <p:oleObj name="Equation" r:id="rId11" imgW="469900" imgH="22860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039" y="4357811"/>
                        <a:ext cx="826189" cy="4046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4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964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1708502"/>
              </p:ext>
            </p:extLst>
          </p:nvPr>
        </p:nvGraphicFramePr>
        <p:xfrm>
          <a:off x="1859398" y="4393815"/>
          <a:ext cx="840394" cy="332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23" name="Equation" r:id="rId13" imgW="457002" imgH="177723" progId="Equation.DSMT4">
                  <p:embed/>
                </p:oleObj>
              </mc:Choice>
              <mc:Fallback>
                <p:oleObj name="Equation" r:id="rId13" imgW="457002" imgH="177723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9398" y="4393815"/>
                        <a:ext cx="840394" cy="3326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66607" y="5634668"/>
            <a:ext cx="77768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 smtClean="0"/>
              <a:t>f(G)</a:t>
            </a:r>
            <a:r>
              <a:rPr lang="en-US" altLang="zh-CN" sz="2800" b="1" dirty="0" smtClean="0"/>
              <a:t>是 G’ </a:t>
            </a:r>
            <a:r>
              <a:rPr lang="en-US" altLang="zh-CN" sz="2800" b="1" dirty="0" err="1" smtClean="0"/>
              <a:t>的一个子群</a:t>
            </a:r>
            <a:r>
              <a:rPr lang="en-US" altLang="zh-CN" sz="2800" b="1" dirty="0" smtClean="0"/>
              <a:t>。</a:t>
            </a:r>
            <a:r>
              <a:rPr lang="en-US" altLang="zh-CN" sz="2800" b="1" dirty="0" err="1" smtClean="0"/>
              <a:t>自然同态的核为正规子群H</a:t>
            </a:r>
            <a:r>
              <a:rPr lang="en-US" altLang="zh-CN" sz="2800" b="1" dirty="0" smtClean="0"/>
              <a:t>。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同态基本定理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b="1" dirty="0" smtClean="0">
                <a:solidFill>
                  <a:schemeClr val="accent1"/>
                </a:solidFill>
              </a:rPr>
              <a:t>定理</a:t>
            </a:r>
            <a:r>
              <a:rPr lang="en-US" altLang="zh-CN" b="1" dirty="0" smtClean="0">
                <a:solidFill>
                  <a:schemeClr val="accent1"/>
                </a:solidFill>
              </a:rPr>
              <a:t>4.4.4</a:t>
            </a:r>
            <a:r>
              <a:rPr lang="zh-CN" altLang="zh-CN" b="1" dirty="0" smtClean="0"/>
              <a:t>（</a:t>
            </a:r>
            <a:r>
              <a:rPr lang="zh-CN" altLang="zh-CN" b="1" dirty="0" smtClean="0">
                <a:solidFill>
                  <a:srgbClr val="FF0000"/>
                </a:solidFill>
              </a:rPr>
              <a:t>群同态基本定理</a:t>
            </a:r>
            <a:r>
              <a:rPr lang="zh-CN" altLang="zh-CN" b="1" dirty="0" smtClean="0"/>
              <a:t>）设</a:t>
            </a:r>
            <a:r>
              <a:rPr lang="en-US" altLang="zh-CN" b="1" i="1" dirty="0" smtClean="0"/>
              <a:t>f</a:t>
            </a:r>
            <a:r>
              <a:rPr lang="zh-CN" altLang="zh-CN" b="1" dirty="0" smtClean="0"/>
              <a:t>是群</a:t>
            </a:r>
            <a:r>
              <a:rPr lang="en-US" altLang="zh-CN" b="1" dirty="0" smtClean="0"/>
              <a:t>G</a:t>
            </a:r>
            <a:r>
              <a:rPr lang="zh-CN" altLang="zh-CN" b="1" dirty="0" smtClean="0"/>
              <a:t>到群</a:t>
            </a:r>
            <a:r>
              <a:rPr lang="en-US" altLang="zh-CN" b="1" dirty="0" smtClean="0"/>
              <a:t>G’</a:t>
            </a:r>
            <a:r>
              <a:rPr lang="zh-CN" altLang="zh-CN" b="1" dirty="0" smtClean="0"/>
              <a:t>的一个满同态映射，</a:t>
            </a:r>
            <a:r>
              <a:rPr lang="en-US" altLang="zh-CN" b="1" dirty="0" smtClean="0"/>
              <a:t>N</a:t>
            </a:r>
            <a:r>
              <a:rPr lang="zh-CN" altLang="zh-CN" b="1" dirty="0" smtClean="0"/>
              <a:t>为</a:t>
            </a:r>
            <a:r>
              <a:rPr lang="en-US" altLang="zh-CN" b="1" i="1" dirty="0" smtClean="0"/>
              <a:t>f</a:t>
            </a:r>
            <a:r>
              <a:rPr lang="zh-CN" altLang="zh-CN" b="1" dirty="0" smtClean="0"/>
              <a:t>的核，则</a:t>
            </a:r>
            <a:r>
              <a:rPr lang="en-US" altLang="zh-CN" b="1" dirty="0" smtClean="0"/>
              <a:t>N</a:t>
            </a:r>
            <a:r>
              <a:rPr lang="zh-CN" altLang="zh-CN" b="1" dirty="0" smtClean="0"/>
              <a:t>是</a:t>
            </a:r>
            <a:r>
              <a:rPr lang="en-US" altLang="zh-CN" b="1" dirty="0" smtClean="0"/>
              <a:t>G</a:t>
            </a:r>
            <a:r>
              <a:rPr lang="zh-CN" altLang="zh-CN" b="1" dirty="0" smtClean="0"/>
              <a:t>的一个正规子群，且</a:t>
            </a:r>
            <a:endParaRPr lang="en-US" altLang="zh-CN" b="1" dirty="0" smtClean="0"/>
          </a:p>
          <a:p>
            <a:endParaRPr lang="en-US" altLang="zh-CN" b="1" dirty="0" smtClean="0"/>
          </a:p>
          <a:p>
            <a:endParaRPr lang="en-US" altLang="zh-CN" b="1" dirty="0" smtClean="0"/>
          </a:p>
          <a:p>
            <a:r>
              <a:rPr lang="zh-CN" altLang="en-US" b="1" dirty="0" smtClean="0"/>
              <a:t>证明思路</a:t>
            </a:r>
            <a:r>
              <a:rPr lang="en-US" altLang="zh-CN" b="1" dirty="0" smtClean="0">
                <a:sym typeface="Wingdings" pitchFamily="2" charset="2"/>
              </a:rPr>
              <a:t>:(1)</a:t>
            </a:r>
            <a:r>
              <a:rPr lang="zh-CN" altLang="en-US" b="1" dirty="0" smtClean="0"/>
              <a:t>利用正规子群的等价定义证明</a:t>
            </a:r>
            <a:r>
              <a:rPr lang="en-US" altLang="zh-CN" b="1" dirty="0" smtClean="0"/>
              <a:t>N</a:t>
            </a:r>
            <a:r>
              <a:rPr lang="zh-CN" altLang="en-US" b="1" dirty="0" smtClean="0"/>
              <a:t>是</a:t>
            </a:r>
            <a:r>
              <a:rPr lang="en-US" altLang="zh-CN" b="1" dirty="0" smtClean="0"/>
              <a:t>G</a:t>
            </a:r>
            <a:r>
              <a:rPr lang="zh-CN" altLang="en-US" b="1" dirty="0" smtClean="0"/>
              <a:t>的正规子群。</a:t>
            </a:r>
            <a:endParaRPr lang="en-US" altLang="zh-CN" b="1" dirty="0" smtClean="0"/>
          </a:p>
          <a:p>
            <a:pPr>
              <a:buNone/>
            </a:pPr>
            <a:r>
              <a:rPr lang="en-US" altLang="zh-CN" b="1" dirty="0" smtClean="0"/>
              <a:t>(2)</a:t>
            </a:r>
            <a:r>
              <a:rPr lang="zh-CN" altLang="en-US" b="1" dirty="0" smtClean="0"/>
              <a:t>构造</a:t>
            </a:r>
            <a:r>
              <a:rPr lang="en-US" altLang="zh-CN" b="1" dirty="0" smtClean="0"/>
              <a:t>G/</a:t>
            </a:r>
            <a:r>
              <a:rPr lang="en-US" altLang="zh-CN" b="1" dirty="0" err="1" smtClean="0"/>
              <a:t>H与G’之间的同构映射</a:t>
            </a:r>
            <a:endParaRPr lang="zh-CN" altLang="en-US" b="1" dirty="0"/>
          </a:p>
        </p:txBody>
      </p:sp>
      <p:sp>
        <p:nvSpPr>
          <p:cNvPr id="7065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0657" name="Object 1"/>
          <p:cNvGraphicFramePr>
            <a:graphicFrameLocks noChangeAspect="1"/>
          </p:cNvGraphicFramePr>
          <p:nvPr/>
        </p:nvGraphicFramePr>
        <p:xfrm>
          <a:off x="3347864" y="2924944"/>
          <a:ext cx="1554762" cy="404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87" name="Equation" r:id="rId3" imgW="698197" imgH="177723" progId="Equation.DSMT4">
                  <p:embed/>
                </p:oleObj>
              </mc:Choice>
              <mc:Fallback>
                <p:oleObj name="Equation" r:id="rId3" imgW="698197" imgH="177723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2924944"/>
                        <a:ext cx="1554762" cy="4046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同态基本定理的证明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39552" y="2132856"/>
          <a:ext cx="8080375" cy="3960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1" name="文档" r:id="rId4" imgW="8080140" imgH="3961135" progId="Word.Document.12">
                  <p:embed/>
                </p:oleObj>
              </mc:Choice>
              <mc:Fallback>
                <p:oleObj name="文档" r:id="rId4" imgW="8080140" imgH="3961135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2132856"/>
                        <a:ext cx="8080375" cy="3960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476672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同态基本定理的证明（续）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39750" y="1844824"/>
          <a:ext cx="8047038" cy="474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35" name="文档" r:id="rId4" imgW="8080140" imgH="4753219" progId="Word.Document.12">
                  <p:embed/>
                </p:oleObj>
              </mc:Choice>
              <mc:Fallback>
                <p:oleObj name="文档" r:id="rId4" imgW="8080140" imgH="4753219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844824"/>
                        <a:ext cx="8047038" cy="474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4.5 </a:t>
            </a:r>
            <a:r>
              <a:rPr lang="zh-CN" altLang="en-US" dirty="0" smtClean="0"/>
              <a:t>循环群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1925568"/>
          </a:xfrm>
        </p:spPr>
        <p:txBody>
          <a:bodyPr/>
          <a:lstStyle/>
          <a:p>
            <a:r>
              <a:rPr lang="zh-CN" altLang="zh-CN" b="1" dirty="0" smtClean="0">
                <a:solidFill>
                  <a:schemeClr val="accent1"/>
                </a:solidFill>
              </a:rPr>
              <a:t>定义</a:t>
            </a:r>
            <a:r>
              <a:rPr lang="en-US" altLang="zh-CN" b="1" dirty="0" smtClean="0">
                <a:solidFill>
                  <a:schemeClr val="accent1"/>
                </a:solidFill>
              </a:rPr>
              <a:t>4.5.1 </a:t>
            </a:r>
            <a:r>
              <a:rPr lang="zh-CN" altLang="zh-CN" b="1" dirty="0" smtClean="0"/>
              <a:t>设</a:t>
            </a:r>
            <a:r>
              <a:rPr lang="en-US" altLang="zh-CN" b="1" dirty="0" smtClean="0"/>
              <a:t>G</a:t>
            </a:r>
            <a:r>
              <a:rPr lang="zh-CN" altLang="zh-CN" b="1" dirty="0" smtClean="0"/>
              <a:t>是一个群，若存在一个元素</a:t>
            </a:r>
            <a:r>
              <a:rPr lang="en-US" altLang="zh-CN" b="1" i="1" dirty="0" smtClean="0"/>
              <a:t>a</a:t>
            </a:r>
            <a:r>
              <a:rPr lang="zh-CN" altLang="zh-CN" b="1" dirty="0" smtClean="0"/>
              <a:t>，使得</a:t>
            </a:r>
            <a:r>
              <a:rPr lang="en-US" altLang="zh-CN" b="1" dirty="0" smtClean="0"/>
              <a:t>        </a:t>
            </a:r>
            <a:r>
              <a:rPr lang="zh-CN" altLang="zh-CN" b="1" dirty="0" smtClean="0"/>
              <a:t>，则称</a:t>
            </a:r>
            <a:r>
              <a:rPr lang="en-US" altLang="zh-CN" b="1" dirty="0" smtClean="0"/>
              <a:t>G</a:t>
            </a:r>
            <a:r>
              <a:rPr lang="zh-CN" altLang="zh-CN" b="1" dirty="0" smtClean="0"/>
              <a:t>为</a:t>
            </a:r>
            <a:r>
              <a:rPr lang="zh-CN" altLang="zh-CN" b="1" dirty="0" smtClean="0">
                <a:solidFill>
                  <a:srgbClr val="FF0000"/>
                </a:solidFill>
              </a:rPr>
              <a:t>循环群</a:t>
            </a:r>
            <a:r>
              <a:rPr lang="zh-CN" altLang="zh-CN" b="1" dirty="0" smtClean="0"/>
              <a:t>。元素</a:t>
            </a:r>
            <a:r>
              <a:rPr lang="en-US" altLang="zh-CN" b="1" i="1" dirty="0" smtClean="0"/>
              <a:t>a</a:t>
            </a:r>
            <a:r>
              <a:rPr lang="zh-CN" altLang="zh-CN" b="1" dirty="0" smtClean="0"/>
              <a:t>称为</a:t>
            </a:r>
            <a:r>
              <a:rPr lang="en-US" altLang="zh-CN" b="1" dirty="0" smtClean="0"/>
              <a:t>G</a:t>
            </a:r>
            <a:r>
              <a:rPr lang="zh-CN" altLang="zh-CN" b="1" dirty="0" smtClean="0"/>
              <a:t>的生成元。若</a:t>
            </a:r>
            <a:r>
              <a:rPr lang="en-US" altLang="zh-CN" b="1" dirty="0" smtClean="0"/>
              <a:t>              </a:t>
            </a:r>
            <a:r>
              <a:rPr lang="zh-CN" altLang="zh-CN" b="1" dirty="0" smtClean="0"/>
              <a:t>，</a:t>
            </a:r>
            <a:r>
              <a:rPr lang="en-US" altLang="zh-CN" b="1" dirty="0" smtClean="0"/>
              <a:t>G</a:t>
            </a:r>
            <a:r>
              <a:rPr lang="zh-CN" altLang="zh-CN" b="1" dirty="0" smtClean="0"/>
              <a:t>称为</a:t>
            </a:r>
            <a:r>
              <a:rPr lang="zh-CN" altLang="zh-CN" b="1" dirty="0" smtClean="0">
                <a:solidFill>
                  <a:srgbClr val="FF0000"/>
                </a:solidFill>
              </a:rPr>
              <a:t>无限循环群</a:t>
            </a:r>
            <a:r>
              <a:rPr lang="zh-CN" altLang="zh-CN" b="1" dirty="0" smtClean="0"/>
              <a:t>；若</a:t>
            </a:r>
            <a:r>
              <a:rPr lang="en-US" altLang="zh-CN" b="1" dirty="0" smtClean="0"/>
              <a:t>             </a:t>
            </a:r>
            <a:r>
              <a:rPr lang="zh-CN" altLang="zh-CN" b="1" dirty="0" smtClean="0"/>
              <a:t>，</a:t>
            </a:r>
            <a:r>
              <a:rPr lang="en-US" altLang="zh-CN" b="1" dirty="0" smtClean="0"/>
              <a:t>n</a:t>
            </a:r>
            <a:r>
              <a:rPr lang="zh-CN" altLang="zh-CN" b="1" dirty="0" smtClean="0"/>
              <a:t>是某个正整数，则</a:t>
            </a:r>
            <a:r>
              <a:rPr lang="en-US" altLang="zh-CN" b="1" dirty="0" smtClean="0"/>
              <a:t>G</a:t>
            </a:r>
            <a:r>
              <a:rPr lang="zh-CN" altLang="zh-CN" b="1" dirty="0" smtClean="0"/>
              <a:t>称为</a:t>
            </a:r>
            <a:r>
              <a:rPr lang="zh-CN" altLang="zh-CN" b="1" dirty="0" smtClean="0">
                <a:solidFill>
                  <a:srgbClr val="FF0000"/>
                </a:solidFill>
              </a:rPr>
              <a:t>有限循环群</a:t>
            </a:r>
            <a:r>
              <a:rPr lang="zh-CN" altLang="zh-CN" b="1" dirty="0" smtClean="0"/>
              <a:t>。</a:t>
            </a:r>
            <a:endParaRPr lang="zh-CN" altLang="en-US" b="1" dirty="0"/>
          </a:p>
        </p:txBody>
      </p:sp>
      <p:sp>
        <p:nvSpPr>
          <p:cNvPr id="7373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3729" name="Object 1"/>
          <p:cNvGraphicFramePr>
            <a:graphicFrameLocks noChangeAspect="1"/>
          </p:cNvGraphicFramePr>
          <p:nvPr/>
        </p:nvGraphicFramePr>
        <p:xfrm>
          <a:off x="7884368" y="1916832"/>
          <a:ext cx="809328" cy="404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24" name="Equation" r:id="rId3" imgW="507780" imgH="253890" progId="Equation.DSMT4">
                  <p:embed/>
                </p:oleObj>
              </mc:Choice>
              <mc:Fallback>
                <p:oleObj name="Equation" r:id="rId3" imgW="507780" imgH="25389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4368" y="1916832"/>
                        <a:ext cx="809328" cy="4046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3731" name="Object 3"/>
          <p:cNvGraphicFramePr>
            <a:graphicFrameLocks noChangeAspect="1"/>
          </p:cNvGraphicFramePr>
          <p:nvPr/>
        </p:nvGraphicFramePr>
        <p:xfrm>
          <a:off x="7164288" y="2420888"/>
          <a:ext cx="1136913" cy="404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25" name="Equation" r:id="rId5" imgW="571252" imgH="203112" progId="Equation.DSMT4">
                  <p:embed/>
                </p:oleObj>
              </mc:Choice>
              <mc:Fallback>
                <p:oleObj name="Equation" r:id="rId5" imgW="571252" imgH="203112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288" y="2420888"/>
                        <a:ext cx="1136913" cy="4046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3733" name="Object 5"/>
          <p:cNvGraphicFramePr>
            <a:graphicFrameLocks noChangeAspect="1"/>
          </p:cNvGraphicFramePr>
          <p:nvPr/>
        </p:nvGraphicFramePr>
        <p:xfrm>
          <a:off x="4067944" y="2780928"/>
          <a:ext cx="1098374" cy="404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26" name="Equation" r:id="rId7" imgW="545626" imgH="203024" progId="Equation.DSMT4">
                  <p:embed/>
                </p:oleObj>
              </mc:Choice>
              <mc:Fallback>
                <p:oleObj name="Equation" r:id="rId7" imgW="545626" imgH="203024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944" y="2780928"/>
                        <a:ext cx="1098374" cy="4046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79512" y="4005064"/>
            <a:ext cx="864096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b="1" dirty="0" smtClean="0">
                <a:solidFill>
                  <a:schemeClr val="accent1"/>
                </a:solidFill>
              </a:rPr>
              <a:t>例</a:t>
            </a:r>
            <a:r>
              <a:rPr lang="en-US" altLang="zh-CN" sz="2800" b="1" dirty="0" smtClean="0">
                <a:solidFill>
                  <a:schemeClr val="accent1"/>
                </a:solidFill>
              </a:rPr>
              <a:t>4.5.1 </a:t>
            </a:r>
            <a:r>
              <a:rPr lang="zh-CN" altLang="zh-CN" sz="2800" b="1" dirty="0" smtClean="0"/>
              <a:t>（</a:t>
            </a:r>
            <a:r>
              <a:rPr lang="en-US" altLang="zh-CN" sz="2800" b="1" dirty="0" smtClean="0"/>
              <a:t>1</a:t>
            </a:r>
            <a:r>
              <a:rPr lang="zh-CN" altLang="zh-CN" sz="2800" b="1" dirty="0" smtClean="0"/>
              <a:t>）整数加法群</a:t>
            </a:r>
            <a:r>
              <a:rPr lang="en-US" altLang="zh-CN" sz="2800" b="1" dirty="0" smtClean="0"/>
              <a:t>Z</a:t>
            </a:r>
            <a:r>
              <a:rPr lang="zh-CN" altLang="zh-CN" sz="2800" b="1" dirty="0" smtClean="0"/>
              <a:t>是循环群，其生成元为</a:t>
            </a:r>
            <a:r>
              <a:rPr lang="en-US" altLang="zh-CN" sz="2800" b="1" dirty="0" smtClean="0"/>
              <a:t>1</a:t>
            </a:r>
            <a:r>
              <a:rPr lang="zh-CN" altLang="zh-CN" sz="2800" b="1" dirty="0" smtClean="0"/>
              <a:t>或</a:t>
            </a:r>
            <a:r>
              <a:rPr lang="en-US" altLang="zh-CN" sz="2800" b="1" dirty="0" smtClean="0"/>
              <a:t>-1</a:t>
            </a:r>
            <a:r>
              <a:rPr lang="zh-CN" altLang="zh-CN" sz="2800" b="1" dirty="0" smtClean="0"/>
              <a:t>。</a:t>
            </a:r>
            <a:endParaRPr lang="en-US" altLang="zh-CN" sz="2800" b="1" dirty="0" smtClean="0"/>
          </a:p>
          <a:p>
            <a:endParaRPr lang="zh-CN" altLang="zh-CN" sz="2800" b="1" dirty="0" smtClean="0"/>
          </a:p>
          <a:p>
            <a:r>
              <a:rPr lang="en-US" altLang="zh-CN" sz="2800" b="1" dirty="0" smtClean="0"/>
              <a:t>        </a:t>
            </a:r>
            <a:r>
              <a:rPr lang="zh-CN" altLang="zh-CN" sz="2800" b="1" dirty="0" smtClean="0"/>
              <a:t>（</a:t>
            </a:r>
            <a:r>
              <a:rPr lang="en-US" altLang="zh-CN" sz="2800" b="1" dirty="0" smtClean="0"/>
              <a:t>2</a:t>
            </a:r>
            <a:r>
              <a:rPr lang="zh-CN" altLang="zh-CN" sz="2800" b="1" dirty="0" smtClean="0"/>
              <a:t>）模整数</a:t>
            </a:r>
            <a:r>
              <a:rPr lang="en-US" altLang="zh-CN" sz="2800" b="1" dirty="0" smtClean="0"/>
              <a:t>m</a:t>
            </a:r>
            <a:r>
              <a:rPr lang="zh-CN" altLang="zh-CN" sz="2800" b="1" dirty="0" smtClean="0"/>
              <a:t>剩余类加群</a:t>
            </a:r>
            <a:r>
              <a:rPr lang="en-US" altLang="zh-CN" sz="2800" b="1" dirty="0" err="1" smtClean="0"/>
              <a:t>Z</a:t>
            </a:r>
            <a:r>
              <a:rPr lang="en-US" altLang="zh-CN" sz="2800" b="1" baseline="-25000" dirty="0" err="1" smtClean="0"/>
              <a:t>m</a:t>
            </a:r>
            <a:r>
              <a:rPr lang="zh-CN" altLang="zh-CN" sz="2800" b="1" dirty="0" smtClean="0"/>
              <a:t>是循环群，其生成元为</a:t>
            </a:r>
            <a:r>
              <a:rPr lang="en-US" altLang="zh-CN" sz="2800" b="1" dirty="0" smtClean="0"/>
              <a:t>[1]</a:t>
            </a:r>
            <a:r>
              <a:rPr lang="zh-CN" altLang="zh-CN" sz="2800" b="1" dirty="0" smtClean="0"/>
              <a:t>。</a:t>
            </a:r>
          </a:p>
          <a:p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循环群的生成元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917456"/>
          </a:xfrm>
        </p:spPr>
        <p:txBody>
          <a:bodyPr/>
          <a:lstStyle/>
          <a:p>
            <a:r>
              <a:rPr lang="zh-CN" altLang="zh-CN" b="1" dirty="0" smtClean="0">
                <a:solidFill>
                  <a:schemeClr val="accent1"/>
                </a:solidFill>
              </a:rPr>
              <a:t>定理</a:t>
            </a:r>
            <a:r>
              <a:rPr lang="en-US" altLang="zh-CN" b="1" dirty="0" smtClean="0">
                <a:solidFill>
                  <a:schemeClr val="accent1"/>
                </a:solidFill>
              </a:rPr>
              <a:t>4.5.1 </a:t>
            </a:r>
            <a:r>
              <a:rPr lang="zh-CN" altLang="zh-CN" b="1" dirty="0" smtClean="0"/>
              <a:t>设</a:t>
            </a:r>
            <a:r>
              <a:rPr lang="en-US" altLang="zh-CN" b="1" dirty="0" smtClean="0"/>
              <a:t>         </a:t>
            </a:r>
            <a:r>
              <a:rPr lang="zh-CN" altLang="zh-CN" b="1" dirty="0" smtClean="0"/>
              <a:t>是无限循环群，则</a:t>
            </a:r>
            <a:r>
              <a:rPr lang="en-US" altLang="zh-CN" b="1" dirty="0" smtClean="0"/>
              <a:t>G</a:t>
            </a:r>
            <a:r>
              <a:rPr lang="zh-CN" altLang="zh-CN" b="1" dirty="0" smtClean="0"/>
              <a:t>只有两个生成元为</a:t>
            </a:r>
            <a:r>
              <a:rPr lang="en-US" altLang="zh-CN" b="1" dirty="0" smtClean="0"/>
              <a:t>      </a:t>
            </a:r>
            <a:r>
              <a:rPr lang="zh-CN" altLang="zh-CN" b="1" dirty="0" smtClean="0"/>
              <a:t>和</a:t>
            </a:r>
            <a:r>
              <a:rPr lang="en-US" altLang="zh-CN" b="1" dirty="0" smtClean="0"/>
              <a:t>      </a:t>
            </a:r>
            <a:r>
              <a:rPr lang="zh-CN" altLang="zh-CN" b="1" dirty="0" smtClean="0"/>
              <a:t>。</a:t>
            </a:r>
            <a:endParaRPr lang="zh-CN" altLang="en-US" b="1" dirty="0"/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4753" name="Object 1"/>
          <p:cNvGraphicFramePr>
            <a:graphicFrameLocks noChangeAspect="1"/>
          </p:cNvGraphicFramePr>
          <p:nvPr/>
        </p:nvGraphicFramePr>
        <p:xfrm>
          <a:off x="2483768" y="1988840"/>
          <a:ext cx="827584" cy="4137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80" name="Equation" r:id="rId3" imgW="507780" imgH="253890" progId="Equation.DSMT4">
                  <p:embed/>
                </p:oleObj>
              </mc:Choice>
              <mc:Fallback>
                <p:oleObj name="Equation" r:id="rId3" imgW="507780" imgH="25389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1988840"/>
                        <a:ext cx="827584" cy="4137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4755" name="Object 3"/>
          <p:cNvGraphicFramePr>
            <a:graphicFrameLocks noChangeAspect="1"/>
          </p:cNvGraphicFramePr>
          <p:nvPr/>
        </p:nvGraphicFramePr>
        <p:xfrm>
          <a:off x="1259632" y="2420888"/>
          <a:ext cx="323528" cy="323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81" name="Equation" r:id="rId5" imgW="126835" imgH="139518" progId="Equation.DSMT4">
                  <p:embed/>
                </p:oleObj>
              </mc:Choice>
              <mc:Fallback>
                <p:oleObj name="Equation" r:id="rId5" imgW="126835" imgH="139518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2420888"/>
                        <a:ext cx="323528" cy="3235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4757" name="Object 5"/>
          <p:cNvGraphicFramePr>
            <a:graphicFrameLocks noChangeAspect="1"/>
          </p:cNvGraphicFramePr>
          <p:nvPr/>
        </p:nvGraphicFramePr>
        <p:xfrm>
          <a:off x="2016223" y="2276872"/>
          <a:ext cx="473195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82" name="Equation" r:id="rId7" imgW="215713" imgH="203024" progId="Equation.DSMT4">
                  <p:embed/>
                </p:oleObj>
              </mc:Choice>
              <mc:Fallback>
                <p:oleObj name="Equation" r:id="rId7" imgW="215713" imgH="203024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223" y="2276872"/>
                        <a:ext cx="473195" cy="4320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6548694"/>
              </p:ext>
            </p:extLst>
          </p:nvPr>
        </p:nvGraphicFramePr>
        <p:xfrm>
          <a:off x="806206" y="3050312"/>
          <a:ext cx="7531587" cy="3456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83" name="文档" r:id="rId10" imgW="6105283" imgH="2801261" progId="Word.Document.12">
                  <p:embed/>
                </p:oleObj>
              </mc:Choice>
              <mc:Fallback>
                <p:oleObj name="文档" r:id="rId10" imgW="6105283" imgH="2801261" progId="Word.Document.12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206" y="3050312"/>
                        <a:ext cx="7531587" cy="345638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循环群的生成元 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989464"/>
          </a:xfrm>
        </p:spPr>
        <p:txBody>
          <a:bodyPr/>
          <a:lstStyle/>
          <a:p>
            <a:r>
              <a:rPr lang="zh-CN" altLang="zh-CN" b="1" dirty="0" smtClean="0"/>
              <a:t>设</a:t>
            </a:r>
            <a:r>
              <a:rPr lang="en-US" altLang="zh-CN" b="1" dirty="0" smtClean="0"/>
              <a:t>            </a:t>
            </a:r>
            <a:r>
              <a:rPr lang="zh-CN" altLang="zh-CN" b="1" dirty="0" smtClean="0"/>
              <a:t>是</a:t>
            </a:r>
            <a:r>
              <a:rPr lang="en-US" altLang="zh-CN" b="1" dirty="0" smtClean="0"/>
              <a:t>n</a:t>
            </a:r>
            <a:r>
              <a:rPr lang="zh-CN" altLang="zh-CN" b="1" dirty="0" smtClean="0"/>
              <a:t>阶循环群，则群</a:t>
            </a:r>
            <a:r>
              <a:rPr lang="en-US" altLang="zh-CN" b="1" dirty="0" smtClean="0"/>
              <a:t>G</a:t>
            </a:r>
            <a:r>
              <a:rPr lang="zh-CN" altLang="zh-CN" b="1" dirty="0" smtClean="0"/>
              <a:t>中的元素都是</a:t>
            </a:r>
            <a:r>
              <a:rPr lang="en-US" altLang="zh-CN" b="1" dirty="0" smtClean="0"/>
              <a:t>    </a:t>
            </a:r>
            <a:r>
              <a:rPr lang="zh-CN" altLang="zh-CN" b="1" dirty="0" smtClean="0"/>
              <a:t>的形式，其中</a:t>
            </a:r>
            <a:r>
              <a:rPr lang="en-US" altLang="zh-CN" b="1" dirty="0" smtClean="0"/>
              <a:t>               </a:t>
            </a:r>
            <a:r>
              <a:rPr lang="zh-CN" altLang="zh-CN" b="1" dirty="0" smtClean="0"/>
              <a:t>。</a:t>
            </a:r>
            <a:endParaRPr lang="zh-CN" altLang="en-US" b="1" dirty="0"/>
          </a:p>
        </p:txBody>
      </p:sp>
      <p:sp>
        <p:nvSpPr>
          <p:cNvPr id="757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5777" name="Object 1"/>
          <p:cNvGraphicFramePr>
            <a:graphicFrameLocks noChangeAspect="1"/>
          </p:cNvGraphicFramePr>
          <p:nvPr/>
        </p:nvGraphicFramePr>
        <p:xfrm>
          <a:off x="1224136" y="1971092"/>
          <a:ext cx="899592" cy="449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66" name="Equation" r:id="rId3" imgW="507780" imgH="253890" progId="Equation.DSMT4">
                  <p:embed/>
                </p:oleObj>
              </mc:Choice>
              <mc:Fallback>
                <p:oleObj name="Equation" r:id="rId3" imgW="507780" imgH="25389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4136" y="1971092"/>
                        <a:ext cx="899592" cy="4497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5779" name="Object 3"/>
          <p:cNvGraphicFramePr>
            <a:graphicFrameLocks noChangeAspect="1"/>
          </p:cNvGraphicFramePr>
          <p:nvPr/>
        </p:nvGraphicFramePr>
        <p:xfrm>
          <a:off x="7164288" y="1916832"/>
          <a:ext cx="395536" cy="437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67" name="Equation" r:id="rId5" imgW="177569" imgH="202936" progId="Equation.DSMT4">
                  <p:embed/>
                </p:oleObj>
              </mc:Choice>
              <mc:Fallback>
                <p:oleObj name="Equation" r:id="rId5" imgW="177569" imgH="202936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288" y="1916832"/>
                        <a:ext cx="395536" cy="43717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5781" name="Object 5"/>
          <p:cNvGraphicFramePr>
            <a:graphicFrameLocks noChangeAspect="1"/>
          </p:cNvGraphicFramePr>
          <p:nvPr/>
        </p:nvGraphicFramePr>
        <p:xfrm>
          <a:off x="1447800" y="2349500"/>
          <a:ext cx="1312863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68" name="Equation" r:id="rId7" imgW="583920" imgH="177480" progId="Equation.DSMT4">
                  <p:embed/>
                </p:oleObj>
              </mc:Choice>
              <mc:Fallback>
                <p:oleObj name="Equation" r:id="rId7" imgW="583920" imgH="1774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349500"/>
                        <a:ext cx="1312863" cy="40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1560" y="3429000"/>
            <a:ext cx="74888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b="1" dirty="0" smtClean="0">
                <a:solidFill>
                  <a:schemeClr val="accent1"/>
                </a:solidFill>
              </a:rPr>
              <a:t>定理</a:t>
            </a:r>
            <a:r>
              <a:rPr lang="en-US" altLang="zh-CN" sz="2800" b="1" dirty="0" smtClean="0">
                <a:solidFill>
                  <a:schemeClr val="accent1"/>
                </a:solidFill>
              </a:rPr>
              <a:t>4.5.2 </a:t>
            </a:r>
            <a:r>
              <a:rPr lang="zh-CN" altLang="zh-CN" sz="2800" b="1" dirty="0" smtClean="0"/>
              <a:t>设</a:t>
            </a:r>
            <a:r>
              <a:rPr lang="en-US" altLang="zh-CN" sz="2800" b="1" dirty="0" smtClean="0"/>
              <a:t>           </a:t>
            </a:r>
            <a:r>
              <a:rPr lang="zh-CN" altLang="zh-CN" sz="2800" b="1" dirty="0" smtClean="0"/>
              <a:t>是</a:t>
            </a:r>
            <a:r>
              <a:rPr lang="en-US" altLang="zh-CN" sz="2800" b="1" dirty="0" smtClean="0"/>
              <a:t>n</a:t>
            </a:r>
            <a:r>
              <a:rPr lang="zh-CN" altLang="zh-CN" sz="2800" b="1" dirty="0" smtClean="0"/>
              <a:t>阶循环群，</a:t>
            </a:r>
            <a:r>
              <a:rPr lang="en-US" altLang="zh-CN" sz="2800" b="1" dirty="0" smtClean="0"/>
              <a:t>   </a:t>
            </a:r>
            <a:r>
              <a:rPr lang="zh-CN" altLang="zh-CN" sz="2800" b="1" dirty="0" smtClean="0"/>
              <a:t>是</a:t>
            </a:r>
            <a:r>
              <a:rPr lang="en-US" altLang="zh-CN" sz="2800" b="1" dirty="0" smtClean="0"/>
              <a:t>G</a:t>
            </a:r>
            <a:r>
              <a:rPr lang="zh-CN" altLang="zh-CN" sz="2800" b="1" dirty="0" smtClean="0"/>
              <a:t>的生成元的充要条件是</a:t>
            </a:r>
            <a:r>
              <a:rPr lang="en-US" altLang="zh-CN" sz="2800" b="1" dirty="0" smtClean="0"/>
              <a:t> </a:t>
            </a:r>
            <a:r>
              <a:rPr lang="en-US" altLang="zh-CN" sz="2800" b="1" dirty="0" err="1" smtClean="0"/>
              <a:t>gcd</a:t>
            </a:r>
            <a:r>
              <a:rPr lang="en-US" altLang="zh-CN" sz="2800" b="1" dirty="0" smtClean="0"/>
              <a:t>(</a:t>
            </a:r>
            <a:r>
              <a:rPr lang="en-US" altLang="zh-CN" sz="2800" b="1" dirty="0" err="1" smtClean="0"/>
              <a:t>k,n</a:t>
            </a:r>
            <a:r>
              <a:rPr lang="en-US" altLang="zh-CN" sz="2800" b="1" dirty="0" smtClean="0"/>
              <a:t>)=1 </a:t>
            </a:r>
            <a:r>
              <a:rPr lang="zh-CN" altLang="zh-CN" sz="2800" b="1" dirty="0" smtClean="0"/>
              <a:t>。</a:t>
            </a:r>
          </a:p>
        </p:txBody>
      </p:sp>
      <p:graphicFrame>
        <p:nvGraphicFramePr>
          <p:cNvPr id="75783" name="Object 7"/>
          <p:cNvGraphicFramePr>
            <a:graphicFrameLocks noChangeAspect="1"/>
          </p:cNvGraphicFramePr>
          <p:nvPr/>
        </p:nvGraphicFramePr>
        <p:xfrm>
          <a:off x="2555776" y="3483793"/>
          <a:ext cx="900112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69" name="Equation" r:id="rId9" imgW="507780" imgH="253890" progId="Equation.DSMT4">
                  <p:embed/>
                </p:oleObj>
              </mc:Choice>
              <mc:Fallback>
                <p:oleObj name="Equation" r:id="rId9" imgW="507780" imgH="25389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3483793"/>
                        <a:ext cx="900112" cy="449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4" name="Object 8"/>
          <p:cNvGraphicFramePr>
            <a:graphicFrameLocks noChangeAspect="1"/>
          </p:cNvGraphicFramePr>
          <p:nvPr/>
        </p:nvGraphicFramePr>
        <p:xfrm>
          <a:off x="5724128" y="3429000"/>
          <a:ext cx="395287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70" name="Equation" r:id="rId10" imgW="177569" imgH="202936" progId="Equation.DSMT4">
                  <p:embed/>
                </p:oleObj>
              </mc:Choice>
              <mc:Fallback>
                <p:oleObj name="Equation" r:id="rId10" imgW="177569" imgH="202936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128" y="3429000"/>
                        <a:ext cx="395287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39552" y="4725144"/>
            <a:ext cx="79928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证明思路：证明满足</a:t>
            </a:r>
            <a:r>
              <a:rPr lang="zh-CN" altLang="zh-CN" sz="2800" b="1" dirty="0" smtClean="0"/>
              <a:t>是</a:t>
            </a:r>
            <a:r>
              <a:rPr lang="en-US" altLang="zh-CN" sz="2800" b="1" dirty="0" smtClean="0"/>
              <a:t> </a:t>
            </a:r>
            <a:r>
              <a:rPr lang="en-US" altLang="zh-CN" sz="2800" b="1" dirty="0" err="1" smtClean="0"/>
              <a:t>gcd</a:t>
            </a:r>
            <a:r>
              <a:rPr lang="en-US" altLang="zh-CN" sz="2800" b="1" dirty="0" smtClean="0"/>
              <a:t>(</a:t>
            </a:r>
            <a:r>
              <a:rPr lang="en-US" altLang="zh-CN" sz="2800" b="1" dirty="0" err="1" smtClean="0"/>
              <a:t>k,n</a:t>
            </a:r>
            <a:r>
              <a:rPr lang="en-US" altLang="zh-CN" sz="2800" b="1" dirty="0" smtClean="0"/>
              <a:t>)=1</a:t>
            </a:r>
            <a:r>
              <a:rPr lang="zh-CN" altLang="en-US" sz="2800" b="1" dirty="0" smtClean="0"/>
              <a:t> 的     的阶为</a:t>
            </a:r>
            <a:r>
              <a:rPr lang="en-US" altLang="zh-CN" sz="2800" b="1" dirty="0" smtClean="0"/>
              <a:t>n</a:t>
            </a:r>
            <a:r>
              <a:rPr lang="zh-CN" altLang="en-US" sz="2800" b="1" dirty="0" smtClean="0"/>
              <a:t>，注意要抓住阶的定义中的“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最小正整数</a:t>
            </a:r>
            <a:r>
              <a:rPr lang="zh-CN" altLang="en-US" sz="2800" b="1" dirty="0" smtClean="0"/>
              <a:t>”。</a:t>
            </a:r>
            <a:endParaRPr lang="zh-CN" altLang="en-US" sz="2800" b="1" dirty="0"/>
          </a:p>
        </p:txBody>
      </p:sp>
      <p:graphicFrame>
        <p:nvGraphicFramePr>
          <p:cNvPr id="75785" name="Object 9"/>
          <p:cNvGraphicFramePr>
            <a:graphicFrameLocks noChangeAspect="1"/>
          </p:cNvGraphicFramePr>
          <p:nvPr/>
        </p:nvGraphicFramePr>
        <p:xfrm>
          <a:off x="6444208" y="4725144"/>
          <a:ext cx="395288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71" name="Equation" r:id="rId11" imgW="177569" imgH="202936" progId="Equation.DSMT4">
                  <p:embed/>
                </p:oleObj>
              </mc:Choice>
              <mc:Fallback>
                <p:oleObj name="Equation" r:id="rId11" imgW="177569" imgH="202936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4208" y="4725144"/>
                        <a:ext cx="395288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定理</a:t>
            </a:r>
            <a:r>
              <a:rPr lang="en-US" altLang="zh-CN" dirty="0" smtClean="0"/>
              <a:t>4.5.2</a:t>
            </a:r>
            <a:r>
              <a:rPr lang="zh-CN" altLang="en-US" dirty="0" smtClean="0"/>
              <a:t>的证明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4960963"/>
              </p:ext>
            </p:extLst>
          </p:nvPr>
        </p:nvGraphicFramePr>
        <p:xfrm>
          <a:off x="173038" y="2205038"/>
          <a:ext cx="8636000" cy="156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73" name="文档" r:id="rId4" imgW="6568560" imgH="1189080" progId="Word.Document.12">
                  <p:embed/>
                </p:oleObj>
              </mc:Choice>
              <mc:Fallback>
                <p:oleObj name="文档" r:id="rId4" imgW="6568560" imgH="1189080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038" y="2205038"/>
                        <a:ext cx="8636000" cy="15605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728852"/>
              </p:ext>
            </p:extLst>
          </p:nvPr>
        </p:nvGraphicFramePr>
        <p:xfrm>
          <a:off x="179512" y="4365104"/>
          <a:ext cx="9227486" cy="16600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74" name="文档" r:id="rId7" imgW="6554485" imgH="1386974" progId="Word.Document.12">
                  <p:embed/>
                </p:oleObj>
              </mc:Choice>
              <mc:Fallback>
                <p:oleObj name="文档" r:id="rId7" imgW="6554485" imgH="1386974" progId="Word.Document.12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4365104"/>
                        <a:ext cx="9227486" cy="166005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引理</a:t>
            </a:r>
            <a:r>
              <a:rPr lang="en-US" altLang="zh-CN" dirty="0" smtClean="0"/>
              <a:t>4.5.1</a:t>
            </a:r>
            <a:r>
              <a:rPr lang="zh-CN" altLang="en-US" dirty="0" smtClean="0"/>
              <a:t>的证明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3921901"/>
              </p:ext>
            </p:extLst>
          </p:nvPr>
        </p:nvGraphicFramePr>
        <p:xfrm>
          <a:off x="966788" y="1987550"/>
          <a:ext cx="6794500" cy="453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56" name="文档" r:id="rId4" imgW="6080303" imgH="4062984" progId="Word.Document.12">
                  <p:embed/>
                </p:oleObj>
              </mc:Choice>
              <mc:Fallback>
                <p:oleObj name="文档" r:id="rId4" imgW="6080303" imgH="4062984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6788" y="1987550"/>
                        <a:ext cx="6794500" cy="4530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908720"/>
          </a:xfrm>
        </p:spPr>
        <p:txBody>
          <a:bodyPr/>
          <a:lstStyle/>
          <a:p>
            <a:r>
              <a:rPr lang="zh-CN" altLang="en-US" dirty="0" smtClean="0"/>
              <a:t>引理</a:t>
            </a:r>
            <a:r>
              <a:rPr lang="en-US" altLang="zh-CN" dirty="0" smtClean="0"/>
              <a:t>4.5.2</a:t>
            </a:r>
            <a:r>
              <a:rPr lang="zh-CN" altLang="en-US" dirty="0" smtClean="0"/>
              <a:t>的证明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3861170"/>
              </p:ext>
            </p:extLst>
          </p:nvPr>
        </p:nvGraphicFramePr>
        <p:xfrm>
          <a:off x="1498600" y="1392238"/>
          <a:ext cx="6029325" cy="490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03" name="文档" r:id="rId4" imgW="6080303" imgH="4953787" progId="Word.Document.12">
                  <p:embed/>
                </p:oleObj>
              </mc:Choice>
              <mc:Fallback>
                <p:oleObj name="文档" r:id="rId4" imgW="6080303" imgH="4953787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600" y="1392238"/>
                        <a:ext cx="6029325" cy="4902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908720"/>
          </a:xfrm>
        </p:spPr>
        <p:txBody>
          <a:bodyPr/>
          <a:lstStyle/>
          <a:p>
            <a:r>
              <a:rPr lang="zh-CN" altLang="en-US" dirty="0" smtClean="0"/>
              <a:t>引理</a:t>
            </a:r>
            <a:r>
              <a:rPr lang="en-US" altLang="zh-CN" dirty="0" smtClean="0"/>
              <a:t>4.5.2</a:t>
            </a:r>
            <a:r>
              <a:rPr lang="zh-CN" altLang="en-US" dirty="0" smtClean="0"/>
              <a:t>的证明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469525"/>
              </p:ext>
            </p:extLst>
          </p:nvPr>
        </p:nvGraphicFramePr>
        <p:xfrm>
          <a:off x="1552575" y="1190625"/>
          <a:ext cx="6027738" cy="336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39" name="文档" r:id="rId4" imgW="6080303" imgH="3393261" progId="Word.Document.12">
                  <p:embed/>
                </p:oleObj>
              </mc:Choice>
              <mc:Fallback>
                <p:oleObj name="文档" r:id="rId4" imgW="6080303" imgH="3393261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2575" y="1190625"/>
                        <a:ext cx="6027738" cy="3360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51520" y="4653136"/>
            <a:ext cx="84249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zh-CN" altLang="zh-CN" sz="2800" b="1" dirty="0" smtClean="0"/>
              <a:t>根据</a:t>
            </a:r>
            <a:r>
              <a:rPr lang="zh-CN" altLang="zh-CN" sz="2800" b="1" dirty="0" smtClean="0">
                <a:solidFill>
                  <a:schemeClr val="accent1"/>
                </a:solidFill>
              </a:rPr>
              <a:t>引理</a:t>
            </a:r>
            <a:r>
              <a:rPr lang="en-US" altLang="zh-CN" sz="2800" b="1" dirty="0" smtClean="0">
                <a:solidFill>
                  <a:schemeClr val="accent1"/>
                </a:solidFill>
              </a:rPr>
              <a:t>4.5.2</a:t>
            </a:r>
            <a:r>
              <a:rPr lang="zh-CN" altLang="zh-CN" sz="2800" b="1" dirty="0" smtClean="0"/>
              <a:t>的结论，很容易得出定理</a:t>
            </a:r>
            <a:r>
              <a:rPr lang="en-US" altLang="zh-CN" sz="2800" b="1" dirty="0" smtClean="0"/>
              <a:t>4.5.1</a:t>
            </a:r>
            <a:r>
              <a:rPr lang="zh-CN" altLang="zh-CN" sz="2800" b="1" dirty="0" smtClean="0"/>
              <a:t>的结论。</a:t>
            </a:r>
            <a:endParaRPr lang="en-US" altLang="zh-CN" sz="2800" b="1" dirty="0" smtClean="0"/>
          </a:p>
          <a:p>
            <a:pPr>
              <a:buFont typeface="Arial" pitchFamily="34" charset="0"/>
              <a:buChar char="•"/>
            </a:pPr>
            <a:r>
              <a:rPr lang="zh-CN" altLang="zh-CN" sz="2800" b="1" dirty="0" smtClean="0"/>
              <a:t>根据</a:t>
            </a:r>
            <a:r>
              <a:rPr lang="zh-CN" altLang="zh-CN" sz="2800" b="1" dirty="0" smtClean="0">
                <a:solidFill>
                  <a:schemeClr val="accent1"/>
                </a:solidFill>
              </a:rPr>
              <a:t>定理</a:t>
            </a:r>
            <a:r>
              <a:rPr lang="en-US" altLang="zh-CN" sz="2800" b="1" dirty="0" smtClean="0">
                <a:solidFill>
                  <a:schemeClr val="accent1"/>
                </a:solidFill>
              </a:rPr>
              <a:t>4.5.1</a:t>
            </a:r>
            <a:r>
              <a:rPr lang="zh-CN" altLang="zh-CN" sz="2800" b="1" dirty="0" smtClean="0"/>
              <a:t>，</a:t>
            </a:r>
            <a:r>
              <a:rPr lang="en-US" altLang="zh-CN" sz="2800" b="1" dirty="0" smtClean="0"/>
              <a:t>n</a:t>
            </a:r>
            <a:r>
              <a:rPr lang="zh-CN" altLang="zh-CN" sz="2800" b="1" dirty="0" smtClean="0"/>
              <a:t>阶循环群</a:t>
            </a:r>
            <a:r>
              <a:rPr lang="en-US" altLang="zh-CN" sz="2800" b="1" dirty="0" smtClean="0"/>
              <a:t> </a:t>
            </a:r>
            <a:r>
              <a:rPr lang="zh-CN" altLang="zh-CN" sz="2800" b="1" dirty="0" smtClean="0"/>
              <a:t>的生成元的个数为</a:t>
            </a:r>
            <a:r>
              <a:rPr lang="en-US" altLang="zh-CN" sz="2800" b="1" dirty="0" smtClean="0"/>
              <a:t>       </a:t>
            </a:r>
            <a:r>
              <a:rPr lang="zh-CN" altLang="zh-CN" sz="2800" b="1" dirty="0" smtClean="0"/>
              <a:t>。</a:t>
            </a:r>
            <a:endParaRPr lang="en-US" altLang="zh-CN" sz="2800" b="1" dirty="0" smtClean="0"/>
          </a:p>
          <a:p>
            <a:pPr>
              <a:buFont typeface="Arial" pitchFamily="34" charset="0"/>
              <a:buChar char="•"/>
            </a:pPr>
            <a:r>
              <a:rPr lang="zh-CN" altLang="zh-CN" sz="2800" b="1" dirty="0" smtClean="0"/>
              <a:t>根据</a:t>
            </a:r>
            <a:r>
              <a:rPr lang="zh-CN" altLang="zh-CN" sz="2800" b="1" dirty="0" smtClean="0">
                <a:solidFill>
                  <a:schemeClr val="accent1"/>
                </a:solidFill>
              </a:rPr>
              <a:t>定理</a:t>
            </a:r>
            <a:r>
              <a:rPr lang="en-US" altLang="zh-CN" sz="2800" b="1" dirty="0" smtClean="0">
                <a:solidFill>
                  <a:schemeClr val="accent1"/>
                </a:solidFill>
              </a:rPr>
              <a:t>4.5.1</a:t>
            </a:r>
            <a:r>
              <a:rPr lang="zh-CN" altLang="zh-CN" sz="2800" b="1" dirty="0" smtClean="0"/>
              <a:t>可知，模整数</a:t>
            </a:r>
            <a:r>
              <a:rPr lang="en-US" altLang="zh-CN" sz="2800" b="1" dirty="0" smtClean="0"/>
              <a:t>m</a:t>
            </a:r>
            <a:r>
              <a:rPr lang="zh-CN" altLang="zh-CN" sz="2800" b="1" dirty="0" smtClean="0"/>
              <a:t>的剩余类加群中的生成元有</a:t>
            </a:r>
            <a:r>
              <a:rPr lang="en-US" altLang="zh-CN" sz="2800" b="1" dirty="0" smtClean="0"/>
              <a:t>        </a:t>
            </a:r>
            <a:r>
              <a:rPr lang="zh-CN" altLang="zh-CN" sz="2800" b="1" dirty="0" smtClean="0"/>
              <a:t>，其生成元</a:t>
            </a:r>
            <a:r>
              <a:rPr lang="en-US" altLang="zh-CN" sz="2800" b="1" i="1" dirty="0" smtClean="0"/>
              <a:t>a</a:t>
            </a:r>
            <a:r>
              <a:rPr lang="zh-CN" altLang="zh-CN" sz="2800" b="1" dirty="0" smtClean="0"/>
              <a:t>满足</a:t>
            </a:r>
            <a:r>
              <a:rPr lang="en-US" altLang="zh-CN" sz="2800" b="1" dirty="0" err="1" smtClean="0">
                <a:solidFill>
                  <a:srgbClr val="FF0000"/>
                </a:solidFill>
              </a:rPr>
              <a:t>gcd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(</a:t>
            </a:r>
            <a:r>
              <a:rPr lang="en-US" altLang="zh-CN" sz="2800" b="1" i="1" dirty="0" err="1" smtClean="0">
                <a:solidFill>
                  <a:srgbClr val="FF0000"/>
                </a:solidFill>
              </a:rPr>
              <a:t>a,m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)=1</a:t>
            </a:r>
            <a:r>
              <a:rPr lang="zh-CN" altLang="zh-CN" sz="2800" b="1" dirty="0" smtClean="0"/>
              <a:t>。</a:t>
            </a:r>
            <a:endParaRPr lang="zh-CN" altLang="en-US" sz="2800" b="1" dirty="0"/>
          </a:p>
        </p:txBody>
      </p:sp>
      <p:sp>
        <p:nvSpPr>
          <p:cNvPr id="7885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8852" name="Object 4"/>
          <p:cNvGraphicFramePr>
            <a:graphicFrameLocks noChangeAspect="1"/>
          </p:cNvGraphicFramePr>
          <p:nvPr/>
        </p:nvGraphicFramePr>
        <p:xfrm>
          <a:off x="7524328" y="5157192"/>
          <a:ext cx="648072" cy="400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40" name="Equation" r:id="rId6" imgW="330120" imgH="203040" progId="Equation.DSMT4">
                  <p:embed/>
                </p:oleObj>
              </mc:Choice>
              <mc:Fallback>
                <p:oleObj name="Equation" r:id="rId6" imgW="330120" imgH="2030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328" y="5157192"/>
                        <a:ext cx="648072" cy="4002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4" name="Object 6"/>
          <p:cNvGraphicFramePr>
            <a:graphicFrameLocks noChangeAspect="1"/>
          </p:cNvGraphicFramePr>
          <p:nvPr/>
        </p:nvGraphicFramePr>
        <p:xfrm>
          <a:off x="1475656" y="6021288"/>
          <a:ext cx="579437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41" name="Equation" r:id="rId8" imgW="355320" imgH="203040" progId="Equation.DSMT4">
                  <p:embed/>
                </p:oleObj>
              </mc:Choice>
              <mc:Fallback>
                <p:oleObj name="Equation" r:id="rId8" imgW="355320" imgH="20304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6021288"/>
                        <a:ext cx="579437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原根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chemeClr val="bg2">
                    <a:lumMod val="25000"/>
                  </a:schemeClr>
                </a:solidFill>
              </a:rPr>
              <a:t>定义</a:t>
            </a:r>
            <a:r>
              <a:rPr lang="en-US" altLang="zh-CN" b="1" dirty="0" smtClean="0">
                <a:solidFill>
                  <a:schemeClr val="bg2">
                    <a:lumMod val="25000"/>
                  </a:schemeClr>
                </a:solidFill>
              </a:rPr>
              <a:t>4.5.2 </a:t>
            </a:r>
            <a:r>
              <a:rPr lang="zh-CN" altLang="en-US" b="1" dirty="0" smtClean="0">
                <a:solidFill>
                  <a:schemeClr val="bg2">
                    <a:lumMod val="25000"/>
                  </a:schemeClr>
                </a:solidFill>
              </a:rPr>
              <a:t>设                 ，若    的阶为           则称     为      的生成元或原根。</a:t>
            </a:r>
            <a:endParaRPr lang="en-US" altLang="zh-CN" b="1" dirty="0" smtClean="0">
              <a:solidFill>
                <a:schemeClr val="bg2">
                  <a:lumMod val="25000"/>
                </a:schemeClr>
              </a:solidFill>
            </a:endParaRPr>
          </a:p>
          <a:p>
            <a:endParaRPr lang="en-US" altLang="zh-CN" b="1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zh-CN" altLang="en-US" b="1" dirty="0" smtClean="0">
                <a:solidFill>
                  <a:schemeClr val="bg2">
                    <a:lumMod val="25000"/>
                  </a:schemeClr>
                </a:solidFill>
              </a:rPr>
              <a:t>定理 </a:t>
            </a:r>
            <a:r>
              <a:rPr lang="en-US" altLang="zh-CN" b="1" dirty="0" smtClean="0">
                <a:solidFill>
                  <a:schemeClr val="bg2">
                    <a:lumMod val="25000"/>
                  </a:schemeClr>
                </a:solidFill>
              </a:rPr>
              <a:t>4.5.3 </a:t>
            </a:r>
            <a:r>
              <a:rPr lang="zh-CN" altLang="en-US" b="1" dirty="0" smtClean="0">
                <a:solidFill>
                  <a:schemeClr val="bg2">
                    <a:lumMod val="25000"/>
                  </a:schemeClr>
                </a:solidFill>
              </a:rPr>
              <a:t>（原根的存在性）       有生成元当且仅当      </a:t>
            </a:r>
            <a:endParaRPr lang="en-US" altLang="zh-CN" b="1" dirty="0" smtClean="0">
              <a:solidFill>
                <a:schemeClr val="bg2">
                  <a:lumMod val="2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altLang="zh-CN" b="1" dirty="0" smtClean="0">
                <a:solidFill>
                  <a:schemeClr val="bg2">
                    <a:lumMod val="25000"/>
                  </a:schemeClr>
                </a:solidFill>
              </a:rPr>
              <a:t>                                 </a:t>
            </a:r>
            <a:r>
              <a:rPr lang="zh-CN" altLang="en-US" b="1" dirty="0" smtClean="0">
                <a:solidFill>
                  <a:schemeClr val="bg2">
                    <a:lumMod val="25000"/>
                  </a:schemeClr>
                </a:solidFill>
              </a:rPr>
              <a:t>，其中</a:t>
            </a:r>
            <a:r>
              <a:rPr lang="en-US" altLang="zh-CN" i="1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b="1" dirty="0" smtClean="0">
                <a:solidFill>
                  <a:schemeClr val="bg2">
                    <a:lumMod val="25000"/>
                  </a:schemeClr>
                </a:solidFill>
              </a:rPr>
              <a:t>为一个奇素数，且            。</a:t>
            </a:r>
            <a:endParaRPr lang="en-US" altLang="zh-CN" b="1" dirty="0" smtClean="0">
              <a:solidFill>
                <a:schemeClr val="bg2">
                  <a:lumMod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chemeClr val="bg2">
                    <a:lumMod val="25000"/>
                  </a:schemeClr>
                </a:solidFill>
              </a:rPr>
              <a:t>特别</a:t>
            </a:r>
            <a:r>
              <a:rPr lang="zh-CN" altLang="en-US" b="1" dirty="0" smtClean="0">
                <a:solidFill>
                  <a:schemeClr val="bg2">
                    <a:lumMod val="25000"/>
                  </a:schemeClr>
                </a:solidFill>
              </a:rPr>
              <a:t>的，如果</a:t>
            </a:r>
            <a:r>
              <a:rPr lang="en-US" altLang="zh-CN" i="1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b="1" dirty="0" smtClean="0">
                <a:solidFill>
                  <a:schemeClr val="bg2">
                    <a:lumMod val="25000"/>
                  </a:schemeClr>
                </a:solidFill>
              </a:rPr>
              <a:t>是素数，则       有生成元。</a:t>
            </a:r>
            <a:endParaRPr lang="en-US" altLang="zh-CN" b="1" dirty="0" smtClean="0">
              <a:solidFill>
                <a:schemeClr val="bg2">
                  <a:lumMod val="25000"/>
                </a:schemeClr>
              </a:solidFill>
            </a:endParaRPr>
          </a:p>
          <a:p>
            <a:pPr marL="0" indent="0">
              <a:buNone/>
            </a:pPr>
            <a:endParaRPr lang="en-US" altLang="zh-CN" b="1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b="1" dirty="0" smtClean="0">
                <a:solidFill>
                  <a:schemeClr val="bg2">
                    <a:lumMod val="25000"/>
                  </a:schemeClr>
                </a:solidFill>
              </a:rPr>
              <a:t>例</a:t>
            </a:r>
            <a:r>
              <a:rPr lang="en-US" altLang="zh-CN" b="1" dirty="0" smtClean="0">
                <a:solidFill>
                  <a:schemeClr val="bg2">
                    <a:lumMod val="25000"/>
                  </a:schemeClr>
                </a:solidFill>
              </a:rPr>
              <a:t>4.5.2 </a:t>
            </a:r>
            <a:r>
              <a:rPr lang="zh-CN" altLang="en-US" b="1" dirty="0" smtClean="0">
                <a:solidFill>
                  <a:schemeClr val="bg2">
                    <a:lumMod val="25000"/>
                  </a:schemeClr>
                </a:solidFill>
              </a:rPr>
              <a:t>（</a:t>
            </a:r>
            <a:r>
              <a:rPr lang="en-US" altLang="zh-CN" b="1" dirty="0" smtClean="0">
                <a:solidFill>
                  <a:schemeClr val="bg2">
                    <a:lumMod val="25000"/>
                  </a:schemeClr>
                </a:solidFill>
              </a:rPr>
              <a:t>1</a:t>
            </a:r>
            <a:r>
              <a:rPr lang="zh-CN" altLang="en-US" b="1" dirty="0" smtClean="0">
                <a:solidFill>
                  <a:schemeClr val="bg2">
                    <a:lumMod val="25000"/>
                  </a:schemeClr>
                </a:solidFill>
              </a:rPr>
              <a:t>）       没有生成元</a:t>
            </a:r>
            <a:r>
              <a:rPr lang="zh-CN" altLang="en-US" b="1" dirty="0">
                <a:solidFill>
                  <a:schemeClr val="bg2">
                    <a:lumMod val="25000"/>
                  </a:schemeClr>
                </a:solidFill>
              </a:rPr>
              <a:t>。</a:t>
            </a:r>
            <a:endParaRPr lang="en-US" altLang="zh-CN" b="1" dirty="0" smtClean="0">
              <a:solidFill>
                <a:schemeClr val="bg2">
                  <a:lumMod val="2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altLang="zh-CN" b="1" dirty="0" smtClean="0">
                <a:solidFill>
                  <a:schemeClr val="bg2">
                    <a:lumMod val="25000"/>
                  </a:schemeClr>
                </a:solidFill>
              </a:rPr>
              <a:t>             </a:t>
            </a:r>
            <a:r>
              <a:rPr lang="zh-CN" altLang="en-US" b="1" dirty="0" smtClean="0">
                <a:solidFill>
                  <a:schemeClr val="bg2">
                    <a:lumMod val="25000"/>
                  </a:schemeClr>
                </a:solidFill>
              </a:rPr>
              <a:t>（</a:t>
            </a:r>
            <a:r>
              <a:rPr lang="en-US" altLang="zh-CN" b="1" dirty="0" smtClean="0">
                <a:solidFill>
                  <a:schemeClr val="bg2">
                    <a:lumMod val="25000"/>
                  </a:schemeClr>
                </a:solidFill>
              </a:rPr>
              <a:t>2</a:t>
            </a:r>
            <a:r>
              <a:rPr lang="zh-CN" altLang="en-US" b="1" dirty="0" smtClean="0">
                <a:solidFill>
                  <a:schemeClr val="bg2">
                    <a:lumMod val="25000"/>
                  </a:schemeClr>
                </a:solidFill>
              </a:rPr>
              <a:t>）     有生成元</a:t>
            </a:r>
            <a:r>
              <a:rPr lang="en-US" altLang="zh-CN" b="1" dirty="0" smtClean="0">
                <a:solidFill>
                  <a:schemeClr val="bg2">
                    <a:lumMod val="25000"/>
                  </a:schemeClr>
                </a:solidFill>
              </a:rPr>
              <a:t>5</a:t>
            </a:r>
            <a:r>
              <a:rPr lang="zh-CN" altLang="en-US" b="1" dirty="0" smtClean="0">
                <a:solidFill>
                  <a:schemeClr val="bg2">
                    <a:lumMod val="25000"/>
                  </a:schemeClr>
                </a:solidFill>
              </a:rPr>
              <a:t>。</a:t>
            </a:r>
            <a:endParaRPr lang="zh-CN" altLang="en-US" b="1" dirty="0">
              <a:solidFill>
                <a:schemeClr val="bg2">
                  <a:lumMod val="25000"/>
                </a:schemeClr>
              </a:solidFill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979857"/>
              </p:ext>
            </p:extLst>
          </p:nvPr>
        </p:nvGraphicFramePr>
        <p:xfrm>
          <a:off x="2699792" y="1988840"/>
          <a:ext cx="1105397" cy="389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05" name="Formula" r:id="rId3" imgW="482760" imgH="169200" progId="Equation.Ribbit">
                  <p:embed/>
                </p:oleObj>
              </mc:Choice>
              <mc:Fallback>
                <p:oleObj name="Formula" r:id="rId3" imgW="482760" imgH="16920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99792" y="1988840"/>
                        <a:ext cx="1105397" cy="3890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1140396"/>
              </p:ext>
            </p:extLst>
          </p:nvPr>
        </p:nvGraphicFramePr>
        <p:xfrm>
          <a:off x="4644008" y="2104862"/>
          <a:ext cx="225425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06" name="Formula" r:id="rId5" imgW="97920" imgH="119520" progId="Equation.Ribbit">
                  <p:embed/>
                </p:oleObj>
              </mc:Choice>
              <mc:Fallback>
                <p:oleObj name="Formula" r:id="rId5" imgW="97920" imgH="11952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44008" y="2104862"/>
                        <a:ext cx="225425" cy="273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6813128"/>
              </p:ext>
            </p:extLst>
          </p:nvPr>
        </p:nvGraphicFramePr>
        <p:xfrm>
          <a:off x="5886450" y="1981200"/>
          <a:ext cx="766763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07" name="Formula" r:id="rId7" imgW="335520" imgH="176760" progId="Equation.Ribbit">
                  <p:embed/>
                </p:oleObj>
              </mc:Choice>
              <mc:Fallback>
                <p:oleObj name="Formula" r:id="rId7" imgW="335520" imgH="17676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86450" y="1981200"/>
                        <a:ext cx="766763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9826323"/>
              </p:ext>
            </p:extLst>
          </p:nvPr>
        </p:nvGraphicFramePr>
        <p:xfrm>
          <a:off x="7498592" y="2073346"/>
          <a:ext cx="225425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08" name="Formula" r:id="rId9" imgW="97920" imgH="119520" progId="Equation.Ribbit">
                  <p:embed/>
                </p:oleObj>
              </mc:Choice>
              <mc:Fallback>
                <p:oleObj name="Formula" r:id="rId9" imgW="97920" imgH="11952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498592" y="2073346"/>
                        <a:ext cx="225425" cy="273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5152303"/>
              </p:ext>
            </p:extLst>
          </p:nvPr>
        </p:nvGraphicFramePr>
        <p:xfrm>
          <a:off x="8211319" y="2016125"/>
          <a:ext cx="465137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09" name="Formula" r:id="rId10" imgW="203400" imgH="169200" progId="Equation.Ribbit">
                  <p:embed/>
                </p:oleObj>
              </mc:Choice>
              <mc:Fallback>
                <p:oleObj name="Formula" r:id="rId10" imgW="203400" imgH="16920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211319" y="2016125"/>
                        <a:ext cx="465137" cy="388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5607259"/>
              </p:ext>
            </p:extLst>
          </p:nvPr>
        </p:nvGraphicFramePr>
        <p:xfrm>
          <a:off x="5004048" y="3356992"/>
          <a:ext cx="465137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10" name="Formula" r:id="rId12" imgW="203400" imgH="169200" progId="Equation.Ribbit">
                  <p:embed/>
                </p:oleObj>
              </mc:Choice>
              <mc:Fallback>
                <p:oleObj name="Formula" r:id="rId12" imgW="203400" imgH="16920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004048" y="3356992"/>
                        <a:ext cx="465137" cy="388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451115"/>
              </p:ext>
            </p:extLst>
          </p:nvPr>
        </p:nvGraphicFramePr>
        <p:xfrm>
          <a:off x="755576" y="3745930"/>
          <a:ext cx="23622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11" name="Formula" r:id="rId13" imgW="1031400" imgH="175320" progId="Equation.Ribbit">
                  <p:embed/>
                </p:oleObj>
              </mc:Choice>
              <mc:Fallback>
                <p:oleObj name="Formula" r:id="rId13" imgW="1031400" imgH="17532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55576" y="3745930"/>
                        <a:ext cx="236220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760903"/>
              </p:ext>
            </p:extLst>
          </p:nvPr>
        </p:nvGraphicFramePr>
        <p:xfrm>
          <a:off x="7149926" y="3861048"/>
          <a:ext cx="80645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12" name="Formula" r:id="rId15" imgW="352080" imgH="157680" progId="Equation.Ribbit">
                  <p:embed/>
                </p:oleObj>
              </mc:Choice>
              <mc:Fallback>
                <p:oleObj name="Formula" r:id="rId15" imgW="352080" imgH="15768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149926" y="3861048"/>
                        <a:ext cx="806450" cy="360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3621197"/>
              </p:ext>
            </p:extLst>
          </p:nvPr>
        </p:nvGraphicFramePr>
        <p:xfrm>
          <a:off x="4456113" y="4307632"/>
          <a:ext cx="37465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13" name="Formula" r:id="rId17" imgW="164160" imgH="181800" progId="Equation.Ribbit">
                  <p:embed/>
                </p:oleObj>
              </mc:Choice>
              <mc:Fallback>
                <p:oleObj name="Formula" r:id="rId17" imgW="164160" imgH="18180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456113" y="4307632"/>
                        <a:ext cx="374650" cy="417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4470052"/>
              </p:ext>
            </p:extLst>
          </p:nvPr>
        </p:nvGraphicFramePr>
        <p:xfrm>
          <a:off x="2403475" y="5229225"/>
          <a:ext cx="481013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14" name="Formula" r:id="rId19" imgW="209880" imgH="169200" progId="Equation.Ribbit">
                  <p:embed/>
                </p:oleObj>
              </mc:Choice>
              <mc:Fallback>
                <p:oleObj name="Formula" r:id="rId19" imgW="209880" imgH="16920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403475" y="5229225"/>
                        <a:ext cx="481013" cy="388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0222160"/>
              </p:ext>
            </p:extLst>
          </p:nvPr>
        </p:nvGraphicFramePr>
        <p:xfrm>
          <a:off x="2392363" y="5762625"/>
          <a:ext cx="376237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15" name="Formula" r:id="rId21" imgW="164160" imgH="170280" progId="Equation.Ribbit">
                  <p:embed/>
                </p:oleObj>
              </mc:Choice>
              <mc:Fallback>
                <p:oleObj name="Formula" r:id="rId21" imgW="164160" imgH="170280" progId="Equation.Ribbi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392363" y="5762625"/>
                        <a:ext cx="376237" cy="388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530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循环群的子群和商群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993454"/>
          </a:xfrm>
        </p:spPr>
        <p:txBody>
          <a:bodyPr/>
          <a:lstStyle/>
          <a:p>
            <a:r>
              <a:rPr lang="zh-CN" altLang="en-US" b="1" dirty="0" smtClean="0">
                <a:solidFill>
                  <a:schemeClr val="accent1"/>
                </a:solidFill>
              </a:rPr>
              <a:t>定理</a:t>
            </a:r>
            <a:r>
              <a:rPr lang="en-US" b="1" dirty="0" smtClean="0">
                <a:solidFill>
                  <a:schemeClr val="accent1"/>
                </a:solidFill>
              </a:rPr>
              <a:t>4.5.4 </a:t>
            </a:r>
            <a:r>
              <a:rPr lang="zh-CN" altLang="en-US" b="1" dirty="0" smtClean="0"/>
              <a:t>循环群的子群是循环群。循环群的商群也是循环群。</a:t>
            </a:r>
            <a:endParaRPr lang="zh-CN" alt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714348" y="2857496"/>
            <a:ext cx="5857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</a:rPr>
              <a:t>证明思路</a:t>
            </a:r>
            <a:r>
              <a:rPr lang="zh-CN" altLang="en-US" sz="2800" b="1" dirty="0" smtClean="0"/>
              <a:t>：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寻找生成元</a:t>
            </a:r>
            <a:r>
              <a:rPr lang="zh-CN" altLang="en-US" sz="2800" b="1" dirty="0" smtClean="0"/>
              <a:t>。</a:t>
            </a:r>
            <a:endParaRPr lang="zh-CN" altLang="en-US" sz="2800" b="1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73075" y="3627438"/>
          <a:ext cx="8412163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28" name="文档" r:id="rId4" imgW="8584070" imgH="2965447" progId="Word.Document.12">
                  <p:embed/>
                </p:oleObj>
              </mc:Choice>
              <mc:Fallback>
                <p:oleObj name="文档" r:id="rId4" imgW="8584070" imgH="2965447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75" y="3627438"/>
                        <a:ext cx="8412163" cy="289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循环群的子群和商群（续）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127125" y="2560638"/>
          <a:ext cx="7085013" cy="353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1" name="文档" r:id="rId4" imgW="7172876" imgH="3565014" progId="Word.Document.12">
                  <p:embed/>
                </p:oleObj>
              </mc:Choice>
              <mc:Fallback>
                <p:oleObj name="文档" r:id="rId4" imgW="7172876" imgH="3565014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125" y="2560638"/>
                        <a:ext cx="7085013" cy="3536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96824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群中常用算法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339824"/>
            <a:ext cx="8229600" cy="993454"/>
          </a:xfrm>
        </p:spPr>
        <p:txBody>
          <a:bodyPr/>
          <a:lstStyle/>
          <a:p>
            <a:r>
              <a:rPr lang="zh-CN" altLang="en-US" b="1" dirty="0" smtClean="0">
                <a:solidFill>
                  <a:schemeClr val="accent1"/>
                </a:solidFill>
              </a:rPr>
              <a:t>确定元素的阶：</a:t>
            </a:r>
            <a:r>
              <a:rPr lang="zh-CN" altLang="en-US" b="1" dirty="0" smtClean="0"/>
              <a:t>如果群的阶</a:t>
            </a:r>
            <a:r>
              <a:rPr lang="en-US" b="1" dirty="0" smtClean="0"/>
              <a:t>n</a:t>
            </a:r>
            <a:r>
              <a:rPr lang="zh-CN" altLang="en-US" b="1" dirty="0" smtClean="0"/>
              <a:t>的素因子分解已知，则算法</a:t>
            </a:r>
            <a:r>
              <a:rPr lang="en-US" b="1" dirty="0" smtClean="0"/>
              <a:t>4.5.1</a:t>
            </a:r>
            <a:r>
              <a:rPr lang="zh-CN" altLang="en-US" b="1" dirty="0" smtClean="0"/>
              <a:t>是确定群中元素的阶的有效方法。</a:t>
            </a:r>
            <a:endParaRPr lang="zh-CN" altLang="en-US" b="1" dirty="0"/>
          </a:p>
        </p:txBody>
      </p:sp>
      <p:sp>
        <p:nvSpPr>
          <p:cNvPr id="1013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1377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1487728"/>
              </p:ext>
            </p:extLst>
          </p:nvPr>
        </p:nvGraphicFramePr>
        <p:xfrm>
          <a:off x="1043608" y="2333278"/>
          <a:ext cx="7242184" cy="46593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39" name="Picture" r:id="rId3" imgW="4951080" imgH="3169800" progId="Word.Picture.8">
                  <p:embed/>
                </p:oleObj>
              </mc:Choice>
              <mc:Fallback>
                <p:oleObj name="Picture" r:id="rId3" imgW="4951080" imgH="316980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2333278"/>
                        <a:ext cx="7242184" cy="465930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6868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求循环群生成元的有效随机算法</a:t>
            </a:r>
            <a:endParaRPr lang="zh-CN" altLang="en-US" dirty="0"/>
          </a:p>
        </p:txBody>
      </p:sp>
      <p:sp>
        <p:nvSpPr>
          <p:cNvPr id="10240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2401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3466604"/>
              </p:ext>
            </p:extLst>
          </p:nvPr>
        </p:nvGraphicFramePr>
        <p:xfrm>
          <a:off x="295275" y="1927225"/>
          <a:ext cx="8636000" cy="428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63" name="Picture" r:id="rId3" imgW="4951080" imgH="2449080" progId="Word.Picture.8">
                  <p:embed/>
                </p:oleObj>
              </mc:Choice>
              <mc:Fallback>
                <p:oleObj name="Picture" r:id="rId3" imgW="4951080" imgH="244908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" y="1927225"/>
                        <a:ext cx="8636000" cy="428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6434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元素的阶及相关性质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有限群</a:t>
                </a:r>
                <a:r>
                  <a:rPr lang="en-US" altLang="zh-CN" dirty="0" smtClean="0"/>
                  <a:t>|G|=n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o(a)=m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a</a:t>
                </a:r>
                <a:r>
                  <a:rPr lang="en-US" altLang="zh-CN" baseline="30000" dirty="0" smtClean="0"/>
                  <a:t>s</a:t>
                </a:r>
                <a:r>
                  <a:rPr lang="en-US" altLang="zh-CN" dirty="0" smtClean="0"/>
                  <a:t>a</a:t>
                </a:r>
                <a:r>
                  <a:rPr lang="en-US" altLang="zh-CN" baseline="30000" dirty="0" smtClean="0"/>
                  <a:t>t</a:t>
                </a:r>
                <a:r>
                  <a:rPr lang="en-US" altLang="zh-CN" dirty="0" smtClean="0"/>
                  <a:t>=a</a:t>
                </a:r>
                <a:r>
                  <a:rPr lang="en-US" altLang="zh-CN" baseline="30000" dirty="0" smtClean="0"/>
                  <a:t>st(mod m)</a:t>
                </a:r>
                <a:r>
                  <a:rPr lang="en-US" altLang="zh-CN" dirty="0" smtClean="0"/>
                  <a:t>, </a:t>
                </a:r>
                <a:r>
                  <a:rPr lang="en-US" altLang="zh-CN" dirty="0" err="1" smtClean="0"/>
                  <a:t>m|n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无限群</a:t>
                </a:r>
                <a:r>
                  <a:rPr lang="en-US" altLang="zh-CN" dirty="0" smtClean="0"/>
                  <a:t>a</a:t>
                </a:r>
                <a:r>
                  <a:rPr lang="en-US" altLang="zh-CN" baseline="30000" dirty="0" smtClean="0"/>
                  <a:t>s</a:t>
                </a:r>
                <a:r>
                  <a:rPr lang="en-US" altLang="zh-CN" dirty="0" smtClean="0"/>
                  <a:t>a</a:t>
                </a:r>
                <a:r>
                  <a:rPr lang="en-US" altLang="zh-CN" baseline="30000" dirty="0" smtClean="0"/>
                  <a:t>t</a:t>
                </a:r>
                <a:r>
                  <a:rPr lang="en-US" altLang="zh-CN" dirty="0" smtClean="0"/>
                  <a:t>=a</a:t>
                </a:r>
                <a:r>
                  <a:rPr lang="en-US" altLang="zh-CN" baseline="30000" dirty="0" smtClean="0"/>
                  <a:t>st</a:t>
                </a:r>
                <a:endParaRPr lang="en-US" altLang="zh-CN" dirty="0" smtClean="0"/>
              </a:p>
              <a:p>
                <a:r>
                  <a:rPr lang="en-US" altLang="zh-CN" dirty="0"/>
                  <a:t>o(a)=m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&lt;a&gt;</a:t>
                </a:r>
                <a:r>
                  <a:rPr lang="zh-CN" altLang="en-US" dirty="0" smtClean="0"/>
                  <a:t>是</a:t>
                </a:r>
                <a:r>
                  <a:rPr lang="en-US" altLang="zh-CN" dirty="0" smtClean="0"/>
                  <a:t>m</a:t>
                </a:r>
                <a:r>
                  <a:rPr lang="zh-CN" altLang="en-US" dirty="0" smtClean="0"/>
                  <a:t>阶循环群，其生成元个数为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endParaRPr lang="en-US" altLang="zh-CN" b="0" dirty="0" smtClean="0"/>
              </a:p>
              <a:p>
                <a:r>
                  <a:rPr lang="en-US" altLang="zh-CN" dirty="0" smtClean="0"/>
                  <a:t>o(</a:t>
                </a:r>
                <a:r>
                  <a:rPr lang="en-US" altLang="zh-CN" dirty="0" err="1" smtClean="0"/>
                  <a:t>a</a:t>
                </a:r>
                <a:r>
                  <a:rPr lang="en-US" altLang="zh-CN" baseline="30000" dirty="0" err="1" smtClean="0"/>
                  <a:t>k</a:t>
                </a:r>
                <a:r>
                  <a:rPr lang="en-US" altLang="zh-CN" dirty="0" smtClean="0"/>
                  <a:t>)=m/(</a:t>
                </a:r>
                <a:r>
                  <a:rPr lang="en-US" altLang="zh-CN" dirty="0" err="1" smtClean="0"/>
                  <a:t>m,k</a:t>
                </a:r>
                <a:r>
                  <a:rPr lang="en-US" altLang="zh-CN" dirty="0" smtClean="0"/>
                  <a:t>)</a:t>
                </a:r>
              </a:p>
              <a:p>
                <a:r>
                  <a:rPr lang="en-US" altLang="zh-CN" dirty="0" err="1" smtClean="0"/>
                  <a:t>a</a:t>
                </a:r>
                <a:r>
                  <a:rPr lang="en-US" altLang="zh-CN" baseline="30000" dirty="0" err="1" smtClean="0"/>
                  <a:t>k</a:t>
                </a:r>
                <a:r>
                  <a:rPr lang="zh-CN" altLang="en-US" dirty="0" smtClean="0"/>
                  <a:t>为生成元当且仅当</a:t>
                </a:r>
                <a:r>
                  <a:rPr lang="zh-CN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</a:t>
                </a:r>
                <a:r>
                  <a:rPr lang="en-US" altLang="zh-CN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m,k</a:t>
                </a:r>
                <a:r>
                  <a:rPr lang="zh-CN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</a:t>
                </a:r>
                <a:r>
                  <a:rPr lang="en-US" altLang="zh-CN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</a:t>
                </a:r>
              </a:p>
              <a:p>
                <a:endParaRPr lang="en-US" altLang="zh-CN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dirty="0" smtClean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89" t="-18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333384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循环群的结构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2136462"/>
          </a:xfrm>
        </p:spPr>
        <p:txBody>
          <a:bodyPr>
            <a:norm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</a:rPr>
              <a:t>定理</a:t>
            </a:r>
            <a:r>
              <a:rPr lang="en-US" sz="2800" b="1" dirty="0" smtClean="0">
                <a:solidFill>
                  <a:schemeClr val="accent1"/>
                </a:solidFill>
              </a:rPr>
              <a:t>4.5.5 </a:t>
            </a:r>
            <a:r>
              <a:rPr lang="zh-CN" altLang="en-US" sz="2800" b="1" dirty="0" smtClean="0"/>
              <a:t>设</a:t>
            </a:r>
            <a:r>
              <a:rPr lang="en-US" altLang="zh-CN" sz="2800" b="1" dirty="0" smtClean="0"/>
              <a:t>G</a:t>
            </a:r>
            <a:r>
              <a:rPr lang="en-US" altLang="zh-CN" sz="2800" b="1" i="1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〈</a:t>
            </a:r>
            <a:r>
              <a:rPr lang="en-US" altLang="zh-CN" sz="2800" b="1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〉</a:t>
            </a:r>
            <a:r>
              <a:rPr lang="zh-CN" altLang="en-US" sz="2800" b="1" dirty="0" smtClean="0"/>
              <a:t>是循环群，有</a:t>
            </a:r>
          </a:p>
          <a:p>
            <a:pPr lvl="1"/>
            <a:r>
              <a:rPr lang="zh-CN" altLang="en-US" sz="2800" b="1" dirty="0" smtClean="0"/>
              <a:t>若</a:t>
            </a:r>
            <a:r>
              <a:rPr lang="en-US" altLang="zh-CN" sz="2800" b="1" i="1" dirty="0" smtClean="0"/>
              <a:t>a</a:t>
            </a:r>
            <a:r>
              <a:rPr lang="zh-CN" altLang="en-US" sz="2800" b="1" dirty="0" smtClean="0"/>
              <a:t>的阶是无限，则</a:t>
            </a:r>
            <a:r>
              <a:rPr lang="en-US" sz="2800" b="1" dirty="0" smtClean="0"/>
              <a:t>G</a:t>
            </a:r>
            <a:r>
              <a:rPr lang="zh-CN" altLang="en-US" sz="2800" b="1" dirty="0" smtClean="0"/>
              <a:t>与整数加群</a:t>
            </a:r>
            <a:r>
              <a:rPr lang="en-US" sz="2800" b="1" dirty="0" smtClean="0"/>
              <a:t>Z</a:t>
            </a:r>
            <a:r>
              <a:rPr lang="zh-CN" altLang="en-US" sz="2800" b="1" dirty="0" smtClean="0"/>
              <a:t>同构；</a:t>
            </a:r>
          </a:p>
          <a:p>
            <a:pPr lvl="1"/>
            <a:r>
              <a:rPr lang="zh-CN" altLang="en-US" sz="2800" b="1" dirty="0" smtClean="0"/>
              <a:t>若</a:t>
            </a:r>
            <a:r>
              <a:rPr lang="en-US" sz="2800" b="1" i="1" dirty="0" smtClean="0"/>
              <a:t>a</a:t>
            </a:r>
            <a:r>
              <a:rPr lang="zh-CN" altLang="en-US" sz="2800" b="1" dirty="0" smtClean="0"/>
              <a:t>的阶是某个正整数</a:t>
            </a:r>
            <a:r>
              <a:rPr lang="en-US" sz="2800" b="1" dirty="0" smtClean="0"/>
              <a:t>m</a:t>
            </a:r>
            <a:r>
              <a:rPr lang="zh-CN" altLang="en-US" sz="2800" b="1" dirty="0" smtClean="0"/>
              <a:t>，则</a:t>
            </a:r>
            <a:r>
              <a:rPr lang="en-US" sz="2800" b="1" dirty="0" smtClean="0"/>
              <a:t>G</a:t>
            </a:r>
            <a:r>
              <a:rPr lang="zh-CN" altLang="en-US" sz="2800" b="1" dirty="0" smtClean="0"/>
              <a:t>与整数模</a:t>
            </a:r>
            <a:r>
              <a:rPr lang="en-US" sz="2800" b="1" dirty="0" smtClean="0"/>
              <a:t>m</a:t>
            </a:r>
            <a:r>
              <a:rPr lang="zh-CN" altLang="en-US" sz="2800" b="1" dirty="0" smtClean="0"/>
              <a:t>的剩余类加群同构。</a:t>
            </a:r>
          </a:p>
          <a:p>
            <a:endParaRPr lang="zh-CN" altLang="en-US" sz="28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785786" y="4643446"/>
            <a:ext cx="76438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</a:rPr>
              <a:t>证明思路：</a:t>
            </a:r>
            <a:r>
              <a:rPr lang="zh-CN" altLang="en-US" sz="2800" b="1" dirty="0" smtClean="0"/>
              <a:t>构造同态映射，然后再利用群同态基本定理。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定理</a:t>
            </a:r>
            <a:r>
              <a:rPr lang="en-US" altLang="zh-CN" dirty="0" smtClean="0"/>
              <a:t>4.5.5</a:t>
            </a:r>
            <a:r>
              <a:rPr lang="zh-CN" altLang="en-US" dirty="0" smtClean="0"/>
              <a:t>的证明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054100" y="2157413"/>
          <a:ext cx="7250113" cy="204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04" name="文档" r:id="rId4" imgW="7249372" imgH="2041984" progId="Word.Document.12">
                  <p:embed/>
                </p:oleObj>
              </mc:Choice>
              <mc:Fallback>
                <p:oleObj name="文档" r:id="rId4" imgW="7249372" imgH="2041984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4100" y="2157413"/>
                        <a:ext cx="7250113" cy="2041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6304554"/>
              </p:ext>
            </p:extLst>
          </p:nvPr>
        </p:nvGraphicFramePr>
        <p:xfrm>
          <a:off x="1071538" y="4357694"/>
          <a:ext cx="7186612" cy="178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05" name="文档" r:id="rId7" imgW="7173435" imgH="1981443" progId="Word.Document.12">
                  <p:embed/>
                </p:oleObj>
              </mc:Choice>
              <mc:Fallback>
                <p:oleObj name="文档" r:id="rId7" imgW="7173435" imgH="1981443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38" y="4357694"/>
                        <a:ext cx="7186612" cy="1782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定理</a:t>
            </a:r>
            <a:r>
              <a:rPr lang="en-US" altLang="zh-CN" dirty="0" smtClean="0"/>
              <a:t>4.5.4</a:t>
            </a:r>
            <a:r>
              <a:rPr lang="zh-CN" altLang="en-US" dirty="0" smtClean="0"/>
              <a:t>的证明（续）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37741"/>
              </p:ext>
            </p:extLst>
          </p:nvPr>
        </p:nvGraphicFramePr>
        <p:xfrm>
          <a:off x="898525" y="2011363"/>
          <a:ext cx="7651750" cy="467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99" name="文档" r:id="rId4" imgW="7703657" imgH="4731626" progId="Word.Document.12">
                  <p:embed/>
                </p:oleObj>
              </mc:Choice>
              <mc:Fallback>
                <p:oleObj name="文档" r:id="rId4" imgW="7703657" imgH="4731626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525" y="2011363"/>
                        <a:ext cx="7651750" cy="4678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群中的离散对数问题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</a:rPr>
              <a:t>定义</a:t>
            </a:r>
            <a:r>
              <a:rPr lang="en-US" sz="2800" b="1" dirty="0" smtClean="0">
                <a:solidFill>
                  <a:schemeClr val="accent1"/>
                </a:solidFill>
              </a:rPr>
              <a:t>4.6.1 </a:t>
            </a:r>
            <a:r>
              <a:rPr lang="zh-CN" altLang="en-US" sz="2800" b="1" dirty="0" smtClean="0"/>
              <a:t>设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altLang="zh-CN" sz="2800" b="1" i="1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〈</a:t>
            </a:r>
            <a:r>
              <a:rPr lang="en-US" altLang="zh-CN" sz="2800" b="1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800" b="1" dirty="0" smtClean="0">
                <a:latin typeface="Times New Roman" pitchFamily="18" charset="0"/>
                <a:cs typeface="Times New Roman" pitchFamily="18" charset="0"/>
              </a:rPr>
              <a:t>〉</a:t>
            </a:r>
            <a:r>
              <a:rPr lang="zh-CN" altLang="en-US" sz="2800" b="1" dirty="0" smtClean="0"/>
              <a:t>是循环群。群</a:t>
            </a:r>
            <a:r>
              <a:rPr lang="en-US" sz="2800" b="1" dirty="0" smtClean="0"/>
              <a:t>G</a:t>
            </a:r>
            <a:r>
              <a:rPr lang="zh-CN" altLang="en-US" sz="2800" b="1" dirty="0" smtClean="0"/>
              <a:t>中的离散对数问题是指：给定</a:t>
            </a:r>
            <a:r>
              <a:rPr lang="en-US" sz="2800" b="1" dirty="0" smtClean="0"/>
              <a:t>G</a:t>
            </a:r>
            <a:r>
              <a:rPr lang="zh-CN" altLang="en-US" sz="2800" b="1" dirty="0" smtClean="0"/>
              <a:t>中一个元素</a:t>
            </a:r>
            <a:r>
              <a:rPr lang="en-US" sz="2800" b="1" dirty="0" smtClean="0"/>
              <a:t>h</a:t>
            </a:r>
            <a:r>
              <a:rPr lang="zh-CN" altLang="en-US" sz="2800" b="1" dirty="0" smtClean="0"/>
              <a:t>，找到正整数</a:t>
            </a:r>
            <a:r>
              <a:rPr lang="en-US" sz="2800" b="1" dirty="0" smtClean="0"/>
              <a:t>k</a:t>
            </a:r>
            <a:r>
              <a:rPr lang="zh-CN" altLang="en-US" sz="2800" b="1" dirty="0" smtClean="0"/>
              <a:t>，使得</a:t>
            </a:r>
          </a:p>
          <a:p>
            <a:pPr>
              <a:buNone/>
            </a:pPr>
            <a:endParaRPr lang="en-US" altLang="zh-CN" sz="2800" b="1" dirty="0" smtClean="0"/>
          </a:p>
          <a:p>
            <a:pPr>
              <a:buNone/>
            </a:pPr>
            <a:r>
              <a:rPr lang="zh-CN" altLang="en-US" sz="2800" b="1" dirty="0" smtClean="0"/>
              <a:t>我们把</a:t>
            </a:r>
            <a:r>
              <a:rPr lang="en-US" sz="2800" b="1" dirty="0" smtClean="0"/>
              <a:t>k</a:t>
            </a:r>
            <a:r>
              <a:rPr lang="zh-CN" altLang="en-US" sz="2800" b="1" dirty="0" smtClean="0"/>
              <a:t>称为</a:t>
            </a:r>
            <a:r>
              <a:rPr lang="en-US" sz="2800" b="1" dirty="0" smtClean="0"/>
              <a:t>h</a:t>
            </a:r>
            <a:r>
              <a:rPr lang="zh-CN" altLang="en-US" sz="2800" b="1" dirty="0" smtClean="0"/>
              <a:t>相对于生成元</a:t>
            </a:r>
            <a:r>
              <a:rPr lang="en-US" sz="2800" b="1" dirty="0" smtClean="0"/>
              <a:t> </a:t>
            </a:r>
            <a:r>
              <a:rPr lang="zh-CN" altLang="en-US" sz="2800" b="1" dirty="0" smtClean="0"/>
              <a:t>的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离散对数</a:t>
            </a:r>
            <a:r>
              <a:rPr lang="zh-CN" altLang="en-US" sz="2800" b="1" dirty="0" smtClean="0"/>
              <a:t>，记作</a:t>
            </a:r>
          </a:p>
          <a:p>
            <a:endParaRPr lang="zh-CN" altLang="en-US" sz="2800" b="1" dirty="0"/>
          </a:p>
        </p:txBody>
      </p:sp>
      <p:sp>
        <p:nvSpPr>
          <p:cNvPr id="849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4993" name="Object 1"/>
          <p:cNvGraphicFramePr>
            <a:graphicFrameLocks noChangeAspect="1"/>
          </p:cNvGraphicFramePr>
          <p:nvPr/>
        </p:nvGraphicFramePr>
        <p:xfrm>
          <a:off x="3214678" y="2928934"/>
          <a:ext cx="1428760" cy="71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52" name="Equation" r:id="rId3" imgW="406048" imgH="203024" progId="Equation.DSMT4">
                  <p:embed/>
                </p:oleObj>
              </mc:Choice>
              <mc:Fallback>
                <p:oleObj name="Equation" r:id="rId3" imgW="406048" imgH="203024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78" y="2928934"/>
                        <a:ext cx="1428760" cy="71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4995" name="Object 3"/>
          <p:cNvGraphicFramePr>
            <a:graphicFrameLocks noChangeAspect="1"/>
          </p:cNvGraphicFramePr>
          <p:nvPr/>
        </p:nvGraphicFramePr>
        <p:xfrm>
          <a:off x="3428992" y="4572008"/>
          <a:ext cx="1794813" cy="642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53" name="Equation" r:id="rId5" imgW="634725" imgH="228501" progId="Equation.DSMT4">
                  <p:embed/>
                </p:oleObj>
              </mc:Choice>
              <mc:Fallback>
                <p:oleObj name="Equation" r:id="rId5" imgW="634725" imgH="228501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8992" y="4572008"/>
                        <a:ext cx="1794813" cy="6429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离散对数的例子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 smtClean="0"/>
              <a:t>例</a:t>
            </a:r>
            <a:r>
              <a:rPr lang="en-US" altLang="zh-CN" b="1" dirty="0" smtClean="0"/>
              <a:t>4.6.1</a:t>
            </a:r>
            <a:r>
              <a:rPr lang="zh-CN" altLang="en-US" b="1" dirty="0" smtClean="0"/>
              <a:t>：</a:t>
            </a:r>
            <a:r>
              <a:rPr lang="zh-CN" altLang="en-US" b="1" dirty="0"/>
              <a:t>（</a:t>
            </a:r>
            <a:r>
              <a:rPr lang="en-US" altLang="zh-CN" b="1" dirty="0"/>
              <a:t>Z</a:t>
            </a:r>
            <a:r>
              <a:rPr lang="zh-CN" altLang="en-US" b="1" dirty="0"/>
              <a:t>，</a:t>
            </a:r>
            <a:r>
              <a:rPr lang="en-US" altLang="zh-CN" b="1" dirty="0"/>
              <a:t>+</a:t>
            </a:r>
            <a:r>
              <a:rPr lang="zh-CN" altLang="en-US" b="1" dirty="0"/>
              <a:t>）</a:t>
            </a:r>
          </a:p>
          <a:p>
            <a:pPr lvl="1"/>
            <a:r>
              <a:rPr lang="zh-CN" altLang="en-US" b="1" dirty="0"/>
              <a:t>离散对数问题是平凡的</a:t>
            </a:r>
          </a:p>
          <a:p>
            <a:r>
              <a:rPr lang="zh-CN" altLang="en-US" b="1" dirty="0" smtClean="0"/>
              <a:t>例</a:t>
            </a:r>
            <a:r>
              <a:rPr lang="en-US" altLang="zh-CN" b="1" dirty="0" smtClean="0"/>
              <a:t>4.6.2</a:t>
            </a:r>
            <a:r>
              <a:rPr lang="zh-CN" altLang="en-US" b="1" dirty="0" smtClean="0"/>
              <a:t>：</a:t>
            </a:r>
            <a:r>
              <a:rPr lang="en-US" altLang="zh-CN" b="1" dirty="0" err="1" smtClean="0"/>
              <a:t>Z</a:t>
            </a:r>
            <a:r>
              <a:rPr lang="en-US" altLang="zh-CN" b="1" baseline="-25000" dirty="0" err="1" smtClean="0"/>
              <a:t>m</a:t>
            </a:r>
            <a:r>
              <a:rPr lang="zh-CN" altLang="en-US" b="1" dirty="0" smtClean="0"/>
              <a:t>，模</a:t>
            </a:r>
            <a:r>
              <a:rPr lang="en-US" altLang="zh-CN" b="1" dirty="0" smtClean="0"/>
              <a:t>m</a:t>
            </a:r>
            <a:r>
              <a:rPr lang="zh-CN" altLang="en-US" b="1" dirty="0" smtClean="0"/>
              <a:t>剩余类</a:t>
            </a:r>
            <a:r>
              <a:rPr lang="zh-CN" altLang="en-US" b="1" dirty="0"/>
              <a:t>组成的加法群</a:t>
            </a:r>
            <a:r>
              <a:rPr lang="zh-CN" altLang="en-US" b="1" dirty="0" smtClean="0"/>
              <a:t>，</a:t>
            </a:r>
            <a:r>
              <a:rPr lang="en-US" altLang="zh-CN" b="1" dirty="0" smtClean="0"/>
              <a:t>a</a:t>
            </a:r>
            <a:r>
              <a:rPr lang="zh-CN" altLang="en-US" b="1" dirty="0" smtClean="0"/>
              <a:t>为</a:t>
            </a:r>
            <a:r>
              <a:rPr lang="en-US" altLang="zh-CN" b="1" dirty="0" err="1" smtClean="0"/>
              <a:t>Z</a:t>
            </a:r>
            <a:r>
              <a:rPr lang="en-US" altLang="zh-CN" b="1" baseline="-25000" dirty="0" err="1" smtClean="0"/>
              <a:t>m</a:t>
            </a:r>
            <a:r>
              <a:rPr lang="zh-CN" altLang="en-US" b="1" dirty="0" smtClean="0"/>
              <a:t>的</a:t>
            </a:r>
            <a:r>
              <a:rPr lang="zh-CN" altLang="en-US" b="1" dirty="0"/>
              <a:t>一个生成元，离散对数问题为：给定</a:t>
            </a:r>
            <a:r>
              <a:rPr lang="en-US" altLang="zh-CN" b="1" dirty="0" err="1"/>
              <a:t>h∈</a:t>
            </a:r>
            <a:r>
              <a:rPr lang="en-US" altLang="zh-CN" b="1" dirty="0" err="1" smtClean="0"/>
              <a:t>Z</a:t>
            </a:r>
            <a:r>
              <a:rPr lang="en-US" altLang="zh-CN" b="1" baseline="-25000" dirty="0" err="1" smtClean="0"/>
              <a:t>m</a:t>
            </a:r>
            <a:r>
              <a:rPr lang="zh-CN" altLang="en-US" b="1" dirty="0" smtClean="0"/>
              <a:t>，</a:t>
            </a:r>
            <a:r>
              <a:rPr lang="zh-CN" altLang="en-US" b="1" dirty="0"/>
              <a:t>求解</a:t>
            </a:r>
            <a:r>
              <a:rPr lang="en-US" altLang="zh-CN" b="1" dirty="0"/>
              <a:t>x</a:t>
            </a:r>
            <a:r>
              <a:rPr lang="zh-CN" altLang="en-US" b="1" dirty="0"/>
              <a:t>，使得</a:t>
            </a:r>
          </a:p>
          <a:p>
            <a:pPr>
              <a:buFont typeface="Wingdings" pitchFamily="2" charset="2"/>
              <a:buNone/>
            </a:pPr>
            <a:r>
              <a:rPr lang="zh-CN" altLang="en-US" b="1" dirty="0"/>
              <a:t>                        </a:t>
            </a:r>
            <a:r>
              <a:rPr lang="en-US" altLang="zh-CN" b="1" dirty="0" err="1" smtClean="0"/>
              <a:t>ax≡</a:t>
            </a:r>
            <a:r>
              <a:rPr lang="en-US" altLang="zh-CN" b="1" dirty="0" err="1"/>
              <a:t>h</a:t>
            </a:r>
            <a:r>
              <a:rPr lang="en-US" altLang="zh-CN" b="1" dirty="0"/>
              <a:t> </a:t>
            </a:r>
            <a:r>
              <a:rPr lang="en-US" altLang="zh-CN" b="1" dirty="0" smtClean="0"/>
              <a:t>(mod m)</a:t>
            </a:r>
            <a:endParaRPr lang="en-US" altLang="zh-CN" b="1" dirty="0"/>
          </a:p>
          <a:p>
            <a:pPr lvl="1"/>
            <a:r>
              <a:rPr lang="zh-CN" altLang="en-US" b="1" dirty="0"/>
              <a:t>用扩展的欧几里得算法很容易求解。</a:t>
            </a:r>
          </a:p>
          <a:p>
            <a:pPr lvl="1"/>
            <a:r>
              <a:rPr lang="zh-CN" altLang="en-US" b="1" dirty="0" smtClean="0"/>
              <a:t>㏒</a:t>
            </a:r>
            <a:r>
              <a:rPr lang="en-US" altLang="zh-CN" b="1" baseline="-25000" dirty="0" smtClean="0"/>
              <a:t>a</a:t>
            </a:r>
            <a:r>
              <a:rPr lang="en-US" altLang="zh-CN" b="1" dirty="0" smtClean="0"/>
              <a:t>(h</a:t>
            </a:r>
            <a:r>
              <a:rPr lang="en-US" altLang="zh-CN" b="1" dirty="0"/>
              <a:t>)=</a:t>
            </a:r>
            <a:r>
              <a:rPr lang="en-US" altLang="zh-CN" b="1" dirty="0" smtClean="0"/>
              <a:t>x=ha</a:t>
            </a:r>
            <a:r>
              <a:rPr lang="en-US" altLang="zh-CN" b="1" baseline="30000" dirty="0" smtClean="0"/>
              <a:t>-1</a:t>
            </a:r>
            <a:r>
              <a:rPr lang="en-US" altLang="zh-CN" b="1" dirty="0" smtClean="0"/>
              <a:t> (mod m)</a:t>
            </a:r>
            <a:endParaRPr lang="en-US" altLang="zh-CN" b="1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大步小步算法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922016"/>
          </a:xfrm>
        </p:spPr>
        <p:txBody>
          <a:bodyPr/>
          <a:lstStyle/>
          <a:p>
            <a:r>
              <a:rPr lang="zh-CN" altLang="en-US" b="1" dirty="0" smtClean="0"/>
              <a:t>求解离散对数的快速搜索算法，称为“大步</a:t>
            </a:r>
            <a:r>
              <a:rPr lang="en-US" b="1" dirty="0" smtClean="0"/>
              <a:t>-</a:t>
            </a:r>
            <a:r>
              <a:rPr lang="zh-CN" altLang="en-US" b="1" dirty="0" smtClean="0"/>
              <a:t>小步”算法</a:t>
            </a:r>
            <a:endParaRPr lang="zh-CN" altLang="en-US" b="1" dirty="0"/>
          </a:p>
        </p:txBody>
      </p:sp>
      <p:graphicFrame>
        <p:nvGraphicFramePr>
          <p:cNvPr id="103426" name="Object 2"/>
          <p:cNvGraphicFramePr>
            <a:graphicFrameLocks noChangeAspect="1"/>
          </p:cNvGraphicFramePr>
          <p:nvPr/>
        </p:nvGraphicFramePr>
        <p:xfrm>
          <a:off x="0" y="2727325"/>
          <a:ext cx="9107487" cy="413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84" name="Picture" r:id="rId3" imgW="5221080" imgH="2359800" progId="Word.Picture.8">
                  <p:embed/>
                </p:oleObj>
              </mc:Choice>
              <mc:Fallback>
                <p:oleObj name="Picture" r:id="rId3" imgW="5221080" imgH="235980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727325"/>
                        <a:ext cx="9107487" cy="4130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9863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大步小步算法（续）</a:t>
            </a:r>
            <a:endParaRPr lang="zh-CN" altLang="en-US" dirty="0"/>
          </a:p>
        </p:txBody>
      </p:sp>
      <p:graphicFrame>
        <p:nvGraphicFramePr>
          <p:cNvPr id="104450" name="Object 2"/>
          <p:cNvGraphicFramePr>
            <a:graphicFrameLocks noChangeAspect="1"/>
          </p:cNvGraphicFramePr>
          <p:nvPr/>
        </p:nvGraphicFramePr>
        <p:xfrm>
          <a:off x="214282" y="2143116"/>
          <a:ext cx="8636000" cy="334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08" name="Picture" r:id="rId3" imgW="4951080" imgH="1909440" progId="Word.Picture.8">
                  <p:embed/>
                </p:oleObj>
              </mc:Choice>
              <mc:Fallback>
                <p:oleObj name="Picture" r:id="rId3" imgW="4951080" imgH="190944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282" y="2143116"/>
                        <a:ext cx="8636000" cy="3344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8642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5473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7843872"/>
              </p:ext>
            </p:extLst>
          </p:nvPr>
        </p:nvGraphicFramePr>
        <p:xfrm>
          <a:off x="295275" y="539750"/>
          <a:ext cx="8626475" cy="635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36" name="Picture" r:id="rId4" imgW="4951080" imgH="3619440" progId="Word.Picture.8">
                  <p:embed/>
                </p:oleObj>
              </mc:Choice>
              <mc:Fallback>
                <p:oleObj name="Picture" r:id="rId4" imgW="4951080" imgH="361944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" y="539750"/>
                        <a:ext cx="8626475" cy="635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8578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ElGamal</a:t>
            </a:r>
            <a:r>
              <a:rPr lang="zh-CN" altLang="en-US" dirty="0" smtClean="0"/>
              <a:t>公钥加密体制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9894237"/>
              </p:ext>
            </p:extLst>
          </p:nvPr>
        </p:nvGraphicFramePr>
        <p:xfrm>
          <a:off x="107505" y="2060848"/>
          <a:ext cx="8784976" cy="3429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02" name="Picture" r:id="rId3" imgW="4960768" imgH="2452514" progId="Word.Picture.8">
                  <p:embed/>
                </p:oleObj>
              </mc:Choice>
              <mc:Fallback>
                <p:oleObj name="Picture" r:id="rId3" imgW="4960768" imgH="2452514" progId="Word.Picture.8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21162"/>
                      <a:stretch>
                        <a:fillRect/>
                      </a:stretch>
                    </p:blipFill>
                    <p:spPr bwMode="auto">
                      <a:xfrm>
                        <a:off x="107505" y="2060848"/>
                        <a:ext cx="8784976" cy="34292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16590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2665808"/>
              </p:ext>
            </p:extLst>
          </p:nvPr>
        </p:nvGraphicFramePr>
        <p:xfrm>
          <a:off x="447212" y="57190"/>
          <a:ext cx="8460432" cy="6828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27" name="Picture" r:id="rId3" imgW="4960768" imgH="5067256" progId="Word.Picture.8">
                  <p:embed/>
                </p:oleObj>
              </mc:Choice>
              <mc:Fallback>
                <p:oleObj name="Picture" r:id="rId3" imgW="4960768" imgH="5067256" progId="Word.Picture.8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21162"/>
                      <a:stretch>
                        <a:fillRect/>
                      </a:stretch>
                    </p:blipFill>
                    <p:spPr bwMode="auto">
                      <a:xfrm>
                        <a:off x="447212" y="57190"/>
                        <a:ext cx="8460432" cy="682819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65787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4.7 </a:t>
            </a:r>
            <a:r>
              <a:rPr lang="zh-CN" altLang="en-US" dirty="0" smtClean="0"/>
              <a:t>置换群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993454"/>
          </a:xfrm>
        </p:spPr>
        <p:txBody>
          <a:bodyPr/>
          <a:lstStyle/>
          <a:p>
            <a:r>
              <a:rPr lang="zh-CN" altLang="en-US" b="1" dirty="0" smtClean="0">
                <a:solidFill>
                  <a:schemeClr val="accent1"/>
                </a:solidFill>
              </a:rPr>
              <a:t>定义</a:t>
            </a:r>
            <a:r>
              <a:rPr lang="en-US" b="1" dirty="0" smtClean="0">
                <a:solidFill>
                  <a:schemeClr val="accent1"/>
                </a:solidFill>
              </a:rPr>
              <a:t>4.7.1 </a:t>
            </a:r>
            <a:r>
              <a:rPr lang="zh-CN" altLang="en-US" b="1" dirty="0" smtClean="0"/>
              <a:t>集合</a:t>
            </a:r>
            <a:r>
              <a:rPr lang="en-US" b="1" dirty="0" smtClean="0"/>
              <a:t>S</a:t>
            </a:r>
            <a:r>
              <a:rPr lang="zh-CN" altLang="en-US" b="1" dirty="0" smtClean="0"/>
              <a:t>到自身的一个映射称为一个</a:t>
            </a:r>
            <a:r>
              <a:rPr lang="zh-CN" altLang="en-US" b="1" dirty="0" smtClean="0">
                <a:solidFill>
                  <a:srgbClr val="FF0000"/>
                </a:solidFill>
              </a:rPr>
              <a:t>变换</a:t>
            </a:r>
            <a:r>
              <a:rPr lang="zh-CN" altLang="en-US" b="1" dirty="0" smtClean="0"/>
              <a:t>。有限集合</a:t>
            </a:r>
            <a:r>
              <a:rPr lang="en-US" b="1" dirty="0" smtClean="0"/>
              <a:t>S</a:t>
            </a:r>
            <a:r>
              <a:rPr lang="zh-CN" altLang="en-US" b="1" dirty="0" smtClean="0"/>
              <a:t>上的一个一一变换称为一个</a:t>
            </a:r>
            <a:r>
              <a:rPr lang="zh-CN" altLang="en-US" b="1" dirty="0" smtClean="0">
                <a:solidFill>
                  <a:srgbClr val="FF0000"/>
                </a:solidFill>
              </a:rPr>
              <a:t>置换</a:t>
            </a:r>
            <a:r>
              <a:rPr lang="zh-CN" altLang="en-US" b="1" dirty="0" smtClean="0"/>
              <a:t>。</a:t>
            </a:r>
          </a:p>
          <a:p>
            <a:endParaRPr lang="zh-CN" altLang="en-US" b="1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071538" y="3030557"/>
          <a:ext cx="7358114" cy="3470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71" name="文档" r:id="rId4" imgW="7254113" imgH="3564712" progId="Word.Document.12">
                  <p:embed/>
                </p:oleObj>
              </mc:Choice>
              <mc:Fallback>
                <p:oleObj name="文档" r:id="rId4" imgW="7254113" imgH="3564712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38" y="3030557"/>
                        <a:ext cx="7358114" cy="347027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置换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 noChangeAspect="1"/>
          </p:cNvGraphicFramePr>
          <p:nvPr>
            <p:ph idx="1"/>
          </p:nvPr>
        </p:nvGraphicFramePr>
        <p:xfrm>
          <a:off x="1136650" y="1966936"/>
          <a:ext cx="6829425" cy="481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95" name="文档" r:id="rId4" imgW="7298141" imgH="5149149" progId="Word.Document.12">
                  <p:embed/>
                </p:oleObj>
              </mc:Choice>
              <mc:Fallback>
                <p:oleObj name="文档" r:id="rId4" imgW="7298141" imgH="5149149" progId="Word.Document.12">
                  <p:embed/>
                  <p:pic>
                    <p:nvPicPr>
                      <p:cNvPr id="0" name="内容占位符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6650" y="1966936"/>
                        <a:ext cx="6829425" cy="4819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置换举例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636264"/>
          </a:xfrm>
        </p:spPr>
        <p:txBody>
          <a:bodyPr/>
          <a:lstStyle/>
          <a:p>
            <a:r>
              <a:rPr lang="zh-CN" altLang="en-US" b="1" dirty="0" smtClean="0"/>
              <a:t>例</a:t>
            </a:r>
            <a:r>
              <a:rPr lang="en-US" b="1" dirty="0" smtClean="0"/>
              <a:t>4.7.1 </a:t>
            </a:r>
            <a:r>
              <a:rPr lang="zh-CN" altLang="en-US" b="1" dirty="0" smtClean="0"/>
              <a:t>集合</a:t>
            </a:r>
            <a:r>
              <a:rPr lang="en-US" altLang="zh-CN" b="1" dirty="0" smtClean="0"/>
              <a:t>S</a:t>
            </a:r>
            <a:r>
              <a:rPr lang="en-US" altLang="zh-CN" b="1" baseline="-25000" dirty="0" smtClean="0"/>
              <a:t>3</a:t>
            </a:r>
            <a:r>
              <a:rPr lang="en-US" altLang="zh-CN" b="1" dirty="0" smtClean="0"/>
              <a:t>={1,2,3}</a:t>
            </a:r>
            <a:r>
              <a:rPr lang="zh-CN" altLang="en-US" b="1" dirty="0" smtClean="0"/>
              <a:t>上有</a:t>
            </a:r>
            <a:r>
              <a:rPr lang="en-US" b="1" dirty="0" smtClean="0"/>
              <a:t>3!</a:t>
            </a:r>
            <a:r>
              <a:rPr lang="zh-CN" altLang="en-US" b="1" dirty="0" smtClean="0"/>
              <a:t>个置换。</a:t>
            </a:r>
          </a:p>
          <a:p>
            <a:pPr>
              <a:buNone/>
            </a:pPr>
            <a:endParaRPr lang="zh-CN" altLang="en-US" dirty="0"/>
          </a:p>
        </p:txBody>
      </p:sp>
      <p:sp>
        <p:nvSpPr>
          <p:cNvPr id="890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9089" name="Object 1"/>
          <p:cNvGraphicFramePr>
            <a:graphicFrameLocks noChangeAspect="1"/>
          </p:cNvGraphicFramePr>
          <p:nvPr/>
        </p:nvGraphicFramePr>
        <p:xfrm>
          <a:off x="1000100" y="3000372"/>
          <a:ext cx="7504598" cy="2286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18" name="Equation" r:id="rId3" imgW="3086100" imgH="939800" progId="Equation.DSMT4">
                  <p:embed/>
                </p:oleObj>
              </mc:Choice>
              <mc:Fallback>
                <p:oleObj name="Equation" r:id="rId3" imgW="3086100" imgH="9398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00" y="3000372"/>
                        <a:ext cx="7504598" cy="22860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置换的乘积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 smtClean="0"/>
              <a:t>定义</a:t>
            </a:r>
            <a:r>
              <a:rPr lang="en-US" b="1" dirty="0" smtClean="0"/>
              <a:t>4.7.2            </a:t>
            </a:r>
            <a:r>
              <a:rPr lang="zh-CN" altLang="en-US" b="1" dirty="0" smtClean="0"/>
              <a:t>是</a:t>
            </a:r>
            <a:r>
              <a:rPr lang="en-US" b="1" dirty="0" smtClean="0"/>
              <a:t>n</a:t>
            </a:r>
            <a:r>
              <a:rPr lang="zh-CN" altLang="en-US" b="1" dirty="0" smtClean="0"/>
              <a:t>元置换，则</a:t>
            </a:r>
            <a:r>
              <a:rPr lang="en-US" b="1" dirty="0" smtClean="0"/>
              <a:t>       </a:t>
            </a:r>
            <a:r>
              <a:rPr lang="zh-CN" altLang="en-US" b="1" dirty="0" smtClean="0"/>
              <a:t>和</a:t>
            </a:r>
            <a:r>
              <a:rPr lang="en-US" b="1" dirty="0" smtClean="0"/>
              <a:t>      </a:t>
            </a:r>
            <a:r>
              <a:rPr lang="zh-CN" altLang="en-US" b="1" dirty="0" smtClean="0"/>
              <a:t>的复合</a:t>
            </a:r>
            <a:r>
              <a:rPr lang="en-US" b="1" dirty="0" smtClean="0"/>
              <a:t>         </a:t>
            </a:r>
            <a:r>
              <a:rPr lang="zh-CN" altLang="en-US" b="1" dirty="0" smtClean="0"/>
              <a:t>也是</a:t>
            </a:r>
            <a:r>
              <a:rPr lang="en-US" b="1" dirty="0" smtClean="0"/>
              <a:t>n</a:t>
            </a:r>
            <a:r>
              <a:rPr lang="zh-CN" altLang="en-US" b="1" dirty="0" smtClean="0"/>
              <a:t>元置换，称为 </a:t>
            </a:r>
            <a:r>
              <a:rPr lang="en-US" b="1" dirty="0" smtClean="0"/>
              <a:t>     </a:t>
            </a:r>
            <a:r>
              <a:rPr lang="zh-CN" altLang="en-US" b="1" dirty="0" smtClean="0"/>
              <a:t>和</a:t>
            </a:r>
            <a:r>
              <a:rPr lang="en-US" b="1" dirty="0" smtClean="0"/>
              <a:t>       </a:t>
            </a:r>
            <a:r>
              <a:rPr lang="zh-CN" altLang="en-US" b="1" dirty="0" smtClean="0"/>
              <a:t>的乘积，记为</a:t>
            </a:r>
            <a:r>
              <a:rPr lang="en-US" b="1" dirty="0" smtClean="0"/>
              <a:t>          </a:t>
            </a:r>
            <a:r>
              <a:rPr lang="zh-CN" altLang="en-US" b="1" dirty="0" smtClean="0"/>
              <a:t>。</a:t>
            </a:r>
          </a:p>
          <a:p>
            <a:endParaRPr lang="zh-CN" altLang="en-US" b="1" dirty="0"/>
          </a:p>
        </p:txBody>
      </p:sp>
      <p:graphicFrame>
        <p:nvGraphicFramePr>
          <p:cNvPr id="91137" name="Object 1"/>
          <p:cNvGraphicFramePr>
            <a:graphicFrameLocks noChangeAspect="1"/>
          </p:cNvGraphicFramePr>
          <p:nvPr/>
        </p:nvGraphicFramePr>
        <p:xfrm>
          <a:off x="2357422" y="2028836"/>
          <a:ext cx="859739" cy="471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460" name="Equation" r:id="rId3" imgW="291847" imgH="164957" progId="Equation.DSMT4">
                  <p:embed/>
                </p:oleObj>
              </mc:Choice>
              <mc:Fallback>
                <p:oleObj name="Equation" r:id="rId3" imgW="291847" imgH="164957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7422" y="2028836"/>
                        <a:ext cx="859739" cy="47147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286380" y="1984375"/>
          <a:ext cx="484901" cy="4444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461" name="Equation" r:id="rId5" imgW="152280" imgH="139680" progId="Equation.DSMT4">
                  <p:embed/>
                </p:oleObj>
              </mc:Choice>
              <mc:Fallback>
                <p:oleObj name="Equation" r:id="rId5" imgW="152280" imgH="13968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380" y="1984375"/>
                        <a:ext cx="484901" cy="44449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197612" y="1928802"/>
          <a:ext cx="517528" cy="5148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462" name="Equation" r:id="rId7" imgW="126720" imgH="139680" progId="Equation.DSMT4">
                  <p:embed/>
                </p:oleObj>
              </mc:Choice>
              <mc:Fallback>
                <p:oleObj name="Equation" r:id="rId7" imgW="126720" imgH="1396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7612" y="1928802"/>
                        <a:ext cx="517528" cy="5148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1141" name="Object 5"/>
          <p:cNvGraphicFramePr>
            <a:graphicFrameLocks noChangeAspect="1"/>
          </p:cNvGraphicFramePr>
          <p:nvPr/>
        </p:nvGraphicFramePr>
        <p:xfrm>
          <a:off x="7715272" y="2000264"/>
          <a:ext cx="1071552" cy="428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463" name="Equation" r:id="rId9" imgW="330200" imgH="139700" progId="Equation.DSMT4">
                  <p:embed/>
                </p:oleObj>
              </mc:Choice>
              <mc:Fallback>
                <p:oleObj name="Equation" r:id="rId9" imgW="330200" imgH="1397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72" y="2000264"/>
                        <a:ext cx="1071552" cy="4286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3" name="Object 7"/>
          <p:cNvGraphicFramePr>
            <a:graphicFrameLocks noChangeAspect="1"/>
          </p:cNvGraphicFramePr>
          <p:nvPr/>
        </p:nvGraphicFramePr>
        <p:xfrm>
          <a:off x="3730622" y="2357430"/>
          <a:ext cx="48418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464" name="Equation" r:id="rId11" imgW="152280" imgH="139680" progId="Equation.DSMT4">
                  <p:embed/>
                </p:oleObj>
              </mc:Choice>
              <mc:Fallback>
                <p:oleObj name="Equation" r:id="rId11" imgW="152280" imgH="13968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0622" y="2357430"/>
                        <a:ext cx="484188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4" name="Object 8"/>
          <p:cNvGraphicFramePr>
            <a:graphicFrameLocks noChangeAspect="1"/>
          </p:cNvGraphicFramePr>
          <p:nvPr/>
        </p:nvGraphicFramePr>
        <p:xfrm>
          <a:off x="4572000" y="2343146"/>
          <a:ext cx="5175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465" name="Equation" r:id="rId12" imgW="126720" imgH="139680" progId="Equation.DSMT4">
                  <p:embed/>
                </p:oleObj>
              </mc:Choice>
              <mc:Fallback>
                <p:oleObj name="Equation" r:id="rId12" imgW="126720" imgH="13968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343146"/>
                        <a:ext cx="517525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1145" name="Object 9"/>
          <p:cNvGraphicFramePr>
            <a:graphicFrameLocks noChangeAspect="1"/>
          </p:cNvGraphicFramePr>
          <p:nvPr/>
        </p:nvGraphicFramePr>
        <p:xfrm>
          <a:off x="7072330" y="2357430"/>
          <a:ext cx="714348" cy="4511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466" name="Equation" r:id="rId13" imgW="215713" imgH="139579" progId="Equation.DSMT4">
                  <p:embed/>
                </p:oleObj>
              </mc:Choice>
              <mc:Fallback>
                <p:oleObj name="Equation" r:id="rId13" imgW="215713" imgH="139579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2330" y="2357430"/>
                        <a:ext cx="714348" cy="45116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71472" y="2928934"/>
            <a:ext cx="75009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例</a:t>
            </a:r>
            <a:r>
              <a:rPr lang="en-US" sz="2800" b="1" dirty="0" smtClean="0"/>
              <a:t>4.7.2 </a:t>
            </a:r>
            <a:r>
              <a:rPr lang="zh-CN" altLang="en-US" sz="2800" b="1" dirty="0" smtClean="0"/>
              <a:t>计算例</a:t>
            </a:r>
            <a:r>
              <a:rPr lang="en-US" sz="2800" b="1" dirty="0" smtClean="0"/>
              <a:t>4.7.1</a:t>
            </a:r>
            <a:r>
              <a:rPr lang="zh-CN" altLang="en-US" sz="2800" b="1" dirty="0" smtClean="0"/>
              <a:t>中的</a:t>
            </a:r>
            <a:endParaRPr lang="zh-CN" altLang="en-US" sz="2800" b="1" dirty="0"/>
          </a:p>
        </p:txBody>
      </p:sp>
      <p:sp>
        <p:nvSpPr>
          <p:cNvPr id="91148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1147" name="Object 11"/>
          <p:cNvGraphicFramePr>
            <a:graphicFrameLocks noChangeAspect="1"/>
          </p:cNvGraphicFramePr>
          <p:nvPr/>
        </p:nvGraphicFramePr>
        <p:xfrm>
          <a:off x="4429124" y="2928934"/>
          <a:ext cx="2354498" cy="57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467" name="Equation" r:id="rId15" imgW="977900" imgH="241300" progId="Equation.DSMT4">
                  <p:embed/>
                </p:oleObj>
              </mc:Choice>
              <mc:Fallback>
                <p:oleObj name="Equation" r:id="rId15" imgW="977900" imgH="24130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124" y="2928934"/>
                        <a:ext cx="2354498" cy="57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51" name="Object 15"/>
          <p:cNvGraphicFramePr>
            <a:graphicFrameLocks noChangeAspect="1"/>
          </p:cNvGraphicFramePr>
          <p:nvPr/>
        </p:nvGraphicFramePr>
        <p:xfrm>
          <a:off x="1571604" y="3500438"/>
          <a:ext cx="5939772" cy="928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468" name="Equation" r:id="rId17" imgW="2921000" imgH="457200" progId="Equation.DSMT4">
                  <p:embed/>
                </p:oleObj>
              </mc:Choice>
              <mc:Fallback>
                <p:oleObj name="Equation" r:id="rId17" imgW="2921000" imgH="457200" progId="Equation.DSMT4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04" y="3500438"/>
                        <a:ext cx="5939772" cy="9286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50" name="Object 14"/>
          <p:cNvGraphicFramePr>
            <a:graphicFrameLocks noChangeAspect="1"/>
          </p:cNvGraphicFramePr>
          <p:nvPr/>
        </p:nvGraphicFramePr>
        <p:xfrm>
          <a:off x="1500166" y="4643446"/>
          <a:ext cx="6396678" cy="1000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469" name="Equation" r:id="rId19" imgW="2921000" imgH="457200" progId="Equation.DSMT4">
                  <p:embed/>
                </p:oleObj>
              </mc:Choice>
              <mc:Fallback>
                <p:oleObj name="Equation" r:id="rId19" imgW="2921000" imgH="457200" progId="Equation.DSMT4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166" y="4643446"/>
                        <a:ext cx="6396678" cy="10001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9" name="Object 13"/>
          <p:cNvGraphicFramePr>
            <a:graphicFrameLocks noChangeAspect="1"/>
          </p:cNvGraphicFramePr>
          <p:nvPr/>
        </p:nvGraphicFramePr>
        <p:xfrm>
          <a:off x="1643042" y="5686452"/>
          <a:ext cx="5225637" cy="11001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470" name="Equation" r:id="rId21" imgW="2171700" imgH="457200" progId="Equation.DSMT4">
                  <p:embed/>
                </p:oleObj>
              </mc:Choice>
              <mc:Fallback>
                <p:oleObj name="Equation" r:id="rId21" imgW="2171700" imgH="457200" progId="Equation.DSMT4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42" y="5686452"/>
                        <a:ext cx="5225637" cy="11001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52" name="Rectangle 16"/>
          <p:cNvSpPr>
            <a:spLocks noChangeArrowheads="1"/>
          </p:cNvSpPr>
          <p:nvPr/>
        </p:nvSpPr>
        <p:spPr bwMode="auto">
          <a:xfrm>
            <a:off x="642910" y="3500438"/>
            <a:ext cx="90601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解：</a:t>
            </a:r>
            <a:endParaRPr kumimoji="0" lang="zh-CN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91153" name="Rectangle 17"/>
          <p:cNvSpPr>
            <a:spLocks noChangeArrowheads="1"/>
          </p:cNvSpPr>
          <p:nvPr/>
        </p:nvSpPr>
        <p:spPr bwMode="auto">
          <a:xfrm>
            <a:off x="0" y="9144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1154" name="Rectangle 18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椭圆形标注 22"/>
          <p:cNvSpPr/>
          <p:nvPr/>
        </p:nvSpPr>
        <p:spPr>
          <a:xfrm>
            <a:off x="5643538" y="2786058"/>
            <a:ext cx="3500462" cy="1857388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Arial" pitchFamily="34" charset="0"/>
              <a:buChar char="•"/>
            </a:pPr>
            <a:r>
              <a:rPr lang="zh-CN" altLang="en-US" sz="2400" b="1" dirty="0" smtClean="0"/>
              <a:t>计算置换的复合是从右至左计算</a:t>
            </a:r>
            <a:endParaRPr lang="en-US" altLang="zh-CN" sz="2400" b="1" dirty="0" smtClean="0"/>
          </a:p>
          <a:p>
            <a:pPr algn="ctr">
              <a:buFont typeface="Arial" pitchFamily="34" charset="0"/>
              <a:buChar char="•"/>
            </a:pPr>
            <a:r>
              <a:rPr lang="zh-CN" altLang="en-US" sz="2400" b="1" dirty="0" smtClean="0"/>
              <a:t>置换的复合不满足交换律。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置换群</a:t>
            </a:r>
            <a:r>
              <a:rPr lang="en-US" altLang="zh-CN" dirty="0" smtClean="0"/>
              <a:t>(</a:t>
            </a:r>
            <a:r>
              <a:rPr lang="zh-CN" altLang="en-US" dirty="0" smtClean="0"/>
              <a:t>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1071546"/>
            <a:ext cx="8229600" cy="922016"/>
          </a:xfrm>
        </p:spPr>
        <p:txBody>
          <a:bodyPr/>
          <a:lstStyle/>
          <a:p>
            <a:r>
              <a:rPr lang="zh-CN" altLang="en-US" b="1" dirty="0" smtClean="0">
                <a:solidFill>
                  <a:schemeClr val="accent1"/>
                </a:solidFill>
              </a:rPr>
              <a:t>定理</a:t>
            </a:r>
            <a:r>
              <a:rPr lang="en-US" b="1" dirty="0" smtClean="0">
                <a:solidFill>
                  <a:schemeClr val="accent1"/>
                </a:solidFill>
              </a:rPr>
              <a:t>4.7.1 </a:t>
            </a:r>
            <a:r>
              <a:rPr lang="zh-CN" altLang="en-US" b="1" dirty="0" smtClean="0"/>
              <a:t>对于有限集合</a:t>
            </a:r>
            <a:r>
              <a:rPr lang="en-US" altLang="zh-CN" b="1" dirty="0" smtClean="0"/>
              <a:t>S={1,2,…,n}</a:t>
            </a:r>
            <a:r>
              <a:rPr lang="zh-CN" altLang="en-US" b="1" dirty="0" smtClean="0"/>
              <a:t>，</a:t>
            </a:r>
            <a:r>
              <a:rPr lang="en-US" b="1" dirty="0" err="1" smtClean="0"/>
              <a:t>S</a:t>
            </a:r>
            <a:r>
              <a:rPr lang="en-US" b="1" baseline="-25000" dirty="0" err="1" smtClean="0"/>
              <a:t>n</a:t>
            </a:r>
            <a:r>
              <a:rPr lang="zh-CN" altLang="en-US" b="1" dirty="0" smtClean="0"/>
              <a:t>关于映射的复合构成群，其阶为</a:t>
            </a:r>
            <a:r>
              <a:rPr lang="en-US" altLang="zh-CN" b="1" dirty="0" smtClean="0"/>
              <a:t>n! </a:t>
            </a:r>
            <a:r>
              <a:rPr lang="zh-CN" altLang="en-US" b="1" dirty="0" smtClean="0"/>
              <a:t>。</a:t>
            </a:r>
            <a:endParaRPr lang="zh-CN" alt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500034" y="1928802"/>
            <a:ext cx="821537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</a:rPr>
              <a:t>证明：</a:t>
            </a:r>
            <a:r>
              <a:rPr lang="zh-CN" altLang="en-US" sz="2800" b="1" dirty="0" smtClean="0"/>
              <a:t>因为一一映射的复合仍为一一映射，且映射的复合满足结合率，所以置换的乘积满足结合律。</a:t>
            </a:r>
            <a:endParaRPr lang="en-US" altLang="zh-CN" sz="2800" b="1" dirty="0" smtClean="0"/>
          </a:p>
          <a:p>
            <a:endParaRPr lang="zh-CN" altLang="en-US" sz="2800" b="1" dirty="0" smtClean="0"/>
          </a:p>
          <a:p>
            <a:r>
              <a:rPr lang="en-US" sz="2800" b="1" dirty="0" smtClean="0"/>
              <a:t>n</a:t>
            </a:r>
            <a:r>
              <a:rPr lang="zh-CN" altLang="en-US" sz="2800" b="1" dirty="0" smtClean="0"/>
              <a:t>元恒等置换             </a:t>
            </a:r>
            <a:r>
              <a:rPr lang="en-US" sz="2800" b="1" dirty="0" smtClean="0"/>
              <a:t>                      </a:t>
            </a:r>
            <a:r>
              <a:rPr lang="zh-CN" altLang="en-US" sz="2800" b="1" dirty="0" smtClean="0"/>
              <a:t>是</a:t>
            </a:r>
            <a:r>
              <a:rPr lang="en-US" sz="2800" b="1" dirty="0" err="1" smtClean="0"/>
              <a:t>S</a:t>
            </a:r>
            <a:r>
              <a:rPr lang="en-US" sz="2800" b="1" baseline="-25000" dirty="0" err="1" smtClean="0"/>
              <a:t>n</a:t>
            </a:r>
            <a:r>
              <a:rPr lang="zh-CN" altLang="en-US" sz="2800" b="1" dirty="0" smtClean="0"/>
              <a:t>的 单位元。</a:t>
            </a:r>
            <a:endParaRPr lang="en-US" altLang="zh-CN" sz="2800" b="1" dirty="0" smtClean="0"/>
          </a:p>
          <a:p>
            <a:endParaRPr lang="en-US" altLang="zh-CN" sz="2800" b="1" dirty="0" smtClean="0"/>
          </a:p>
          <a:p>
            <a:endParaRPr lang="zh-CN" altLang="en-US" sz="2800" b="1" dirty="0" smtClean="0"/>
          </a:p>
          <a:p>
            <a:r>
              <a:rPr lang="zh-CN" altLang="en-US" sz="2800" b="1" dirty="0" smtClean="0"/>
              <a:t>置换                </a:t>
            </a:r>
            <a:r>
              <a:rPr lang="en-US" sz="2800" b="1" dirty="0" smtClean="0"/>
              <a:t>                </a:t>
            </a:r>
            <a:r>
              <a:rPr lang="zh-CN" altLang="en-US" sz="2800" b="1" dirty="0" smtClean="0"/>
              <a:t>有逆元 </a:t>
            </a:r>
            <a:r>
              <a:rPr lang="en-US" sz="2800" b="1" dirty="0" smtClean="0"/>
              <a:t>                                    </a:t>
            </a:r>
            <a:r>
              <a:rPr lang="zh-CN" altLang="en-US" sz="2800" b="1" dirty="0" smtClean="0"/>
              <a:t>。</a:t>
            </a:r>
            <a:endParaRPr lang="en-US" altLang="zh-CN" sz="2800" b="1" dirty="0" smtClean="0"/>
          </a:p>
          <a:p>
            <a:endParaRPr lang="zh-CN" altLang="en-US" sz="2800" b="1" dirty="0" smtClean="0"/>
          </a:p>
          <a:p>
            <a:r>
              <a:rPr lang="zh-CN" altLang="en-US" sz="2800" b="1" dirty="0" smtClean="0"/>
              <a:t>因此，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S</a:t>
            </a:r>
            <a:r>
              <a:rPr lang="en-US" sz="2800" b="1" baseline="-25000" dirty="0" err="1" smtClean="0"/>
              <a:t>n</a:t>
            </a:r>
            <a:r>
              <a:rPr lang="zh-CN" altLang="en-US" sz="2800" b="1" dirty="0" smtClean="0"/>
              <a:t>对置换的乘法构成群，其阶为</a:t>
            </a:r>
            <a:r>
              <a:rPr lang="en-US" altLang="zh-CN" sz="2800" b="1" dirty="0" smtClean="0"/>
              <a:t>n! </a:t>
            </a:r>
            <a:r>
              <a:rPr lang="zh-CN" altLang="en-US" sz="2800" b="1" dirty="0" smtClean="0"/>
              <a:t>。 </a:t>
            </a:r>
            <a:endParaRPr lang="zh-CN" altLang="en-US" sz="2800" b="1" dirty="0"/>
          </a:p>
        </p:txBody>
      </p:sp>
      <p:sp>
        <p:nvSpPr>
          <p:cNvPr id="921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2161" name="Object 1"/>
          <p:cNvGraphicFramePr>
            <a:graphicFrameLocks noChangeAspect="1"/>
          </p:cNvGraphicFramePr>
          <p:nvPr/>
        </p:nvGraphicFramePr>
        <p:xfrm>
          <a:off x="2643174" y="2857496"/>
          <a:ext cx="2952770" cy="1143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0" name="Equation" r:id="rId3" imgW="1181100" imgH="457200" progId="Equation.DSMT4">
                  <p:embed/>
                </p:oleObj>
              </mc:Choice>
              <mc:Fallback>
                <p:oleObj name="Equation" r:id="rId3" imgW="1181100" imgH="4572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74" y="2857496"/>
                        <a:ext cx="2952770" cy="114300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2163" name="Object 3"/>
          <p:cNvGraphicFramePr>
            <a:graphicFrameLocks noChangeAspect="1"/>
          </p:cNvGraphicFramePr>
          <p:nvPr/>
        </p:nvGraphicFramePr>
        <p:xfrm>
          <a:off x="1428728" y="4214818"/>
          <a:ext cx="2647345" cy="1000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1" name="Equation" r:id="rId5" imgW="1282700" imgH="482600" progId="Equation.DSMT4">
                  <p:embed/>
                </p:oleObj>
              </mc:Choice>
              <mc:Fallback>
                <p:oleObj name="Equation" r:id="rId5" imgW="1282700" imgH="4826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28" y="4214818"/>
                        <a:ext cx="2647345" cy="100010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2165" name="Object 5"/>
          <p:cNvGraphicFramePr>
            <a:graphicFrameLocks noChangeAspect="1"/>
          </p:cNvGraphicFramePr>
          <p:nvPr/>
        </p:nvGraphicFramePr>
        <p:xfrm>
          <a:off x="5072066" y="4214842"/>
          <a:ext cx="3236962" cy="1071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2" name="Equation" r:id="rId7" imgW="1384300" imgH="457200" progId="Equation.DSMT4">
                  <p:embed/>
                </p:oleObj>
              </mc:Choice>
              <mc:Fallback>
                <p:oleObj name="Equation" r:id="rId7" imgW="1384300" imgH="4572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2066" y="4214842"/>
                        <a:ext cx="3236962" cy="107154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28596" y="5884151"/>
            <a:ext cx="84296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accent1"/>
                </a:solidFill>
              </a:rPr>
              <a:t>定义</a:t>
            </a:r>
            <a:r>
              <a:rPr lang="en-US" sz="2400" b="1" dirty="0" smtClean="0">
                <a:solidFill>
                  <a:schemeClr val="accent1"/>
                </a:solidFill>
              </a:rPr>
              <a:t>4.6.3 </a:t>
            </a:r>
            <a:r>
              <a:rPr lang="en-US" sz="2400" b="1" dirty="0" smtClean="0"/>
              <a:t>S</a:t>
            </a:r>
            <a:r>
              <a:rPr lang="en-US" sz="2400" b="1" baseline="-25000" dirty="0" smtClean="0"/>
              <a:t>n</a:t>
            </a:r>
            <a:r>
              <a:rPr lang="zh-CN" altLang="en-US" sz="2400" b="1" dirty="0" smtClean="0"/>
              <a:t>称为</a:t>
            </a:r>
            <a:r>
              <a:rPr lang="en-US" sz="2400" b="1" dirty="0" smtClean="0">
                <a:solidFill>
                  <a:srgbClr val="FF0000"/>
                </a:solidFill>
              </a:rPr>
              <a:t>n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次对称群</a:t>
            </a:r>
            <a:r>
              <a:rPr lang="zh-CN" altLang="en-US" sz="2400" b="1" dirty="0" smtClean="0"/>
              <a:t>，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S</a:t>
            </a:r>
            <a:r>
              <a:rPr lang="en-US" sz="2400" b="1" baseline="-25000" dirty="0" err="1" smtClean="0"/>
              <a:t>n</a:t>
            </a:r>
            <a:r>
              <a:rPr lang="zh-CN" altLang="en-US" sz="2400" b="1" dirty="0" smtClean="0"/>
              <a:t>及其任一子群都称为集合</a:t>
            </a:r>
            <a:r>
              <a:rPr lang="en-US" sz="2400" b="1" dirty="0" smtClean="0"/>
              <a:t>A</a:t>
            </a:r>
            <a:r>
              <a:rPr lang="zh-CN" altLang="en-US" sz="2400" b="1" dirty="0" smtClean="0"/>
              <a:t>上的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置换群</a:t>
            </a:r>
            <a:r>
              <a:rPr lang="zh-CN" altLang="en-US" sz="2400" b="1" dirty="0" smtClean="0"/>
              <a:t>。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循环置换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4250367"/>
              </p:ext>
            </p:extLst>
          </p:nvPr>
        </p:nvGraphicFramePr>
        <p:xfrm>
          <a:off x="787400" y="1828800"/>
          <a:ext cx="7772400" cy="491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15" name="文档" r:id="rId4" imgW="7834775" imgH="4960268" progId="Word.Document.12">
                  <p:embed/>
                </p:oleObj>
              </mc:Choice>
              <mc:Fallback>
                <p:oleObj name="文档" r:id="rId4" imgW="7834775" imgH="4960268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400" y="1828800"/>
                        <a:ext cx="7772400" cy="4911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循环置换（续）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040276"/>
            <a:ext cx="8229600" cy="1102972"/>
          </a:xfrm>
        </p:spPr>
        <p:txBody>
          <a:bodyPr/>
          <a:lstStyle/>
          <a:p>
            <a:r>
              <a:rPr lang="zh-CN" altLang="en-US" b="1" dirty="0" smtClean="0">
                <a:solidFill>
                  <a:schemeClr val="accent1"/>
                </a:solidFill>
              </a:rPr>
              <a:t>例</a:t>
            </a:r>
            <a:r>
              <a:rPr lang="en-US" b="1" dirty="0" smtClean="0">
                <a:solidFill>
                  <a:schemeClr val="accent1"/>
                </a:solidFill>
              </a:rPr>
              <a:t>4.7.3 </a:t>
            </a:r>
            <a:r>
              <a:rPr lang="zh-CN" altLang="en-US" b="1" dirty="0" smtClean="0"/>
              <a:t>将置换                 </a:t>
            </a:r>
            <a:r>
              <a:rPr lang="en-US" b="1" dirty="0" smtClean="0"/>
              <a:t>                             </a:t>
            </a:r>
            <a:r>
              <a:rPr lang="zh-CN" altLang="en-US" b="1" dirty="0" smtClean="0"/>
              <a:t>表示成为循环置换表示。</a:t>
            </a:r>
          </a:p>
          <a:p>
            <a:endParaRPr lang="zh-CN" altLang="en-US" b="1" dirty="0"/>
          </a:p>
        </p:txBody>
      </p:sp>
      <p:sp>
        <p:nvSpPr>
          <p:cNvPr id="942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4209" name="Object 1"/>
          <p:cNvGraphicFramePr>
            <a:graphicFrameLocks noChangeAspect="1"/>
          </p:cNvGraphicFramePr>
          <p:nvPr/>
        </p:nvGraphicFramePr>
        <p:xfrm>
          <a:off x="2857488" y="1714488"/>
          <a:ext cx="3772735" cy="1071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57" name="Equation" r:id="rId3" imgW="1612900" imgH="457200" progId="Equation.DSMT4">
                  <p:embed/>
                </p:oleObj>
              </mc:Choice>
              <mc:Fallback>
                <p:oleObj name="Equation" r:id="rId3" imgW="1612900" imgH="4572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488" y="1714488"/>
                        <a:ext cx="3772735" cy="107154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4348" y="3000372"/>
            <a:ext cx="807249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</a:rPr>
              <a:t>解：</a:t>
            </a:r>
            <a:r>
              <a:rPr lang="zh-CN" altLang="en-US" sz="2800" b="1" dirty="0" smtClean="0"/>
              <a:t>可以看出在 </a:t>
            </a:r>
            <a:r>
              <a:rPr lang="en-US" sz="2800" b="1" dirty="0" smtClean="0"/>
              <a:t>    </a:t>
            </a:r>
            <a:r>
              <a:rPr lang="zh-CN" altLang="en-US" sz="2800" b="1" dirty="0" smtClean="0"/>
              <a:t>当中，</a:t>
            </a:r>
            <a:r>
              <a:rPr lang="en-US" sz="2800" b="1" dirty="0" smtClean="0"/>
              <a:t>1</a:t>
            </a:r>
            <a:r>
              <a:rPr lang="zh-CN" altLang="en-US" sz="2800" b="1" dirty="0" smtClean="0"/>
              <a:t>变为</a:t>
            </a:r>
            <a:r>
              <a:rPr lang="en-US" sz="2800" b="1" dirty="0" smtClean="0"/>
              <a:t>3</a:t>
            </a:r>
            <a:r>
              <a:rPr lang="zh-CN" altLang="en-US" sz="2800" b="1" dirty="0" smtClean="0"/>
              <a:t>，</a:t>
            </a:r>
            <a:r>
              <a:rPr lang="en-US" sz="2800" b="1" dirty="0" smtClean="0"/>
              <a:t>3</a:t>
            </a:r>
            <a:r>
              <a:rPr lang="zh-CN" altLang="en-US" sz="2800" b="1" dirty="0" smtClean="0"/>
              <a:t>变为</a:t>
            </a:r>
            <a:r>
              <a:rPr lang="en-US" sz="2800" b="1" dirty="0" smtClean="0"/>
              <a:t>2</a:t>
            </a:r>
            <a:r>
              <a:rPr lang="zh-CN" altLang="en-US" sz="2800" b="1" dirty="0" smtClean="0"/>
              <a:t>，</a:t>
            </a:r>
            <a:r>
              <a:rPr lang="en-US" sz="2800" b="1" dirty="0" smtClean="0"/>
              <a:t>2</a:t>
            </a:r>
            <a:r>
              <a:rPr lang="zh-CN" altLang="en-US" sz="2800" b="1" dirty="0" smtClean="0"/>
              <a:t>又变为</a:t>
            </a:r>
            <a:r>
              <a:rPr lang="en-US" sz="2800" b="1" dirty="0" smtClean="0"/>
              <a:t>1</a:t>
            </a:r>
            <a:r>
              <a:rPr lang="zh-CN" altLang="en-US" sz="2800" b="1" dirty="0" smtClean="0"/>
              <a:t>；</a:t>
            </a:r>
            <a:r>
              <a:rPr lang="en-US" sz="2800" b="1" dirty="0" smtClean="0"/>
              <a:t>4</a:t>
            </a:r>
            <a:r>
              <a:rPr lang="zh-CN" altLang="en-US" sz="2800" b="1" dirty="0" smtClean="0"/>
              <a:t>变成</a:t>
            </a:r>
            <a:r>
              <a:rPr lang="en-US" sz="2800" b="1" dirty="0" smtClean="0"/>
              <a:t>5</a:t>
            </a:r>
            <a:r>
              <a:rPr lang="zh-CN" altLang="en-US" sz="2800" b="1" dirty="0" smtClean="0"/>
              <a:t>，</a:t>
            </a:r>
            <a:r>
              <a:rPr lang="en-US" sz="2800" b="1" dirty="0" smtClean="0"/>
              <a:t>5</a:t>
            </a:r>
            <a:r>
              <a:rPr lang="zh-CN" altLang="en-US" sz="2800" b="1" dirty="0" smtClean="0"/>
              <a:t>又变成</a:t>
            </a:r>
            <a:r>
              <a:rPr lang="en-US" sz="2800" b="1" dirty="0" smtClean="0"/>
              <a:t>4</a:t>
            </a:r>
            <a:r>
              <a:rPr lang="zh-CN" altLang="en-US" sz="2800" b="1" dirty="0" smtClean="0"/>
              <a:t>；</a:t>
            </a:r>
            <a:r>
              <a:rPr lang="en-US" sz="2800" b="1" dirty="0" smtClean="0"/>
              <a:t>6</a:t>
            </a:r>
            <a:r>
              <a:rPr lang="zh-CN" altLang="en-US" sz="2800" b="1" dirty="0" smtClean="0"/>
              <a:t>变为</a:t>
            </a:r>
            <a:r>
              <a:rPr lang="en-US" sz="2800" b="1" dirty="0" smtClean="0"/>
              <a:t>6</a:t>
            </a:r>
            <a:r>
              <a:rPr lang="zh-CN" altLang="en-US" sz="2800" b="1" dirty="0" smtClean="0"/>
              <a:t>。因此，</a:t>
            </a:r>
            <a:r>
              <a:rPr lang="en-US" sz="2800" b="1" dirty="0" smtClean="0"/>
              <a:t>      </a:t>
            </a:r>
            <a:r>
              <a:rPr lang="zh-CN" altLang="en-US" sz="2800" b="1" dirty="0" smtClean="0"/>
              <a:t>可表示为</a:t>
            </a:r>
            <a:endParaRPr lang="zh-CN" altLang="en-US" sz="2800" b="1" dirty="0"/>
          </a:p>
        </p:txBody>
      </p:sp>
      <p:sp>
        <p:nvSpPr>
          <p:cNvPr id="9421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4211" name="Object 3"/>
          <p:cNvGraphicFramePr>
            <a:graphicFrameLocks noChangeAspect="1"/>
          </p:cNvGraphicFramePr>
          <p:nvPr/>
        </p:nvGraphicFramePr>
        <p:xfrm>
          <a:off x="3357554" y="3071810"/>
          <a:ext cx="428596" cy="3571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58" name="Equation" r:id="rId5" imgW="152334" imgH="139639" progId="Equation.DSMT4">
                  <p:embed/>
                </p:oleObj>
              </mc:Choice>
              <mc:Fallback>
                <p:oleObj name="Equation" r:id="rId5" imgW="152334" imgH="139639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7554" y="3071810"/>
                        <a:ext cx="428596" cy="3571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3" name="Object 5"/>
          <p:cNvGraphicFramePr>
            <a:graphicFrameLocks noChangeAspect="1"/>
          </p:cNvGraphicFramePr>
          <p:nvPr/>
        </p:nvGraphicFramePr>
        <p:xfrm>
          <a:off x="7429520" y="3500438"/>
          <a:ext cx="428625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59" name="Equation" r:id="rId7" imgW="152334" imgH="139639" progId="Equation.DSMT4">
                  <p:embed/>
                </p:oleObj>
              </mc:Choice>
              <mc:Fallback>
                <p:oleObj name="Equation" r:id="rId7" imgW="152334" imgH="139639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9520" y="3500438"/>
                        <a:ext cx="428625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4214" name="Object 6"/>
          <p:cNvGraphicFramePr>
            <a:graphicFrameLocks noChangeAspect="1"/>
          </p:cNvGraphicFramePr>
          <p:nvPr/>
        </p:nvGraphicFramePr>
        <p:xfrm>
          <a:off x="3143240" y="4143380"/>
          <a:ext cx="2619268" cy="500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60" name="Equation" r:id="rId8" imgW="1054100" imgH="203200" progId="Equation.DSMT4">
                  <p:embed/>
                </p:oleObj>
              </mc:Choice>
              <mc:Fallback>
                <p:oleObj name="Equation" r:id="rId8" imgW="1054100" imgH="2032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40" y="4143380"/>
                        <a:ext cx="2619268" cy="5000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500034" y="4832347"/>
            <a:ext cx="7929618" cy="954107"/>
            <a:chOff x="500034" y="4832347"/>
            <a:chExt cx="7929618" cy="954107"/>
          </a:xfrm>
        </p:grpSpPr>
        <p:sp>
          <p:nvSpPr>
            <p:cNvPr id="12" name="TextBox 11"/>
            <p:cNvSpPr txBox="1"/>
            <p:nvPr/>
          </p:nvSpPr>
          <p:spPr>
            <a:xfrm>
              <a:off x="500034" y="4832347"/>
              <a:ext cx="792961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>
                  <a:solidFill>
                    <a:schemeClr val="accent1"/>
                  </a:solidFill>
                </a:rPr>
                <a:t>定理</a:t>
              </a:r>
              <a:r>
                <a:rPr lang="en-US" sz="2800" b="1" dirty="0" smtClean="0">
                  <a:solidFill>
                    <a:schemeClr val="accent1"/>
                  </a:solidFill>
                </a:rPr>
                <a:t>4.7.2 </a:t>
              </a:r>
              <a:r>
                <a:rPr lang="zh-CN" altLang="en-US" sz="2800" b="1" dirty="0" smtClean="0"/>
                <a:t>任意</a:t>
              </a:r>
              <a:r>
                <a:rPr lang="en-US" sz="2800" b="1" dirty="0" smtClean="0"/>
                <a:t>n</a:t>
              </a:r>
              <a:r>
                <a:rPr lang="zh-CN" altLang="en-US" sz="2800" b="1" dirty="0" smtClean="0"/>
                <a:t>元置换     都可以</a:t>
              </a:r>
              <a:r>
                <a:rPr lang="zh-CN" altLang="en-US" sz="2800" b="1" dirty="0" smtClean="0">
                  <a:solidFill>
                    <a:srgbClr val="FF0000"/>
                  </a:solidFill>
                </a:rPr>
                <a:t>惟一地</a:t>
              </a:r>
              <a:r>
                <a:rPr lang="zh-CN" altLang="en-US" sz="2800" b="1" dirty="0" smtClean="0"/>
                <a:t>表示成为若干</a:t>
              </a:r>
              <a:r>
                <a:rPr lang="zh-CN" altLang="en-US" sz="2800" b="1" dirty="0" smtClean="0">
                  <a:solidFill>
                    <a:srgbClr val="FF0000"/>
                  </a:solidFill>
                </a:rPr>
                <a:t>不相交</a:t>
              </a:r>
              <a:r>
                <a:rPr lang="zh-CN" altLang="en-US" sz="2800" b="1" dirty="0" smtClean="0"/>
                <a:t>的循环置换的乘积。</a:t>
              </a:r>
              <a:endParaRPr lang="zh-CN" altLang="en-US" sz="2800" b="1" dirty="0"/>
            </a:p>
          </p:txBody>
        </p:sp>
        <p:graphicFrame>
          <p:nvGraphicFramePr>
            <p:cNvPr id="94216" name="Object 8"/>
            <p:cNvGraphicFramePr>
              <a:graphicFrameLocks noChangeAspect="1"/>
            </p:cNvGraphicFramePr>
            <p:nvPr/>
          </p:nvGraphicFramePr>
          <p:xfrm>
            <a:off x="4143372" y="4929198"/>
            <a:ext cx="428625" cy="357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361" name="Equation" r:id="rId10" imgW="152334" imgH="139639" progId="Equation.DSMT4">
                    <p:embed/>
                  </p:oleObj>
                </mc:Choice>
                <mc:Fallback>
                  <p:oleObj name="Equation" r:id="rId10" imgW="152334" imgH="139639" progId="Equation.DSMT4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3372" y="4929198"/>
                          <a:ext cx="428625" cy="3571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00034" y="642918"/>
            <a:ext cx="7929618" cy="954107"/>
            <a:chOff x="500034" y="4832347"/>
            <a:chExt cx="7929618" cy="954107"/>
          </a:xfrm>
        </p:grpSpPr>
        <p:sp>
          <p:nvSpPr>
            <p:cNvPr id="7" name="TextBox 6"/>
            <p:cNvSpPr txBox="1"/>
            <p:nvPr/>
          </p:nvSpPr>
          <p:spPr>
            <a:xfrm>
              <a:off x="500034" y="4832347"/>
              <a:ext cx="792961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>
                  <a:solidFill>
                    <a:schemeClr val="accent1"/>
                  </a:solidFill>
                </a:rPr>
                <a:t>定理</a:t>
              </a:r>
              <a:r>
                <a:rPr lang="en-US" sz="2800" b="1" dirty="0" smtClean="0">
                  <a:solidFill>
                    <a:schemeClr val="accent1"/>
                  </a:solidFill>
                </a:rPr>
                <a:t>4.7.2 </a:t>
              </a:r>
              <a:r>
                <a:rPr lang="zh-CN" altLang="en-US" sz="2800" b="1" dirty="0" smtClean="0"/>
                <a:t>任意</a:t>
              </a:r>
              <a:r>
                <a:rPr lang="en-US" sz="2800" b="1" dirty="0" smtClean="0"/>
                <a:t>n</a:t>
              </a:r>
              <a:r>
                <a:rPr lang="zh-CN" altLang="en-US" sz="2800" b="1" dirty="0" smtClean="0"/>
                <a:t>元置换     都可以</a:t>
              </a:r>
              <a:r>
                <a:rPr lang="zh-CN" altLang="en-US" sz="2800" b="1" dirty="0" smtClean="0">
                  <a:solidFill>
                    <a:srgbClr val="FF0000"/>
                  </a:solidFill>
                </a:rPr>
                <a:t>惟一地</a:t>
              </a:r>
              <a:r>
                <a:rPr lang="zh-CN" altLang="en-US" sz="2800" b="1" dirty="0" smtClean="0"/>
                <a:t>表示成为若干</a:t>
              </a:r>
              <a:r>
                <a:rPr lang="zh-CN" altLang="en-US" sz="2800" b="1" dirty="0" smtClean="0">
                  <a:solidFill>
                    <a:srgbClr val="FF0000"/>
                  </a:solidFill>
                </a:rPr>
                <a:t>不相交</a:t>
              </a:r>
              <a:r>
                <a:rPr lang="zh-CN" altLang="en-US" sz="2800" b="1" dirty="0" smtClean="0"/>
                <a:t>的循环置换的乘积。</a:t>
              </a:r>
              <a:endParaRPr lang="zh-CN" altLang="en-US" sz="2800" b="1" dirty="0"/>
            </a:p>
          </p:txBody>
        </p:sp>
        <p:graphicFrame>
          <p:nvGraphicFramePr>
            <p:cNvPr id="8" name="Object 8"/>
            <p:cNvGraphicFramePr>
              <a:graphicFrameLocks noChangeAspect="1"/>
            </p:cNvGraphicFramePr>
            <p:nvPr/>
          </p:nvGraphicFramePr>
          <p:xfrm>
            <a:off x="4143372" y="4929198"/>
            <a:ext cx="428625" cy="357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294" name="Equation" r:id="rId3" imgW="152334" imgH="139639" progId="Equation.DSMT4">
                    <p:embed/>
                  </p:oleObj>
                </mc:Choice>
                <mc:Fallback>
                  <p:oleObj name="Equation" r:id="rId3" imgW="152334" imgH="139639" progId="Equation.DSMT4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3372" y="4929198"/>
                          <a:ext cx="428625" cy="3571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944563" y="1431925"/>
          <a:ext cx="7407275" cy="483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95" name="文档" r:id="rId6" imgW="7613192" imgH="4950869" progId="Word.Document.12">
                  <p:embed/>
                </p:oleObj>
              </mc:Choice>
              <mc:Fallback>
                <p:oleObj name="文档" r:id="rId6" imgW="7613192" imgH="4950869" progId="Word.Document.12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563" y="1431925"/>
                        <a:ext cx="7407275" cy="4832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5400" b="1" dirty="0" smtClean="0">
                <a:solidFill>
                  <a:schemeClr val="accent1"/>
                </a:solidFill>
              </a:rPr>
              <a:t>定理</a:t>
            </a:r>
            <a:r>
              <a:rPr lang="en-US" sz="5400" b="1" dirty="0" smtClean="0">
                <a:solidFill>
                  <a:schemeClr val="accent1"/>
                </a:solidFill>
              </a:rPr>
              <a:t>4.7.2</a:t>
            </a:r>
            <a:r>
              <a:rPr lang="zh-CN" altLang="en-US" sz="5400" b="1" dirty="0" smtClean="0">
                <a:solidFill>
                  <a:schemeClr val="accent1"/>
                </a:solidFill>
              </a:rPr>
              <a:t>证明（续）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55638" y="1500174"/>
          <a:ext cx="7680325" cy="3063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46" name="文档" r:id="rId4" imgW="7578186" imgH="3168513" progId="Word.Document.12">
                  <p:embed/>
                </p:oleObj>
              </mc:Choice>
              <mc:Fallback>
                <p:oleObj name="文档" r:id="rId4" imgW="7578186" imgH="3168513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638" y="1500174"/>
                        <a:ext cx="7680325" cy="30638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1472" y="4429132"/>
            <a:ext cx="77153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下证惟一性。若</a:t>
            </a:r>
            <a:r>
              <a:rPr lang="en-US" sz="2400" b="1" dirty="0" smtClean="0"/>
              <a:t> </a:t>
            </a:r>
            <a:r>
              <a:rPr lang="zh-CN" altLang="en-US" sz="2400" b="1" dirty="0" smtClean="0"/>
              <a:t>还存在另一分解，则它含有元素</a:t>
            </a:r>
            <a:r>
              <a:rPr lang="en-US" sz="2400" b="1" dirty="0" smtClean="0"/>
              <a:t>1</a:t>
            </a:r>
            <a:r>
              <a:rPr lang="zh-CN" altLang="en-US" sz="2400" b="1" dirty="0" smtClean="0"/>
              <a:t>的循环置换反映了</a:t>
            </a:r>
            <a:r>
              <a:rPr lang="en-US" altLang="zh-CN" sz="2400" b="1" dirty="0" smtClean="0"/>
              <a:t>      </a:t>
            </a:r>
            <a:r>
              <a:rPr lang="zh-CN" altLang="en-US" sz="2400" b="1" dirty="0" smtClean="0"/>
              <a:t>作用在元素</a:t>
            </a:r>
            <a:r>
              <a:rPr lang="en-US" sz="2400" b="1" dirty="0" smtClean="0"/>
              <a:t>1</a:t>
            </a:r>
            <a:r>
              <a:rPr lang="zh-CN" altLang="en-US" sz="2400" b="1" dirty="0" smtClean="0"/>
              <a:t>上形成的循环变换序列。这是由</a:t>
            </a:r>
            <a:r>
              <a:rPr lang="en-US" sz="2400" b="1" dirty="0" smtClean="0"/>
              <a:t>    </a:t>
            </a:r>
            <a:r>
              <a:rPr lang="zh-CN" altLang="en-US" sz="2400" b="1" dirty="0" smtClean="0"/>
              <a:t>唯一决定的。故两个分解中含有元素</a:t>
            </a:r>
            <a:r>
              <a:rPr lang="en-US" sz="2400" b="1" dirty="0" smtClean="0"/>
              <a:t>1</a:t>
            </a:r>
            <a:r>
              <a:rPr lang="zh-CN" altLang="en-US" sz="2400" b="1" dirty="0" smtClean="0"/>
              <a:t>的循环置换应完全相同。类似地，其他的循环置换也相同。这就证明了惟一性。</a:t>
            </a:r>
            <a:endParaRPr lang="zh-CN" altLang="en-US" sz="2400" b="1" dirty="0"/>
          </a:p>
        </p:txBody>
      </p:sp>
      <p:graphicFrame>
        <p:nvGraphicFramePr>
          <p:cNvPr id="96260" name="Object 4"/>
          <p:cNvGraphicFramePr>
            <a:graphicFrameLocks noChangeAspect="1"/>
          </p:cNvGraphicFramePr>
          <p:nvPr/>
        </p:nvGraphicFramePr>
        <p:xfrm>
          <a:off x="1571607" y="5214950"/>
          <a:ext cx="428625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47" name="Equation" r:id="rId6" imgW="152334" imgH="139639" progId="Equation.DSMT4">
                  <p:embed/>
                </p:oleObj>
              </mc:Choice>
              <mc:Fallback>
                <p:oleObj name="Equation" r:id="rId6" imgW="152334" imgH="139639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07" y="5214950"/>
                        <a:ext cx="428625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1" name="Object 5"/>
          <p:cNvGraphicFramePr>
            <a:graphicFrameLocks noChangeAspect="1"/>
          </p:cNvGraphicFramePr>
          <p:nvPr/>
        </p:nvGraphicFramePr>
        <p:xfrm>
          <a:off x="2500298" y="4857760"/>
          <a:ext cx="428625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48" name="Equation" r:id="rId8" imgW="152334" imgH="139639" progId="Equation.DSMT4">
                  <p:embed/>
                </p:oleObj>
              </mc:Choice>
              <mc:Fallback>
                <p:oleObj name="Equation" r:id="rId8" imgW="152334" imgH="139639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298" y="4857760"/>
                        <a:ext cx="428625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对换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1142984"/>
            <a:ext cx="8229600" cy="779140"/>
          </a:xfrm>
        </p:spPr>
        <p:txBody>
          <a:bodyPr/>
          <a:lstStyle/>
          <a:p>
            <a:r>
              <a:rPr lang="zh-CN" altLang="en-US" b="1" dirty="0" smtClean="0">
                <a:solidFill>
                  <a:schemeClr val="accent1"/>
                </a:solidFill>
              </a:rPr>
              <a:t>定理</a:t>
            </a:r>
            <a:r>
              <a:rPr lang="en-US" b="1" dirty="0" smtClean="0">
                <a:solidFill>
                  <a:schemeClr val="accent1"/>
                </a:solidFill>
              </a:rPr>
              <a:t>4.7.3 </a:t>
            </a:r>
            <a:r>
              <a:rPr lang="zh-CN" altLang="en-US" b="1" dirty="0" smtClean="0"/>
              <a:t>任意置换都可以分解成为若干</a:t>
            </a:r>
            <a:r>
              <a:rPr lang="zh-CN" altLang="en-US" b="1" dirty="0" smtClean="0">
                <a:solidFill>
                  <a:srgbClr val="FF0000"/>
                </a:solidFill>
              </a:rPr>
              <a:t>对换的乘积</a:t>
            </a:r>
            <a:r>
              <a:rPr lang="zh-CN" altLang="en-US" b="1" dirty="0" smtClean="0"/>
              <a:t>。</a:t>
            </a:r>
          </a:p>
          <a:p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219200" y="1752600"/>
          <a:ext cx="7040563" cy="463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11" name="文档" r:id="rId4" imgW="7059597" imgH="4668024" progId="Word.Document.12">
                  <p:embed/>
                </p:oleObj>
              </mc:Choice>
              <mc:Fallback>
                <p:oleObj name="文档" r:id="rId4" imgW="7059597" imgH="4668024" progId="Word.Document.12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752600"/>
                        <a:ext cx="7040563" cy="4632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857232"/>
            <a:ext cx="8229600" cy="1214446"/>
          </a:xfrm>
        </p:spPr>
        <p:txBody>
          <a:bodyPr/>
          <a:lstStyle/>
          <a:p>
            <a:r>
              <a:rPr lang="zh-CN" altLang="en-US" b="1" dirty="0" smtClean="0">
                <a:solidFill>
                  <a:schemeClr val="tx2"/>
                </a:solidFill>
              </a:rPr>
              <a:t>例</a:t>
            </a:r>
            <a:r>
              <a:rPr lang="en-US" b="1" dirty="0" smtClean="0">
                <a:solidFill>
                  <a:schemeClr val="tx2"/>
                </a:solidFill>
              </a:rPr>
              <a:t>4.7.4</a:t>
            </a:r>
            <a:r>
              <a:rPr lang="zh-CN" altLang="en-US" b="1" dirty="0" smtClean="0"/>
              <a:t>设</a:t>
            </a:r>
            <a:r>
              <a:rPr lang="en-US" altLang="zh-CN" b="1" dirty="0" smtClean="0"/>
              <a:t>S</a:t>
            </a:r>
            <a:r>
              <a:rPr lang="en-US" altLang="zh-CN" b="1" baseline="-25000" dirty="0" smtClean="0"/>
              <a:t>3</a:t>
            </a:r>
            <a:r>
              <a:rPr lang="en-US" altLang="zh-CN" b="1" dirty="0" smtClean="0"/>
              <a:t>={1,2,3}</a:t>
            </a:r>
            <a:r>
              <a:rPr lang="zh-CN" altLang="en-US" b="1" dirty="0" smtClean="0"/>
              <a:t>，试确定</a:t>
            </a:r>
            <a:r>
              <a:rPr lang="en-US" altLang="zh-CN" b="1" dirty="0" smtClean="0"/>
              <a:t>S</a:t>
            </a:r>
            <a:r>
              <a:rPr lang="en-US" altLang="zh-CN" b="1" baseline="-25000" dirty="0" smtClean="0"/>
              <a:t>3</a:t>
            </a:r>
            <a:r>
              <a:rPr lang="zh-CN" altLang="en-US" b="1" dirty="0" smtClean="0"/>
              <a:t>中元素的对换表示，并给出</a:t>
            </a:r>
            <a:r>
              <a:rPr lang="en-US" altLang="zh-CN" b="1" dirty="0" smtClean="0"/>
              <a:t>S</a:t>
            </a:r>
            <a:r>
              <a:rPr lang="en-US" altLang="zh-CN" b="1" baseline="-25000" dirty="0" smtClean="0"/>
              <a:t>3</a:t>
            </a:r>
            <a:r>
              <a:rPr lang="zh-CN" altLang="en-US" b="1" dirty="0" smtClean="0"/>
              <a:t>的所有子群。</a:t>
            </a:r>
            <a:endParaRPr lang="zh-CN" altLang="en-US" b="1" dirty="0"/>
          </a:p>
        </p:txBody>
      </p:sp>
      <p:sp>
        <p:nvSpPr>
          <p:cNvPr id="4" name="矩形 3"/>
          <p:cNvSpPr/>
          <p:nvPr/>
        </p:nvSpPr>
        <p:spPr>
          <a:xfrm>
            <a:off x="714348" y="1857364"/>
            <a:ext cx="34067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</a:rPr>
              <a:t>解：</a:t>
            </a:r>
            <a:r>
              <a:rPr lang="zh-CN" altLang="en-US" sz="2800" b="1" dirty="0" smtClean="0"/>
              <a:t>根据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sz="2800" b="1" dirty="0" smtClean="0">
                <a:solidFill>
                  <a:srgbClr val="FF0000"/>
                </a:solidFill>
              </a:rPr>
              <a:t>4.7.1</a:t>
            </a:r>
            <a:r>
              <a:rPr lang="zh-CN" altLang="en-US" sz="2800" b="1" dirty="0" smtClean="0"/>
              <a:t>，有</a:t>
            </a:r>
            <a:endParaRPr lang="zh-CN" altLang="en-US" sz="2800" b="1" dirty="0"/>
          </a:p>
        </p:txBody>
      </p:sp>
      <p:sp>
        <p:nvSpPr>
          <p:cNvPr id="983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8305" name="Object 1"/>
          <p:cNvGraphicFramePr>
            <a:graphicFrameLocks noChangeAspect="1"/>
          </p:cNvGraphicFramePr>
          <p:nvPr/>
        </p:nvGraphicFramePr>
        <p:xfrm>
          <a:off x="666691" y="3000372"/>
          <a:ext cx="8477309" cy="2857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34" name="Equation" r:id="rId3" imgW="4229100" imgH="1422400" progId="Equation.DSMT4">
                  <p:embed/>
                </p:oleObj>
              </mc:Choice>
              <mc:Fallback>
                <p:oleObj name="Equation" r:id="rId3" imgW="4229100" imgH="14224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691" y="3000372"/>
                        <a:ext cx="8477309" cy="28575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例</a:t>
            </a:r>
            <a:r>
              <a:rPr lang="en-US" b="1" dirty="0" smtClean="0"/>
              <a:t>4.7.4</a:t>
            </a:r>
            <a:r>
              <a:rPr lang="zh-CN" altLang="en-US" b="1" dirty="0" smtClean="0"/>
              <a:t>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564826"/>
          </a:xfrm>
        </p:spPr>
        <p:txBody>
          <a:bodyPr/>
          <a:lstStyle/>
          <a:p>
            <a:r>
              <a:rPr lang="en-US" altLang="zh-CN" b="1" dirty="0" smtClean="0"/>
              <a:t>S</a:t>
            </a:r>
            <a:r>
              <a:rPr lang="en-US" altLang="zh-CN" b="1" baseline="-25000" dirty="0" smtClean="0"/>
              <a:t>3</a:t>
            </a:r>
            <a:r>
              <a:rPr lang="zh-CN" altLang="en-US" b="1" dirty="0" smtClean="0"/>
              <a:t>的子群如下：</a:t>
            </a:r>
            <a:endParaRPr lang="zh-CN" altLang="en-US" b="1" dirty="0"/>
          </a:p>
        </p:txBody>
      </p:sp>
      <p:sp>
        <p:nvSpPr>
          <p:cNvPr id="9933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9329" name="Object 1"/>
          <p:cNvGraphicFramePr>
            <a:graphicFrameLocks noChangeAspect="1"/>
          </p:cNvGraphicFramePr>
          <p:nvPr/>
        </p:nvGraphicFramePr>
        <p:xfrm>
          <a:off x="1500166" y="2857496"/>
          <a:ext cx="5015129" cy="3357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58" name="Equation" r:id="rId3" imgW="2247900" imgH="1498600" progId="Equation.DSMT4">
                  <p:embed/>
                </p:oleObj>
              </mc:Choice>
              <mc:Fallback>
                <p:oleObj name="Equation" r:id="rId3" imgW="2247900" imgH="14986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166" y="2857496"/>
                        <a:ext cx="5015129" cy="335758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置换群的生成元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993454"/>
          </a:xfrm>
        </p:spPr>
        <p:txBody>
          <a:bodyPr/>
          <a:lstStyle/>
          <a:p>
            <a:r>
              <a:rPr lang="zh-CN" altLang="en-US" b="1" dirty="0" smtClean="0">
                <a:solidFill>
                  <a:schemeClr val="accent1"/>
                </a:solidFill>
              </a:rPr>
              <a:t>定理</a:t>
            </a:r>
            <a:r>
              <a:rPr lang="en-US" b="1" dirty="0" smtClean="0">
                <a:solidFill>
                  <a:schemeClr val="accent1"/>
                </a:solidFill>
              </a:rPr>
              <a:t>4.7.4 </a:t>
            </a:r>
            <a:r>
              <a:rPr lang="zh-CN" altLang="en-US" b="1" dirty="0" smtClean="0"/>
              <a:t>当</a:t>
            </a:r>
            <a:r>
              <a:rPr lang="en-US" b="1" dirty="0" smtClean="0"/>
              <a:t> n ≥2</a:t>
            </a:r>
            <a:r>
              <a:rPr lang="zh-CN" altLang="en-US" b="1" dirty="0" smtClean="0"/>
              <a:t>时，</a:t>
            </a:r>
            <a:r>
              <a:rPr lang="en-US" b="1" dirty="0" smtClean="0"/>
              <a:t>(12),(13),</a:t>
            </a:r>
            <a:r>
              <a:rPr lang="en-US" altLang="zh-CN" b="1" dirty="0" smtClean="0"/>
              <a:t>…,(1n)</a:t>
            </a:r>
            <a:r>
              <a:rPr lang="zh-CN" altLang="en-US" b="1" dirty="0" smtClean="0"/>
              <a:t>是</a:t>
            </a:r>
            <a:r>
              <a:rPr lang="en-US" b="1" dirty="0" err="1" smtClean="0"/>
              <a:t>S</a:t>
            </a:r>
            <a:r>
              <a:rPr lang="en-US" b="1" baseline="-25000" dirty="0" err="1" smtClean="0"/>
              <a:t>n</a:t>
            </a:r>
            <a:r>
              <a:rPr lang="zh-CN" altLang="en-US" b="1" dirty="0" smtClean="0"/>
              <a:t>的一组生成元，即</a:t>
            </a:r>
          </a:p>
          <a:p>
            <a:endParaRPr lang="zh-CN" altLang="en-US" b="1" dirty="0"/>
          </a:p>
        </p:txBody>
      </p:sp>
      <p:sp>
        <p:nvSpPr>
          <p:cNvPr id="1003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0353" name="Object 1"/>
          <p:cNvGraphicFramePr>
            <a:graphicFrameLocks noChangeAspect="1"/>
          </p:cNvGraphicFramePr>
          <p:nvPr/>
        </p:nvGraphicFramePr>
        <p:xfrm>
          <a:off x="2643174" y="2786058"/>
          <a:ext cx="3280719" cy="57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12" name="Equation" r:id="rId3" imgW="1473200" imgH="254000" progId="Equation.DSMT4">
                  <p:embed/>
                </p:oleObj>
              </mc:Choice>
              <mc:Fallback>
                <p:oleObj name="Equation" r:id="rId3" imgW="1473200" imgH="2540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74" y="2786058"/>
                        <a:ext cx="3280719" cy="57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143000" y="3292475"/>
          <a:ext cx="7192963" cy="333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13" name="文档" r:id="rId6" imgW="7219829" imgH="3366793" progId="Word.Document.12">
                  <p:embed/>
                </p:oleObj>
              </mc:Choice>
              <mc:Fallback>
                <p:oleObj name="文档" r:id="rId6" imgW="7219829" imgH="3366793" progId="Word.Document.12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292475"/>
                        <a:ext cx="7192963" cy="3336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563888" y="2420888"/>
            <a:ext cx="1691680" cy="1143000"/>
          </a:xfrm>
        </p:spPr>
        <p:txBody>
          <a:bodyPr/>
          <a:lstStyle/>
          <a:p>
            <a:r>
              <a:rPr lang="zh-CN" altLang="en-US" dirty="0"/>
              <a:t>谢谢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流畅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流畅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流畅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4952</TotalTime>
  <Words>5305</Words>
  <Application>Microsoft Office PowerPoint</Application>
  <PresentationFormat>全屏显示(4:3)</PresentationFormat>
  <Paragraphs>494</Paragraphs>
  <Slides>100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100</vt:i4>
      </vt:variant>
    </vt:vector>
  </HeadingPairs>
  <TitlesOfParts>
    <vt:vector size="116" baseType="lpstr">
      <vt:lpstr>隶书</vt:lpstr>
      <vt:lpstr>宋体</vt:lpstr>
      <vt:lpstr>Arial</vt:lpstr>
      <vt:lpstr>Calibri</vt:lpstr>
      <vt:lpstr>Cambria Math</vt:lpstr>
      <vt:lpstr>Constantia</vt:lpstr>
      <vt:lpstr>Times New Roman</vt:lpstr>
      <vt:lpstr>Wingdings</vt:lpstr>
      <vt:lpstr>Wingdings 2</vt:lpstr>
      <vt:lpstr>流畅</vt:lpstr>
      <vt:lpstr>Equation</vt:lpstr>
      <vt:lpstr>文档</vt:lpstr>
      <vt:lpstr>Document</vt:lpstr>
      <vt:lpstr>Equation.DSMT4</vt:lpstr>
      <vt:lpstr>Formula</vt:lpstr>
      <vt:lpstr>Picture</vt:lpstr>
      <vt:lpstr>第四章 群</vt:lpstr>
      <vt:lpstr>内容安排</vt:lpstr>
      <vt:lpstr>4.1 二元运算</vt:lpstr>
      <vt:lpstr>4.1 二元运算（续）</vt:lpstr>
      <vt:lpstr>4.1 二元运算（续）</vt:lpstr>
      <vt:lpstr>4.1 二元运算（续）</vt:lpstr>
      <vt:lpstr>4.1 二元运算（续）</vt:lpstr>
      <vt:lpstr>PowerPoint 演示文稿</vt:lpstr>
      <vt:lpstr>4.1 二元运算（续）</vt:lpstr>
      <vt:lpstr>4.2 群的定义和简单性质</vt:lpstr>
      <vt:lpstr>4.2 群的定义和简单性质（续）</vt:lpstr>
      <vt:lpstr>4.2 群的定义和简单性质（续）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4.2 群的定义和简单性质（续）</vt:lpstr>
      <vt:lpstr>4.2 群的定义和简单性质（续）</vt:lpstr>
      <vt:lpstr>4.2 群的定义和简单性质（续）</vt:lpstr>
      <vt:lpstr>4.2 群的定义和简单性质（续）</vt:lpstr>
      <vt:lpstr>4.2 群的定义和简单性质（续）</vt:lpstr>
      <vt:lpstr>4.2 群的定义和简单性质（续）</vt:lpstr>
      <vt:lpstr>4.2 群的定义和简单性质（续）</vt:lpstr>
      <vt:lpstr>4.2 群的定义和简单性质（续）</vt:lpstr>
      <vt:lpstr>4.2 群的定义和简单性质（续）</vt:lpstr>
      <vt:lpstr>4.2 群的定义和简单性质（续）</vt:lpstr>
      <vt:lpstr>4.2 群的定义和简单性质（续）</vt:lpstr>
      <vt:lpstr>4.2 群的定义和简单性质（续）</vt:lpstr>
      <vt:lpstr>4.2 群的定义和简单性质（续）</vt:lpstr>
      <vt:lpstr>4.2 群的定义和简单性质（续）</vt:lpstr>
      <vt:lpstr>4.2 群的定义和简单性质（续）</vt:lpstr>
      <vt:lpstr>4.2 群的定义和简单性质（续）</vt:lpstr>
      <vt:lpstr>4.3 子群、陪集</vt:lpstr>
      <vt:lpstr>4.3 子群、陪集（续）</vt:lpstr>
      <vt:lpstr>4.3 子群、陪集（续）</vt:lpstr>
      <vt:lpstr>子群的例子</vt:lpstr>
      <vt:lpstr>PowerPoint 演示文稿</vt:lpstr>
      <vt:lpstr>等价关系</vt:lpstr>
      <vt:lpstr>陪集</vt:lpstr>
      <vt:lpstr>陪集（续）</vt:lpstr>
      <vt:lpstr>陪集（续）</vt:lpstr>
      <vt:lpstr>陪集（续）</vt:lpstr>
      <vt:lpstr>定理4.3.2的证明</vt:lpstr>
      <vt:lpstr>定理4.3.2的证明（续）</vt:lpstr>
      <vt:lpstr>指数</vt:lpstr>
      <vt:lpstr>元素的阶</vt:lpstr>
      <vt:lpstr>元素的阶</vt:lpstr>
      <vt:lpstr>元素的阶</vt:lpstr>
      <vt:lpstr>PowerPoint 演示文稿</vt:lpstr>
      <vt:lpstr>4.4 正规子群、商群和同态</vt:lpstr>
      <vt:lpstr>正规子群的等价定义</vt:lpstr>
      <vt:lpstr>定理4.4.1的证明</vt:lpstr>
      <vt:lpstr>商群</vt:lpstr>
      <vt:lpstr>商群（续）</vt:lpstr>
      <vt:lpstr>商群（例）</vt:lpstr>
      <vt:lpstr>同态与同构</vt:lpstr>
      <vt:lpstr>同态</vt:lpstr>
      <vt:lpstr>自然同态</vt:lpstr>
      <vt:lpstr>同态的象与核</vt:lpstr>
      <vt:lpstr>同态基本定理</vt:lpstr>
      <vt:lpstr>同态基本定理的证明</vt:lpstr>
      <vt:lpstr>同态基本定理的证明（续）</vt:lpstr>
      <vt:lpstr>4.5 循环群</vt:lpstr>
      <vt:lpstr>循环群的生成元</vt:lpstr>
      <vt:lpstr>循环群的生成元 （续）</vt:lpstr>
      <vt:lpstr>定理4.5.2的证明</vt:lpstr>
      <vt:lpstr>引理4.5.1的证明</vt:lpstr>
      <vt:lpstr>引理4.5.2的证明</vt:lpstr>
      <vt:lpstr>引理4.5.2的证明</vt:lpstr>
      <vt:lpstr>原根</vt:lpstr>
      <vt:lpstr>循环群的子群和商群</vt:lpstr>
      <vt:lpstr>循环群的子群和商群（续）</vt:lpstr>
      <vt:lpstr>群中常用算法</vt:lpstr>
      <vt:lpstr>求循环群生成元的有效随机算法</vt:lpstr>
      <vt:lpstr>元素的阶及相关性质</vt:lpstr>
      <vt:lpstr>循环群的结构</vt:lpstr>
      <vt:lpstr>定理4.5.5的证明</vt:lpstr>
      <vt:lpstr>定理4.5.4的证明（续）</vt:lpstr>
      <vt:lpstr>群中的离散对数问题</vt:lpstr>
      <vt:lpstr>离散对数的例子</vt:lpstr>
      <vt:lpstr>大步小步算法</vt:lpstr>
      <vt:lpstr>大步小步算法（续）</vt:lpstr>
      <vt:lpstr>PowerPoint 演示文稿</vt:lpstr>
      <vt:lpstr>ElGamal公钥加密体制</vt:lpstr>
      <vt:lpstr>PowerPoint 演示文稿</vt:lpstr>
      <vt:lpstr>4.7 置换群</vt:lpstr>
      <vt:lpstr>置换</vt:lpstr>
      <vt:lpstr>置换举例</vt:lpstr>
      <vt:lpstr>置换的乘积</vt:lpstr>
      <vt:lpstr>置换群(续）</vt:lpstr>
      <vt:lpstr>循环置换</vt:lpstr>
      <vt:lpstr>循环置换（续）</vt:lpstr>
      <vt:lpstr>PowerPoint 演示文稿</vt:lpstr>
      <vt:lpstr>定理4.7.2证明（续）</vt:lpstr>
      <vt:lpstr>对换</vt:lpstr>
      <vt:lpstr>PowerPoint 演示文稿</vt:lpstr>
      <vt:lpstr>例4.7.4（续）</vt:lpstr>
      <vt:lpstr>置换群的生成元</vt:lpstr>
      <vt:lpstr>谢谢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 群</dc:title>
  <dc:creator>nxy7509</dc:creator>
  <cp:lastModifiedBy>聂 不再流浪</cp:lastModifiedBy>
  <cp:revision>244</cp:revision>
  <dcterms:created xsi:type="dcterms:W3CDTF">2013-09-10T11:58:16Z</dcterms:created>
  <dcterms:modified xsi:type="dcterms:W3CDTF">2020-04-28T08:28:00Z</dcterms:modified>
</cp:coreProperties>
</file>